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0"/>
  </p:notesMasterIdLst>
  <p:sldIdLst>
    <p:sldId id="256" r:id="rId3"/>
    <p:sldId id="268" r:id="rId4"/>
    <p:sldId id="257" r:id="rId5"/>
    <p:sldId id="285" r:id="rId6"/>
    <p:sldId id="27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7" r:id="rId19"/>
    <p:sldId id="272" r:id="rId20"/>
    <p:sldId id="280" r:id="rId21"/>
    <p:sldId id="284" r:id="rId22"/>
    <p:sldId id="281" r:id="rId23"/>
    <p:sldId id="283" r:id="rId24"/>
    <p:sldId id="28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ED1"/>
    <a:srgbClr val="FFFFFF"/>
    <a:srgbClr val="F5F8FA"/>
    <a:srgbClr val="013D7A"/>
    <a:srgbClr val="03CDD0"/>
    <a:srgbClr val="001F3F"/>
    <a:srgbClr val="FFB800"/>
    <a:srgbClr val="0C2A4A"/>
    <a:srgbClr val="00D4FF"/>
    <a:srgbClr val="F4B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3"/>
    <p:restoredTop sz="94631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6C4A7-468E-C64C-9E37-7D9FD8BA0203}" type="datetimeFigureOut">
              <a:t>2026/9/3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E9453-3FA8-E649-8FF3-E99D4F8ACC1C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09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E9453-3FA8-E649-8FF3-E99D4F8ACC1C}" type="slidenum"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8361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计与仿真不同源，没有同源数据作为依据。专业仿真软件和能力缺乏、没有支撑的仿真体系，即使做出来的仿真，也不能体现出仿真结果是可靠的依据。仿真结果粗糙或评价维度不完整，不能作为优化设计的依据。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E9453-3FA8-E649-8FF3-E99D4F8ACC1C}" type="slidenum">
              <a:rPr lang="en-CN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086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E9453-3FA8-E649-8FF3-E99D4F8ACC1C}" type="slidenum">
              <a:rPr lang="en-CN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961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E9453-3FA8-E649-8FF3-E99D4F8ACC1C}" type="slidenum">
              <a:rPr lang="en-CN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653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E9453-3FA8-E649-8FF3-E99D4F8ACC1C}" type="slidenum">
              <a:rPr lang="en-CN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24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7CBC-5707-C0B5-DA93-157AB4D0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0F9E9-1CDE-896D-1253-0B0A8C24B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AC339-1F60-FBEB-AF75-6811E695E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产品全生命周期的</a:t>
            </a:r>
            <a:r>
              <a:rPr lang="en-US" altLang="zh-CN"/>
              <a:t>5</a:t>
            </a:r>
            <a:r>
              <a:rPr lang="zh-CN" altLang="en-US"/>
              <a:t>个阶段： </a:t>
            </a:r>
            <a:r>
              <a:rPr lang="en-US" altLang="zh-CN"/>
              <a:t>1. </a:t>
            </a:r>
            <a:r>
              <a:rPr lang="zh-CN" altLang="en-US"/>
              <a:t>概念设计阶段 </a:t>
            </a:r>
            <a:r>
              <a:rPr lang="en-US" altLang="zh-CN"/>
              <a:t>2. </a:t>
            </a:r>
            <a:r>
              <a:rPr lang="zh-CN" altLang="en-US"/>
              <a:t>详细设计阶段 </a:t>
            </a:r>
            <a:r>
              <a:rPr lang="en-US" altLang="zh-CN"/>
              <a:t>3. </a:t>
            </a:r>
            <a:r>
              <a:rPr lang="zh-CN" altLang="en-US"/>
              <a:t>样机验证阶段 </a:t>
            </a:r>
            <a:r>
              <a:rPr lang="en-US" altLang="zh-CN"/>
              <a:t>4. </a:t>
            </a:r>
            <a:r>
              <a:rPr lang="zh-CN" altLang="en-US"/>
              <a:t>量产阶段 </a:t>
            </a:r>
            <a:r>
              <a:rPr lang="en-US" altLang="zh-CN"/>
              <a:t>5. </a:t>
            </a:r>
            <a:r>
              <a:rPr lang="zh-CN" altLang="en-US"/>
              <a:t>售后运维阶段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CE0B3-C211-5EA2-7339-1D005E04A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E9453-3FA8-E649-8FF3-E99D4F8ACC1C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644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E9453-3FA8-E649-8FF3-E99D4F8ACC1C}" type="slidenum">
              <a:rPr lang="en-CN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6295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20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54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48CE393B-E44E-6B09-0C0F-8E9070F1D898}"/>
              </a:ext>
            </a:extLst>
          </p:cNvPr>
          <p:cNvSpPr/>
          <p:nvPr/>
        </p:nvSpPr>
        <p:spPr>
          <a:xfrm>
            <a:off x="0" y="9144"/>
            <a:ext cx="8229600" cy="5477256"/>
          </a:xfrm>
          <a:custGeom>
            <a:avLst/>
            <a:gdLst>
              <a:gd name="csX0" fmla="*/ 0 w 8229600"/>
              <a:gd name="csY0" fmla="*/ 0 h 5477256"/>
              <a:gd name="csX1" fmla="*/ 7501677 w 8229600"/>
              <a:gd name="csY1" fmla="*/ 0 h 5477256"/>
              <a:gd name="csX2" fmla="*/ 7567421 w 8229600"/>
              <a:gd name="csY2" fmla="*/ 76227 h 5477256"/>
              <a:gd name="csX3" fmla="*/ 8229600 w 8229600"/>
              <a:gd name="csY3" fmla="*/ 1819656 h 5477256"/>
              <a:gd name="csX4" fmla="*/ 2743200 w 8229600"/>
              <a:gd name="csY4" fmla="*/ 5477256 h 5477256"/>
              <a:gd name="csX5" fmla="*/ 128056 w 8229600"/>
              <a:gd name="csY5" fmla="*/ 5035803 h 5477256"/>
              <a:gd name="csX6" fmla="*/ 0 w 8229600"/>
              <a:gd name="csY6" fmla="*/ 4983939 h 5477256"/>
              <a:gd name="csX7" fmla="*/ 0 w 8229600"/>
              <a:gd name="csY7" fmla="*/ 0 h 5477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29600" h="5477256">
                <a:moveTo>
                  <a:pt x="0" y="0"/>
                </a:moveTo>
                <a:lnTo>
                  <a:pt x="7501677" y="0"/>
                </a:lnTo>
                <a:lnTo>
                  <a:pt x="7567421" y="76227"/>
                </a:lnTo>
                <a:cubicBezTo>
                  <a:pt x="7989723" y="594484"/>
                  <a:pt x="8229600" y="1188395"/>
                  <a:pt x="8229600" y="1819656"/>
                </a:cubicBezTo>
                <a:cubicBezTo>
                  <a:pt x="8229600" y="3839693"/>
                  <a:pt x="5773255" y="5477256"/>
                  <a:pt x="2743200" y="5477256"/>
                </a:cubicBezTo>
                <a:cubicBezTo>
                  <a:pt x="1796308" y="5477256"/>
                  <a:pt x="905442" y="5317338"/>
                  <a:pt x="128056" y="5035803"/>
                </a:cubicBezTo>
                <a:lnTo>
                  <a:pt x="0" y="4983939"/>
                </a:lnTo>
                <a:lnTo>
                  <a:pt x="0" y="0"/>
                </a:lnTo>
                <a:close/>
              </a:path>
            </a:pathLst>
          </a:cu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0" y="914400"/>
            <a:ext cx="9144000" cy="5486400"/>
          </a:xfrm>
          <a:prstGeom prst="ellipse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41733" y="256032"/>
            <a:ext cx="3792762" cy="3903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达索系统授权经销商 Authorized Industry Partner</a:t>
            </a:r>
            <a:endParaRPr lang="en-US" sz="1000" b="0" i="0">
              <a:solidFill>
                <a:srgbClr val="00D4FF"/>
              </a:solidFill>
              <a:latin typeface="Arial"/>
            </a:endParaRPr>
          </a:p>
          <a:p>
            <a:pPr algn="r">
              <a:lnSpc>
                <a:spcPct val="120000"/>
              </a:lnSpc>
            </a:pPr>
            <a:r>
              <a:rPr lang="zh-CN" altLang="en-US" sz="1000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西门子仿真产品线授权经销商 </a:t>
            </a:r>
            <a:r>
              <a:rPr lang="zh-CN" altLang="en-US" sz="1000">
                <a:solidFill>
                  <a:srgbClr val="00D4FF"/>
                </a:solidFill>
                <a:latin typeface="Arial"/>
              </a:rPr>
              <a:t>Siemens Altair · Simcenter</a:t>
            </a:r>
            <a:endParaRPr sz="1000">
              <a:solidFill>
                <a:srgbClr val="00D4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软件之上 · 价值为本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 spc="400">
                <a:solidFill>
                  <a:srgbClr val="00D4FF"/>
                </a:solidFill>
                <a:latin typeface="Arial"/>
              </a:rPr>
              <a:t>Beyond Software. Built on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37934"/>
            <a:ext cx="11277295" cy="408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 — 交付高端研发与复杂制造的数字化确定性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71600" y="5943600"/>
            <a:ext cx="9448495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126480"/>
            <a:ext cx="11277295" cy="2394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100">
                <a:solidFill>
                  <a:srgbClr val="FFFFFF"/>
                </a:solidFill>
                <a:latin typeface="Arial"/>
              </a:rPr>
              <a:t>成都 · 长沙 · 上海 · 深圳    |    www.abestway.cn    |    400-990-9</a:t>
            </a:r>
            <a:r>
              <a:rPr lang="en-CN" sz="1200" b="0" i="0" spc="100">
                <a:solidFill>
                  <a:srgbClr val="FFFFFF"/>
                </a:solidFill>
                <a:latin typeface="Arial"/>
              </a:rPr>
              <a:t>23</a:t>
            </a:r>
            <a:r>
              <a:rPr sz="1200" b="0" i="0" spc="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6E354C-00C9-F63C-0514-6528BC5E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11837"/>
            <a:ext cx="1226878" cy="543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17E85-0610-DD80-12BD-4AA92E3E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A8D0B-050B-0A0D-03CB-4345462475D0}"/>
              </a:ext>
            </a:extLst>
          </p:cNvPr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BESTWAY · 百世慧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58B0B-AB70-86E1-5925-D0B78D757A43}"/>
              </a:ext>
            </a:extLst>
          </p:cNvPr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>
                <a:solidFill>
                  <a:srgbClr val="00D4FF"/>
                </a:solidFill>
                <a:latin typeface="Arial"/>
              </a:rPr>
              <a:t>02 / 28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00D4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809E6-AC4B-B3A6-BA27-A6A7833173E5}"/>
              </a:ext>
            </a:extLst>
          </p:cNvPr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C89D9-F47C-22AD-A46B-FED09042D64D}"/>
              </a:ext>
            </a:extLst>
          </p:cNvPr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ABOUT BESTWAY · 关于百世慧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372A2-2689-167D-371F-910F6E5529EF}"/>
              </a:ext>
            </a:extLst>
          </p:cNvPr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百世慧：交付高端研发与复杂制造的数字化确定性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94D64-00FA-669F-48A4-BCAB0E5B984C}"/>
              </a:ext>
            </a:extLst>
          </p:cNvPr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FACTS · 一组事实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5979E-839E-B61F-9B47-B65E562D2D94}"/>
              </a:ext>
            </a:extLst>
          </p:cNvPr>
          <p:cNvSpPr/>
          <p:nvPr/>
        </p:nvSpPr>
        <p:spPr>
          <a:xfrm>
            <a:off x="457200" y="1783080"/>
            <a:ext cx="5486400" cy="1078992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AE3DA-9FB4-3636-CBB3-4F4476C46C37}"/>
              </a:ext>
            </a:extLst>
          </p:cNvPr>
          <p:cNvSpPr/>
          <p:nvPr/>
        </p:nvSpPr>
        <p:spPr>
          <a:xfrm>
            <a:off x="457200" y="1783080"/>
            <a:ext cx="45720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74A95-D9BA-DC3D-D422-437C012D63E0}"/>
              </a:ext>
            </a:extLst>
          </p:cNvPr>
          <p:cNvSpPr txBox="1"/>
          <p:nvPr/>
        </p:nvSpPr>
        <p:spPr>
          <a:xfrm>
            <a:off x="685800" y="1828800"/>
            <a:ext cx="2011680" cy="98755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900C6-21F4-21AA-760C-6C5FB2479EF0}"/>
              </a:ext>
            </a:extLst>
          </p:cNvPr>
          <p:cNvSpPr txBox="1"/>
          <p:nvPr/>
        </p:nvSpPr>
        <p:spPr>
          <a:xfrm>
            <a:off x="2743200" y="196596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成立年份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88B751-A4A5-4D68-287A-F278784BA250}"/>
              </a:ext>
            </a:extLst>
          </p:cNvPr>
          <p:cNvSpPr txBox="1"/>
          <p:nvPr/>
        </p:nvSpPr>
        <p:spPr>
          <a:xfrm>
            <a:off x="2743200" y="237744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专注工程数字化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F6ED36-7F25-FD9E-200D-D6251D2ACE90}"/>
              </a:ext>
            </a:extLst>
          </p:cNvPr>
          <p:cNvSpPr/>
          <p:nvPr/>
        </p:nvSpPr>
        <p:spPr>
          <a:xfrm>
            <a:off x="457200" y="2926080"/>
            <a:ext cx="5486400" cy="1078992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0DE9B-E80B-E55D-D2EB-36558A328F48}"/>
              </a:ext>
            </a:extLst>
          </p:cNvPr>
          <p:cNvSpPr/>
          <p:nvPr/>
        </p:nvSpPr>
        <p:spPr>
          <a:xfrm>
            <a:off x="457200" y="2926080"/>
            <a:ext cx="45720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BD54F-8EB0-B944-D4A6-693E6D31F676}"/>
              </a:ext>
            </a:extLst>
          </p:cNvPr>
          <p:cNvSpPr txBox="1"/>
          <p:nvPr/>
        </p:nvSpPr>
        <p:spPr>
          <a:xfrm>
            <a:off x="685800" y="3094961"/>
            <a:ext cx="2011680" cy="74122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200" b="1">
                <a:solidFill>
                  <a:srgbClr val="FFB800"/>
                </a:solidFill>
                <a:latin typeface="Arial"/>
              </a:rPr>
              <a:t>40</a:t>
            </a: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075868-43B6-5580-5C7C-EC4F46ECBB99}"/>
              </a:ext>
            </a:extLst>
          </p:cNvPr>
          <p:cNvSpPr txBox="1"/>
          <p:nvPr/>
        </p:nvSpPr>
        <p:spPr>
          <a:xfrm>
            <a:off x="2743200" y="310896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团队规模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12D4D-9254-1B54-BE9D-E05537940130}"/>
              </a:ext>
            </a:extLst>
          </p:cNvPr>
          <p:cNvSpPr txBox="1"/>
          <p:nvPr/>
        </p:nvSpPr>
        <p:spPr>
          <a:xfrm>
            <a:off x="2743200" y="352044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技术工程师占比 &gt; 80%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53A974-EE32-4CF5-0355-394B12FC4F4E}"/>
              </a:ext>
            </a:extLst>
          </p:cNvPr>
          <p:cNvSpPr/>
          <p:nvPr/>
        </p:nvSpPr>
        <p:spPr>
          <a:xfrm>
            <a:off x="457200" y="4069080"/>
            <a:ext cx="5486400" cy="1078992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11F534-A4BE-D199-8A0C-45687505F1E6}"/>
              </a:ext>
            </a:extLst>
          </p:cNvPr>
          <p:cNvSpPr/>
          <p:nvPr/>
        </p:nvSpPr>
        <p:spPr>
          <a:xfrm>
            <a:off x="457200" y="4069080"/>
            <a:ext cx="45720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5B4B56-63D2-04E6-F7BB-923BD90C9AC0}"/>
              </a:ext>
            </a:extLst>
          </p:cNvPr>
          <p:cNvSpPr txBox="1"/>
          <p:nvPr/>
        </p:nvSpPr>
        <p:spPr>
          <a:xfrm>
            <a:off x="685800" y="3776472"/>
            <a:ext cx="2011680" cy="98755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40+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DA9294-9284-7AD7-07AB-5744AA5491E2}"/>
              </a:ext>
            </a:extLst>
          </p:cNvPr>
          <p:cNvSpPr txBox="1"/>
          <p:nvPr/>
        </p:nvSpPr>
        <p:spPr>
          <a:xfrm>
            <a:off x="2743200" y="425196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已交付大中型项目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05FDB-A430-99DD-A995-A9C509356406}"/>
              </a:ext>
            </a:extLst>
          </p:cNvPr>
          <p:cNvSpPr txBox="1"/>
          <p:nvPr/>
        </p:nvSpPr>
        <p:spPr>
          <a:xfrm>
            <a:off x="2743200" y="466344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多个千万级复杂项目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642582-7BED-F321-849C-6F62E6DD9B62}"/>
              </a:ext>
            </a:extLst>
          </p:cNvPr>
          <p:cNvSpPr txBox="1"/>
          <p:nvPr/>
        </p:nvSpPr>
        <p:spPr>
          <a:xfrm>
            <a:off x="6217920" y="1417320"/>
            <a:ext cx="5532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CERTIFICATIONS &amp; PORTFOLIO · 资质与产品线</a:t>
            </a:r>
          </a:p>
        </p:txBody>
      </p:sp>
      <p:sp>
        <p:nvSpPr>
          <p:cNvPr id="3294" name="Rect 3294"/>
          <p:cNvSpPr/>
          <p:nvPr/>
        </p:nvSpPr>
        <p:spPr>
          <a:xfrm>
            <a:off x="6217920" y="1783080"/>
            <a:ext cx="5568696" cy="1627632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295" name="Rect 3295"/>
          <p:cNvSpPr/>
          <p:nvPr/>
        </p:nvSpPr>
        <p:spPr>
          <a:xfrm>
            <a:off x="6217920" y="1783080"/>
            <a:ext cx="45720" cy="16276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296" name="TextBox 3296"/>
          <p:cNvSpPr txBox="1"/>
          <p:nvPr/>
        </p:nvSpPr>
        <p:spPr>
          <a:xfrm>
            <a:off x="6419088" y="1837944"/>
            <a:ext cx="5184648" cy="25603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000" b="1" i="0" spc="15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DASSAULT SYSTÈMES · </a:t>
            </a:r>
            <a:r>
              <a:rPr lang="zh-CN" altLang="en-US" sz="1000" b="1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达索系统</a:t>
            </a:r>
          </a:p>
        </p:txBody>
      </p:sp>
      <p:sp>
        <p:nvSpPr>
          <p:cNvPr id="3297" name="TextBox 3297"/>
          <p:cNvSpPr txBox="1"/>
          <p:nvPr/>
        </p:nvSpPr>
        <p:spPr>
          <a:xfrm>
            <a:off x="6419088" y="2130552"/>
            <a:ext cx="5184648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20000"/>
              </a:lnSpc>
            </a:pPr>
            <a:r>
              <a:rPr lang="zh-CN" altLang="en-US" sz="1000" b="0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◆   </a:t>
            </a:r>
            <a:r>
              <a:rPr lang="zh-CN" altLang="en-US" sz="115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授权经销商（全产品线）</a:t>
            </a:r>
          </a:p>
        </p:txBody>
      </p:sp>
      <p:sp>
        <p:nvSpPr>
          <p:cNvPr id="3298" name="TextBox 3298"/>
          <p:cNvSpPr txBox="1"/>
          <p:nvPr/>
        </p:nvSpPr>
        <p:spPr>
          <a:xfrm>
            <a:off x="6419088" y="2450592"/>
            <a:ext cx="5184648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20000"/>
              </a:lnSpc>
            </a:pPr>
            <a:r>
              <a:rPr lang="zh-CN" altLang="en-US" sz="1000" b="0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◆   </a:t>
            </a:r>
            <a:r>
              <a:rPr lang="zh-CN" altLang="en-US" sz="115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SIMULIA 仿真产品线核心合作伙伴</a:t>
            </a:r>
          </a:p>
        </p:txBody>
      </p:sp>
      <p:sp>
        <p:nvSpPr>
          <p:cNvPr id="3299" name="TextBox 3299"/>
          <p:cNvSpPr txBox="1"/>
          <p:nvPr/>
        </p:nvSpPr>
        <p:spPr>
          <a:xfrm>
            <a:off x="6419088" y="2770632"/>
            <a:ext cx="5184648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20000"/>
              </a:lnSpc>
            </a:pPr>
            <a:r>
              <a:rPr lang="zh-CN" altLang="en-US" sz="1000" b="0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◆   </a:t>
            </a:r>
            <a:r>
              <a:rPr lang="zh-CN" altLang="en-US" sz="115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PLM 业务连续 3 年全国专家级评级</a:t>
            </a:r>
          </a:p>
        </p:txBody>
      </p:sp>
      <p:sp>
        <p:nvSpPr>
          <p:cNvPr id="3300" name="TextBox 3300"/>
          <p:cNvSpPr txBox="1"/>
          <p:nvPr/>
        </p:nvSpPr>
        <p:spPr>
          <a:xfrm>
            <a:off x="6419088" y="3090672"/>
            <a:ext cx="5184648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20000"/>
              </a:lnSpc>
            </a:pPr>
            <a:r>
              <a:rPr lang="zh-CN" altLang="en-US" sz="1000" b="0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◆   </a:t>
            </a:r>
            <a:r>
              <a:rPr lang="zh-CN" altLang="en-US" sz="115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智能制造核心合作伙伴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36AC5B-0784-F37F-CDF4-31F3F34842D8}"/>
              </a:ext>
            </a:extLst>
          </p:cNvPr>
          <p:cNvGrpSpPr/>
          <p:nvPr/>
        </p:nvGrpSpPr>
        <p:grpSpPr>
          <a:xfrm>
            <a:off x="6217920" y="3520440"/>
            <a:ext cx="5568696" cy="1627632"/>
            <a:chOff x="6217920" y="3520440"/>
            <a:chExt cx="5568696" cy="1627632"/>
          </a:xfrm>
        </p:grpSpPr>
        <p:sp>
          <p:nvSpPr>
            <p:cNvPr id="3301" name="Rect 3301"/>
            <p:cNvSpPr/>
            <p:nvPr/>
          </p:nvSpPr>
          <p:spPr>
            <a:xfrm>
              <a:off x="6217920" y="3520440"/>
              <a:ext cx="5568696" cy="1627632"/>
            </a:xfrm>
            <a:prstGeom prst="rect">
              <a:avLst/>
            </a:prstGeom>
            <a:solidFill>
              <a:srgbClr val="001F3F"/>
            </a:solidFill>
            <a:ln>
              <a:noFill/>
            </a:ln>
          </p:spPr>
          <p:txBody>
            <a:bodyPr rtlCol="0" anchor="ctr"/>
            <a:lstStyle/>
            <a:p>
              <a:endParaRPr lang="zh-CN"/>
            </a:p>
          </p:txBody>
        </p:sp>
        <p:sp>
          <p:nvSpPr>
            <p:cNvPr id="3302" name="Rect 3302"/>
            <p:cNvSpPr/>
            <p:nvPr/>
          </p:nvSpPr>
          <p:spPr>
            <a:xfrm>
              <a:off x="6217920" y="3520440"/>
              <a:ext cx="45720" cy="1627632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txBody>
            <a:bodyPr rtlCol="0" anchor="ctr"/>
            <a:lstStyle/>
            <a:p>
              <a:endParaRPr lang="zh-CN"/>
            </a:p>
          </p:txBody>
        </p:sp>
        <p:sp>
          <p:nvSpPr>
            <p:cNvPr id="3303" name="TextBox 3303"/>
            <p:cNvSpPr txBox="1"/>
            <p:nvPr/>
          </p:nvSpPr>
          <p:spPr>
            <a:xfrm>
              <a:off x="6419088" y="3575304"/>
              <a:ext cx="5184648" cy="256032"/>
            </a:xfrm>
            <a:prstGeom prst="rect">
              <a:avLst/>
            </a:prstGeom>
            <a:noFill/>
          </p:spPr>
          <p:txBody>
            <a:bodyPr wrap="square" lIns="45720" tIns="18288" rIns="45720" bIns="18288" anchor="t"/>
            <a:lstStyle/>
            <a:p>
              <a:pPr algn="l">
                <a:lnSpc>
                  <a:spcPct val="120000"/>
                </a:lnSpc>
              </a:pPr>
              <a:r>
                <a:rPr lang="zh-CN" altLang="en-US" sz="1000" b="1" i="0" spc="15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SIEMENS · </a:t>
              </a:r>
              <a:r>
                <a:rPr lang="zh-CN" altLang="en-US" sz="1000" b="1" i="0" spc="0" dirty="0">
                  <a:solidFill>
                    <a:srgbClr val="FFB800"/>
                  </a:solidFill>
                  <a:latin typeface="微软雅黑"/>
                  <a:ea typeface="微软雅黑"/>
                  <a:cs typeface="微软雅黑"/>
                </a:rPr>
                <a:t>西门子 Altair / Simcenter</a:t>
              </a:r>
            </a:p>
          </p:txBody>
        </p:sp>
        <p:sp>
          <p:nvSpPr>
            <p:cNvPr id="3304" name="TextBox 3304"/>
            <p:cNvSpPr txBox="1"/>
            <p:nvPr/>
          </p:nvSpPr>
          <p:spPr>
            <a:xfrm>
              <a:off x="6419088" y="3867912"/>
              <a:ext cx="5184648" cy="32004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/>
            <a:lstStyle/>
            <a:p>
              <a:pPr algn="l">
                <a:lnSpc>
                  <a:spcPct val="120000"/>
                </a:lnSpc>
              </a:pPr>
              <a:r>
                <a:rPr lang="zh-CN" altLang="en-US" sz="1000" b="0" i="0" spc="0" dirty="0">
                  <a:solidFill>
                    <a:srgbClr val="FFB800"/>
                  </a:solidFill>
                  <a:latin typeface="微软雅黑"/>
                  <a:ea typeface="微软雅黑"/>
                  <a:cs typeface="微软雅黑"/>
                </a:rPr>
                <a:t>◆   </a:t>
              </a:r>
              <a:r>
                <a:rPr lang="zh-CN" altLang="en-US" sz="1150" b="1" i="0" spc="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通用前处理与网格技术，对接主流求解器</a:t>
              </a:r>
            </a:p>
          </p:txBody>
        </p:sp>
        <p:sp>
          <p:nvSpPr>
            <p:cNvPr id="3305" name="TextBox 3305"/>
            <p:cNvSpPr txBox="1"/>
            <p:nvPr/>
          </p:nvSpPr>
          <p:spPr>
            <a:xfrm>
              <a:off x="6419088" y="4187952"/>
              <a:ext cx="5184648" cy="32004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/>
            <a:lstStyle/>
            <a:p>
              <a:pPr algn="l">
                <a:lnSpc>
                  <a:spcPct val="120000"/>
                </a:lnSpc>
              </a:pPr>
              <a:r>
                <a:rPr lang="zh-CN" altLang="en-US" sz="1000" b="0" i="0" spc="0" dirty="0">
                  <a:solidFill>
                    <a:srgbClr val="FFB800"/>
                  </a:solidFill>
                  <a:latin typeface="微软雅黑"/>
                  <a:ea typeface="微软雅黑"/>
                  <a:cs typeface="微软雅黑"/>
                </a:rPr>
                <a:t>◆   </a:t>
              </a:r>
              <a:r>
                <a:rPr lang="zh-CN" altLang="en-US" sz="1150" b="1" i="0" spc="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拓扑优化驱动的结构轻量化设计</a:t>
              </a:r>
            </a:p>
          </p:txBody>
        </p:sp>
        <p:sp>
          <p:nvSpPr>
            <p:cNvPr id="3306" name="TextBox 3306"/>
            <p:cNvSpPr txBox="1"/>
            <p:nvPr/>
          </p:nvSpPr>
          <p:spPr>
            <a:xfrm>
              <a:off x="6419088" y="4507992"/>
              <a:ext cx="5184648" cy="32004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/>
            <a:lstStyle/>
            <a:p>
              <a:pPr algn="l">
                <a:lnSpc>
                  <a:spcPct val="120000"/>
                </a:lnSpc>
              </a:pPr>
              <a:r>
                <a:rPr lang="zh-CN" altLang="en-US" sz="1000" b="0" i="0" spc="0" dirty="0">
                  <a:solidFill>
                    <a:srgbClr val="FFB800"/>
                  </a:solidFill>
                  <a:latin typeface="微软雅黑"/>
                  <a:ea typeface="微软雅黑"/>
                  <a:cs typeface="微软雅黑"/>
                </a:rPr>
                <a:t>◆   </a:t>
              </a:r>
              <a:r>
                <a:rPr lang="zh-CN" altLang="en-US" sz="1150" b="1" i="0" spc="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流体、热管理与多相流仿真</a:t>
              </a:r>
            </a:p>
          </p:txBody>
        </p:sp>
        <p:sp>
          <p:nvSpPr>
            <p:cNvPr id="3307" name="TextBox 3307"/>
            <p:cNvSpPr txBox="1"/>
            <p:nvPr/>
          </p:nvSpPr>
          <p:spPr>
            <a:xfrm>
              <a:off x="6419088" y="4828032"/>
              <a:ext cx="5184648" cy="32004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/>
            <a:lstStyle/>
            <a:p>
              <a:pPr algn="l">
                <a:lnSpc>
                  <a:spcPct val="120000"/>
                </a:lnSpc>
              </a:pPr>
              <a:r>
                <a:rPr lang="zh-CN" altLang="en-US" sz="1000" b="0" i="0" spc="0" dirty="0">
                  <a:solidFill>
                    <a:srgbClr val="FFB800"/>
                  </a:solidFill>
                  <a:latin typeface="微软雅黑"/>
                  <a:ea typeface="微软雅黑"/>
                  <a:cs typeface="微软雅黑"/>
                </a:rPr>
                <a:t>◆   </a:t>
              </a:r>
              <a:r>
                <a:rPr lang="zh-CN" altLang="en-US" sz="1150" b="1" i="0" spc="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振动噪声分析与试验-仿真联合验证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385D7FD5-34AB-E25A-8B9E-13ECB8DF269C}"/>
              </a:ext>
            </a:extLst>
          </p:cNvPr>
          <p:cNvSpPr/>
          <p:nvPr/>
        </p:nvSpPr>
        <p:spPr>
          <a:xfrm>
            <a:off x="457200" y="5394960"/>
            <a:ext cx="11311128" cy="109728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A35BDA-8E1C-AECC-4FE7-65281842EB9D}"/>
              </a:ext>
            </a:extLst>
          </p:cNvPr>
          <p:cNvSpPr/>
          <p:nvPr/>
        </p:nvSpPr>
        <p:spPr>
          <a:xfrm>
            <a:off x="457200" y="5394960"/>
            <a:ext cx="45720" cy="10972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F12194-C006-9CC2-24C0-1709AEDF9F0C}"/>
              </a:ext>
            </a:extLst>
          </p:cNvPr>
          <p:cNvSpPr txBox="1"/>
          <p:nvPr/>
        </p:nvSpPr>
        <p:spPr>
          <a:xfrm>
            <a:off x="640080" y="5477256"/>
            <a:ext cx="475488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SIMULATION STRATEGY</a:t>
            </a:r>
            <a:r>
              <a:rPr kumimoji="0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· </a:t>
            </a:r>
            <a:r>
              <a:rPr kumimoji="0" lang="en-US" altLang="zh-CN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2030</a:t>
            </a:r>
            <a:r>
              <a:rPr kumimoji="0" lang="zh-CN" altLang="en-US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en-US" sz="1100" b="1" spc="200">
                <a:solidFill>
                  <a:srgbClr val="00D4FF"/>
                </a:solidFill>
                <a:latin typeface="Arial"/>
              </a:rPr>
              <a:t>SPARK战略</a:t>
            </a:r>
            <a:endParaRPr kumimoji="0" sz="1100" b="1" i="0" u="none" strike="noStrike" kern="1200" cap="none" spc="200" normalizeH="0" baseline="0" noProof="0">
              <a:ln>
                <a:noFill/>
              </a:ln>
              <a:solidFill>
                <a:srgbClr val="00D4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EA7E84-3725-1A44-2F73-CC343D16141E}"/>
              </a:ext>
            </a:extLst>
          </p:cNvPr>
          <p:cNvSpPr txBox="1"/>
          <p:nvPr/>
        </p:nvSpPr>
        <p:spPr>
          <a:xfrm>
            <a:off x="612648" y="5724144"/>
            <a:ext cx="3017520" cy="4663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仿真</a:t>
            </a:r>
            <a:r>
              <a:rPr lang="zh-CN" altLang="en-US" sz="2400" b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，创新的力量</a:t>
            </a:r>
            <a:r>
              <a:rPr kumimoji="0" sz="800" b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273E14-F0A0-9706-73BB-39D432B9DDA8}"/>
              </a:ext>
            </a:extLst>
          </p:cNvPr>
          <p:cNvSpPr txBox="1"/>
          <p:nvPr/>
        </p:nvSpPr>
        <p:spPr>
          <a:xfrm>
            <a:off x="5577840" y="5577840"/>
            <a:ext cx="4846320" cy="8046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年启动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SPARK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仿真战略，以仿真用户为中心，至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2030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年，深化仿真业务布局，打造国内领先的工程仿真解决方案服务商，驱动高端研发与复杂制造数字化创新。</a:t>
            </a:r>
            <a:endParaRPr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3AEF3-64E0-CF25-7113-62CFAEF63D69}"/>
              </a:ext>
            </a:extLst>
          </p:cNvPr>
          <p:cNvSpPr txBox="1"/>
          <p:nvPr/>
        </p:nvSpPr>
        <p:spPr>
          <a:xfrm>
            <a:off x="612648" y="6236208"/>
            <a:ext cx="3017520" cy="1920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900" i="1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合作伙伴：达索 SIMULIA · 西门子 Altair / Simcenter</a:t>
            </a:r>
            <a:endParaRPr kumimoji="0" sz="900" i="1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C8011CA-C42B-67C2-DF20-E8AD673601F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625328" y="5532120"/>
            <a:ext cx="914400" cy="2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 193"/>
          <p:cNvSpPr/>
          <p:nvPr/>
        </p:nvSpPr>
        <p:spPr>
          <a:xfrm>
            <a:off x="402336" y="2103120"/>
            <a:ext cx="2743200" cy="36576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4" name="Rect 194"/>
          <p:cNvSpPr/>
          <p:nvPr/>
        </p:nvSpPr>
        <p:spPr>
          <a:xfrm>
            <a:off x="402336" y="2103120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5" name="TextBox 195"/>
          <p:cNvSpPr txBox="1"/>
          <p:nvPr/>
        </p:nvSpPr>
        <p:spPr>
          <a:xfrm>
            <a:off x="2276856" y="2194560"/>
            <a:ext cx="777240" cy="64008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r">
              <a:lnSpc>
                <a:spcPct val="120000"/>
              </a:lnSpc>
            </a:pPr>
            <a:r>
              <a:rPr lang="zh-CN" altLang="en-US" sz="3600" b="1" i="0" spc="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630936" y="2487168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6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复杂设计「乏策」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630936" y="2944368"/>
            <a:ext cx="23317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150" b="0" i="1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受困于画图，缺乏工程思维</a:t>
            </a:r>
          </a:p>
        </p:txBody>
      </p:sp>
      <p:cxnSp>
        <p:nvCxnSpPr>
          <p:cNvPr id="198" name="Line 198"/>
          <p:cNvCxnSpPr/>
          <p:nvPr/>
        </p:nvCxnSpPr>
        <p:spPr>
          <a:xfrm>
            <a:off x="630936" y="3328416"/>
            <a:ext cx="228600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9"/>
          <p:cNvSpPr txBox="1"/>
          <p:nvPr/>
        </p:nvSpPr>
        <p:spPr>
          <a:xfrm>
            <a:off x="630936" y="3456432"/>
            <a:ext cx="2331720" cy="14630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lang="zh-CN" altLang="en-US" sz="110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知识工程无法沉淀，骨架模型推行受阻，机电液多专业协同薄弱，研发依赖老工程师个人经验，模型重用率极低。</a:t>
            </a:r>
          </a:p>
        </p:txBody>
      </p:sp>
      <p:sp>
        <p:nvSpPr>
          <p:cNvPr id="200" name="Rect 200"/>
          <p:cNvSpPr/>
          <p:nvPr/>
        </p:nvSpPr>
        <p:spPr>
          <a:xfrm>
            <a:off x="630936" y="5230368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003D7A"/>
          </a:solidFill>
          <a:ln w="9525">
            <a:solidFill>
              <a:srgbClr val="00D4F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1" name="TextBox 201"/>
          <p:cNvSpPr txBox="1"/>
          <p:nvPr/>
        </p:nvSpPr>
        <p:spPr>
          <a:xfrm>
            <a:off x="630936" y="5266944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lang="zh-CN" altLang="en-US" sz="1000" b="1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工程方法论缺失</a:t>
            </a:r>
          </a:p>
        </p:txBody>
      </p:sp>
      <p:sp>
        <p:nvSpPr>
          <p:cNvPr id="202" name="Rect 202"/>
          <p:cNvSpPr/>
          <p:nvPr/>
        </p:nvSpPr>
        <p:spPr>
          <a:xfrm>
            <a:off x="3282696" y="2103120"/>
            <a:ext cx="2743200" cy="36576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3" name="Rect 203"/>
          <p:cNvSpPr/>
          <p:nvPr/>
        </p:nvSpPr>
        <p:spPr>
          <a:xfrm>
            <a:off x="3282696" y="2103120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4" name="TextBox 204"/>
          <p:cNvSpPr txBox="1"/>
          <p:nvPr/>
        </p:nvSpPr>
        <p:spPr>
          <a:xfrm>
            <a:off x="5157216" y="2194560"/>
            <a:ext cx="777240" cy="64008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r">
              <a:lnSpc>
                <a:spcPct val="120000"/>
              </a:lnSpc>
            </a:pPr>
            <a:r>
              <a:rPr lang="zh-CN" altLang="en-US" sz="3600" b="1" i="0" spc="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3511296" y="2487168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6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仿真应用「失据」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3511296" y="2944368"/>
            <a:ext cx="23317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150" b="0" i="1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做了仿真，却没有驱动决策</a:t>
            </a:r>
          </a:p>
        </p:txBody>
      </p:sp>
      <p:cxnSp>
        <p:nvCxnSpPr>
          <p:cNvPr id="207" name="Line 207"/>
          <p:cNvCxnSpPr/>
          <p:nvPr/>
        </p:nvCxnSpPr>
        <p:spPr>
          <a:xfrm>
            <a:off x="3511296" y="3328416"/>
            <a:ext cx="228600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8"/>
          <p:cNvSpPr txBox="1"/>
          <p:nvPr/>
        </p:nvSpPr>
        <p:spPr>
          <a:xfrm>
            <a:off x="3511296" y="3456432"/>
            <a:ext cx="2331720" cy="14630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lang="zh-CN" altLang="en-US" sz="110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专业仿真「不够深」，设计与仿真模型「不同源」，SPDM 缺失导致 CAE 资产无法复用，仿真沦为事后验证。</a:t>
            </a:r>
          </a:p>
        </p:txBody>
      </p:sp>
      <p:sp>
        <p:nvSpPr>
          <p:cNvPr id="209" name="Rect 209"/>
          <p:cNvSpPr/>
          <p:nvPr/>
        </p:nvSpPr>
        <p:spPr>
          <a:xfrm>
            <a:off x="3511296" y="5230368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003D7A"/>
          </a:solidFill>
          <a:ln w="9525">
            <a:solidFill>
              <a:srgbClr val="00D4F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0" name="TextBox 210"/>
          <p:cNvSpPr txBox="1"/>
          <p:nvPr/>
        </p:nvSpPr>
        <p:spPr>
          <a:xfrm>
            <a:off x="3511296" y="5266944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lang="zh-CN" altLang="en-US" sz="1000" b="1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仿真体系未建立</a:t>
            </a:r>
          </a:p>
        </p:txBody>
      </p:sp>
      <p:sp>
        <p:nvSpPr>
          <p:cNvPr id="211" name="Rect 211"/>
          <p:cNvSpPr/>
          <p:nvPr/>
        </p:nvSpPr>
        <p:spPr>
          <a:xfrm>
            <a:off x="6163056" y="2103120"/>
            <a:ext cx="2743200" cy="36576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2" name="Rect 212"/>
          <p:cNvSpPr/>
          <p:nvPr/>
        </p:nvSpPr>
        <p:spPr>
          <a:xfrm>
            <a:off x="6163056" y="2103120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3" name="TextBox 213"/>
          <p:cNvSpPr txBox="1"/>
          <p:nvPr/>
        </p:nvSpPr>
        <p:spPr>
          <a:xfrm>
            <a:off x="8037576" y="2194560"/>
            <a:ext cx="777240" cy="64008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r">
              <a:lnSpc>
                <a:spcPct val="120000"/>
              </a:lnSpc>
            </a:pPr>
            <a:r>
              <a:rPr lang="zh-CN" altLang="en-US" sz="3600" b="1" i="0" spc="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6391656" y="2487168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6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协同研发「失控」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6391656" y="2944368"/>
            <a:ext cx="23317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150" b="0" i="1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流程在文档里，经验在人脑中</a:t>
            </a:r>
          </a:p>
        </p:txBody>
      </p:sp>
      <p:cxnSp>
        <p:nvCxnSpPr>
          <p:cNvPr id="216" name="Line 216"/>
          <p:cNvCxnSpPr/>
          <p:nvPr/>
        </p:nvCxnSpPr>
        <p:spPr>
          <a:xfrm>
            <a:off x="6391656" y="3328416"/>
            <a:ext cx="228600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7"/>
          <p:cNvSpPr txBox="1"/>
          <p:nvPr/>
        </p:nvSpPr>
        <p:spPr>
          <a:xfrm>
            <a:off x="6391656" y="3456432"/>
            <a:ext cx="2331720" cy="14630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lang="zh-CN" altLang="en-US" sz="110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计划与执行两层皮，EBOM 与 MBOM 长期割裂，变更依赖人工传递，数据散落在工程师个人电脑中。</a:t>
            </a:r>
          </a:p>
        </p:txBody>
      </p:sp>
      <p:sp>
        <p:nvSpPr>
          <p:cNvPr id="218" name="Rect 218"/>
          <p:cNvSpPr/>
          <p:nvPr/>
        </p:nvSpPr>
        <p:spPr>
          <a:xfrm>
            <a:off x="6391656" y="5230368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003D7A"/>
          </a:solidFill>
          <a:ln w="9525">
            <a:solidFill>
              <a:srgbClr val="00D4F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9" name="TextBox 219"/>
          <p:cNvSpPr txBox="1"/>
          <p:nvPr/>
        </p:nvSpPr>
        <p:spPr>
          <a:xfrm>
            <a:off x="6391656" y="5266944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lang="zh-CN" altLang="en-US" sz="1000" b="1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无单一事实数据源 (SSOT)</a:t>
            </a:r>
          </a:p>
        </p:txBody>
      </p:sp>
      <p:sp>
        <p:nvSpPr>
          <p:cNvPr id="220" name="Rect 220"/>
          <p:cNvSpPr/>
          <p:nvPr/>
        </p:nvSpPr>
        <p:spPr>
          <a:xfrm>
            <a:off x="9043416" y="2103120"/>
            <a:ext cx="2743200" cy="36576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21" name="Rect 221"/>
          <p:cNvSpPr/>
          <p:nvPr/>
        </p:nvSpPr>
        <p:spPr>
          <a:xfrm>
            <a:off x="9043416" y="2103120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22" name="TextBox 222"/>
          <p:cNvSpPr txBox="1"/>
          <p:nvPr/>
        </p:nvSpPr>
        <p:spPr>
          <a:xfrm>
            <a:off x="10917936" y="2194560"/>
            <a:ext cx="777240" cy="64008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r">
              <a:lnSpc>
                <a:spcPct val="120000"/>
              </a:lnSpc>
            </a:pPr>
            <a:r>
              <a:rPr lang="zh-CN" altLang="en-US" sz="3600" b="1" i="0" spc="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9272016" y="2487168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6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制造运营「失真」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9272016" y="2944368"/>
            <a:ext cx="23317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150" b="0" i="1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数据是补出来的，不是采出来的</a:t>
            </a:r>
          </a:p>
        </p:txBody>
      </p:sp>
      <p:cxnSp>
        <p:nvCxnSpPr>
          <p:cNvPr id="225" name="Line 225"/>
          <p:cNvCxnSpPr/>
          <p:nvPr/>
        </p:nvCxnSpPr>
        <p:spPr>
          <a:xfrm>
            <a:off x="9272016" y="3328416"/>
            <a:ext cx="228600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6"/>
          <p:cNvSpPr txBox="1"/>
          <p:nvPr/>
        </p:nvSpPr>
        <p:spPr>
          <a:xfrm>
            <a:off x="9272016" y="3456432"/>
            <a:ext cx="2331720" cy="14630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lang="zh-CN" altLang="en-US" sz="110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工序数据靠人工报工与事后补录，批次追溯断在纸质记录，过程参数与质量结果无法对应，多基地系统各异、集团无可比数据。</a:t>
            </a:r>
          </a:p>
        </p:txBody>
      </p:sp>
      <p:sp>
        <p:nvSpPr>
          <p:cNvPr id="227" name="Rect 227"/>
          <p:cNvSpPr/>
          <p:nvPr/>
        </p:nvSpPr>
        <p:spPr>
          <a:xfrm>
            <a:off x="9272016" y="5230368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003D7A"/>
          </a:solidFill>
          <a:ln w="9525">
            <a:solidFill>
              <a:srgbClr val="00D4F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28" name="TextBox 228"/>
          <p:cNvSpPr txBox="1"/>
          <p:nvPr/>
        </p:nvSpPr>
        <p:spPr>
          <a:xfrm>
            <a:off x="9272016" y="5266944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lang="zh-CN" altLang="en-US" sz="1000" b="1" i="0" spc="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过程数据不可信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03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8229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00D4FF"/>
                </a:solidFill>
                <a:latin typeface="Arial"/>
              </a:rPr>
              <a:t>INDUSTRY PAIN POINTS · 行业痛点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200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您的数字化投资，为何迟迟无法转化为真实的生产力？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在材料、高科技电子与高端装备领域，企业从不缺工具软件，缺的是驾驭复杂研发与制造过程的能力。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百世慧的答案 → 为您交付  </a:t>
            </a:r>
            <a:r>
              <a:rPr sz="18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可落地、可验证、可持续</a:t>
            </a: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的数字化确定性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800" y="12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spc="200" dirty="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609600"/>
            <a:ext cx="48768" cy="853440"/>
          </a:xfrm>
          <a:prstGeom prst="rect">
            <a:avLst/>
          </a:prstGeom>
          <a:solidFill>
            <a:srgbClr val="2FC6F5"/>
          </a:solidFill>
          <a:ln w="12700">
            <a:solidFill>
              <a:srgbClr val="2FC6F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2752" y="585216"/>
            <a:ext cx="7315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spc="300" dirty="0">
                <a:solidFill>
                  <a:srgbClr val="00D4FF"/>
                </a:solidFill>
                <a:latin typeface="Arial"/>
              </a:rPr>
              <a:t>WHY BESTWAY · 核心定位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82752" y="877824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研发域全链条：设计 · 仿真 · 研发管理 — 同一个团队交付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82752" y="1438656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2FC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从工程到研发协同管理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89632" y="1962912"/>
            <a:ext cx="2206752" cy="512064"/>
          </a:xfrm>
          <a:prstGeom prst="roundRect">
            <a:avLst>
              <a:gd name="adj" fmla="val 19048"/>
            </a:avLst>
          </a:prstGeom>
          <a:solidFill>
            <a:srgbClr val="1F6BDD"/>
          </a:solidFill>
          <a:ln w="12700">
            <a:solidFill>
              <a:srgbClr val="5CA8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389632" y="1962912"/>
            <a:ext cx="2206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98720" y="1962912"/>
            <a:ext cx="2206752" cy="512064"/>
          </a:xfrm>
          <a:prstGeom prst="roundRect">
            <a:avLst>
              <a:gd name="adj" fmla="val 19048"/>
            </a:avLst>
          </a:prstGeom>
          <a:solidFill>
            <a:srgbClr val="1F6BDD"/>
          </a:solidFill>
          <a:ln w="25400">
            <a:solidFill>
              <a:srgbClr val="2FC6F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998720" y="1962912"/>
            <a:ext cx="2206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</a:t>
            </a:r>
            <a:r>
              <a:rPr lang="en-US" sz="1200" dirty="0">
                <a:solidFill>
                  <a:srgbClr val="2FC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2030 战略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95616" y="1962912"/>
            <a:ext cx="2206752" cy="512064"/>
          </a:xfrm>
          <a:prstGeom prst="roundRect">
            <a:avLst>
              <a:gd name="adj" fmla="val 19048"/>
            </a:avLst>
          </a:prstGeom>
          <a:solidFill>
            <a:srgbClr val="1F6BDD"/>
          </a:solidFill>
          <a:ln w="12700">
            <a:solidFill>
              <a:srgbClr val="5CA8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595616" y="1962912"/>
            <a:ext cx="2206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研发管理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657344" y="1962912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266432" y="1962912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11277600" cy="329184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" y="2633472"/>
            <a:ext cx="1127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达索系统 3DEXPERIENCE 一体化平台 — 设计 / 仿真 / 研发管理 同源数据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6992" y="3279648"/>
            <a:ext cx="2779776" cy="2889504"/>
          </a:xfrm>
          <a:prstGeom prst="roundRect">
            <a:avLst>
              <a:gd name="adj" fmla="val 9649"/>
            </a:avLst>
          </a:prstGeom>
          <a:solidFill>
            <a:srgbClr val="0E2547"/>
          </a:solidFill>
          <a:ln w="12700">
            <a:solidFill>
              <a:srgbClr val="0E254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6992" y="3157728"/>
            <a:ext cx="2779776" cy="48768"/>
          </a:xfrm>
          <a:prstGeom prst="rect">
            <a:avLst/>
          </a:prstGeom>
          <a:solidFill>
            <a:srgbClr val="2FC6F5"/>
          </a:solidFill>
          <a:ln w="12700">
            <a:solidFill>
              <a:srgbClr val="2FC6F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60832" y="35478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大项目历练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243328" y="3450336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4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60832" y="4047744"/>
            <a:ext cx="22920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2FC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中煤科工、中国电建等千万级项目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0832" y="4413504"/>
            <a:ext cx="2292096" cy="0"/>
          </a:xfrm>
          <a:prstGeom prst="line">
            <a:avLst/>
          </a:prstGeom>
          <a:noFill/>
          <a:ln w="9525">
            <a:solidFill>
              <a:srgbClr val="9FB4CC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60832" y="4523232"/>
            <a:ext cx="2292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ct val="125000"/>
              </a:lnSpc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余人团队，多个千万级复杂项目的交付经验 — 中煤科工重庆院、千里科技、鹏新旭、中国电建昆明院。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16992" y="5620512"/>
            <a:ext cx="2779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B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40余人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43072" y="3279648"/>
            <a:ext cx="2779776" cy="2889504"/>
          </a:xfrm>
          <a:prstGeom prst="roundRect">
            <a:avLst>
              <a:gd name="adj" fmla="val 9649"/>
            </a:avLst>
          </a:prstGeom>
          <a:solidFill>
            <a:srgbClr val="0E2547"/>
          </a:solidFill>
          <a:ln w="12700">
            <a:solidFill>
              <a:srgbClr val="0E254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43072" y="3157728"/>
            <a:ext cx="2779776" cy="48768"/>
          </a:xfrm>
          <a:prstGeom prst="rect">
            <a:avLst/>
          </a:prstGeom>
          <a:solidFill>
            <a:srgbClr val="2FC6F5"/>
          </a:solidFill>
          <a:ln w="12700">
            <a:solidFill>
              <a:srgbClr val="2FC6F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486912" y="35478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八年零合同纠纷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169408" y="3450336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4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486912" y="4047744"/>
            <a:ext cx="22920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2FC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成立至今，没有一起合同纠纷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86912" y="4413504"/>
            <a:ext cx="2292096" cy="0"/>
          </a:xfrm>
          <a:prstGeom prst="line">
            <a:avLst/>
          </a:prstGeom>
          <a:noFill/>
          <a:ln w="9525">
            <a:solidFill>
              <a:srgbClr val="9FB4CC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486912" y="4523232"/>
            <a:ext cx="2292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ct val="125000"/>
              </a:lnSpc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「遵守契约」是我们不可妥协的底线，而非谈判的筹码。客户选择百世慧，不需要为项目烂尾准备预案。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3243072" y="5620512"/>
            <a:ext cx="2779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B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8年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69152" y="3279648"/>
            <a:ext cx="2779776" cy="2889504"/>
          </a:xfrm>
          <a:prstGeom prst="roundRect">
            <a:avLst>
              <a:gd name="adj" fmla="val 9649"/>
            </a:avLst>
          </a:prstGeom>
          <a:solidFill>
            <a:srgbClr val="0E2547"/>
          </a:solidFill>
          <a:ln w="12700">
            <a:solidFill>
              <a:srgbClr val="0E254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69152" y="3157728"/>
            <a:ext cx="2779776" cy="48768"/>
          </a:xfrm>
          <a:prstGeom prst="rect">
            <a:avLst/>
          </a:prstGeom>
          <a:solidFill>
            <a:srgbClr val="2FC6F5"/>
          </a:solidFill>
          <a:ln w="12700">
            <a:solidFill>
              <a:srgbClr val="2FC6F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412992" y="35478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直面技术难题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095488" y="3450336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4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412992" y="4047744"/>
            <a:ext cx="22920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2FC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技术人员占团队八成以上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12992" y="4413504"/>
            <a:ext cx="2292096" cy="0"/>
          </a:xfrm>
          <a:prstGeom prst="line">
            <a:avLst/>
          </a:prstGeom>
          <a:noFill/>
          <a:ln w="9525">
            <a:solidFill>
              <a:srgbClr val="9FB4CC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6412992" y="4523232"/>
            <a:ext cx="2292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ct val="125000"/>
              </a:lnSpc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团队八成以上是技术工程师。与您对接的，始终是懂工程的人，我们从不回避探讨技术问题。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169152" y="5620512"/>
            <a:ext cx="2779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B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80%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095232" y="3279648"/>
            <a:ext cx="2779776" cy="2889504"/>
          </a:xfrm>
          <a:prstGeom prst="roundRect">
            <a:avLst>
              <a:gd name="adj" fmla="val 9649"/>
            </a:avLst>
          </a:prstGeom>
          <a:solidFill>
            <a:srgbClr val="0E2547"/>
          </a:solidFill>
          <a:ln w="12700">
            <a:solidFill>
              <a:srgbClr val="0E254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095232" y="3157728"/>
            <a:ext cx="2779776" cy="48768"/>
          </a:xfrm>
          <a:prstGeom prst="rect">
            <a:avLst/>
          </a:prstGeom>
          <a:solidFill>
            <a:srgbClr val="2FC6F5"/>
          </a:solidFill>
          <a:ln w="12700">
            <a:solidFill>
              <a:srgbClr val="2FC6F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9339072" y="35478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三个环节自交付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11021568" y="3450336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4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9339072" y="4047744"/>
            <a:ext cx="22920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2FC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设计、仿真、研发管理一家做完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339072" y="4413504"/>
            <a:ext cx="2292096" cy="0"/>
          </a:xfrm>
          <a:prstGeom prst="line">
            <a:avLst/>
          </a:prstGeom>
          <a:noFill/>
          <a:ln w="9525">
            <a:solidFill>
              <a:srgbClr val="9FB4CC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9339072" y="4523232"/>
            <a:ext cx="2292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ct val="125000"/>
              </a:lnSpc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设计、仿真、研发管理三个环节我们都自己做 — 问题出在哪一环就在哪一环解决，不用在服务商之间来回传话。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9095232" y="5620512"/>
            <a:ext cx="2779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B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个环节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A8527D-C580-A87C-5F73-24DCFF3456E8}"/>
              </a:ext>
            </a:extLst>
          </p:cNvPr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293"/>
          <p:cNvSpPr txBox="1"/>
          <p:nvPr/>
        </p:nvSpPr>
        <p:spPr>
          <a:xfrm>
            <a:off x="457200" y="1874520"/>
            <a:ext cx="6035040" cy="25603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200" b="1" i="0" spc="20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PROMESA MODULES · </a:t>
            </a:r>
            <a:r>
              <a:rPr lang="zh-CN" altLang="en-US" sz="1200" b="1" i="0" spc="10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六大模块（自研）</a:t>
            </a:r>
          </a:p>
        </p:txBody>
      </p:sp>
      <p:sp>
        <p:nvSpPr>
          <p:cNvPr id="331" name="Rect 294"/>
          <p:cNvSpPr/>
          <p:nvPr/>
        </p:nvSpPr>
        <p:spPr>
          <a:xfrm>
            <a:off x="457200" y="2240280"/>
            <a:ext cx="2926080" cy="10972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32" name="Rect 295"/>
          <p:cNvSpPr/>
          <p:nvPr/>
        </p:nvSpPr>
        <p:spPr>
          <a:xfrm>
            <a:off x="457200" y="2240280"/>
            <a:ext cx="4572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33" name="TextBox 296"/>
          <p:cNvSpPr txBox="1"/>
          <p:nvPr/>
        </p:nvSpPr>
        <p:spPr>
          <a:xfrm>
            <a:off x="640080" y="2322576"/>
            <a:ext cx="265176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300" b="1" i="0" spc="5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MES</a:t>
            </a:r>
            <a:r>
              <a:rPr lang="zh-CN" altLang="en-US" sz="12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生产执行</a:t>
            </a:r>
          </a:p>
        </p:txBody>
      </p:sp>
      <p:sp>
        <p:nvSpPr>
          <p:cNvPr id="334" name="TextBox 297"/>
          <p:cNvSpPr txBox="1"/>
          <p:nvPr/>
        </p:nvSpPr>
        <p:spPr>
          <a:xfrm>
            <a:off x="640080" y="2660904"/>
            <a:ext cx="2651760" cy="585216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950" b="0" i="0" spc="0" dirty="0">
                <a:solidFill>
                  <a:srgbClr val="CFE6F7"/>
                </a:solidFill>
                <a:latin typeface="微软雅黑"/>
                <a:ea typeface="微软雅黑"/>
                <a:cs typeface="微软雅黑"/>
              </a:rPr>
              <a:t>工单全生命周期 · 生产过程透明化 · 工时管理 · PPC 排产</a:t>
            </a:r>
          </a:p>
        </p:txBody>
      </p:sp>
      <p:sp>
        <p:nvSpPr>
          <p:cNvPr id="335" name="Rect 298"/>
          <p:cNvSpPr/>
          <p:nvPr/>
        </p:nvSpPr>
        <p:spPr>
          <a:xfrm>
            <a:off x="3566160" y="2240280"/>
            <a:ext cx="2926080" cy="10972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36" name="Rect 299"/>
          <p:cNvSpPr/>
          <p:nvPr/>
        </p:nvSpPr>
        <p:spPr>
          <a:xfrm>
            <a:off x="3566160" y="2240280"/>
            <a:ext cx="4572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37" name="TextBox 300"/>
          <p:cNvSpPr txBox="1"/>
          <p:nvPr/>
        </p:nvSpPr>
        <p:spPr>
          <a:xfrm>
            <a:off x="3749040" y="2322576"/>
            <a:ext cx="265176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300" b="1" i="0" spc="5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WMS</a:t>
            </a:r>
            <a:r>
              <a:rPr lang="zh-CN" altLang="en-US" sz="12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仓储物流</a:t>
            </a:r>
          </a:p>
        </p:txBody>
      </p:sp>
      <p:sp>
        <p:nvSpPr>
          <p:cNvPr id="338" name="TextBox 301"/>
          <p:cNvSpPr txBox="1"/>
          <p:nvPr/>
        </p:nvSpPr>
        <p:spPr>
          <a:xfrm>
            <a:off x="3749040" y="2660904"/>
            <a:ext cx="2651760" cy="585216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950" b="0" i="0" spc="0" dirty="0">
                <a:solidFill>
                  <a:srgbClr val="CFE6F7"/>
                </a:solidFill>
                <a:latin typeface="微软雅黑"/>
                <a:ea typeface="微软雅黑"/>
                <a:cs typeface="微软雅黑"/>
              </a:rPr>
              <a:t>物料精细化管控 · 拉动式物流 · 智能仓储 · 库存分析</a:t>
            </a:r>
          </a:p>
        </p:txBody>
      </p:sp>
      <p:sp>
        <p:nvSpPr>
          <p:cNvPr id="339" name="Rect 302"/>
          <p:cNvSpPr/>
          <p:nvPr/>
        </p:nvSpPr>
        <p:spPr>
          <a:xfrm>
            <a:off x="457200" y="3483864"/>
            <a:ext cx="2926080" cy="10972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0" name="Rect 303"/>
          <p:cNvSpPr/>
          <p:nvPr/>
        </p:nvSpPr>
        <p:spPr>
          <a:xfrm>
            <a:off x="457200" y="3483864"/>
            <a:ext cx="4572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1" name="TextBox 304"/>
          <p:cNvSpPr txBox="1"/>
          <p:nvPr/>
        </p:nvSpPr>
        <p:spPr>
          <a:xfrm>
            <a:off x="640080" y="3566160"/>
            <a:ext cx="265176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300" b="1" i="0" spc="5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QMS</a:t>
            </a:r>
            <a:r>
              <a:rPr lang="zh-CN" altLang="en-US" sz="12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质量管理</a:t>
            </a:r>
          </a:p>
        </p:txBody>
      </p:sp>
      <p:sp>
        <p:nvSpPr>
          <p:cNvPr id="342" name="TextBox 305"/>
          <p:cNvSpPr txBox="1"/>
          <p:nvPr/>
        </p:nvSpPr>
        <p:spPr>
          <a:xfrm>
            <a:off x="640080" y="3904488"/>
            <a:ext cx="2651760" cy="585216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950" b="0" i="0" spc="0" dirty="0">
                <a:solidFill>
                  <a:srgbClr val="CFE6F7"/>
                </a:solidFill>
                <a:latin typeface="微软雅黑"/>
                <a:ea typeface="微软雅黑"/>
                <a:cs typeface="微软雅黑"/>
              </a:rPr>
              <a:t>SPC 统计过程控制 · FMEA · 在线检测</a:t>
            </a:r>
          </a:p>
        </p:txBody>
      </p:sp>
      <p:sp>
        <p:nvSpPr>
          <p:cNvPr id="343" name="Rect 306"/>
          <p:cNvSpPr/>
          <p:nvPr/>
        </p:nvSpPr>
        <p:spPr>
          <a:xfrm>
            <a:off x="3566160" y="3483864"/>
            <a:ext cx="2926080" cy="10972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4" name="Rect 307"/>
          <p:cNvSpPr/>
          <p:nvPr/>
        </p:nvSpPr>
        <p:spPr>
          <a:xfrm>
            <a:off x="3566160" y="3483864"/>
            <a:ext cx="4572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5" name="TextBox 308"/>
          <p:cNvSpPr txBox="1"/>
          <p:nvPr/>
        </p:nvSpPr>
        <p:spPr>
          <a:xfrm>
            <a:off x="3749040" y="3566160"/>
            <a:ext cx="265176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300" b="1" i="0" spc="5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EMS</a:t>
            </a:r>
            <a:r>
              <a:rPr lang="zh-CN" altLang="en-US" sz="12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设备管理</a:t>
            </a:r>
          </a:p>
        </p:txBody>
      </p:sp>
      <p:sp>
        <p:nvSpPr>
          <p:cNvPr id="346" name="TextBox 309"/>
          <p:cNvSpPr txBox="1"/>
          <p:nvPr/>
        </p:nvSpPr>
        <p:spPr>
          <a:xfrm>
            <a:off x="3749040" y="3904488"/>
            <a:ext cx="2651760" cy="585216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950" b="0" i="0" spc="0" dirty="0">
                <a:solidFill>
                  <a:srgbClr val="CFE6F7"/>
                </a:solidFill>
                <a:latin typeface="微软雅黑"/>
                <a:ea typeface="微软雅黑"/>
                <a:cs typeface="微软雅黑"/>
              </a:rPr>
              <a:t>TPM 预防维保 · 实时状态监控 · 故障预警 · OEE 分析</a:t>
            </a:r>
          </a:p>
        </p:txBody>
      </p:sp>
      <p:sp>
        <p:nvSpPr>
          <p:cNvPr id="347" name="Rect 310"/>
          <p:cNvSpPr/>
          <p:nvPr/>
        </p:nvSpPr>
        <p:spPr>
          <a:xfrm>
            <a:off x="457200" y="4727448"/>
            <a:ext cx="2926080" cy="10972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8" name="Rect 311"/>
          <p:cNvSpPr/>
          <p:nvPr/>
        </p:nvSpPr>
        <p:spPr>
          <a:xfrm>
            <a:off x="457200" y="4727448"/>
            <a:ext cx="4572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9" name="TextBox 312"/>
          <p:cNvSpPr txBox="1"/>
          <p:nvPr/>
        </p:nvSpPr>
        <p:spPr>
          <a:xfrm>
            <a:off x="640080" y="4809744"/>
            <a:ext cx="265176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300" b="1" i="0" spc="5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CTS</a:t>
            </a:r>
            <a:r>
              <a:rPr lang="zh-CN" altLang="en-US" sz="12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全流程追溯</a:t>
            </a:r>
          </a:p>
        </p:txBody>
      </p:sp>
      <p:sp>
        <p:nvSpPr>
          <p:cNvPr id="350" name="TextBox 313"/>
          <p:cNvSpPr txBox="1"/>
          <p:nvPr/>
        </p:nvSpPr>
        <p:spPr>
          <a:xfrm>
            <a:off x="640080" y="5148072"/>
            <a:ext cx="2651760" cy="585216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950" b="0" i="0" spc="0" dirty="0">
                <a:solidFill>
                  <a:srgbClr val="CFE6F7"/>
                </a:solidFill>
                <a:latin typeface="微软雅黑"/>
                <a:ea typeface="微软雅黑"/>
                <a:cs typeface="微软雅黑"/>
              </a:rPr>
              <a:t>批次正向 / 逆向追溯 · 全链质量档案</a:t>
            </a:r>
          </a:p>
        </p:txBody>
      </p:sp>
      <p:sp>
        <p:nvSpPr>
          <p:cNvPr id="351" name="Rect 314"/>
          <p:cNvSpPr/>
          <p:nvPr/>
        </p:nvSpPr>
        <p:spPr>
          <a:xfrm>
            <a:off x="3566160" y="4727448"/>
            <a:ext cx="2926080" cy="10972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52" name="Rect 315"/>
          <p:cNvSpPr/>
          <p:nvPr/>
        </p:nvSpPr>
        <p:spPr>
          <a:xfrm>
            <a:off x="3566160" y="4727448"/>
            <a:ext cx="45720" cy="10972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53" name="TextBox 316"/>
          <p:cNvSpPr txBox="1"/>
          <p:nvPr/>
        </p:nvSpPr>
        <p:spPr>
          <a:xfrm>
            <a:off x="3749040" y="4809744"/>
            <a:ext cx="265176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300" b="1" i="0" spc="5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SCMS</a:t>
            </a:r>
            <a:r>
              <a:rPr lang="zh-CN" altLang="en-US" sz="1200" b="1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配刀配切</a:t>
            </a:r>
          </a:p>
        </p:txBody>
      </p:sp>
      <p:sp>
        <p:nvSpPr>
          <p:cNvPr id="354" name="TextBox 317"/>
          <p:cNvSpPr txBox="1"/>
          <p:nvPr/>
        </p:nvSpPr>
        <p:spPr>
          <a:xfrm>
            <a:off x="3749040" y="5148072"/>
            <a:ext cx="2651760" cy="585216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950" b="0" i="0" spc="0" dirty="0">
                <a:solidFill>
                  <a:srgbClr val="CFE6F7"/>
                </a:solidFill>
                <a:latin typeface="微软雅黑"/>
                <a:ea typeface="微软雅黑"/>
                <a:cs typeface="微软雅黑"/>
              </a:rPr>
              <a:t>智能配切排版 · 刀具寿命管理 · 材料利用率优化</a:t>
            </a:r>
            <a:r>
              <a:rPr lang="zh-CN" altLang="en-US" sz="950" b="1" i="0" spc="0" dirty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　铜箔行业专属</a:t>
            </a:r>
          </a:p>
        </p:txBody>
      </p:sp>
      <p:sp>
        <p:nvSpPr>
          <p:cNvPr id="355" name="TextBox 318"/>
          <p:cNvSpPr txBox="1"/>
          <p:nvPr/>
        </p:nvSpPr>
        <p:spPr>
          <a:xfrm>
            <a:off x="6675120" y="1874520"/>
            <a:ext cx="5056632" cy="25603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200" b="1" i="0" spc="200" dirty="0">
                <a:solidFill>
                  <a:srgbClr val="00D4FF"/>
                </a:solidFill>
                <a:latin typeface="Arial"/>
                <a:ea typeface="Arial"/>
                <a:cs typeface="Arial"/>
              </a:rPr>
              <a:t>INDUSTRY SCOPE · </a:t>
            </a:r>
            <a:r>
              <a:rPr lang="zh-CN" altLang="en-US" sz="1200" b="1" i="0" spc="100" dirty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行业界定</a:t>
            </a:r>
          </a:p>
        </p:txBody>
      </p:sp>
      <p:sp>
        <p:nvSpPr>
          <p:cNvPr id="356" name="Rect 319"/>
          <p:cNvSpPr/>
          <p:nvPr/>
        </p:nvSpPr>
        <p:spPr>
          <a:xfrm>
            <a:off x="6675120" y="2240280"/>
            <a:ext cx="5056632" cy="16002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57" name="Rect 320"/>
          <p:cNvSpPr/>
          <p:nvPr/>
        </p:nvSpPr>
        <p:spPr>
          <a:xfrm>
            <a:off x="6675120" y="2240280"/>
            <a:ext cx="45720" cy="16002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58" name="TextBox 321"/>
          <p:cNvSpPr txBox="1"/>
          <p:nvPr/>
        </p:nvSpPr>
        <p:spPr>
          <a:xfrm>
            <a:off x="6876288" y="2395728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050" b="1" i="0" spc="0" dirty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已验证 · 连续型</a:t>
            </a:r>
          </a:p>
        </p:txBody>
      </p:sp>
      <p:sp>
        <p:nvSpPr>
          <p:cNvPr id="359" name="TextBox 322"/>
          <p:cNvSpPr txBox="1"/>
          <p:nvPr/>
        </p:nvSpPr>
        <p:spPr>
          <a:xfrm>
            <a:off x="8247888" y="2395728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105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锂电铜箔 — 连续型工艺、批次级正逆向追溯、多基地统一管控</a:t>
            </a:r>
          </a:p>
        </p:txBody>
      </p:sp>
      <p:sp>
        <p:nvSpPr>
          <p:cNvPr id="360" name="TextBox 323"/>
          <p:cNvSpPr txBox="1"/>
          <p:nvPr/>
        </p:nvSpPr>
        <p:spPr>
          <a:xfrm>
            <a:off x="6876288" y="301752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050" b="1" i="0" spc="0" dirty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已验证 · 离散型</a:t>
            </a:r>
          </a:p>
        </p:txBody>
      </p:sp>
      <p:sp>
        <p:nvSpPr>
          <p:cNvPr id="361" name="TextBox 324"/>
          <p:cNvSpPr txBox="1"/>
          <p:nvPr/>
        </p:nvSpPr>
        <p:spPr>
          <a:xfrm>
            <a:off x="8247888" y="3017520"/>
            <a:ext cx="329184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105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汽车零部件</a:t>
            </a:r>
          </a:p>
        </p:txBody>
      </p:sp>
      <p:sp>
        <p:nvSpPr>
          <p:cNvPr id="362" name="TextBox 325"/>
          <p:cNvSpPr txBox="1"/>
          <p:nvPr/>
        </p:nvSpPr>
        <p:spPr>
          <a:xfrm>
            <a:off x="6876288" y="3429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1050" b="1" i="0" spc="0" dirty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集成接口</a:t>
            </a:r>
          </a:p>
        </p:txBody>
      </p:sp>
      <p:sp>
        <p:nvSpPr>
          <p:cNvPr id="363" name="TextBox 326"/>
          <p:cNvSpPr txBox="1"/>
          <p:nvPr/>
        </p:nvSpPr>
        <p:spPr>
          <a:xfrm>
            <a:off x="8247888" y="3429000"/>
            <a:ext cx="329184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lang="zh-CN" altLang="en-US" sz="1050" b="0" i="0" spc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BI · APS · SCADA · ERP · EAM</a:t>
            </a:r>
          </a:p>
        </p:txBody>
      </p:sp>
      <p:sp>
        <p:nvSpPr>
          <p:cNvPr id="364" name="TextBox 37">
            <a:extLst>
              <a:ext uri="{FF2B5EF4-FFF2-40B4-BE49-F238E27FC236}">
                <a16:creationId xmlns:a16="http://schemas.microsoft.com/office/drawing/2014/main" id="{AC08FD38-4195-08A8-128A-B3FD66240FA1}"/>
              </a:ext>
            </a:extLst>
          </p:cNvPr>
          <p:cNvSpPr txBox="1"/>
          <p:nvPr/>
        </p:nvSpPr>
        <p:spPr>
          <a:xfrm>
            <a:off x="6675120" y="3977640"/>
            <a:ext cx="505663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INDUSTRY POSITION · 锂电铜箔行业地位</a:t>
            </a:r>
          </a:p>
        </p:txBody>
      </p:sp>
      <p:sp>
        <p:nvSpPr>
          <p:cNvPr id="365" name="Rect 327"/>
          <p:cNvSpPr/>
          <p:nvPr/>
        </p:nvSpPr>
        <p:spPr>
          <a:xfrm>
            <a:off x="6675120" y="4297680"/>
            <a:ext cx="5056632" cy="152704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66" name="Rect 328"/>
          <p:cNvSpPr/>
          <p:nvPr/>
        </p:nvSpPr>
        <p:spPr>
          <a:xfrm>
            <a:off x="6675120" y="4297680"/>
            <a:ext cx="45720" cy="1527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67" name="TextBox 38">
            <a:extLst>
              <a:ext uri="{FF2B5EF4-FFF2-40B4-BE49-F238E27FC236}">
                <a16:creationId xmlns:a16="http://schemas.microsoft.com/office/drawing/2014/main" id="{0FE757EA-3819-69E3-A668-4A633E73B707}"/>
              </a:ext>
            </a:extLst>
          </p:cNvPr>
          <p:cNvSpPr txBox="1"/>
          <p:nvPr/>
        </p:nvSpPr>
        <p:spPr>
          <a:xfrm>
            <a:off x="6858000" y="4315968"/>
            <a:ext cx="23774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4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4</a:t>
            </a:r>
            <a:r>
              <a:rPr kumimoji="0" sz="2900" b="1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/ 10</a:t>
            </a:r>
          </a:p>
        </p:txBody>
      </p:sp>
      <p:sp>
        <p:nvSpPr>
          <p:cNvPr id="368" name="TextBox 39">
            <a:extLst>
              <a:ext uri="{FF2B5EF4-FFF2-40B4-BE49-F238E27FC236}">
                <a16:creationId xmlns:a16="http://schemas.microsoft.com/office/drawing/2014/main" id="{B98CF932-A083-40E6-000E-F165A46B60C0}"/>
              </a:ext>
            </a:extLst>
          </p:cNvPr>
          <p:cNvSpPr txBox="1"/>
          <p:nvPr/>
        </p:nvSpPr>
        <p:spPr>
          <a:xfrm>
            <a:off x="9281160" y="4498848"/>
            <a:ext cx="22860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国内锂电铜箔产能前 10 企业中使用百世慧 ProMESA 系统，其中 3 家来自前 5 名</a:t>
            </a:r>
          </a:p>
        </p:txBody>
      </p:sp>
      <p:sp>
        <p:nvSpPr>
          <p:cNvPr id="369" name="TextBox 40">
            <a:extLst>
              <a:ext uri="{FF2B5EF4-FFF2-40B4-BE49-F238E27FC236}">
                <a16:creationId xmlns:a16="http://schemas.microsoft.com/office/drawing/2014/main" id="{0DBDAF0F-B423-40ED-168F-B90BFA32FB75}"/>
              </a:ext>
            </a:extLst>
          </p:cNvPr>
          <p:cNvSpPr txBox="1"/>
          <p:nvPr/>
        </p:nvSpPr>
        <p:spPr>
          <a:xfrm>
            <a:off x="6839712" y="5504688"/>
            <a:ext cx="48463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注：腰部及以下铜箔企业尚未进入系统化建设阶段，头部市场是该行业 MOM 的主战场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05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8229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00D4FF"/>
                </a:solidFill>
                <a:latin typeface="Arial"/>
              </a:rPr>
              <a:t>MANUFACTURING OPERATIONS · 制造运营业务线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200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ProMESA — 面向材料行业的自研制造运营平台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已验证于锂电铜箔 — 连续型工艺、批次级正逆向追溯、多基地统一管控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自研 · 自主可控 · 按行业工艺定制 — 诺德、嘉元、华创、江铜等头部企业多基地落地，近 3000 人常态化在线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06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8229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00D4FF"/>
                </a:solidFill>
                <a:latin typeface="Arial"/>
              </a:rPr>
              <a:t>STRATEGIC TRACKS · 战略赛道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200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三大赛道，每一个都有真实的千万级交付记录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我们不做大而全的泛行业集成商 — 专注高科技、高端装备与材料三大领域，交付可验证的数字化确定性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2011680"/>
            <a:ext cx="3749039" cy="443484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5127" y="2011680"/>
            <a:ext cx="3749039" cy="7315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447" y="2194560"/>
            <a:ext cx="1371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00CED1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2880360"/>
            <a:ext cx="320039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高科技领域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3429000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3703320"/>
            <a:ext cx="320039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应对产品迭代快、多专业协同复杂、仿真精度要求高的三重压力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389120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核心能力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" y="4663440"/>
            <a:ext cx="36576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0887" y="4626864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多物理场仿真分析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" y="4974336"/>
            <a:ext cx="36576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0887" y="4937759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研发过程数据管控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" y="5285231"/>
            <a:ext cx="36576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0887" y="5248655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多专业并行协同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" y="5596127"/>
            <a:ext cx="36576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887" y="5559551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知识工程 (KBE) 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7" y="5852159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代表客户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" y="6126479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鹏新旭技术 · 中芯国际 · 360 智慧生活 · 深图影像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1327" y="2011680"/>
            <a:ext cx="3749039" cy="443484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21327" y="2011680"/>
            <a:ext cx="3749039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5647" y="2194561"/>
            <a:ext cx="1371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00D4FF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2880361"/>
            <a:ext cx="320039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高端装备领域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3429000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647" y="3703321"/>
            <a:ext cx="320039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攻克万件级大装配、机电液多专业协同与长周期研发管控的三重挑战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647" y="4389121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核心能力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5647" y="4663440"/>
            <a:ext cx="36576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7087" y="4626864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Top-Down 骨架设计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5647" y="4974336"/>
            <a:ext cx="36576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87087" y="4937760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机电液多专业并行协同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95647" y="5285232"/>
            <a:ext cx="36576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87087" y="5248656"/>
            <a:ext cx="3200399" cy="2228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仿真驱动设计决策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5647" y="5596128"/>
            <a:ext cx="36576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87087" y="5559552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研发知识工程沉淀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5647" y="5852160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代表客户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5647" y="6126480"/>
            <a:ext cx="3200399" cy="2059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中煤科工 · 齐星</a:t>
            </a:r>
            <a:r>
              <a:rPr lang="en-CN" sz="1000" b="0" i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汽车</a:t>
            </a:r>
            <a:r>
              <a:rPr sz="1000" b="0" i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· 千里科技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07527" y="2011680"/>
            <a:ext cx="3749039" cy="443484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07527" y="2011680"/>
            <a:ext cx="3749039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81847" y="2194560"/>
            <a:ext cx="1371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FFB800"/>
                </a:solidFill>
                <a:latin typeface="Arial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1847" y="2880360"/>
            <a:ext cx="320039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材料行业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1847" y="3429000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1847" y="3703320"/>
            <a:ext cx="320039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配方与工艺高度耦合；连续型生产的批次追溯精度苛刻，过程数据难采集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1847" y="4389120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核心能力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81847" y="4663440"/>
            <a:ext cx="36576" cy="228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3287" y="4626864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实验数据与材料配方管理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81847" y="4974336"/>
            <a:ext cx="36576" cy="228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73287" y="4937759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工艺与多物理场仿真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81847" y="5285231"/>
            <a:ext cx="36576" cy="228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73287" y="5248655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跨基地协同研发管控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1847" y="5596127"/>
            <a:ext cx="36576" cy="228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73287" y="5559551"/>
            <a:ext cx="32003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ProMESA MOM 制造运营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1847" y="5852159"/>
            <a:ext cx="320039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代表客户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1847" y="6126479"/>
            <a:ext cx="3200399" cy="2059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诺德 · 嘉元 · 华创新材料 · 江铜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07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8229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00D4FF"/>
                </a:solidFill>
                <a:latin typeface="Arial"/>
              </a:rPr>
              <a:t>CAPABILITY MATRIX · 产品能力矩阵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20095" cy="408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大能力域</a:t>
            </a:r>
            <a:r>
              <a:rPr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贯通研发到制造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达索系统与西门子两条仿真产品线，加上百世慧自研 ProMESA — 覆盖从设计、仿真、研发管理到制造运营的完整能力组合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474" y="2057400"/>
            <a:ext cx="2167676" cy="3657600"/>
          </a:xfrm>
          <a:prstGeom prst="rect">
            <a:avLst/>
          </a:prstGeom>
          <a:solidFill>
            <a:srgbClr val="003D7A"/>
          </a:solidFill>
          <a:ln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474" y="2057400"/>
            <a:ext cx="2167676" cy="3657600"/>
          </a:xfrm>
          <a:prstGeom prst="rect">
            <a:avLst/>
          </a:prstGeom>
          <a:noFill/>
          <a:ln w="25400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914" y="2221992"/>
            <a:ext cx="1984796" cy="187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" b="1" spc="200">
                <a:solidFill>
                  <a:srgbClr val="00CED1"/>
                </a:solidFill>
                <a:latin typeface="Arial"/>
              </a:rPr>
              <a:t>DASSAULT · SIEMENS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914" y="2514600"/>
            <a:ext cx="1984796" cy="408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CATIA</a:t>
            </a:r>
            <a:r>
              <a:rPr lang="zh-CN" altLang="en-US" sz="2200" b="1" i="0">
                <a:solidFill>
                  <a:srgbClr val="FFFFFF"/>
                </a:solidFill>
                <a:latin typeface="微软雅黑"/>
              </a:rPr>
              <a:t> </a:t>
            </a:r>
            <a:r>
              <a:rPr lang="en-US" altLang="zh-CN" sz="2200" b="1" i="0">
                <a:solidFill>
                  <a:srgbClr val="FFFFFF"/>
                </a:solidFill>
                <a:latin typeface="微软雅黑"/>
              </a:rPr>
              <a:t>+ NX</a:t>
            </a:r>
            <a:endParaRPr sz="2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914" y="3246120"/>
            <a:ext cx="1984796" cy="2904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914" y="3657600"/>
            <a:ext cx="19847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2914" y="4023360"/>
            <a:ext cx="1984796" cy="0"/>
          </a:xfrm>
          <a:prstGeom prst="line">
            <a:avLst/>
          </a:prstGeom>
          <a:ln w="127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2914" y="4160520"/>
            <a:ext cx="1984796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造型 · 工程 · 系统工程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914" y="4846320"/>
            <a:ext cx="1984796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大学科 · 多专业协同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4604" y="1920240"/>
            <a:ext cx="2167676" cy="39319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34604" y="1920240"/>
            <a:ext cx="2167676" cy="3931920"/>
          </a:xfrm>
          <a:prstGeom prst="rect">
            <a:avLst/>
          </a:prstGeom>
          <a:noFill/>
          <a:ln w="25400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26044" y="2221992"/>
            <a:ext cx="1984796" cy="187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900" b="1" spc="200">
                <a:solidFill>
                  <a:srgbClr val="00CED1"/>
                </a:solidFill>
                <a:latin typeface="Arial"/>
              </a:rPr>
              <a:t>DASSAULT · SIEMENS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6044" y="2514600"/>
            <a:ext cx="2167676" cy="341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2000" b="1" spc="-100">
                <a:solidFill>
                  <a:srgbClr val="FFFFFF"/>
                </a:solidFill>
                <a:latin typeface="微软雅黑"/>
              </a:defRPr>
            </a:lvl1pPr>
          </a:lstStyle>
          <a:p>
            <a:pPr algn="l"/>
            <a:r>
              <a:rPr lang="en-CN" sz="2200" spc="0"/>
              <a:t>SIMULIA</a:t>
            </a:r>
            <a:r>
              <a:rPr lang="zh-CN" altLang="en-US" sz="2200" spc="0"/>
              <a:t> </a:t>
            </a:r>
            <a:r>
              <a:rPr lang="zh-CN" altLang="en-US" sz="2200" dirty="0"/>
              <a:t>+</a:t>
            </a:r>
            <a:r>
              <a:rPr lang="en-US" sz="2200"/>
              <a:t> </a:t>
            </a:r>
            <a:endParaRPr lang="en-CN" sz="2200"/>
          </a:p>
        </p:txBody>
      </p:sp>
      <p:sp>
        <p:nvSpPr>
          <p:cNvPr id="366" name="TextBox 366"/>
          <p:cNvSpPr txBox="1"/>
          <p:nvPr/>
        </p:nvSpPr>
        <p:spPr>
          <a:xfrm>
            <a:off x="2734604" y="2835324"/>
            <a:ext cx="3354948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0000"/>
              </a:lnSpc>
            </a:pPr>
            <a:r>
              <a:rPr lang="zh-CN" altLang="en-US" sz="2200" b="1" spc="-160" dirty="0">
                <a:solidFill>
                  <a:srgbClr val="FFFFFF"/>
                </a:solidFill>
                <a:latin typeface="微软雅黑"/>
              </a:rPr>
              <a:t>Altair · Simcenter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6044" y="3246120"/>
            <a:ext cx="3354948" cy="2904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6044" y="3657600"/>
            <a:ext cx="19847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Simulation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26044" y="4023360"/>
            <a:ext cx="1984797" cy="0"/>
          </a:xfrm>
          <a:prstGeom prst="line">
            <a:avLst/>
          </a:prstGeom>
          <a:ln w="12700">
            <a:solidFill>
              <a:srgbClr val="00C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826044" y="4160520"/>
            <a:ext cx="1984796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多物理场耦合 · 结构优化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6044" y="4846320"/>
            <a:ext cx="1984796" cy="2482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双引擎 · 8 大仿真方向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12009" y="2057400"/>
            <a:ext cx="2167676" cy="3657600"/>
          </a:xfrm>
          <a:prstGeom prst="rect">
            <a:avLst/>
          </a:prstGeom>
          <a:solidFill>
            <a:srgbClr val="003D7A"/>
          </a:solidFill>
          <a:ln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12009" y="2057400"/>
            <a:ext cx="2167676" cy="3657600"/>
          </a:xfrm>
          <a:prstGeom prst="rect">
            <a:avLst/>
          </a:prstGeom>
          <a:noFill/>
          <a:ln w="25400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3449" y="2221992"/>
            <a:ext cx="1984796" cy="187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900" b="1" spc="200">
                <a:solidFill>
                  <a:srgbClr val="00CED1"/>
                </a:solidFill>
                <a:latin typeface="Arial"/>
              </a:defRPr>
            </a:lvl1pPr>
          </a:lstStyle>
          <a:p>
            <a:r>
              <a:t>DASSAULT</a:t>
            </a:r>
            <a:r>
              <a:rPr lang="zh-CN" altLang="en-US"/>
              <a:t> </a:t>
            </a:r>
            <a:r>
              <a:rPr lang="en-US" altLang="zh-CN"/>
              <a:t>SYSTEMES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03449" y="2514600"/>
            <a:ext cx="198479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ENOVIA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3449" y="3246120"/>
            <a:ext cx="1984796" cy="2904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研发管理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3449" y="3657600"/>
            <a:ext cx="1984796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P</a:t>
            </a:r>
            <a:r>
              <a:rPr lang="en-US" sz="1000" b="0" i="1">
                <a:solidFill>
                  <a:srgbClr val="FFFFFF"/>
                </a:solidFill>
                <a:latin typeface="Arial"/>
              </a:rPr>
              <a:t>roduct </a:t>
            </a:r>
            <a:r>
              <a:rPr sz="1000" b="0" i="1">
                <a:solidFill>
                  <a:srgbClr val="FFFFFF"/>
                </a:solidFill>
                <a:latin typeface="Arial"/>
              </a:rPr>
              <a:t>L</a:t>
            </a:r>
            <a:r>
              <a:rPr lang="en-US" sz="1000" i="1">
                <a:solidFill>
                  <a:srgbClr val="FFFFFF"/>
                </a:solidFill>
                <a:latin typeface="Arial"/>
              </a:rPr>
              <a:t>ifecycle </a:t>
            </a:r>
            <a:r>
              <a:rPr sz="1000" b="0" i="1">
                <a:solidFill>
                  <a:srgbClr val="FFFFFF"/>
                </a:solidFill>
                <a:latin typeface="Arial"/>
              </a:rPr>
              <a:t>M</a:t>
            </a:r>
            <a:r>
              <a:rPr lang="en-US" sz="1000" b="0" i="1">
                <a:solidFill>
                  <a:srgbClr val="FFFFFF"/>
                </a:solidFill>
                <a:latin typeface="Arial"/>
              </a:rPr>
              <a:t>gt.</a:t>
            </a:r>
            <a:endParaRPr sz="1000" b="0" i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103449" y="4023360"/>
            <a:ext cx="1984796" cy="0"/>
          </a:xfrm>
          <a:prstGeom prst="line">
            <a:avLst/>
          </a:prstGeom>
          <a:ln w="12700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03449" y="4160520"/>
            <a:ext cx="1984796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产品全生命周期管理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3449" y="4846320"/>
            <a:ext cx="1984796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大阶段 · IPD 集成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89413" y="2057400"/>
            <a:ext cx="2167676" cy="3657600"/>
          </a:xfrm>
          <a:prstGeom prst="rect">
            <a:avLst/>
          </a:prstGeom>
          <a:solidFill>
            <a:srgbClr val="003D7A"/>
          </a:solidFill>
          <a:ln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89413" y="2057400"/>
            <a:ext cx="2167676" cy="3657600"/>
          </a:xfrm>
          <a:prstGeom prst="rect">
            <a:avLst/>
          </a:prstGeom>
          <a:noFill/>
          <a:ln w="25400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80853" y="2221992"/>
            <a:ext cx="1984796" cy="187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900" b="1" spc="200">
                <a:solidFill>
                  <a:srgbClr val="00CED1"/>
                </a:solidFill>
                <a:latin typeface="Arial"/>
              </a:defRPr>
            </a:lvl1pPr>
          </a:lstStyle>
          <a:p>
            <a:r>
              <a:rPr lang="en-US"/>
              <a:t>SIEMENS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0853" y="2514600"/>
            <a:ext cx="1984796" cy="4488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200" b="1" i="0">
                <a:solidFill>
                  <a:srgbClr val="FFFFFF"/>
                </a:solidFill>
                <a:latin typeface="微软雅黑"/>
              </a:defRPr>
            </a:lvl1pPr>
          </a:lstStyle>
          <a:p>
            <a:r>
              <a:rPr lang="en-US"/>
              <a:t>Tecnomatix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80853" y="3246120"/>
            <a:ext cx="1984796" cy="2904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数字制造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0853" y="3657600"/>
            <a:ext cx="19847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Mfg. Planning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80853" y="4023360"/>
            <a:ext cx="1984797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80853" y="4160520"/>
            <a:ext cx="1984796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工艺 · 工厂 · 机器人仿真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0853" y="4846320"/>
            <a:ext cx="1984796" cy="2482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100" b="1" i="0">
                <a:solidFill>
                  <a:srgbClr val="FFFFFF"/>
                </a:solidFill>
                <a:latin typeface="微软雅黑"/>
              </a:rPr>
              <a:t>6</a:t>
            </a: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大方向 · 虚拟工厂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82792" y="1920240"/>
            <a:ext cx="2240828" cy="3931920"/>
          </a:xfrm>
          <a:prstGeom prst="rect">
            <a:avLst/>
          </a:prstGeom>
          <a:solidFill>
            <a:srgbClr val="003D7A"/>
          </a:solidFill>
          <a:ln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582792" y="1920240"/>
            <a:ext cx="2240828" cy="3931920"/>
          </a:xfrm>
          <a:prstGeom prst="rect">
            <a:avLst/>
          </a:prstGeom>
          <a:noFill/>
          <a:ln w="25400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74232" y="2084832"/>
            <a:ext cx="2057948" cy="187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900" b="1" spc="200">
                <a:solidFill>
                  <a:srgbClr val="00CED1"/>
                </a:solidFill>
                <a:latin typeface="Arial"/>
              </a:defRPr>
            </a:lvl1pPr>
          </a:lstStyle>
          <a:p>
            <a:r>
              <a:t>BESTWAY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4232" y="2377440"/>
            <a:ext cx="2057948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</a:rPr>
              <a:t>ProMESA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232" y="3108960"/>
            <a:ext cx="2057948" cy="2904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5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制造</a:t>
            </a:r>
            <a:r>
              <a:rPr lang="en-CN"/>
              <a:t>运营</a:t>
            </a: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74232" y="3520440"/>
            <a:ext cx="2057948" cy="2056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MOM 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674232" y="3886200"/>
            <a:ext cx="2057949" cy="0"/>
          </a:xfrm>
          <a:prstGeom prst="line">
            <a:avLst/>
          </a:prstGeom>
          <a:ln w="12700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674232" y="4023360"/>
            <a:ext cx="2057948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00D4FF"/>
                </a:solidFill>
                <a:latin typeface="微软雅黑"/>
              </a:rPr>
              <a:t>MES · WMS · QMS · EMS · CTS · SCMS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4232" y="4983480"/>
            <a:ext cx="2057948" cy="2482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大模块 · </a:t>
            </a:r>
            <a:r>
              <a:rPr lang="en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</a:t>
            </a:r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离散制造</a:t>
            </a:r>
            <a:endParaRPr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909221" y="1920240"/>
            <a:ext cx="914400" cy="2743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909221" y="1920240"/>
            <a:ext cx="914400" cy="274320"/>
          </a:xfrm>
          <a:prstGeom prst="rect">
            <a:avLst/>
          </a:prstGeom>
          <a:solidFill>
            <a:srgbClr val="00CED1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0" y="6077882"/>
            <a:ext cx="12191695" cy="3257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设计-仿真-工艺-研发管理 </a:t>
            </a:r>
            <a:r>
              <a:rPr sz="16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数据贯通</a:t>
            </a:r>
            <a:r>
              <a:rPr sz="1400" b="0" i="0">
                <a:solidFill>
                  <a:srgbClr val="FFFFFF"/>
                </a:solidFill>
                <a:latin typeface="微软雅黑"/>
              </a:rPr>
              <a:t>  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  ProMESA 制造</a:t>
            </a:r>
            <a:r>
              <a:rPr lang="en-CN"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运营管理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A129B9A-4450-4245-0CD1-F94ADFB31C21}"/>
              </a:ext>
            </a:extLst>
          </p:cNvPr>
          <p:cNvSpPr/>
          <p:nvPr/>
        </p:nvSpPr>
        <p:spPr>
          <a:xfrm>
            <a:off x="3978355" y="1936750"/>
            <a:ext cx="914400" cy="274320"/>
          </a:xfrm>
          <a:prstGeom prst="rect">
            <a:avLst/>
          </a:prstGeom>
          <a:solidFill>
            <a:srgbClr val="00CED1"/>
          </a:solidFill>
          <a:ln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6923531-C477-9707-048F-8EF4DB8A35ED}"/>
              </a:ext>
            </a:extLst>
          </p:cNvPr>
          <p:cNvSpPr txBox="1"/>
          <p:nvPr/>
        </p:nvSpPr>
        <p:spPr>
          <a:xfrm>
            <a:off x="3978355" y="1947459"/>
            <a:ext cx="914400" cy="2059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b="1">
                <a:solidFill>
                  <a:srgbClr val="FFFFFF"/>
                </a:solidFill>
                <a:latin typeface="微软雅黑"/>
              </a:rPr>
              <a:t>2030</a:t>
            </a:r>
            <a:r>
              <a:rPr lang="zh-CN" altLang="en-US" sz="1000" b="1">
                <a:solidFill>
                  <a:srgbClr val="FFFFFF"/>
                </a:solidFill>
                <a:latin typeface="微软雅黑"/>
              </a:rPr>
              <a:t> </a:t>
            </a:r>
            <a:r>
              <a:rPr lang="en-CN"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战略</a:t>
            </a:r>
            <a:endParaRPr sz="1000" b="1" i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3D7A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3D7A"/>
                </a:solidFill>
                <a:latin typeface="Arial"/>
              </a:rPr>
              <a:t>08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3D7A"/>
                </a:solidFill>
                <a:latin typeface="Arial"/>
              </a:rPr>
              <a:t>CASE 01 · 客户案例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中煤科工重庆研究院 — 集团级「设计-仿真-工艺」一体化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CLIENT: 中煤科工重庆研究院 — 国内煤矿安全、检测、钻探装备领域的领军科研机构与高端装备制造企业，下辖多个专业分院。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937760" cy="914400"/>
          </a:xfrm>
          <a:prstGeom prst="rect">
            <a:avLst/>
          </a:prstGeom>
          <a:solidFill>
            <a:schemeClr val="tx1">
              <a:lumMod val="50000"/>
              <a:lumOff val="50000"/>
              <a:alpha val="110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4864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331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流程与数据孤岛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40874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下辖多个专业分院，产品类型迥异 — 从测控仪器到重型机械装备，研发与工艺流程各不相同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4937760" cy="914400"/>
          </a:xfrm>
          <a:prstGeom prst="rect">
            <a:avLst/>
          </a:prstGeom>
          <a:solidFill>
            <a:schemeClr val="tx1">
              <a:lumMod val="50000"/>
              <a:lumOff val="50000"/>
              <a:alpha val="110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64408"/>
            <a:ext cx="54864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35584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统一管控升级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665002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亟需构建一套既能实现集团级规范管控 (OnePLM for All)，又能向下兼容各分院差异化场景的数字化平台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百世慧解决方案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24028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10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2240280"/>
            <a:ext cx="54864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50008"/>
            <a:ext cx="406907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测控分院试点，梳理 IPD 研发体系，搭建项目/BOM/流程/知识库一体化 OnePLM 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10896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10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52160" y="3108960"/>
            <a:ext cx="54864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3218688"/>
            <a:ext cx="1188720" cy="2926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321868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协同设计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259354"/>
            <a:ext cx="4069079" cy="51302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 CATIA V6 自顶向下三维协同，整合结构/液压/管路多专业联合设计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。推行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Top-down/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骨架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参数化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知识工程</a:t>
            </a:r>
            <a:endParaRPr sz="1100">
              <a:solidFill>
                <a:srgbClr val="1A1A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2160" y="397764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10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0" y="3977640"/>
            <a:ext cx="54864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4087368"/>
            <a:ext cx="1188720" cy="2926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408736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闭环仿真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087368"/>
            <a:ext cx="406907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ABAQUS + MODSIM 实现【设计-仿真】一体化闭环验证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484632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100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52160" y="4846320"/>
            <a:ext cx="54864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4956048"/>
            <a:ext cx="1188720" cy="2926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95604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高阶工艺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956048"/>
            <a:ext cx="406907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MBOM 数据流，DELMIA 落地多轴铣车复合 + 三维机床运动仿真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300+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53366" y="6058712"/>
            <a:ext cx="1833829" cy="45557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覆盖用户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正向 500 </a:t>
            </a:r>
            <a:r>
              <a:rPr lang="en-CN"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</a:t>
            </a: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规模</a:t>
            </a:r>
            <a:r>
              <a:rPr lang="en-CN"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迈进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62018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53458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5期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58184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连续交付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集团内逐步复制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6836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58276" y="6016522"/>
            <a:ext cx="1650446" cy="5399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 sz="3000" b="1" i="0">
                <a:solidFill>
                  <a:srgbClr val="FFB800"/>
                </a:solidFill>
                <a:latin typeface="Arial"/>
              </a:rPr>
              <a:t>E2</a:t>
            </a:r>
            <a:r>
              <a:rPr lang="en-US" sz="3000" b="1">
                <a:solidFill>
                  <a:srgbClr val="FFB800"/>
                </a:solidFill>
                <a:latin typeface="Arial"/>
              </a:rPr>
              <a:t>E</a:t>
            </a:r>
            <a:endParaRPr sz="3000" b="1" i="0">
              <a:solidFill>
                <a:srgbClr val="FFB800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763003" y="6058712"/>
            <a:ext cx="1833829" cy="45557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多专业同平台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集团内</a:t>
            </a:r>
            <a:r>
              <a:rPr lang="en-CN"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端到端解决方案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3D7A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3D7A"/>
                </a:solidFill>
                <a:latin typeface="Arial"/>
              </a:rPr>
              <a:t>09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3D7A"/>
                </a:solidFill>
                <a:latin typeface="Arial"/>
              </a:rPr>
              <a:t>CASE 02 · 客户案例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千里科技 — 覆盖 4 大基地、350+ 工程师的集团级 PLM 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CLIENT: 千里科技 — 国内知名的新能源汽车、摩托车、通机（发动机）及三轮车制造商，业务横跨重庆、河南、</a:t>
            </a:r>
            <a:r>
              <a:rPr lang="en-CN"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广东</a:t>
            </a:r>
            <a:r>
              <a:rPr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等多个大型基地。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937760" cy="192024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4864" cy="1920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331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01  历史系统瓶颈与重塑诉求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51760"/>
            <a:ext cx="45720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原有老旧 PLM 系统架构固化，无法支撑多基地、多产品线协同；过去高度定制化导致维护成本居高不下；急需回归标准功能、具备长期演进能力的新一代平台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百世慧解决方案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240280"/>
            <a:ext cx="5760720" cy="6858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2160" y="2240280"/>
            <a:ext cx="54864" cy="6858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标准复用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350008"/>
            <a:ext cx="4069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打破「重开发」模式，最大复用达索 3DEXPERIENCE 标准功能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3017520"/>
            <a:ext cx="5760720" cy="6858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0" y="3017520"/>
            <a:ext cx="54864" cy="6858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3127248"/>
            <a:ext cx="1188720" cy="29260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312724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127248"/>
            <a:ext cx="4069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构建项目/需求/协同设计/PDM/数字化工艺完整研发闭环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794760"/>
            <a:ext cx="5760720" cy="6858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52160" y="3794760"/>
            <a:ext cx="54864" cy="6858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3904488"/>
            <a:ext cx="1188720" cy="29260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390448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一体化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904488"/>
            <a:ext cx="4069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同步全面实施 CATIA，构建底层互通的设计-数据-工艺一体化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3366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大基地上线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重庆/江门/河南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2018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53458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350+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8184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核心研发人员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协同覆盖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6836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58276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3003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产品线统一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同平台管理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DB16C1-0032-9A7B-482A-FD11C4C5174F}"/>
              </a:ext>
            </a:extLst>
          </p:cNvPr>
          <p:cNvSpPr/>
          <p:nvPr/>
        </p:nvSpPr>
        <p:spPr>
          <a:xfrm>
            <a:off x="5836112" y="4572000"/>
            <a:ext cx="5760720" cy="6858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85FF29-054D-EAFF-6B50-E3A821808420}"/>
              </a:ext>
            </a:extLst>
          </p:cNvPr>
          <p:cNvSpPr/>
          <p:nvPr/>
        </p:nvSpPr>
        <p:spPr>
          <a:xfrm>
            <a:off x="5836112" y="4572000"/>
            <a:ext cx="54864" cy="6858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81223F-02DC-5C2F-09CB-8044D73B387A}"/>
              </a:ext>
            </a:extLst>
          </p:cNvPr>
          <p:cNvSpPr/>
          <p:nvPr/>
        </p:nvSpPr>
        <p:spPr>
          <a:xfrm>
            <a:off x="6018992" y="4681728"/>
            <a:ext cx="1188720" cy="29260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D23F11-FDCE-1EBA-5172-67DD07B3B506}"/>
              </a:ext>
            </a:extLst>
          </p:cNvPr>
          <p:cNvSpPr txBox="1"/>
          <p:nvPr/>
        </p:nvSpPr>
        <p:spPr>
          <a:xfrm>
            <a:off x="6018992" y="4725055"/>
            <a:ext cx="1188720" cy="2059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设计仿真</a:t>
            </a:r>
            <a:endParaRPr sz="10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F058E6-D3BC-7243-52CA-8C8E97403658}"/>
              </a:ext>
            </a:extLst>
          </p:cNvPr>
          <p:cNvSpPr txBox="1"/>
          <p:nvPr/>
        </p:nvSpPr>
        <p:spPr>
          <a:xfrm>
            <a:off x="7344872" y="4802735"/>
            <a:ext cx="4069079" cy="260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CN" sz="11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当前正在构建设计与仿真一体化</a:t>
            </a:r>
            <a:r>
              <a:rPr lang="zh-CN" altLang="en-US" sz="1100" b="0" i="0">
                <a:solidFill>
                  <a:srgbClr val="1A1A1A"/>
                </a:solidFill>
                <a:latin typeface="微软雅黑"/>
              </a:rPr>
              <a:t> </a:t>
            </a:r>
            <a:r>
              <a:rPr lang="en-CN" sz="1100" b="0" i="0">
                <a:solidFill>
                  <a:srgbClr val="1A1A1A"/>
                </a:solidFill>
                <a:latin typeface="微软雅黑"/>
              </a:rPr>
              <a:t>MODSIM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3D7A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3D7A"/>
                </a:solidFill>
                <a:latin typeface="Arial"/>
              </a:rPr>
              <a:t>10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3D7A"/>
                </a:solidFill>
                <a:latin typeface="Arial"/>
              </a:rPr>
              <a:t>CASE 03 · 客户案例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鹏新旭半导体 — PLM 平台支撑 Foundry 的流程与数据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CLIENT: 鹏新旭半导体（半导体晶圆代工 · Foundry）— 深圳半导体晶圆代工企业，对研发体系的严谨性与高规格质量法规的符合性具有高标准。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93776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331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双重合规管控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21943"/>
            <a:ext cx="4572000" cy="2812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高阶 IPD 研发体系 + IATF16949 质量体系双重要求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08376"/>
            <a:ext cx="493776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008376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099816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高精尖资产管理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90039"/>
            <a:ext cx="4572000" cy="2812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PDK（制程设计套件）、IP 核、光罩等高度机密结构化数据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76472"/>
            <a:ext cx="493776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76472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867911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业务-系统转化鸿沟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158135"/>
            <a:ext cx="4572000" cy="2812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市场缺乏将 Foundry 严苛管控转化为可落地 PLM 架构的团队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百世慧解决方案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240280"/>
            <a:ext cx="576072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224028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308605"/>
            <a:ext cx="4069079" cy="55829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专属行业数据模型 — 匹配 Foundry 规范，涵盖 IPD/BOM/PDK/IP/光罩数据架构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990088"/>
            <a:ext cx="576072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2990088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35040" y="3099816"/>
            <a:ext cx="1188720" cy="2926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3099816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196912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FMEA 等核心质量管控直接嵌入研发主链路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739896"/>
            <a:ext cx="576072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52160" y="3739896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35040" y="3849624"/>
            <a:ext cx="1188720" cy="2926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3849624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全业务域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946720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横跨技术研发、建综、生产运营、综合管理多部门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4489704"/>
            <a:ext cx="5760720" cy="658368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4489704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35040" y="4599432"/>
            <a:ext cx="1188720" cy="2926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4599432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行业首例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558029"/>
            <a:ext cx="4069079" cy="55829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国内 Foundry 行业内，将 IPD + IATF16949 同平台落地的早期实践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2428" y="6014919"/>
            <a:ext cx="2052920" cy="54316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¥1000万+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59609" y="6000364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框架协议规模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62018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53458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200+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58184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核心用户覆盖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6836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58276" y="6014887"/>
            <a:ext cx="1650446" cy="54322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 sz="3000" b="1">
                <a:solidFill>
                  <a:srgbClr val="FFB800"/>
                </a:solidFill>
                <a:latin typeface="Arial"/>
              </a:rPr>
              <a:t>体系</a:t>
            </a:r>
            <a:endParaRPr sz="3000" b="1" i="0">
              <a:solidFill>
                <a:srgbClr val="FFB800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63003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</a:rPr>
              <a:t>IPD + IATF16949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同平台落地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3D7A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000">
                <a:solidFill>
                  <a:srgbClr val="003D7A"/>
                </a:solidFill>
                <a:latin typeface="Arial"/>
              </a:rPr>
              <a:t>11 / 28</a:t>
            </a:r>
            <a:endParaRPr sz="1000" b="0" i="0">
              <a:solidFill>
                <a:srgbClr val="003D7A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3D7A"/>
                </a:solidFill>
                <a:latin typeface="Arial"/>
              </a:rPr>
              <a:t>CASE 04 · 客户案例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中芯国际 — 半导体超级工厂超大规模物流与产能仿真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CLIENT: 中芯国际（SMIC）— 国内领先的半导体晶圆代工企业。在数百亿级新建工厂规划阶段，对产线布局、物流系统及产能规划具有高精益要求。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937760" cy="9144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331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高昂的试错成本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13922"/>
            <a:ext cx="4572000" cy="558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任何物理空间下的产线或物流布局失误，都将造成巨大的资金与时间损失，必须在建厂前完成数字化排雷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4937760" cy="9144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64408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35584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复杂的动态物流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638050"/>
            <a:ext cx="4572000" cy="558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晶圆厂工艺路线极其复杂，需对高密度机台与海量 AGV 物流逻辑进行极限压力测试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百世慧解决方案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240280"/>
            <a:ext cx="5760720" cy="103327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2240280"/>
            <a:ext cx="54864" cy="1033271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物理建模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34556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超大规模物理建模 — 基于达索 DELMIA DM 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364992"/>
            <a:ext cx="5760720" cy="103327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52160" y="3364992"/>
            <a:ext cx="54864" cy="1033271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3474720"/>
            <a:ext cx="1188720" cy="29260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3474720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高阶派工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759268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高阶派工逻辑开发 — EKL 二次开发精准串联特定工艺流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4489704"/>
            <a:ext cx="5760720" cy="103327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0" y="4489704"/>
            <a:ext cx="54864" cy="1033271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4599432"/>
            <a:ext cx="1188720" cy="29260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4599432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寻优迭代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745481"/>
            <a:ext cx="4069079" cy="55829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瓶颈识别与极限寻优 — 虚拟环境高频迭代，持续输出最优产能配置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¥497亿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3366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一期总投资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 24 万㎡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2018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53458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500+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58184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核心机台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仿真覆盖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6836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58276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1500+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3003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AGV 物流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逻辑建模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3D7A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3D7A"/>
                </a:solidFill>
                <a:latin typeface="Arial"/>
              </a:rPr>
              <a:t>12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3D7A"/>
                </a:solidFill>
                <a:latin typeface="Arial"/>
              </a:rPr>
              <a:t>CASE 05 · 客户案例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诺德集团 — 集团化锂电铜箔智能制造典范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CLIENT: 诺德集团（600110）— 新能源锂电铜箔头部供应商，旗下拥有惠州、西宁、黄石和贵溪等多处生产基地。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业务挑战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937760" cy="9144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4864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331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研发端 · 数字化实验室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700731"/>
            <a:ext cx="45720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为中央研究院搭建数字化实验室平台，统一实验数据、材料配方与仿真模型管理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4937760" cy="91440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64408"/>
            <a:ext cx="54864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35584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制造端 · ProMESA MOM 多基地协同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21608"/>
            <a:ext cx="45720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1A1A1A"/>
                </a:solidFill>
                <a:latin typeface="微软雅黑"/>
              </a:defRPr>
            </a:lvl1pPr>
          </a:lstStyle>
          <a:p>
            <a:r>
              <a:t>横向整合 MES · WMS · QMS · EMS · 工时管理，实现车间业务全覆盖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百世慧解决方案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24028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2240280"/>
            <a:ext cx="54864" cy="777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235000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大基地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506540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惠州 · 西宁 · 黄石 全面上线，跨基地统一管控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10896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52160" y="3108960"/>
            <a:ext cx="54864" cy="777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3218688"/>
            <a:ext cx="1188720" cy="2926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321868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3000人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375220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常态化覆盖用户，近 3000 人规模线上统一管理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97764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0" y="3977640"/>
            <a:ext cx="54864" cy="777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4087368"/>
            <a:ext cx="1188720" cy="2926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408736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10万吨/年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243900"/>
            <a:ext cx="4069079" cy="281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黄石</a:t>
            </a:r>
            <a:r>
              <a:rPr lang="en-CN"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超级</a:t>
            </a: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基地产能</a:t>
            </a:r>
            <a:r>
              <a:rPr lang="en-CN"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制造运营平台稳定运行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52160" y="4846320"/>
            <a:ext cx="5760720" cy="77724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52160" y="4846320"/>
            <a:ext cx="54864" cy="777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4956048"/>
            <a:ext cx="1188720" cy="2926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956048"/>
            <a:ext cx="11887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3年+合作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974080"/>
            <a:ext cx="4069079" cy="55829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持续合作，连续交付 4 期 — 客户已将 ProMESA 确定为新基地数字化的标准配置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3大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53366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基地全面上线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惠州·西宁·黄石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62018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53458" y="6016522"/>
            <a:ext cx="1650446" cy="5399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3000</a:t>
            </a:r>
            <a:r>
              <a:rPr lang="en-US" sz="3000" b="1">
                <a:solidFill>
                  <a:srgbClr val="FFB800"/>
                </a:solidFill>
                <a:latin typeface="Arial"/>
              </a:rPr>
              <a:t>人</a:t>
            </a:r>
            <a:endParaRPr sz="3000" b="1" i="0">
              <a:solidFill>
                <a:srgbClr val="FFB800"/>
              </a:solidFill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58184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人员常态化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覆盖用户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6836" y="5897880"/>
            <a:ext cx="3667658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58276" y="5943600"/>
            <a:ext cx="1650446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B800"/>
                </a:solidFill>
                <a:latin typeface="Arial"/>
              </a:rPr>
              <a:t>4期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3003" y="5989320"/>
            <a:ext cx="1833829" cy="59435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连续交付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年+ 持续合作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3D7A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3D7A"/>
                </a:solidFill>
                <a:latin typeface="Arial"/>
              </a:rPr>
              <a:t>13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3D7A"/>
                </a:solidFill>
                <a:latin typeface="Arial"/>
              </a:rPr>
              <a:t>CLIENT PORTFOLIO · 客户矩阵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三大</a:t>
            </a:r>
            <a:r>
              <a:rPr lang="en-CN" sz="2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重点行业</a:t>
            </a:r>
            <a:r>
              <a:rPr sz="2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，都</a:t>
            </a:r>
            <a:r>
              <a:rPr lang="zh-CN" altLang="en-US" sz="2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经过</a:t>
            </a:r>
            <a:r>
              <a:rPr sz="2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真实客户</a:t>
            </a:r>
            <a:r>
              <a:rPr lang="en-CN" sz="2400" b="1" i="0">
                <a:solidFill>
                  <a:srgbClr val="003D7A"/>
                </a:solidFill>
                <a:latin typeface="微软雅黑"/>
                <a:ea typeface="微软雅黑"/>
                <a:cs typeface="微软雅黑"/>
              </a:rPr>
              <a:t>的项目历练</a:t>
            </a:r>
            <a:endParaRPr sz="2400" b="1" i="0">
              <a:solidFill>
                <a:srgbClr val="003D7A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37178" cy="6400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37178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高科技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3637178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300">
                <a:solidFill>
                  <a:srgbClr val="FFFFFF"/>
                </a:solidFill>
                <a:latin typeface="Arial"/>
              </a:rPr>
              <a:t>HIGH-TECH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中芯国际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6352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816352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888503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鹏新旭</a:t>
            </a: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技术</a:t>
            </a:r>
            <a:endParaRPr sz="1200" b="1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255264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55264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深图影像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94176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694176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766327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360 智慧生活</a:t>
            </a: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集团</a:t>
            </a:r>
            <a:endParaRPr sz="1200" b="1" i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77258" y="1600200"/>
            <a:ext cx="3637178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7258" y="1691640"/>
            <a:ext cx="3637178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高端装备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1990928"/>
            <a:ext cx="3637178" cy="187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spc="300">
                <a:solidFill>
                  <a:srgbClr val="FFFFFF"/>
                </a:solidFill>
                <a:latin typeface="Arial"/>
              </a:rPr>
              <a:t>INDUSTRIAL</a:t>
            </a:r>
            <a:r>
              <a:rPr sz="900" b="0" i="0" spc="300">
                <a:solidFill>
                  <a:srgbClr val="FFFFFF"/>
                </a:solidFill>
                <a:latin typeface="Arial"/>
              </a:rPr>
              <a:t> EQUIPMENT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7258" y="2377440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7258" y="2377440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4418" y="2449591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中煤科工集团</a:t>
            </a: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重庆研究院</a:t>
            </a:r>
            <a:endParaRPr sz="1200" b="1" i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77258" y="2816352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7258" y="2816352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4418" y="2816352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中国工程物理研究院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7258" y="3255264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7258" y="3255264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4418" y="3327415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中国电建</a:t>
            </a: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集团</a:t>
            </a: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昆明院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7258" y="3694176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7258" y="3694176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14418" y="3694176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千里科技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7258" y="4133087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77258" y="4133087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14418" y="4133087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重庆机电集团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7258" y="4571999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77258" y="4571999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14418" y="4644150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齐星</a:t>
            </a:r>
            <a:r>
              <a:rPr lang="en-CN" sz="12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汽车</a:t>
            </a:r>
            <a:endParaRPr sz="1200" b="1">
              <a:solidFill>
                <a:srgbClr val="1A1A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77258" y="5010911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77258" y="5010911"/>
            <a:ext cx="36576" cy="38404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14418" y="5083062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美的制冷设备</a:t>
            </a:r>
            <a:endParaRPr sz="1200" b="1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7200" y="4567428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567428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640573"/>
            <a:ext cx="3454298" cy="23775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华丰科技</a:t>
            </a:r>
            <a:endParaRPr sz="1200" b="1">
              <a:solidFill>
                <a:srgbClr val="1A1A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97316" y="1600200"/>
            <a:ext cx="3637178" cy="6400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97316" y="1691640"/>
            <a:ext cx="3637178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材料行业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7316" y="1984248"/>
            <a:ext cx="3637178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300">
                <a:solidFill>
                  <a:srgbClr val="FFFFFF"/>
                </a:solidFill>
                <a:latin typeface="Arial"/>
              </a:rPr>
              <a:t>MATERIALS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7316" y="2377440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97316" y="2377440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34476" y="2377440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诺德股份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7316" y="2816352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97316" y="2816352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34476" y="2816352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嘉元科技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7316" y="3255264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097316" y="3255264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34476" y="3255264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华创新材料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7316" y="3694176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97316" y="3694176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34476" y="3694176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江铜铜箔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7316" y="4133087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097316" y="4133087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34476" y="4133087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盛虹动能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7316" y="4572000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097316" y="4572000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34476" y="4572000"/>
            <a:ext cx="345429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威尔科技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97316" y="5010912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97316" y="5010912"/>
            <a:ext cx="36576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34476" y="5083063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广汽埃安新能源</a:t>
            </a:r>
            <a:endParaRPr sz="1200" b="1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7200" y="6263640"/>
            <a:ext cx="11277295" cy="2228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以上展示为部分代表客户  ·  </a:t>
            </a:r>
            <a:r>
              <a:rPr lang="en-CN" sz="1100" b="0" i="1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更多</a:t>
            </a:r>
            <a:r>
              <a:rPr sz="1100" b="0" i="1">
                <a:solidFill>
                  <a:srgbClr val="999999"/>
                </a:solidFill>
                <a:latin typeface="微软雅黑"/>
                <a:ea typeface="微软雅黑"/>
                <a:cs typeface="微软雅黑"/>
              </a:rPr>
              <a:t>客户名录请联系客户经理获取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9D5396C-770D-A047-F25A-5F787F2CC3C0}"/>
              </a:ext>
            </a:extLst>
          </p:cNvPr>
          <p:cNvSpPr/>
          <p:nvPr/>
        </p:nvSpPr>
        <p:spPr>
          <a:xfrm>
            <a:off x="457200" y="4133087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17C994F-A617-5D83-BB40-3B17AF05B10C}"/>
              </a:ext>
            </a:extLst>
          </p:cNvPr>
          <p:cNvSpPr/>
          <p:nvPr/>
        </p:nvSpPr>
        <p:spPr>
          <a:xfrm>
            <a:off x="457200" y="4133087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9B8BBD-D1A3-FF34-CBBF-22FEF915ED42}"/>
              </a:ext>
            </a:extLst>
          </p:cNvPr>
          <p:cNvSpPr txBox="1"/>
          <p:nvPr/>
        </p:nvSpPr>
        <p:spPr>
          <a:xfrm>
            <a:off x="594360" y="4205238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矢崎</a:t>
            </a: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汽车仪表</a:t>
            </a:r>
            <a:r>
              <a:rPr sz="1200" b="1" i="0">
                <a:solidFill>
                  <a:srgbClr val="1A1A1A"/>
                </a:solidFill>
                <a:latin typeface="微软雅黑"/>
              </a:rPr>
              <a:t> YAZAKI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D2ED9DF-3BB4-4FBD-346D-11BC6C9A9163}"/>
              </a:ext>
            </a:extLst>
          </p:cNvPr>
          <p:cNvSpPr/>
          <p:nvPr/>
        </p:nvSpPr>
        <p:spPr>
          <a:xfrm>
            <a:off x="457200" y="5001767"/>
            <a:ext cx="3637178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5558C38-05FC-C901-B565-B220383592F6}"/>
              </a:ext>
            </a:extLst>
          </p:cNvPr>
          <p:cNvSpPr/>
          <p:nvPr/>
        </p:nvSpPr>
        <p:spPr>
          <a:xfrm>
            <a:off x="457200" y="5001767"/>
            <a:ext cx="36576" cy="38404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C053B5-8ED3-29EF-4350-8E6E3853BBBD}"/>
              </a:ext>
            </a:extLst>
          </p:cNvPr>
          <p:cNvSpPr txBox="1"/>
          <p:nvPr/>
        </p:nvSpPr>
        <p:spPr>
          <a:xfrm>
            <a:off x="594360" y="5073918"/>
            <a:ext cx="3454298" cy="23974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CN" sz="12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苏州畅行智驾汽车</a:t>
            </a:r>
            <a:endParaRPr sz="1200" b="1" i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14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Arial"/>
              </a:rPr>
              <a:t>ENGAGEMENT MODEL · 合作模式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与百世慧合作，从哪里开始？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我们通常从一个真实的业务问题开始 — 先验证，再扩展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431" y="1874519"/>
            <a:ext cx="2697480" cy="36576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431" y="1874519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0031" y="2148839"/>
            <a:ext cx="640080" cy="640080"/>
          </a:xfrm>
          <a:prstGeom prst="ellipse">
            <a:avLst/>
          </a:prstGeom>
          <a:solidFill>
            <a:srgbClr val="0066CC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031" y="2148839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95831" y="2258568"/>
            <a:ext cx="1645920" cy="411480"/>
          </a:xfrm>
          <a:prstGeom prst="roundRect">
            <a:avLst/>
          </a:prstGeom>
          <a:noFill/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5831" y="2337093"/>
            <a:ext cx="1645920" cy="25442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300" b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CN" sz="1300" b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1300" b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sz="1300" b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31" y="2926079"/>
            <a:ext cx="2240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31" y="3474720"/>
            <a:ext cx="2240280" cy="558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资深工程师深入业务现场，聚焦核心痛点，完成现状诊断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" y="4663440"/>
            <a:ext cx="2240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您获得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031" y="4937760"/>
            <a:ext cx="2240280" cy="64008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0031" y="4937760"/>
            <a:ext cx="36576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471" y="5015201"/>
            <a:ext cx="2148840" cy="48519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对现状的清醒认知 + 「问题出在哪里」的专业判断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335" y="2772066"/>
            <a:ext cx="2240280" cy="1875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i="1">
                <a:solidFill>
                  <a:srgbClr val="FFB8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资深工程师产能有限，建议提前预约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7199" y="2331720"/>
            <a:ext cx="109728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B800"/>
                </a:solidFill>
                <a:latin typeface="Arial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5215" y="1874519"/>
            <a:ext cx="2697480" cy="36576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25215" y="1874519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553815" y="2148839"/>
            <a:ext cx="640080" cy="640080"/>
          </a:xfrm>
          <a:prstGeom prst="ellipse">
            <a:avLst/>
          </a:prstGeom>
          <a:solidFill>
            <a:srgbClr val="0066CC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53815" y="2148839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9615" y="2258568"/>
            <a:ext cx="1645920" cy="411480"/>
          </a:xfrm>
          <a:prstGeom prst="roundRect">
            <a:avLst/>
          </a:prstGeom>
          <a:noFill/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39615" y="2258568"/>
            <a:ext cx="1645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1-2 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3815" y="2926079"/>
            <a:ext cx="2240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数字化路径建议书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3815" y="3474720"/>
            <a:ext cx="2240280" cy="558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输出务实路径建议书 — 问题定义、方案选型、优先级、ROI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3815" y="4663440"/>
            <a:ext cx="2240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您获得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53815" y="4937760"/>
            <a:ext cx="2240280" cy="64008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53815" y="4937760"/>
            <a:ext cx="36576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45255" y="5015201"/>
            <a:ext cx="2148840" cy="48519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一张看得懂、落得了地的行动地图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0983" y="2331720"/>
            <a:ext cx="109728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B800"/>
                </a:solidFill>
                <a:latin typeface="Arial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8999" y="1874519"/>
            <a:ext cx="2697480" cy="36576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68999" y="1874519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97599" y="2148839"/>
            <a:ext cx="640080" cy="640080"/>
          </a:xfrm>
          <a:prstGeom prst="ellipse">
            <a:avLst/>
          </a:prstGeom>
          <a:solidFill>
            <a:srgbClr val="0066CC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97599" y="2148839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3399" y="2258568"/>
            <a:ext cx="1645920" cy="411480"/>
          </a:xfrm>
          <a:prstGeom prst="roundRect">
            <a:avLst/>
          </a:prstGeom>
          <a:noFill/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83399" y="2258568"/>
            <a:ext cx="1645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1-3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7599" y="2926079"/>
            <a:ext cx="2240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小范围试点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7599" y="3474720"/>
            <a:ext cx="2240280" cy="558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选取业务单元先行落地，最小投入验证可行性与价值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7599" y="4663440"/>
            <a:ext cx="2240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您获得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97599" y="4937760"/>
            <a:ext cx="2240280" cy="64008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97599" y="4937760"/>
            <a:ext cx="36576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89039" y="5015201"/>
            <a:ext cx="2148840" cy="48519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可量化的阶段性验收数据，非概念可行性报告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4767" y="2331720"/>
            <a:ext cx="109728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B800"/>
                </a:solidFill>
                <a:latin typeface="Arial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12783" y="1874519"/>
            <a:ext cx="2697480" cy="36576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12783" y="1874519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241383" y="2148839"/>
            <a:ext cx="640080" cy="640080"/>
          </a:xfrm>
          <a:prstGeom prst="ellipse">
            <a:avLst/>
          </a:prstGeom>
          <a:solidFill>
            <a:srgbClr val="0066CC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41383" y="2148839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27183" y="2258568"/>
            <a:ext cx="1645920" cy="411480"/>
          </a:xfrm>
          <a:prstGeom prst="roundRect">
            <a:avLst/>
          </a:prstGeom>
          <a:noFill/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27183" y="2258568"/>
            <a:ext cx="1645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按需展开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41383" y="2926079"/>
            <a:ext cx="2240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规模化推进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1383" y="3474720"/>
            <a:ext cx="2240280" cy="558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试点完成后，基于已验证方案向多业务线、多基地推广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1383" y="4663440"/>
            <a:ext cx="2240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您获得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41383" y="4937760"/>
            <a:ext cx="2240280" cy="64008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241383" y="4937760"/>
            <a:ext cx="36576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32823" y="5015201"/>
            <a:ext cx="2148840" cy="48519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经过真实业务验证的数字化能力体系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从几万元的单点咨询，到数千万的集团级战略工程 — 我们 </a:t>
            </a:r>
            <a:r>
              <a:rPr sz="16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同等认真对待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D4FF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D4FF"/>
                </a:solidFill>
                <a:latin typeface="Arial"/>
              </a:rPr>
              <a:t>15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00D4FF"/>
                </a:solidFill>
                <a:latin typeface="Arial"/>
              </a:rPr>
              <a:t>SERVICE NETWORK · 服务网络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10820095" cy="408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全国服务网络，</a:t>
            </a:r>
            <a:r>
              <a:rPr lang="en-CN"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客户关怀计划</a:t>
            </a:r>
            <a:endParaRPr sz="2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447" y="1691640"/>
            <a:ext cx="2606040" cy="3108960"/>
          </a:xfrm>
          <a:prstGeom prst="rect">
            <a:avLst/>
          </a:prstGeom>
          <a:solidFill>
            <a:srgbClr val="003D7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23847" y="1965960"/>
            <a:ext cx="777240" cy="7772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98167" y="224028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447" y="288036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3520440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400">
                <a:solidFill>
                  <a:srgbClr val="00D4FF"/>
                </a:solidFill>
                <a:latin typeface="Arial"/>
              </a:rPr>
              <a:t>CHENGDU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8087" y="3931920"/>
            <a:ext cx="150876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447" y="40233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总部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389120"/>
            <a:ext cx="2606040" cy="2228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战略规划 · 客户</a:t>
            </a:r>
            <a:r>
              <a:rPr lang="en-CN"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关怀</a:t>
            </a:r>
            <a:endParaRPr sz="11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98367" y="1691640"/>
            <a:ext cx="2606040" cy="3108960"/>
          </a:xfrm>
          <a:prstGeom prst="rect">
            <a:avLst/>
          </a:prstGeom>
          <a:solidFill>
            <a:srgbClr val="003D7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12767" y="1965960"/>
            <a:ext cx="777240" cy="7772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87087" y="224028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8367" y="288036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367" y="3520440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400">
                <a:solidFill>
                  <a:srgbClr val="00D4FF"/>
                </a:solidFill>
                <a:latin typeface="Arial"/>
              </a:rPr>
              <a:t>CHANGSHA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47007" y="3931920"/>
            <a:ext cx="150876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98367" y="40233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研发中心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8367" y="438912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ProMESA 自研基地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1691640"/>
            <a:ext cx="2606040" cy="3108960"/>
          </a:xfrm>
          <a:prstGeom prst="rect">
            <a:avLst/>
          </a:prstGeom>
          <a:solidFill>
            <a:srgbClr val="003D7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01687" y="1965960"/>
            <a:ext cx="777240" cy="7772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76007" y="224028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7287" y="288036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520440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400">
                <a:solidFill>
                  <a:srgbClr val="00D4FF"/>
                </a:solidFill>
                <a:latin typeface="Arial"/>
              </a:rPr>
              <a:t>SHANGHAI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35927" y="3931920"/>
            <a:ext cx="150876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87287" y="40233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办事处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287" y="438912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华东客户支持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6207" y="1691640"/>
            <a:ext cx="2606040" cy="3108960"/>
          </a:xfrm>
          <a:prstGeom prst="rect">
            <a:avLst/>
          </a:prstGeom>
          <a:solidFill>
            <a:srgbClr val="003D7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890607" y="1965960"/>
            <a:ext cx="777240" cy="7772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164927" y="224028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76207" y="288036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深圳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6207" y="3520440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400">
                <a:solidFill>
                  <a:srgbClr val="00D4FF"/>
                </a:solidFill>
                <a:latin typeface="Arial"/>
              </a:rPr>
              <a:t>SHENZHEN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24847" y="3931920"/>
            <a:ext cx="1508760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976207" y="40233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办事处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6207" y="438912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华南客户支持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029200"/>
            <a:ext cx="12191695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07492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 i="0">
                <a:solidFill>
                  <a:srgbClr val="FFB800"/>
                </a:solidFill>
                <a:latin typeface="Arial"/>
              </a:rPr>
              <a:t>24h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212080"/>
            <a:ext cx="7315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响应承诺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715000"/>
            <a:ext cx="7315200" cy="3073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小时内响应现场需求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6126480"/>
            <a:ext cx="7315200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资深工程师直达现场 · 远程 + 现场双轨支持 · 确保项目交付与运维稳定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CC75115-E74B-AB44-D12F-C83B4B9D108F}"/>
              </a:ext>
            </a:extLst>
          </p:cNvPr>
          <p:cNvGrpSpPr/>
          <p:nvPr/>
        </p:nvGrpSpPr>
        <p:grpSpPr>
          <a:xfrm>
            <a:off x="8744798" y="4904752"/>
            <a:ext cx="2616656" cy="1699248"/>
            <a:chOff x="8744798" y="4904752"/>
            <a:chExt cx="2616656" cy="169924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1A5D24E-2439-B83B-9E5B-8303A240903D}"/>
                </a:ext>
              </a:extLst>
            </p:cNvPr>
            <p:cNvSpPr/>
            <p:nvPr/>
          </p:nvSpPr>
          <p:spPr>
            <a:xfrm>
              <a:off x="8875388" y="4907280"/>
              <a:ext cx="2362353" cy="1696720"/>
            </a:xfrm>
            <a:prstGeom prst="rect">
              <a:avLst/>
            </a:prstGeom>
            <a:solidFill>
              <a:srgbClr val="013D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20000"/>
                </a:lnSpc>
                <a:spcBef>
                  <a:spcPts val="1000"/>
                </a:spcBef>
              </a:pPr>
              <a:br>
                <a:rPr lang="en-US" altLang="zh-CN" sz="1400" b="1">
                  <a:latin typeface="Microsoft YaHei" panose="020B0503020204020204" pitchFamily="34" charset="-122"/>
                  <a:ea typeface="Microsoft YaHei" panose="020B0503020204020204" pitchFamily="34" charset="-122"/>
                </a:rPr>
              </a:br>
              <a:endParaRPr lang="en-CN" sz="1200"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sp>
          <p:nvSpPr>
            <p:cNvPr id="45" name="Right Triangle 44">
              <a:extLst>
                <a:ext uri="{FF2B5EF4-FFF2-40B4-BE49-F238E27FC236}">
                  <a16:creationId xmlns:a16="http://schemas.microsoft.com/office/drawing/2014/main" id="{EDBDDC9B-929B-7DD5-68D7-C63D2DC98D13}"/>
                </a:ext>
              </a:extLst>
            </p:cNvPr>
            <p:cNvSpPr/>
            <p:nvPr/>
          </p:nvSpPr>
          <p:spPr>
            <a:xfrm>
              <a:off x="11237741" y="4904752"/>
              <a:ext cx="123713" cy="124448"/>
            </a:xfrm>
            <a:prstGeom prst="rtTriangle">
              <a:avLst/>
            </a:prstGeom>
            <a:solidFill>
              <a:srgbClr val="013D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4896DD3A-00FA-96D8-7EE3-C37705A444EF}"/>
                </a:ext>
              </a:extLst>
            </p:cNvPr>
            <p:cNvSpPr/>
            <p:nvPr/>
          </p:nvSpPr>
          <p:spPr>
            <a:xfrm flipH="1" flipV="1">
              <a:off x="8744798" y="6492239"/>
              <a:ext cx="130590" cy="111760"/>
            </a:xfrm>
            <a:prstGeom prst="rtTriangle">
              <a:avLst/>
            </a:prstGeom>
            <a:solidFill>
              <a:srgbClr val="013D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96ECE35-E47A-A27B-F790-DB9140E26843}"/>
              </a:ext>
            </a:extLst>
          </p:cNvPr>
          <p:cNvSpPr txBox="1"/>
          <p:nvPr/>
        </p:nvSpPr>
        <p:spPr>
          <a:xfrm>
            <a:off x="8875388" y="5035757"/>
            <a:ext cx="2400300" cy="1480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仿真关怀计划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Simulation Care Program </a:t>
            </a:r>
            <a:endParaRPr kumimoji="0" lang="en-US" altLang="zh-CN" sz="12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技术服务体系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·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模型诊断服务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企业级仿真标准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 用户培养体系</a:t>
            </a: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客户成功体系</a:t>
            </a:r>
            <a:r>
              <a:rPr kumimoji="0" lang="zh-CN" altLang="en-US" sz="120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0" lang="en-US" altLang="zh-CN" sz="120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·</a:t>
            </a:r>
            <a:r>
              <a:rPr kumimoji="0" lang="zh-CN" altLang="en-US" sz="120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增值服务体系</a:t>
            </a:r>
            <a:endParaRPr lang="en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34">
            <a:extLst>
              <a:ext uri="{FF2B5EF4-FFF2-40B4-BE49-F238E27FC236}">
                <a16:creationId xmlns:a16="http://schemas.microsoft.com/office/drawing/2014/main" id="{F410C224-2D23-520D-01F7-226B5C73AADB}"/>
              </a:ext>
            </a:extLst>
          </p:cNvPr>
          <p:cNvSpPr/>
          <p:nvPr/>
        </p:nvSpPr>
        <p:spPr>
          <a:xfrm>
            <a:off x="0" y="0"/>
            <a:ext cx="8229600" cy="5486400"/>
          </a:xfrm>
          <a:custGeom>
            <a:avLst/>
            <a:gdLst>
              <a:gd name="csX0" fmla="*/ 0 w 8229600"/>
              <a:gd name="csY0" fmla="*/ 0 h 5486400"/>
              <a:gd name="csX1" fmla="*/ 7493791 w 8229600"/>
              <a:gd name="csY1" fmla="*/ 0 h 5486400"/>
              <a:gd name="csX2" fmla="*/ 7567421 w 8229600"/>
              <a:gd name="csY2" fmla="*/ 85371 h 5486400"/>
              <a:gd name="csX3" fmla="*/ 8229600 w 8229600"/>
              <a:gd name="csY3" fmla="*/ 1828800 h 5486400"/>
              <a:gd name="csX4" fmla="*/ 2743200 w 8229600"/>
              <a:gd name="csY4" fmla="*/ 5486400 h 5486400"/>
              <a:gd name="csX5" fmla="*/ 128056 w 8229600"/>
              <a:gd name="csY5" fmla="*/ 5044947 h 5486400"/>
              <a:gd name="csX6" fmla="*/ 0 w 8229600"/>
              <a:gd name="csY6" fmla="*/ 4993083 h 5486400"/>
              <a:gd name="csX7" fmla="*/ 0 w 8229600"/>
              <a:gd name="csY7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7493791" y="0"/>
                </a:lnTo>
                <a:lnTo>
                  <a:pt x="7567421" y="85371"/>
                </a:lnTo>
                <a:cubicBezTo>
                  <a:pt x="7989723" y="603628"/>
                  <a:pt x="8229600" y="1197539"/>
                  <a:pt x="8229600" y="1828800"/>
                </a:cubicBezTo>
                <a:cubicBezTo>
                  <a:pt x="8229600" y="3848837"/>
                  <a:pt x="5773255" y="5486400"/>
                  <a:pt x="2743200" y="5486400"/>
                </a:cubicBezTo>
                <a:cubicBezTo>
                  <a:pt x="1796308" y="5486400"/>
                  <a:pt x="905442" y="5326482"/>
                  <a:pt x="128056" y="5044947"/>
                </a:cubicBezTo>
                <a:lnTo>
                  <a:pt x="0" y="4993083"/>
                </a:lnTo>
                <a:lnTo>
                  <a:pt x="0" y="0"/>
                </a:lnTo>
                <a:close/>
              </a:path>
            </a:pathLst>
          </a:cu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0" y="914400"/>
            <a:ext cx="9144000" cy="5486400"/>
          </a:xfrm>
          <a:prstGeom prst="ellipse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立即开启您的数字化确定性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 spc="300">
                <a:solidFill>
                  <a:srgbClr val="00D4FF"/>
                </a:solidFill>
                <a:latin typeface="Arial"/>
              </a:rPr>
              <a:t>Start Your Digital Certainty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685800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85179"/>
            <a:ext cx="685800" cy="45320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i="0">
                <a:solidFill>
                  <a:srgbClr val="00D4FF"/>
                </a:solidFill>
                <a:latin typeface="Arial"/>
              </a:rPr>
              <a:t>✪</a:t>
            </a:r>
            <a:endParaRPr sz="2400" b="1" i="0">
              <a:solidFill>
                <a:srgbClr val="00D4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2514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全国服务热线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61488"/>
            <a:ext cx="4572000" cy="4728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B800"/>
                </a:solidFill>
                <a:latin typeface="Arial"/>
              </a:rPr>
              <a:t>400-990-9</a:t>
            </a:r>
            <a:r>
              <a:rPr lang="en-CN" sz="2600" b="1" i="0">
                <a:solidFill>
                  <a:srgbClr val="FFB800"/>
                </a:solidFill>
                <a:latin typeface="Arial"/>
              </a:rPr>
              <a:t>23</a:t>
            </a:r>
            <a:r>
              <a:rPr sz="2600" b="1" i="0">
                <a:solidFill>
                  <a:srgbClr val="FFB800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685800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00D4FF"/>
                </a:solidFill>
                <a:latin typeface="Arial"/>
              </a:rPr>
              <a:t>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290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官方网站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7588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</a:rPr>
              <a:t>www.abestway.cn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685800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00D4FF"/>
                </a:solidFill>
                <a:latin typeface="Arial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43400"/>
            <a:ext cx="4572000" cy="2228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全国</a:t>
            </a:r>
            <a:r>
              <a:rPr lang="en-CN" sz="1100" b="0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网点</a:t>
            </a:r>
            <a:endParaRPr sz="1100" b="0" i="0">
              <a:solidFill>
                <a:srgbClr val="00D4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459028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成都 · 长沙 · 上海 · 深圳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5970" y="2377440"/>
            <a:ext cx="3474720" cy="2850537"/>
          </a:xfrm>
          <a:prstGeom prst="rect">
            <a:avLst/>
          </a:prstGeom>
          <a:solidFill>
            <a:srgbClr val="003D7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5422" y="3067216"/>
            <a:ext cx="3269974" cy="658368"/>
          </a:xfrm>
          <a:prstGeom prst="rect">
            <a:avLst/>
          </a:prstGeom>
          <a:solidFill>
            <a:srgbClr val="00D4FF"/>
          </a:solidFill>
        </p:spPr>
        <p:txBody>
          <a:bodyPr wrap="square" lIns="46800" tIns="18288" rIns="45720" bIns="18288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CN" sz="11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仿真业务</a:t>
            </a:r>
            <a:r>
              <a:rPr lang="zh-CN" altLang="en-US" sz="11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1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11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1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SIMULIA</a:t>
            </a:r>
            <a:r>
              <a:rPr lang="en-CN" b="1">
                <a:solidFill>
                  <a:schemeClr val="bg1"/>
                </a:solidFill>
                <a:latin typeface="微软雅黑"/>
              </a:rPr>
              <a:t> </a:t>
            </a:r>
            <a:r>
              <a:rPr lang="en-CN" sz="1400" b="1">
                <a:solidFill>
                  <a:schemeClr val="bg1"/>
                </a:solidFill>
                <a:latin typeface="微软雅黑"/>
              </a:rPr>
              <a:t>www.</a:t>
            </a:r>
            <a:r>
              <a:rPr lang="en-US" sz="1400" b="1">
                <a:solidFill>
                  <a:schemeClr val="bg1"/>
                </a:solidFill>
                <a:latin typeface="微软雅黑"/>
              </a:rPr>
              <a:t>vsystemes.com</a:t>
            </a:r>
            <a:endParaRPr sz="1400" b="0" i="0" spc="3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00250" y="4741947"/>
            <a:ext cx="3474720" cy="23775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i="1">
                <a:solidFill>
                  <a:srgbClr val="00D4FF"/>
                </a:solidFill>
                <a:latin typeface="Arial"/>
              </a:rPr>
              <a:t>更多产品线网站</a:t>
            </a:r>
            <a:r>
              <a:rPr lang="zh-CN" altLang="en-US" sz="1200" i="1">
                <a:solidFill>
                  <a:srgbClr val="00D4FF"/>
                </a:solidFill>
                <a:latin typeface="Arial"/>
              </a:rPr>
              <a:t>，</a:t>
            </a:r>
            <a:r>
              <a:rPr lang="zh-CN" altLang="en-US" sz="1200" i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 </a:t>
            </a:r>
            <a:r>
              <a:rPr lang="en-US" altLang="zh-CN" sz="1200" i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www.abestway.cn</a:t>
            </a:r>
            <a:endParaRPr sz="1200" i="1">
              <a:solidFill>
                <a:srgbClr val="00D4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6126480"/>
            <a:ext cx="8534095" cy="0"/>
          </a:xfrm>
          <a:prstGeom prst="line">
            <a:avLst/>
          </a:prstGeom>
          <a:ln w="63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软件之上 · 价值为本</a:t>
            </a:r>
            <a:r>
              <a:rPr sz="1200" b="0" i="0">
                <a:solidFill>
                  <a:srgbClr val="00D4FF"/>
                </a:solidFill>
                <a:latin typeface="微软雅黑"/>
              </a:rPr>
              <a:t>   |   </a:t>
            </a:r>
            <a:r>
              <a:rPr sz="1200" b="0" i="1">
                <a:solidFill>
                  <a:srgbClr val="00D4FF"/>
                </a:solidFill>
                <a:latin typeface="微软雅黑"/>
              </a:rPr>
              <a:t>Beyond Software. Built on Value.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6E32BB-49A0-CCB1-7215-93BDEACFBEA7}"/>
              </a:ext>
            </a:extLst>
          </p:cNvPr>
          <p:cNvSpPr txBox="1"/>
          <p:nvPr/>
        </p:nvSpPr>
        <p:spPr>
          <a:xfrm>
            <a:off x="7935422" y="3950395"/>
            <a:ext cx="3269974" cy="658368"/>
          </a:xfrm>
          <a:prstGeom prst="rect">
            <a:avLst/>
          </a:prstGeom>
          <a:solidFill>
            <a:srgbClr val="F4BB40"/>
          </a:solidFill>
        </p:spPr>
        <p:txBody>
          <a:bodyPr wrap="square" lIns="46800" tIns="18288" rIns="45720" bIns="18288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CN" sz="1100" b="1">
                <a:solidFill>
                  <a:schemeClr val="bg1"/>
                </a:solidFill>
                <a:latin typeface="微软雅黑"/>
              </a:rPr>
              <a:t>  ProMESA</a:t>
            </a:r>
            <a:r>
              <a:rPr lang="zh-CN" altLang="en-US" sz="1100" b="1">
                <a:solidFill>
                  <a:schemeClr val="bg1"/>
                </a:solidFill>
                <a:latin typeface="微软雅黑"/>
              </a:rPr>
              <a:t> </a:t>
            </a:r>
            <a:r>
              <a:rPr lang="en-CN" sz="11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制造运营管理业务</a:t>
            </a:r>
            <a:r>
              <a:rPr lang="zh-CN" altLang="en-US" sz="1100" b="1">
                <a:solidFill>
                  <a:schemeClr val="bg1"/>
                </a:solidFill>
                <a:latin typeface="微软雅黑"/>
              </a:rPr>
              <a:t> </a:t>
            </a:r>
            <a:r>
              <a:rPr lang="en-US" altLang="zh-CN" sz="1100" b="1">
                <a:solidFill>
                  <a:schemeClr val="bg1"/>
                </a:solidFill>
                <a:latin typeface="微软雅黑"/>
              </a:rPr>
              <a:t> | </a:t>
            </a:r>
            <a:r>
              <a:rPr lang="zh-CN" altLang="en-US" sz="1100" b="1">
                <a:solidFill>
                  <a:schemeClr val="bg1"/>
                </a:solidFill>
                <a:latin typeface="微软雅黑"/>
              </a:rPr>
              <a:t> </a:t>
            </a:r>
            <a:r>
              <a:rPr lang="zh-CN" altLang="en-US" sz="11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自研 </a:t>
            </a:r>
            <a:endParaRPr lang="en-CN" sz="11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CN" b="1">
                <a:solidFill>
                  <a:schemeClr val="bg1"/>
                </a:solidFill>
                <a:latin typeface="微软雅黑"/>
              </a:rPr>
              <a:t> </a:t>
            </a:r>
            <a:r>
              <a:rPr lang="en-CN" sz="1400" b="1">
                <a:solidFill>
                  <a:schemeClr val="bg1"/>
                </a:solidFill>
                <a:latin typeface="微软雅黑"/>
              </a:rPr>
              <a:t>www.</a:t>
            </a:r>
            <a:r>
              <a:rPr lang="en-US" sz="1400" b="1">
                <a:solidFill>
                  <a:schemeClr val="bg1"/>
                </a:solidFill>
                <a:latin typeface="微软雅黑"/>
              </a:rPr>
              <a:t>bextway.com</a:t>
            </a:r>
            <a:endParaRPr sz="1400" b="0" i="0" spc="3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4B3476-4D11-AA0F-0296-59161795BE6D}"/>
              </a:ext>
            </a:extLst>
          </p:cNvPr>
          <p:cNvSpPr txBox="1"/>
          <p:nvPr/>
        </p:nvSpPr>
        <p:spPr>
          <a:xfrm>
            <a:off x="7651163" y="2581380"/>
            <a:ext cx="3474720" cy="27353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产品线网站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99728D-F347-A74A-D8A2-4DBBB0F607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08133" y="2962275"/>
            <a:ext cx="1979951" cy="12077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FF241-633D-055B-F296-4BAD1297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B4E4E-25A4-859B-A29F-D20BFBCEE6CD}"/>
              </a:ext>
            </a:extLst>
          </p:cNvPr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2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BESTWAY · 百世慧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B5319-ADBB-BEC3-5E09-A2309039AE56}"/>
              </a:ext>
            </a:extLst>
          </p:cNvPr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 / 28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77CCDA-5827-2FA7-8B43-D35821A19F0B}"/>
              </a:ext>
            </a:extLst>
          </p:cNvPr>
          <p:cNvSpPr/>
          <p:nvPr/>
        </p:nvSpPr>
        <p:spPr>
          <a:xfrm>
            <a:off x="457200" y="640080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EB969-7062-041F-B330-F41EDBDC16F7}"/>
              </a:ext>
            </a:extLst>
          </p:cNvPr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30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APPENDIX ·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835A8-CA18-B2B5-176E-4C099A0BDDA4}"/>
              </a:ext>
            </a:extLst>
          </p:cNvPr>
          <p:cNvSpPr txBox="1"/>
          <p:nvPr/>
        </p:nvSpPr>
        <p:spPr>
          <a:xfrm>
            <a:off x="640080" y="804672"/>
            <a:ext cx="10820095" cy="3580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 大</a:t>
            </a:r>
            <a:r>
              <a:rPr kumimoji="0" lang="en-CN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能力域</a:t>
            </a: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— 设计 · 仿真 · 研发管理 · 数字制造 ·</a:t>
            </a:r>
            <a:r>
              <a:rPr kumimoji="0" lang="zh-CN" altLang="en-US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n-cs"/>
              </a:rPr>
              <a:t> </a:t>
            </a:r>
            <a:r>
              <a:rPr kumimoji="0" lang="en-CN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制造运营</a:t>
            </a:r>
            <a:endParaRPr kumimoji="0" sz="1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C422C-E1DF-D404-50B8-38E8BF9F83FC}"/>
              </a:ext>
            </a:extLst>
          </p:cNvPr>
          <p:cNvSpPr txBox="1"/>
          <p:nvPr/>
        </p:nvSpPr>
        <p:spPr>
          <a:xfrm>
            <a:off x="640080" y="1280160"/>
            <a:ext cx="108200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一个百世慧团队，贯通从研发到制造的完整工程数字化链路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2A1D0-8ABE-145E-70E5-A9E929BF0FC7}"/>
              </a:ext>
            </a:extLst>
          </p:cNvPr>
          <p:cNvSpPr/>
          <p:nvPr/>
        </p:nvSpPr>
        <p:spPr>
          <a:xfrm>
            <a:off x="609447" y="1783080"/>
            <a:ext cx="20116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54E3B5-DB36-1F8B-3A9C-21264993D143}"/>
              </a:ext>
            </a:extLst>
          </p:cNvPr>
          <p:cNvSpPr txBox="1"/>
          <p:nvPr/>
        </p:nvSpPr>
        <p:spPr>
          <a:xfrm>
            <a:off x="609447" y="1889692"/>
            <a:ext cx="2011680" cy="2896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CATIA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n-cs"/>
              </a:rPr>
              <a:t>+NX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 需求·设计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76140-D7F4-1935-3455-985EEB27BF46}"/>
              </a:ext>
            </a:extLst>
          </p:cNvPr>
          <p:cNvSpPr txBox="1"/>
          <p:nvPr/>
        </p:nvSpPr>
        <p:spPr>
          <a:xfrm>
            <a:off x="2657703" y="1783080"/>
            <a:ext cx="15544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BC0ACB-D55B-22D3-8D17-4ACDB0DB9E34}"/>
              </a:ext>
            </a:extLst>
          </p:cNvPr>
          <p:cNvSpPr/>
          <p:nvPr/>
        </p:nvSpPr>
        <p:spPr>
          <a:xfrm>
            <a:off x="2849727" y="1783080"/>
            <a:ext cx="2011680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FE1DE-CE26-C204-6D73-53192DC18655}"/>
              </a:ext>
            </a:extLst>
          </p:cNvPr>
          <p:cNvSpPr txBox="1"/>
          <p:nvPr/>
        </p:nvSpPr>
        <p:spPr>
          <a:xfrm>
            <a:off x="2849727" y="1889692"/>
            <a:ext cx="2011680" cy="2896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仿真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 性能验证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865EB-670C-3EF7-10BC-902EC9F64191}"/>
              </a:ext>
            </a:extLst>
          </p:cNvPr>
          <p:cNvSpPr txBox="1"/>
          <p:nvPr/>
        </p:nvSpPr>
        <p:spPr>
          <a:xfrm>
            <a:off x="4897983" y="1783080"/>
            <a:ext cx="15544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C057E9-2014-D4FC-C890-004474B18CCD}"/>
              </a:ext>
            </a:extLst>
          </p:cNvPr>
          <p:cNvSpPr/>
          <p:nvPr/>
        </p:nvSpPr>
        <p:spPr>
          <a:xfrm>
            <a:off x="5090007" y="1783080"/>
            <a:ext cx="2011680" cy="5029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A510F2-BED8-5D88-DD20-B7845927FF31}"/>
              </a:ext>
            </a:extLst>
          </p:cNvPr>
          <p:cNvSpPr txBox="1"/>
          <p:nvPr/>
        </p:nvSpPr>
        <p:spPr>
          <a:xfrm>
            <a:off x="5090007" y="178308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ENOVIA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 研发管理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7E8F7-9B0F-AF7A-836A-1E5BBDDAB0E0}"/>
              </a:ext>
            </a:extLst>
          </p:cNvPr>
          <p:cNvSpPr txBox="1"/>
          <p:nvPr/>
        </p:nvSpPr>
        <p:spPr>
          <a:xfrm>
            <a:off x="7138263" y="1783080"/>
            <a:ext cx="15544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62FBDA-35E9-0EDB-8F8E-6CDBFE1AD160}"/>
              </a:ext>
            </a:extLst>
          </p:cNvPr>
          <p:cNvSpPr/>
          <p:nvPr/>
        </p:nvSpPr>
        <p:spPr>
          <a:xfrm>
            <a:off x="7330287" y="1783080"/>
            <a:ext cx="2011680" cy="5029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B7F07E-BC09-2C14-90E0-B7565EB5F19B}"/>
              </a:ext>
            </a:extLst>
          </p:cNvPr>
          <p:cNvSpPr txBox="1"/>
          <p:nvPr/>
        </p:nvSpPr>
        <p:spPr>
          <a:xfrm>
            <a:off x="7330287" y="1887384"/>
            <a:ext cx="2011680" cy="29431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Tecnomatix</a:t>
            </a: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工艺规划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4EE341-A93C-2EB4-3EC9-8229D12A425C}"/>
              </a:ext>
            </a:extLst>
          </p:cNvPr>
          <p:cNvSpPr txBox="1"/>
          <p:nvPr/>
        </p:nvSpPr>
        <p:spPr>
          <a:xfrm>
            <a:off x="9378543" y="1783080"/>
            <a:ext cx="15544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25B562-E2CD-580E-FC1B-FBBC373FADA5}"/>
              </a:ext>
            </a:extLst>
          </p:cNvPr>
          <p:cNvSpPr/>
          <p:nvPr/>
        </p:nvSpPr>
        <p:spPr>
          <a:xfrm>
            <a:off x="9570567" y="1783080"/>
            <a:ext cx="2011680" cy="502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E8E3AC-1186-0E71-E419-686EA8FCF35B}"/>
              </a:ext>
            </a:extLst>
          </p:cNvPr>
          <p:cNvSpPr/>
          <p:nvPr/>
        </p:nvSpPr>
        <p:spPr>
          <a:xfrm>
            <a:off x="9533991" y="1746504"/>
            <a:ext cx="2084832" cy="576072"/>
          </a:xfrm>
          <a:prstGeom prst="rect">
            <a:avLst/>
          </a:prstGeom>
          <a:noFill/>
          <a:ln w="63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4E14DF-15FC-22CD-7825-5B73C64B7EEC}"/>
              </a:ext>
            </a:extLst>
          </p:cNvPr>
          <p:cNvSpPr txBox="1"/>
          <p:nvPr/>
        </p:nvSpPr>
        <p:spPr>
          <a:xfrm>
            <a:off x="9570567" y="178308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ProMESA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 车间执行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820CC-308B-575C-B20F-B056FE412645}"/>
              </a:ext>
            </a:extLst>
          </p:cNvPr>
          <p:cNvSpPr/>
          <p:nvPr/>
        </p:nvSpPr>
        <p:spPr>
          <a:xfrm>
            <a:off x="457200" y="2606040"/>
            <a:ext cx="2145731" cy="32461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EEFBDC-42CF-09C8-B7A2-49D10D472DF9}"/>
              </a:ext>
            </a:extLst>
          </p:cNvPr>
          <p:cNvSpPr/>
          <p:nvPr/>
        </p:nvSpPr>
        <p:spPr>
          <a:xfrm>
            <a:off x="457200" y="2606040"/>
            <a:ext cx="2145731" cy="7315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B9C2F6-C244-9A80-9847-01D9F33B6385}"/>
              </a:ext>
            </a:extLst>
          </p:cNvPr>
          <p:cNvSpPr txBox="1"/>
          <p:nvPr/>
        </p:nvSpPr>
        <p:spPr>
          <a:xfrm>
            <a:off x="457200" y="2788920"/>
            <a:ext cx="2145731" cy="3749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CATIA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n-cs"/>
              </a:rPr>
              <a:t>+ NX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545EFF-78F0-1264-36D8-91CEBB3BA3F0}"/>
              </a:ext>
            </a:extLst>
          </p:cNvPr>
          <p:cNvSpPr txBox="1"/>
          <p:nvPr/>
        </p:nvSpPr>
        <p:spPr>
          <a:xfrm>
            <a:off x="457200" y="3337560"/>
            <a:ext cx="2145731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设计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D4788B-0326-A95F-7741-965F2B5D1B89}"/>
              </a:ext>
            </a:extLst>
          </p:cNvPr>
          <p:cNvSpPr txBox="1"/>
          <p:nvPr/>
        </p:nvSpPr>
        <p:spPr>
          <a:xfrm>
            <a:off x="457200" y="3685032"/>
            <a:ext cx="2145731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 大学科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9548B6-5C3C-E2D2-C79E-5326127E809D}"/>
              </a:ext>
            </a:extLst>
          </p:cNvPr>
          <p:cNvSpPr txBox="1"/>
          <p:nvPr/>
        </p:nvSpPr>
        <p:spPr>
          <a:xfrm>
            <a:off x="457200" y="4160520"/>
            <a:ext cx="2145731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造型 · 工程 · 系统工程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1F622713-662D-BA3C-FECF-92FEA771D9DB}"/>
              </a:ext>
            </a:extLst>
          </p:cNvPr>
          <p:cNvCxnSpPr/>
          <p:nvPr/>
        </p:nvCxnSpPr>
        <p:spPr>
          <a:xfrm>
            <a:off x="731520" y="4572000"/>
            <a:ext cx="1597091" cy="0"/>
          </a:xfrm>
          <a:prstGeom prst="line">
            <a:avLst/>
          </a:prstGeom>
          <a:ln w="635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9035DC-01ED-FA88-A7D1-88DF4CDB067B}"/>
              </a:ext>
            </a:extLst>
          </p:cNvPr>
          <p:cNvSpPr txBox="1"/>
          <p:nvPr/>
        </p:nvSpPr>
        <p:spPr>
          <a:xfrm>
            <a:off x="594360" y="4663440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机械/电气/管路/复材多专业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35FABF-37EB-7177-15F7-8A9A8695CE00}"/>
              </a:ext>
            </a:extLst>
          </p:cNvPr>
          <p:cNvSpPr txBox="1"/>
          <p:nvPr/>
        </p:nvSpPr>
        <p:spPr>
          <a:xfrm>
            <a:off x="594360" y="4992624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MBD 全三维流程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D516ED-48CA-9E63-A532-61E42D5C4054}"/>
              </a:ext>
            </a:extLst>
          </p:cNvPr>
          <p:cNvSpPr txBox="1"/>
          <p:nvPr/>
        </p:nvSpPr>
        <p:spPr>
          <a:xfrm>
            <a:off x="594360" y="5321808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RFLP 系统工程方法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8084B2-511A-4C2D-A788-7DE687795C9F}"/>
              </a:ext>
            </a:extLst>
          </p:cNvPr>
          <p:cNvSpPr/>
          <p:nvPr/>
        </p:nvSpPr>
        <p:spPr>
          <a:xfrm>
            <a:off x="2740091" y="2606040"/>
            <a:ext cx="2145731" cy="32461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7B2C01-CFC1-5924-16B7-A5585440370F}"/>
              </a:ext>
            </a:extLst>
          </p:cNvPr>
          <p:cNvSpPr/>
          <p:nvPr/>
        </p:nvSpPr>
        <p:spPr>
          <a:xfrm>
            <a:off x="2740091" y="2606040"/>
            <a:ext cx="2145731" cy="7315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BB7B3-801D-67EA-934A-A9DFAF337AC2}"/>
              </a:ext>
            </a:extLst>
          </p:cNvPr>
          <p:cNvSpPr txBox="1"/>
          <p:nvPr/>
        </p:nvSpPr>
        <p:spPr>
          <a:xfrm>
            <a:off x="2740091" y="2814497"/>
            <a:ext cx="2145731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SIMULIA · Altair · Simcenter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1240A2-2784-A8AA-F0CD-F593DB3CD0CF}"/>
              </a:ext>
            </a:extLst>
          </p:cNvPr>
          <p:cNvSpPr txBox="1"/>
          <p:nvPr/>
        </p:nvSpPr>
        <p:spPr>
          <a:xfrm>
            <a:off x="2740091" y="3343221"/>
            <a:ext cx="2145731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CED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仿真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2F65CF-89E1-0893-E87F-C92DF698F3B9}"/>
              </a:ext>
            </a:extLst>
          </p:cNvPr>
          <p:cNvSpPr txBox="1"/>
          <p:nvPr/>
        </p:nvSpPr>
        <p:spPr>
          <a:xfrm>
            <a:off x="2740091" y="3685032"/>
            <a:ext cx="2145731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CED1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8 大方向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A79FDC-B503-0BED-8658-7A94CE5E74AA}"/>
              </a:ext>
            </a:extLst>
          </p:cNvPr>
          <p:cNvSpPr txBox="1"/>
          <p:nvPr/>
        </p:nvSpPr>
        <p:spPr>
          <a:xfrm>
            <a:off x="2740091" y="4160520"/>
            <a:ext cx="2145731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多物理场耦合 · 拓扑优化</a:t>
            </a:r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CC5540F9-FCB3-465C-81BD-64A25A1B65C0}"/>
              </a:ext>
            </a:extLst>
          </p:cNvPr>
          <p:cNvCxnSpPr/>
          <p:nvPr/>
        </p:nvCxnSpPr>
        <p:spPr>
          <a:xfrm>
            <a:off x="3014411" y="4572000"/>
            <a:ext cx="1597091" cy="0"/>
          </a:xfrm>
          <a:prstGeom prst="line">
            <a:avLst/>
          </a:prstGeom>
          <a:ln w="6350">
            <a:solidFill>
              <a:srgbClr val="00C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FA47B96-5AEC-3E71-913B-6349A4C913D4}"/>
              </a:ext>
            </a:extLst>
          </p:cNvPr>
          <p:cNvSpPr txBox="1"/>
          <p:nvPr/>
        </p:nvSpPr>
        <p:spPr>
          <a:xfrm>
            <a:off x="2877251" y="4705863"/>
            <a:ext cx="1917131" cy="2351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CED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lang="en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建模 ·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结构 · 流体 · 电磁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C8A8A-DC4A-917F-CCD8-1E1DD2CBFE35}"/>
              </a:ext>
            </a:extLst>
          </p:cNvPr>
          <p:cNvSpPr txBox="1"/>
          <p:nvPr/>
        </p:nvSpPr>
        <p:spPr>
          <a:xfrm>
            <a:off x="2877251" y="5035047"/>
            <a:ext cx="1917131" cy="2351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CED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仿真</a:t>
            </a:r>
            <a:r>
              <a:rPr kumimoji="0" lang="en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数据与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过程管理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54F49C-89C9-2AF5-366C-4666F0AA380A}"/>
              </a:ext>
            </a:extLst>
          </p:cNvPr>
          <p:cNvSpPr txBox="1"/>
          <p:nvPr/>
        </p:nvSpPr>
        <p:spPr>
          <a:xfrm>
            <a:off x="2877251" y="5321808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CED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拓扑优化与寻优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869E00-D996-4D76-1C41-416C1A334715}"/>
              </a:ext>
            </a:extLst>
          </p:cNvPr>
          <p:cNvSpPr/>
          <p:nvPr/>
        </p:nvSpPr>
        <p:spPr>
          <a:xfrm>
            <a:off x="5022982" y="2606040"/>
            <a:ext cx="2145731" cy="32461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A57C1B-311D-14B8-03B6-5AB41A874186}"/>
              </a:ext>
            </a:extLst>
          </p:cNvPr>
          <p:cNvSpPr/>
          <p:nvPr/>
        </p:nvSpPr>
        <p:spPr>
          <a:xfrm>
            <a:off x="5022982" y="2606040"/>
            <a:ext cx="2145731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23A32B-E77D-99C6-3793-0C726C4B8CD0}"/>
              </a:ext>
            </a:extLst>
          </p:cNvPr>
          <p:cNvSpPr txBox="1"/>
          <p:nvPr/>
        </p:nvSpPr>
        <p:spPr>
          <a:xfrm>
            <a:off x="5022982" y="2788920"/>
            <a:ext cx="2145731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ENOVIA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D98F83-DE7D-FB90-9BCF-3A06D6CBC317}"/>
              </a:ext>
            </a:extLst>
          </p:cNvPr>
          <p:cNvSpPr txBox="1"/>
          <p:nvPr/>
        </p:nvSpPr>
        <p:spPr>
          <a:xfrm>
            <a:off x="5022982" y="3337560"/>
            <a:ext cx="2145731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研发管理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C63C6C-CAB4-9A6A-D139-042447BEA2B2}"/>
              </a:ext>
            </a:extLst>
          </p:cNvPr>
          <p:cNvSpPr txBox="1"/>
          <p:nvPr/>
        </p:nvSpPr>
        <p:spPr>
          <a:xfrm>
            <a:off x="5022982" y="3685032"/>
            <a:ext cx="2145731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 大阶段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42C111-87E2-05DD-9A45-A36F9B6526A8}"/>
              </a:ext>
            </a:extLst>
          </p:cNvPr>
          <p:cNvSpPr txBox="1"/>
          <p:nvPr/>
        </p:nvSpPr>
        <p:spPr>
          <a:xfrm>
            <a:off x="5022982" y="4160520"/>
            <a:ext cx="2145731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PLM · 全生命周期</a:t>
            </a:r>
          </a:p>
        </p:txBody>
      </p: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09A5FBEC-013E-4686-5DCC-874D40B49444}"/>
              </a:ext>
            </a:extLst>
          </p:cNvPr>
          <p:cNvCxnSpPr/>
          <p:nvPr/>
        </p:nvCxnSpPr>
        <p:spPr>
          <a:xfrm>
            <a:off x="5297302" y="4572000"/>
            <a:ext cx="1597091" cy="0"/>
          </a:xfrm>
          <a:prstGeom prst="line">
            <a:avLst/>
          </a:prstGeom>
          <a:ln w="6350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57C049C-5D83-558A-3FC8-737C2888D990}"/>
              </a:ext>
            </a:extLst>
          </p:cNvPr>
          <p:cNvSpPr txBox="1"/>
          <p:nvPr/>
        </p:nvSpPr>
        <p:spPr>
          <a:xfrm>
            <a:off x="5160142" y="4663440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IPD 集成产品开发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785BCE-4D8F-73EC-116D-4FE55F15E7D1}"/>
              </a:ext>
            </a:extLst>
          </p:cNvPr>
          <p:cNvSpPr txBox="1"/>
          <p:nvPr/>
        </p:nvSpPr>
        <p:spPr>
          <a:xfrm>
            <a:off x="5160142" y="4992624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BOM/变更/项目管控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764C40-7A87-8C31-F7BD-C7013C942F29}"/>
              </a:ext>
            </a:extLst>
          </p:cNvPr>
          <p:cNvSpPr txBox="1"/>
          <p:nvPr/>
        </p:nvSpPr>
        <p:spPr>
          <a:xfrm>
            <a:off x="5160142" y="5321808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ERP/MOM 集成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36D0D2-999E-7902-E8C5-9850FBD11F97}"/>
              </a:ext>
            </a:extLst>
          </p:cNvPr>
          <p:cNvSpPr/>
          <p:nvPr/>
        </p:nvSpPr>
        <p:spPr>
          <a:xfrm>
            <a:off x="7305873" y="2606040"/>
            <a:ext cx="2145731" cy="32461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F0786F-B2B2-F446-B430-FC056E8F36B8}"/>
              </a:ext>
            </a:extLst>
          </p:cNvPr>
          <p:cNvSpPr/>
          <p:nvPr/>
        </p:nvSpPr>
        <p:spPr>
          <a:xfrm>
            <a:off x="7305873" y="2606040"/>
            <a:ext cx="2145731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639C21-84FC-022B-CC85-BEEFC4D21650}"/>
              </a:ext>
            </a:extLst>
          </p:cNvPr>
          <p:cNvSpPr txBox="1"/>
          <p:nvPr/>
        </p:nvSpPr>
        <p:spPr>
          <a:xfrm>
            <a:off x="7305873" y="2788920"/>
            <a:ext cx="2145731" cy="3801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000" b="1" i="0">
                <a:solidFill>
                  <a:srgbClr val="FFFFFF"/>
                </a:solidFill>
                <a:latin typeface="微软雅黑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Tecnomatix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3A5C18-6FB0-68B4-DE5F-40BFE49FE289}"/>
              </a:ext>
            </a:extLst>
          </p:cNvPr>
          <p:cNvSpPr txBox="1"/>
          <p:nvPr/>
        </p:nvSpPr>
        <p:spPr>
          <a:xfrm>
            <a:off x="7305873" y="3337560"/>
            <a:ext cx="2145731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数字制造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71A1FE-5D99-E9C8-839C-0AC361CD561D}"/>
              </a:ext>
            </a:extLst>
          </p:cNvPr>
          <p:cNvSpPr txBox="1"/>
          <p:nvPr/>
        </p:nvSpPr>
        <p:spPr>
          <a:xfrm>
            <a:off x="7305873" y="3685032"/>
            <a:ext cx="2145731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 大方向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8E1A84-1402-6B16-29A4-685E0F58A4F2}"/>
              </a:ext>
            </a:extLst>
          </p:cNvPr>
          <p:cNvSpPr txBox="1"/>
          <p:nvPr/>
        </p:nvSpPr>
        <p:spPr>
          <a:xfrm>
            <a:off x="7305873" y="4160520"/>
            <a:ext cx="2145731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工艺 · 工厂 · 机器人</a:t>
            </a:r>
          </a:p>
        </p:txBody>
      </p: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2BAF6DFB-3A7C-20F5-5EEE-9024345B5C11}"/>
              </a:ext>
            </a:extLst>
          </p:cNvPr>
          <p:cNvCxnSpPr/>
          <p:nvPr/>
        </p:nvCxnSpPr>
        <p:spPr>
          <a:xfrm>
            <a:off x="7580193" y="4572000"/>
            <a:ext cx="1597091" cy="0"/>
          </a:xfrm>
          <a:prstGeom prst="line">
            <a:avLst/>
          </a:prstGeom>
          <a:ln w="63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78295CC-DD25-E5A9-009C-598FF92ACF80}"/>
              </a:ext>
            </a:extLst>
          </p:cNvPr>
          <p:cNvSpPr txBox="1"/>
          <p:nvPr/>
        </p:nvSpPr>
        <p:spPr>
          <a:xfrm>
            <a:off x="7443033" y="4663440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虚拟工厂与物流仿真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A707E4-7226-4464-D79A-586A9EC238DA}"/>
              </a:ext>
            </a:extLst>
          </p:cNvPr>
          <p:cNvSpPr txBox="1"/>
          <p:nvPr/>
        </p:nvSpPr>
        <p:spPr>
          <a:xfrm>
            <a:off x="7443033" y="4992624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AGV/产能动态仿真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52CA60-E2A4-27E0-2696-B04C567982CF}"/>
              </a:ext>
            </a:extLst>
          </p:cNvPr>
          <p:cNvSpPr txBox="1"/>
          <p:nvPr/>
        </p:nvSpPr>
        <p:spPr>
          <a:xfrm>
            <a:off x="7443033" y="5321808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机器人离线编程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D190C2-0A30-083B-6A1F-CA5BF910DC65}"/>
              </a:ext>
            </a:extLst>
          </p:cNvPr>
          <p:cNvSpPr/>
          <p:nvPr/>
        </p:nvSpPr>
        <p:spPr>
          <a:xfrm>
            <a:off x="9552188" y="2569464"/>
            <a:ext cx="2218883" cy="3319272"/>
          </a:xfrm>
          <a:prstGeom prst="rect">
            <a:avLst/>
          </a:prstGeom>
          <a:noFill/>
          <a:ln w="63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DC23DC-C42C-9E00-2263-6B37771274A7}"/>
              </a:ext>
            </a:extLst>
          </p:cNvPr>
          <p:cNvSpPr/>
          <p:nvPr/>
        </p:nvSpPr>
        <p:spPr>
          <a:xfrm>
            <a:off x="9588764" y="2606040"/>
            <a:ext cx="2145731" cy="32461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5BD5C85-25DE-6529-CDF7-A80E84687D5A}"/>
              </a:ext>
            </a:extLst>
          </p:cNvPr>
          <p:cNvSpPr/>
          <p:nvPr/>
        </p:nvSpPr>
        <p:spPr>
          <a:xfrm>
            <a:off x="9588764" y="2606040"/>
            <a:ext cx="2145731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F617C2B-D870-946A-3791-F474A2F8D4B0}"/>
              </a:ext>
            </a:extLst>
          </p:cNvPr>
          <p:cNvSpPr txBox="1"/>
          <p:nvPr/>
        </p:nvSpPr>
        <p:spPr>
          <a:xfrm>
            <a:off x="9588764" y="2788920"/>
            <a:ext cx="2145731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ProMESA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C90F9A-ECE5-05BB-8080-4A67B7B954F3}"/>
              </a:ext>
            </a:extLst>
          </p:cNvPr>
          <p:cNvSpPr txBox="1"/>
          <p:nvPr/>
        </p:nvSpPr>
        <p:spPr>
          <a:xfrm>
            <a:off x="9588764" y="3337560"/>
            <a:ext cx="2145731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制造</a:t>
            </a:r>
            <a:r>
              <a:rPr kumimoji="0" lang="en-CN" sz="12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运营</a:t>
            </a:r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FFB800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A5B69B-2A3E-6564-5E5A-B3DFB81ABE37}"/>
              </a:ext>
            </a:extLst>
          </p:cNvPr>
          <p:cNvSpPr txBox="1"/>
          <p:nvPr/>
        </p:nvSpPr>
        <p:spPr>
          <a:xfrm>
            <a:off x="9588764" y="3685032"/>
            <a:ext cx="2145731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 大模块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D842039-5D73-3FC9-88CD-93F439984E95}"/>
              </a:ext>
            </a:extLst>
          </p:cNvPr>
          <p:cNvSpPr txBox="1"/>
          <p:nvPr/>
        </p:nvSpPr>
        <p:spPr>
          <a:xfrm>
            <a:off x="9588764" y="4160520"/>
            <a:ext cx="2145731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MES·WMS·QMS·EMS·CTS·SCMS</a:t>
            </a:r>
          </a:p>
        </p:txBody>
      </p: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C3964F05-6FAD-75B3-BCD7-EDD59CC7F757}"/>
              </a:ext>
            </a:extLst>
          </p:cNvPr>
          <p:cNvCxnSpPr/>
          <p:nvPr/>
        </p:nvCxnSpPr>
        <p:spPr>
          <a:xfrm>
            <a:off x="9863084" y="4572000"/>
            <a:ext cx="1597091" cy="0"/>
          </a:xfrm>
          <a:prstGeom prst="line">
            <a:avLst/>
          </a:prstGeom>
          <a:ln w="6350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3327E83-2696-7DAC-2465-4739F45057D1}"/>
              </a:ext>
            </a:extLst>
          </p:cNvPr>
          <p:cNvSpPr txBox="1"/>
          <p:nvPr/>
        </p:nvSpPr>
        <p:spPr>
          <a:xfrm>
            <a:off x="9725924" y="4663440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锂电铜箔头部企业首选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888776-7300-7A00-CC0B-496E10222673}"/>
              </a:ext>
            </a:extLst>
          </p:cNvPr>
          <p:cNvSpPr txBox="1"/>
          <p:nvPr/>
        </p:nvSpPr>
        <p:spPr>
          <a:xfrm>
            <a:off x="9725924" y="4992624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▸ 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多基地统一管控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68E220-1D98-5ADD-A32F-EB64D3E16C7B}"/>
              </a:ext>
            </a:extLst>
          </p:cNvPr>
          <p:cNvSpPr txBox="1"/>
          <p:nvPr/>
        </p:nvSpPr>
        <p:spPr>
          <a:xfrm>
            <a:off x="9725924" y="5321808"/>
            <a:ext cx="1917131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▸   自主可控 · 按行业工艺定制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C80428-F134-FCF4-3428-60FF99CF77AF}"/>
              </a:ext>
            </a:extLst>
          </p:cNvPr>
          <p:cNvSpPr/>
          <p:nvPr/>
        </p:nvSpPr>
        <p:spPr>
          <a:xfrm>
            <a:off x="0" y="5989320"/>
            <a:ext cx="2447483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822312A-6B6B-1166-69A2-F4EDA2EC2D61}"/>
              </a:ext>
            </a:extLst>
          </p:cNvPr>
          <p:cNvSpPr/>
          <p:nvPr/>
        </p:nvSpPr>
        <p:spPr>
          <a:xfrm>
            <a:off x="2438339" y="5989320"/>
            <a:ext cx="2447483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26209E8-67EF-4EC6-D42B-96A76A80F6C7}"/>
              </a:ext>
            </a:extLst>
          </p:cNvPr>
          <p:cNvSpPr/>
          <p:nvPr/>
        </p:nvSpPr>
        <p:spPr>
          <a:xfrm>
            <a:off x="4876678" y="5989320"/>
            <a:ext cx="2447483" cy="5029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A4275E9-579F-7326-701B-95882DB67D77}"/>
              </a:ext>
            </a:extLst>
          </p:cNvPr>
          <p:cNvSpPr/>
          <p:nvPr/>
        </p:nvSpPr>
        <p:spPr>
          <a:xfrm>
            <a:off x="7315017" y="5989320"/>
            <a:ext cx="2447483" cy="5029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F328256-F375-0F3E-4F39-B98BA66F4903}"/>
              </a:ext>
            </a:extLst>
          </p:cNvPr>
          <p:cNvSpPr/>
          <p:nvPr/>
        </p:nvSpPr>
        <p:spPr>
          <a:xfrm>
            <a:off x="9753356" y="5989320"/>
            <a:ext cx="2447483" cy="502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358BEBD-0095-6BF9-F2C4-4750F99E7DE9}"/>
              </a:ext>
            </a:extLst>
          </p:cNvPr>
          <p:cNvSpPr txBox="1"/>
          <p:nvPr/>
        </p:nvSpPr>
        <p:spPr>
          <a:xfrm>
            <a:off x="0" y="6104973"/>
            <a:ext cx="12191695" cy="27161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 个团队  · </a:t>
            </a:r>
            <a:r>
              <a:rPr kumimoji="0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 </a:t>
            </a: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大能力域  </a:t>
            </a:r>
            <a:r>
              <a:rPr kumimoji="0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n-cs"/>
              </a:rPr>
              <a:t>· </a:t>
            </a: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全局整合视角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 — </a:t>
            </a: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百世慧与单点服务商最本质的区别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E81E5FA-97CA-6F1E-A1B4-16F8583508BE}"/>
              </a:ext>
            </a:extLst>
          </p:cNvPr>
          <p:cNvSpPr/>
          <p:nvPr/>
        </p:nvSpPr>
        <p:spPr>
          <a:xfrm>
            <a:off x="2703515" y="2573947"/>
            <a:ext cx="2218883" cy="3319272"/>
          </a:xfrm>
          <a:prstGeom prst="rect">
            <a:avLst/>
          </a:prstGeom>
          <a:noFill/>
          <a:ln w="6350">
            <a:solidFill>
              <a:srgbClr val="03C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272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CED1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CED1"/>
                </a:solidFill>
                <a:latin typeface="Arial"/>
              </a:rPr>
              <a:t>18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FFFFFF"/>
                </a:solidFill>
                <a:latin typeface="Arial"/>
              </a:rPr>
              <a:t>APPENDIX · SIMULIA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仿真物理 — 覆盖 8 大仿真方向，支持多物理场深度耦合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2407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百世慧 </a:t>
            </a:r>
            <a:r>
              <a:rPr lang="en-US" altLang="zh-CN" sz="1200" b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2030 </a:t>
            </a:r>
            <a:r>
              <a:rPr lang="zh-CN" altLang="en-US" sz="1200" b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战略核心能力 </a:t>
            </a:r>
            <a:r>
              <a:rPr lang="en-US" altLang="zh-CN" sz="1200" b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1200" b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达索</a:t>
            </a:r>
            <a:r>
              <a:rPr lang="en-US" sz="1200" b="1">
                <a:solidFill>
                  <a:srgbClr val="00D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SIMULIA</a:t>
            </a:r>
            <a:endParaRPr sz="1200" b="1">
              <a:solidFill>
                <a:srgbClr val="00D4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286000" cy="2926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45720" cy="29260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1920240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202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</a:rPr>
              <a:t>SIMULIA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20469"/>
            <a:ext cx="1920240" cy="2029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达索系统授权 · 多物理场仿真平台</a:t>
            </a:r>
          </a:p>
          <a:p>
            <a:pPr marL="171450" indent="-17145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覆盖结构、流体、电磁、噪声等全学科</a:t>
            </a:r>
            <a:endParaRPr lang="en-US" sz="1100" b="0" i="0">
              <a:solidFill>
                <a:srgbClr val="FFFFFF"/>
              </a:solidFill>
              <a:latin typeface="微软雅黑"/>
            </a:endParaRPr>
          </a:p>
          <a:p>
            <a:pPr marL="171450" indent="-17145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支持 MODSIM 同源建模与 SPDM 过程管理</a:t>
            </a:r>
            <a:endParaRPr lang="en-US" sz="1100" b="0" i="0">
              <a:solidFill>
                <a:srgbClr val="FFFFFF"/>
              </a:solidFill>
              <a:latin typeface="微软雅黑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N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AI与机器学习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，仿真加速与智能预测</a:t>
            </a:r>
            <a:endParaRPr sz="11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2286000" cy="411480"/>
          </a:xfrm>
          <a:prstGeom prst="rect">
            <a:avLst/>
          </a:prstGeom>
          <a:solidFill>
            <a:srgbClr val="003D7A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169251"/>
            <a:ext cx="2286000" cy="22281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  <a:cs typeface="微软雅黑"/>
              </a:rPr>
              <a:t>Dassault Systèmes 授权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011680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0" y="2011680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2103120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结构 &amp; 耐久性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468880"/>
            <a:ext cx="1936927" cy="62876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静力分析 · 非线性大变形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疲劳寿命 · 瞬态动力学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复杂接触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374136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Abaqus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1335" y="2011680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01335" y="2011680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38495" y="2103120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电磁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8495" y="2468880"/>
            <a:ext cx="1936927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天线设计 · EMC/EMI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信号完整性 SI/PI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全波段仿真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8495" y="3374136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CST Studio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6591" y="2011680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76591" y="2011680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3751" y="2103120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多体系统模拟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3751" y="2468880"/>
            <a:ext cx="1936927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运动学分析 · 刚柔耦合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机构动力学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碰撞仿真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3751" y="3374136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SIMPACK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1847" y="2011680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51847" y="2011680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89007" y="2103120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流体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9007" y="2468880"/>
            <a:ext cx="1936927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CFD 计算流体 · 流固耦合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热流仿真 · 多相流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9007" y="3374136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XFlow · PowerFLOW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803904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26080" y="3803904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3895344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振动 · 噪声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4261104"/>
            <a:ext cx="1936927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NVH 分析 · 声学仿真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模态分析 · 频响分析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5166360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fe-safe · Abaqus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1335" y="3803904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201335" y="3803904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38495" y="3895344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自动化 &amp; 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8495" y="4261104"/>
            <a:ext cx="1936927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SPDM 平台 · 拓扑优化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参数化寻优 · 流程自动化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8495" y="5166360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Isight · Tosca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6591" y="3803904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76591" y="3803904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13751" y="3895344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设计仿真一体化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3751" y="4261104"/>
            <a:ext cx="1936927" cy="62876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模型同源 · 性能驱动设计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轻量化探索 · 快速迭代验证</a:t>
            </a:r>
            <a:endParaRPr lang="en-US" sz="950" b="0" i="0">
              <a:solidFill>
                <a:srgbClr val="FFFFFF"/>
              </a:solidFill>
              <a:latin typeface="微软雅黑"/>
            </a:endParaRPr>
          </a:p>
          <a:p>
            <a:pPr>
              <a:lnSpc>
                <a:spcPct val="140000"/>
              </a:lnSpc>
            </a:pPr>
            <a:r>
              <a:rPr lang="en-CN" sz="9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AI驱动的代理模型</a:t>
            </a:r>
            <a:endParaRPr sz="95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13751" y="5166360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MODSIM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51847" y="3803904"/>
            <a:ext cx="2165527" cy="1682495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751847" y="3803904"/>
            <a:ext cx="45720" cy="168249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89007" y="3895344"/>
            <a:ext cx="193692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CED1"/>
                </a:solidFill>
                <a:latin typeface="微软雅黑"/>
                <a:ea typeface="微软雅黑"/>
                <a:cs typeface="微软雅黑"/>
              </a:rPr>
              <a:t>多物理场耦合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89007" y="4261104"/>
            <a:ext cx="1936927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电-热-力 · 流-固-热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跨领域协同仿真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89007" y="5166360"/>
            <a:ext cx="193692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00CED1"/>
                </a:solidFill>
                <a:latin typeface="Arial"/>
              </a:rPr>
              <a:t>3DEXPERIENCE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0" y="6112475"/>
            <a:ext cx="12191695" cy="25660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MODSIM 同源  ·  多物理场耦合  ·  SPDM 仿真</a:t>
            </a:r>
            <a:r>
              <a:rPr lang="en-CN"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lang="en-US" altLang="zh-CN" sz="1300" b="1" i="0">
                <a:solidFill>
                  <a:srgbClr val="FFFFFF"/>
                </a:solidFill>
                <a:latin typeface="微软雅黑"/>
              </a:rPr>
              <a:t>&amp;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过程管理 — 让仿真真正驱动设计决策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B6C0C4D-1ABA-E0AE-508A-B2A0CB1DE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598" y="743457"/>
            <a:ext cx="1901329" cy="3721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75071-36B6-3A8F-2F91-28DB502D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7F1898-005C-CF1E-D20B-9DB29E2EFC6A}"/>
              </a:ext>
            </a:extLst>
          </p:cNvPr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EC4EDB-AFA0-B7B7-72B0-18C85D8256CC}"/>
              </a:ext>
            </a:extLst>
          </p:cNvPr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571FDB-359D-71E3-679B-C3760250E50D}"/>
              </a:ext>
            </a:extLst>
          </p:cNvPr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 E S T W A Y  ·  百 世 慧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A016C-07B8-21D2-1107-347FAA28EC12}"/>
              </a:ext>
            </a:extLst>
          </p:cNvPr>
          <p:cNvSpPr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6AB021-B444-01CA-A05E-1208553CFFD2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P P E N D I X  ·  H Y P E R W O R K 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54F05-BFE2-C4BD-8612-4A129EAD98C0}"/>
              </a:ext>
            </a:extLst>
          </p:cNvPr>
          <p:cNvSpPr/>
          <p:nvPr/>
        </p:nvSpPr>
        <p:spPr>
          <a:xfrm>
            <a:off x="54864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设计优化与轻量化 — 覆盖 8 大仿真方向，拓扑优化驱动创新设计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B367B0-999A-35E5-CBFF-128A40EF5DEB}"/>
              </a:ext>
            </a:extLst>
          </p:cNvPr>
          <p:cNvSpPr/>
          <p:nvPr/>
        </p:nvSpPr>
        <p:spPr>
          <a:xfrm>
            <a:off x="9326880" y="672011"/>
            <a:ext cx="231648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ALTAIR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93ED5C-2484-31EA-4CA7-C6F8137183B0}"/>
              </a:ext>
            </a:extLst>
          </p:cNvPr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8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百世慧 2030 战略 · 仿真业务布局    达索 SIMULIA · 西门子 Altair 双引擎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4C30DF-7DC3-654D-C04E-B6E40D1A148B}"/>
              </a:ext>
            </a:extLst>
          </p:cNvPr>
          <p:cNvSpPr/>
          <p:nvPr/>
        </p:nvSpPr>
        <p:spPr>
          <a:xfrm>
            <a:off x="2926080" y="2015135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3D3C0A-A34F-48E4-27E4-53D34F3D2CBE}"/>
              </a:ext>
            </a:extLst>
          </p:cNvPr>
          <p:cNvSpPr/>
          <p:nvPr/>
        </p:nvSpPr>
        <p:spPr>
          <a:xfrm>
            <a:off x="3063240" y="2106517"/>
            <a:ext cx="1920240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建模与可视化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3A36BA-526C-85F7-7005-2D5F19E5C4DF}"/>
              </a:ext>
            </a:extLst>
          </p:cNvPr>
          <p:cNvSpPr/>
          <p:nvPr/>
        </p:nvSpPr>
        <p:spPr>
          <a:xfrm>
            <a:off x="3063240" y="2433968"/>
            <a:ext cx="1920240" cy="83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前处理网格 · 几何处理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结果后处理 · 数据可视化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多学科建模环境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D34170-4C98-E892-757E-CC581F794A3C}"/>
              </a:ext>
            </a:extLst>
          </p:cNvPr>
          <p:cNvSpPr/>
          <p:nvPr/>
        </p:nvSpPr>
        <p:spPr>
          <a:xfrm>
            <a:off x="3063240" y="3326224"/>
            <a:ext cx="1920240" cy="2284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HyperMesh · SimLab · HyperView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6C8F3F-8858-AD14-69D3-9D0122CECC1B}"/>
              </a:ext>
            </a:extLst>
          </p:cNvPr>
          <p:cNvSpPr/>
          <p:nvPr/>
        </p:nvSpPr>
        <p:spPr>
          <a:xfrm>
            <a:off x="2926080" y="2015136"/>
            <a:ext cx="45720" cy="1674269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35FA678-0F57-3BE9-AA44-9B206E75926C}"/>
              </a:ext>
            </a:extLst>
          </p:cNvPr>
          <p:cNvSpPr/>
          <p:nvPr/>
        </p:nvSpPr>
        <p:spPr>
          <a:xfrm>
            <a:off x="5257800" y="2002610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584754-41ED-701B-8668-CD4ACC35328F}"/>
              </a:ext>
            </a:extLst>
          </p:cNvPr>
          <p:cNvSpPr/>
          <p:nvPr/>
        </p:nvSpPr>
        <p:spPr>
          <a:xfrm>
            <a:off x="5394960" y="2094571"/>
            <a:ext cx="1920240" cy="26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结构优化 &amp; 轻量化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21CC6-B5F1-9ECE-0E3B-FF89F7835145}"/>
              </a:ext>
            </a:extLst>
          </p:cNvPr>
          <p:cNvSpPr/>
          <p:nvPr/>
        </p:nvSpPr>
        <p:spPr>
          <a:xfrm>
            <a:off x="5394960" y="2424093"/>
            <a:ext cx="1920240" cy="84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拓扑优化 · 形貌优化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尺寸/形状优化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非线性 · 显式动力学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E996F8-A788-17AE-7A55-2FEE85386509}"/>
              </a:ext>
            </a:extLst>
          </p:cNvPr>
          <p:cNvSpPr/>
          <p:nvPr/>
        </p:nvSpPr>
        <p:spPr>
          <a:xfrm>
            <a:off x="5394960" y="3322374"/>
            <a:ext cx="1920240" cy="2298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OptiStruct · Radioss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4FF555-729C-EF20-70C0-BDCE46F491CE}"/>
              </a:ext>
            </a:extLst>
          </p:cNvPr>
          <p:cNvSpPr/>
          <p:nvPr/>
        </p:nvSpPr>
        <p:spPr>
          <a:xfrm>
            <a:off x="5257800" y="2002610"/>
            <a:ext cx="45720" cy="168486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75FA5C-3647-BEF3-B753-022119134BE0}"/>
              </a:ext>
            </a:extLst>
          </p:cNvPr>
          <p:cNvSpPr/>
          <p:nvPr/>
        </p:nvSpPr>
        <p:spPr>
          <a:xfrm>
            <a:off x="7589520" y="2002456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7E4CF1-9C37-8E34-6312-963E86B4E27C}"/>
              </a:ext>
            </a:extLst>
          </p:cNvPr>
          <p:cNvSpPr/>
          <p:nvPr/>
        </p:nvSpPr>
        <p:spPr>
          <a:xfrm>
            <a:off x="7726680" y="2094677"/>
            <a:ext cx="1920240" cy="26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流体仿真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AFD911-A674-4E91-6110-230D2F192F8B}"/>
              </a:ext>
            </a:extLst>
          </p:cNvPr>
          <p:cNvSpPr/>
          <p:nvPr/>
        </p:nvSpPr>
        <p:spPr>
          <a:xfrm>
            <a:off x="7726680" y="2425137"/>
            <a:ext cx="1920240" cy="84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CFD 计算流体 · 热管理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气动分析 · 外流场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颗粒流 · 多相流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F35529-8800-231C-B8D1-D63C872FF5C3}"/>
              </a:ext>
            </a:extLst>
          </p:cNvPr>
          <p:cNvSpPr/>
          <p:nvPr/>
        </p:nvSpPr>
        <p:spPr>
          <a:xfrm>
            <a:off x="7726680" y="3326142"/>
            <a:ext cx="1920240" cy="2305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AcuSolve · ultraFluidX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5CC276-CEC5-F954-DA7B-F08AF11C775A}"/>
              </a:ext>
            </a:extLst>
          </p:cNvPr>
          <p:cNvSpPr/>
          <p:nvPr/>
        </p:nvSpPr>
        <p:spPr>
          <a:xfrm>
            <a:off x="7589520" y="2001638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50E035-11BD-EDD7-69D8-FE496F13D32E}"/>
              </a:ext>
            </a:extLst>
          </p:cNvPr>
          <p:cNvSpPr/>
          <p:nvPr/>
        </p:nvSpPr>
        <p:spPr>
          <a:xfrm>
            <a:off x="2926080" y="3798768"/>
            <a:ext cx="2194560" cy="1676584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2C7256-BA08-59A4-667D-C901CCAD7C22}"/>
              </a:ext>
            </a:extLst>
          </p:cNvPr>
          <p:cNvSpPr/>
          <p:nvPr/>
        </p:nvSpPr>
        <p:spPr>
          <a:xfrm>
            <a:off x="3063240" y="3890218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多体动力学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6FADBD7-13F6-B198-30BB-7371C7D38989}"/>
              </a:ext>
            </a:extLst>
          </p:cNvPr>
          <p:cNvSpPr/>
          <p:nvPr/>
        </p:nvSpPr>
        <p:spPr>
          <a:xfrm>
            <a:off x="3063240" y="4217914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运动学 · 动力学仿真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刚柔耦合 · 载荷提取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机构运动 · 振动疲劳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CBCB99-98AD-B87D-83C5-4AF8A435AF64}"/>
              </a:ext>
            </a:extLst>
          </p:cNvPr>
          <p:cNvSpPr/>
          <p:nvPr/>
        </p:nvSpPr>
        <p:spPr>
          <a:xfrm>
            <a:off x="3063240" y="511088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MotionSolve · MotionView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5CF42D-664E-B0E3-D419-7E795893170E}"/>
              </a:ext>
            </a:extLst>
          </p:cNvPr>
          <p:cNvSpPr/>
          <p:nvPr/>
        </p:nvSpPr>
        <p:spPr>
          <a:xfrm>
            <a:off x="2930434" y="3794152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229972-5D0A-70C3-4467-FABECC7219F9}"/>
              </a:ext>
            </a:extLst>
          </p:cNvPr>
          <p:cNvSpPr/>
          <p:nvPr/>
        </p:nvSpPr>
        <p:spPr>
          <a:xfrm>
            <a:off x="9921240" y="2002611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657127-A399-152C-5095-AC907A465509}"/>
              </a:ext>
            </a:extLst>
          </p:cNvPr>
          <p:cNvSpPr/>
          <p:nvPr/>
        </p:nvSpPr>
        <p:spPr>
          <a:xfrm>
            <a:off x="10058400" y="2094721"/>
            <a:ext cx="1920240" cy="26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电磁仿真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5D8417-AE80-150F-F3DD-E42DCC78F3D7}"/>
              </a:ext>
            </a:extLst>
          </p:cNvPr>
          <p:cNvSpPr/>
          <p:nvPr/>
        </p:nvSpPr>
        <p:spPr>
          <a:xfrm>
            <a:off x="10058400" y="2424782"/>
            <a:ext cx="1920240" cy="84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天线设计 · EMC/EMI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电机电磁 · 低频电磁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射频 · RCS 分析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803559-9862-4321-B3C1-09DCC4570C23}"/>
              </a:ext>
            </a:extLst>
          </p:cNvPr>
          <p:cNvSpPr/>
          <p:nvPr/>
        </p:nvSpPr>
        <p:spPr>
          <a:xfrm>
            <a:off x="10058400" y="3324628"/>
            <a:ext cx="1920240" cy="230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Feko · Flux/FluxMotor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A4390C-B428-8FEB-2A04-2E7B3FA8E458}"/>
              </a:ext>
            </a:extLst>
          </p:cNvPr>
          <p:cNvSpPr/>
          <p:nvPr/>
        </p:nvSpPr>
        <p:spPr>
          <a:xfrm>
            <a:off x="9916886" y="2002844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D7671A7-CEAC-FCAF-30CB-85C4A6033114}"/>
              </a:ext>
            </a:extLst>
          </p:cNvPr>
          <p:cNvSpPr/>
          <p:nvPr/>
        </p:nvSpPr>
        <p:spPr>
          <a:xfrm>
            <a:off x="525780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B4D5515-893C-6C78-D636-D1FB8C0861A3}"/>
              </a:ext>
            </a:extLst>
          </p:cNvPr>
          <p:cNvSpPr/>
          <p:nvPr/>
        </p:nvSpPr>
        <p:spPr>
          <a:xfrm>
            <a:off x="539496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概念设计 &amp; 制造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9E5721-C5A5-9A0A-20A0-1079665A1DAA}"/>
              </a:ext>
            </a:extLst>
          </p:cNvPr>
          <p:cNvSpPr/>
          <p:nvPr/>
        </p:nvSpPr>
        <p:spPr>
          <a:xfrm>
            <a:off x="539496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概念快速验证 · 实时仿真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铸造/成型/注塑仿真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3D打印 · 工艺可行性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708AA44-D8B7-E2D2-18BE-F3BB0B2793B7}"/>
              </a:ext>
            </a:extLst>
          </p:cNvPr>
          <p:cNvSpPr/>
          <p:nvPr/>
        </p:nvSpPr>
        <p:spPr>
          <a:xfrm>
            <a:off x="539496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Inspire · SimSolid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17AEADF-B573-3B08-B36F-C4749233FC59}"/>
              </a:ext>
            </a:extLst>
          </p:cNvPr>
          <p:cNvSpPr/>
          <p:nvPr/>
        </p:nvSpPr>
        <p:spPr>
          <a:xfrm>
            <a:off x="758952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AA68DF9-15DE-90C5-8E5F-59FDEF47023B}"/>
              </a:ext>
            </a:extLst>
          </p:cNvPr>
          <p:cNvSpPr/>
          <p:nvPr/>
        </p:nvSpPr>
        <p:spPr>
          <a:xfrm>
            <a:off x="772668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多学科优化 (MDO)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324ECDE-D72D-6276-18EE-1487D02375AD}"/>
              </a:ext>
            </a:extLst>
          </p:cNvPr>
          <p:cNvSpPr/>
          <p:nvPr/>
        </p:nvSpPr>
        <p:spPr>
          <a:xfrm>
            <a:off x="772668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DOE 实验设计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参数优化 · 响应面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多目标寻优 · 鲁棒设计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3E28704-9E9D-570F-15E9-0A6E6FDEA78A}"/>
              </a:ext>
            </a:extLst>
          </p:cNvPr>
          <p:cNvSpPr/>
          <p:nvPr/>
        </p:nvSpPr>
        <p:spPr>
          <a:xfrm>
            <a:off x="772668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HyperStudy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EB364CA-F033-690C-7DB5-AA7EE540C0A0}"/>
              </a:ext>
            </a:extLst>
          </p:cNvPr>
          <p:cNvSpPr/>
          <p:nvPr/>
        </p:nvSpPr>
        <p:spPr>
          <a:xfrm>
            <a:off x="992124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AAC89DD-B599-3C03-A0D9-318064253B83}"/>
              </a:ext>
            </a:extLst>
          </p:cNvPr>
          <p:cNvSpPr/>
          <p:nvPr/>
        </p:nvSpPr>
        <p:spPr>
          <a:xfrm>
            <a:off x="1005840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疲劳 &amp; 耐久性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4BD1629-C084-B658-DE94-85202FD2D471}"/>
              </a:ext>
            </a:extLst>
          </p:cNvPr>
          <p:cNvSpPr/>
          <p:nvPr/>
        </p:nvSpPr>
        <p:spPr>
          <a:xfrm>
            <a:off x="1005840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疲劳寿命预测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应力-应变分析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声学 · 振动耐久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59E2F3-1C02-2DC2-EDF4-DE4FFDECF919}"/>
              </a:ext>
            </a:extLst>
          </p:cNvPr>
          <p:cNvSpPr/>
          <p:nvPr/>
        </p:nvSpPr>
        <p:spPr>
          <a:xfrm>
            <a:off x="1005840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HyperLife · SEAM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66F0C4-BC88-33CA-388B-D6007E5819C3}"/>
              </a:ext>
            </a:extLst>
          </p:cNvPr>
          <p:cNvSpPr/>
          <p:nvPr/>
        </p:nvSpPr>
        <p:spPr>
          <a:xfrm>
            <a:off x="5262154" y="3798159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B7071B-5A0D-9929-F111-F892948AC70E}"/>
              </a:ext>
            </a:extLst>
          </p:cNvPr>
          <p:cNvSpPr/>
          <p:nvPr/>
        </p:nvSpPr>
        <p:spPr>
          <a:xfrm>
            <a:off x="7593874" y="3791673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D945E3-00FC-4989-5FA8-41459F55EFAD}"/>
              </a:ext>
            </a:extLst>
          </p:cNvPr>
          <p:cNvSpPr/>
          <p:nvPr/>
        </p:nvSpPr>
        <p:spPr>
          <a:xfrm>
            <a:off x="9921240" y="3792716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91DF6C0-B44A-1FD5-5DAA-E6BABEA4A837}"/>
              </a:ext>
            </a:extLst>
          </p:cNvPr>
          <p:cNvGrpSpPr/>
          <p:nvPr/>
        </p:nvGrpSpPr>
        <p:grpSpPr>
          <a:xfrm>
            <a:off x="457200" y="2015134"/>
            <a:ext cx="2286000" cy="2933306"/>
            <a:chOff x="361406" y="1828800"/>
            <a:chExt cx="2381794" cy="3069274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B0FEF7E-786A-700A-A0AF-7BE1FCCC509C}"/>
                </a:ext>
              </a:extLst>
            </p:cNvPr>
            <p:cNvSpPr/>
            <p:nvPr/>
          </p:nvSpPr>
          <p:spPr>
            <a:xfrm>
              <a:off x="365760" y="1828800"/>
              <a:ext cx="2377440" cy="3062466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385C34DC-F5AC-6487-6354-08C5375654B1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solidFill>
              <a:srgbClr val="00CED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1C2C2FF-3E91-EEB2-BEF6-D3EEF8619D49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HYPERWORKS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88805A7-9A0E-F0FE-D557-0022ECB3B6E8}"/>
                </a:ext>
              </a:extLst>
            </p:cNvPr>
            <p:cNvSpPr/>
            <p:nvPr/>
          </p:nvSpPr>
          <p:spPr>
            <a:xfrm>
              <a:off x="548640" y="2743200"/>
              <a:ext cx="2011680" cy="1564324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Siemens 旗下 · 设计优化仿真平台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覆盖建模仿真、结构优化、流体、电磁等全学科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支持拓扑优化驱动设计与多学科优化 (MDO)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359665-94C2-84B3-5C7E-DB9D12E9A918}"/>
                </a:ext>
              </a:extLst>
            </p:cNvPr>
            <p:cNvSpPr/>
            <p:nvPr/>
          </p:nvSpPr>
          <p:spPr>
            <a:xfrm>
              <a:off x="361406" y="1835608"/>
              <a:ext cx="50074" cy="3062466"/>
            </a:xfrm>
            <a:prstGeom prst="rect">
              <a:avLst/>
            </a:prstGeom>
            <a:solidFill>
              <a:srgbClr val="00CE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D3C1B25C-F998-C14B-2866-7662012F86E1}"/>
              </a:ext>
            </a:extLst>
          </p:cNvPr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拓扑优化  ·  概念设计  ·  多学科优化 — 让仿真在设计早期发挥最大价值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4F636DE-9ECF-4030-F152-53EFD9CCABFC}"/>
              </a:ext>
            </a:extLst>
          </p:cNvPr>
          <p:cNvSpPr/>
          <p:nvPr/>
        </p:nvSpPr>
        <p:spPr>
          <a:xfrm>
            <a:off x="457200" y="5074920"/>
            <a:ext cx="2286000" cy="411480"/>
          </a:xfrm>
          <a:prstGeom prst="rect">
            <a:avLst/>
          </a:prstGeom>
          <a:solidFill>
            <a:srgbClr val="003D7A"/>
          </a:solidFill>
          <a:ln w="12700" cap="flat" cmpd="sng" algn="ctr">
            <a:solidFill>
              <a:srgbClr val="0066C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9F08E442-C12C-E4D1-606E-6E788883A738}"/>
              </a:ext>
            </a:extLst>
          </p:cNvPr>
          <p:cNvSpPr/>
          <p:nvPr/>
        </p:nvSpPr>
        <p:spPr>
          <a:xfrm>
            <a:off x="614308" y="5093148"/>
            <a:ext cx="1930772" cy="39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1" dirty="0">
                <a:solidFill>
                  <a:prstClr val="white">
                    <a:lumMod val="85000"/>
                  </a:prstClr>
                </a:solidFill>
                <a:latin typeface="微软雅黑"/>
                <a:ea typeface="微软雅黑"/>
                <a:cs typeface="微软雅黑"/>
              </a:rPr>
              <a:t>Siemens 旗下 Altair</a:t>
            </a:r>
          </a:p>
        </p:txBody>
      </p:sp>
    </p:spTree>
    <p:extLst>
      <p:ext uri="{BB962C8B-B14F-4D97-AF65-F5344CB8AC3E}">
        <p14:creationId xmlns:p14="http://schemas.microsoft.com/office/powerpoint/2010/main" val="3492985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75071-36B6-3A8F-2F91-28DB502D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7F1898-005C-CF1E-D20B-9DB29E2EFC6A}"/>
              </a:ext>
            </a:extLst>
          </p:cNvPr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EC4EDB-AFA0-B7B7-72B0-18C85D8256CC}"/>
              </a:ext>
            </a:extLst>
          </p:cNvPr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571FDB-359D-71E3-679B-C3760250E50D}"/>
              </a:ext>
            </a:extLst>
          </p:cNvPr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 E S T W A Y  ·  百 世 慧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A016C-07B8-21D2-1107-347FAA28EC12}"/>
              </a:ext>
            </a:extLst>
          </p:cNvPr>
          <p:cNvSpPr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6AB021-B444-01CA-A05E-1208553CFFD2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P P E N D I X  ·  H Y P E R M E S 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54F05-BFE2-C4BD-8612-4A129EAD98C0}"/>
              </a:ext>
            </a:extLst>
          </p:cNvPr>
          <p:cNvSpPr/>
          <p:nvPr/>
        </p:nvSpPr>
        <p:spPr>
          <a:xfrm>
            <a:off x="54864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有限元前处理平台 — 前处理占仿真 70% 工时，这是最先能见效的一环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B367B0-999A-35E5-CBFF-128A40EF5DEB}"/>
              </a:ext>
            </a:extLst>
          </p:cNvPr>
          <p:cNvSpPr/>
          <p:nvPr/>
        </p:nvSpPr>
        <p:spPr>
          <a:xfrm>
            <a:off x="9326880" y="672011"/>
            <a:ext cx="231648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ALTAIR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93ED5C-2484-31EA-4CA7-C6F8137183B0}"/>
              </a:ext>
            </a:extLst>
          </p:cNvPr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8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百世慧 2030 战略 · 仿真业务布局    Altair HyperWorks 核心前处理平台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4C30DF-7DC3-654D-C04E-B6E40D1A148B}"/>
              </a:ext>
            </a:extLst>
          </p:cNvPr>
          <p:cNvSpPr/>
          <p:nvPr/>
        </p:nvSpPr>
        <p:spPr>
          <a:xfrm>
            <a:off x="2926080" y="2015135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3D3C0A-A34F-48E4-27E4-53D34F3D2CBE}"/>
              </a:ext>
            </a:extLst>
          </p:cNvPr>
          <p:cNvSpPr/>
          <p:nvPr/>
        </p:nvSpPr>
        <p:spPr>
          <a:xfrm>
            <a:off x="3063240" y="2106517"/>
            <a:ext cx="1920240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几何与网格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3A36BA-526C-85F7-7005-2D5F19E5C4DF}"/>
              </a:ext>
            </a:extLst>
          </p:cNvPr>
          <p:cNvSpPr/>
          <p:nvPr/>
        </p:nvSpPr>
        <p:spPr>
          <a:xfrm>
            <a:off x="3063240" y="2433968"/>
            <a:ext cx="1920240" cy="83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几何清理 · 中面抽取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1D / 2D / 3D 网格划分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批量划分与质量检查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D34170-4C98-E892-757E-CC581F794A3C}"/>
              </a:ext>
            </a:extLst>
          </p:cNvPr>
          <p:cNvSpPr/>
          <p:nvPr/>
        </p:nvSpPr>
        <p:spPr>
          <a:xfrm>
            <a:off x="3063240" y="3326224"/>
            <a:ext cx="1920240" cy="2284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复杂网格建模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6C8F3F-8858-AD14-69D3-9D0122CECC1B}"/>
              </a:ext>
            </a:extLst>
          </p:cNvPr>
          <p:cNvSpPr/>
          <p:nvPr/>
        </p:nvSpPr>
        <p:spPr>
          <a:xfrm>
            <a:off x="2926080" y="2015136"/>
            <a:ext cx="45720" cy="1674269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35FA678-0F57-3BE9-AA44-9B206E75926C}"/>
              </a:ext>
            </a:extLst>
          </p:cNvPr>
          <p:cNvSpPr/>
          <p:nvPr/>
        </p:nvSpPr>
        <p:spPr>
          <a:xfrm>
            <a:off x="5257800" y="2002610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584754-41ED-701B-8668-CD4ACC35328F}"/>
              </a:ext>
            </a:extLst>
          </p:cNvPr>
          <p:cNvSpPr/>
          <p:nvPr/>
        </p:nvSpPr>
        <p:spPr>
          <a:xfrm>
            <a:off x="5394960" y="2094571"/>
            <a:ext cx="1920240" cy="26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CAD 接口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21CC6-B5F1-9ECE-0E3B-FF89F7835145}"/>
              </a:ext>
            </a:extLst>
          </p:cNvPr>
          <p:cNvSpPr/>
          <p:nvPr/>
        </p:nvSpPr>
        <p:spPr>
          <a:xfrm>
            <a:off x="5394960" y="2424093"/>
            <a:ext cx="1920240" cy="84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CATIA V4/V5 · UG/NX · Creo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SolidWorks · Parasolid · ACIS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STEP · IGES · JT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E996F8-A788-17AE-7A55-2FEE85386509}"/>
              </a:ext>
            </a:extLst>
          </p:cNvPr>
          <p:cNvSpPr/>
          <p:nvPr/>
        </p:nvSpPr>
        <p:spPr>
          <a:xfrm>
            <a:off x="5394960" y="3322374"/>
            <a:ext cx="1920240" cy="2298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原生格式直接读取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4FF555-729C-EF20-70C0-BDCE46F491CE}"/>
              </a:ext>
            </a:extLst>
          </p:cNvPr>
          <p:cNvSpPr/>
          <p:nvPr/>
        </p:nvSpPr>
        <p:spPr>
          <a:xfrm>
            <a:off x="5257800" y="2002610"/>
            <a:ext cx="45720" cy="168486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75FA5C-3647-BEF3-B753-022119134BE0}"/>
              </a:ext>
            </a:extLst>
          </p:cNvPr>
          <p:cNvSpPr/>
          <p:nvPr/>
        </p:nvSpPr>
        <p:spPr>
          <a:xfrm>
            <a:off x="7589520" y="2002456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7E4CF1-9C37-8E34-6312-963E86B4E27C}"/>
              </a:ext>
            </a:extLst>
          </p:cNvPr>
          <p:cNvSpPr/>
          <p:nvPr/>
        </p:nvSpPr>
        <p:spPr>
          <a:xfrm>
            <a:off x="7726680" y="2094677"/>
            <a:ext cx="1920240" cy="26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求解器接口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AFD911-A674-4E91-6110-230D2F192F8B}"/>
              </a:ext>
            </a:extLst>
          </p:cNvPr>
          <p:cNvSpPr/>
          <p:nvPr/>
        </p:nvSpPr>
        <p:spPr>
          <a:xfrm>
            <a:off x="7726680" y="2425137"/>
            <a:ext cx="1920240" cy="84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Abaqus · Nastran · LS-DYNA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Ansys · OptiStruct · RADIOSS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Fluent · Marc · Samcef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F35529-8800-231C-B8D1-D63C872FF5C3}"/>
              </a:ext>
            </a:extLst>
          </p:cNvPr>
          <p:cNvSpPr/>
          <p:nvPr/>
        </p:nvSpPr>
        <p:spPr>
          <a:xfrm>
            <a:off x="7726680" y="3326142"/>
            <a:ext cx="1920240" cy="2305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30+ 主流求解器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5CC276-CEC5-F954-DA7B-F08AF11C775A}"/>
              </a:ext>
            </a:extLst>
          </p:cNvPr>
          <p:cNvSpPr/>
          <p:nvPr/>
        </p:nvSpPr>
        <p:spPr>
          <a:xfrm>
            <a:off x="7589520" y="2001638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50E035-11BD-EDD7-69D8-FE496F13D32E}"/>
              </a:ext>
            </a:extLst>
          </p:cNvPr>
          <p:cNvSpPr/>
          <p:nvPr/>
        </p:nvSpPr>
        <p:spPr>
          <a:xfrm>
            <a:off x="2926080" y="3798768"/>
            <a:ext cx="2194560" cy="1676584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2C7256-BA08-59A4-667D-C901CCAD7C22}"/>
              </a:ext>
            </a:extLst>
          </p:cNvPr>
          <p:cNvSpPr/>
          <p:nvPr/>
        </p:nvSpPr>
        <p:spPr>
          <a:xfrm>
            <a:off x="3063240" y="3890218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装配与连接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6FADBD7-13F6-B198-30BB-7371C7D38989}"/>
              </a:ext>
            </a:extLst>
          </p:cNvPr>
          <p:cNvSpPr/>
          <p:nvPr/>
        </p:nvSpPr>
        <p:spPr>
          <a:xfrm>
            <a:off x="3063240" y="4217914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焊点 · 螺栓 · 粘胶建模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连接件批量生成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大规模装配管理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CBCB99-98AD-B87D-83C5-4AF8A435AF64}"/>
              </a:ext>
            </a:extLst>
          </p:cNvPr>
          <p:cNvSpPr/>
          <p:nvPr/>
        </p:nvSpPr>
        <p:spPr>
          <a:xfrm>
            <a:off x="3063240" y="511088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万件级装配前处理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5CF42D-664E-B0E3-D419-7E795893170E}"/>
              </a:ext>
            </a:extLst>
          </p:cNvPr>
          <p:cNvSpPr/>
          <p:nvPr/>
        </p:nvSpPr>
        <p:spPr>
          <a:xfrm>
            <a:off x="2930434" y="3794152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229972-5D0A-70C3-4467-FABECC7219F9}"/>
              </a:ext>
            </a:extLst>
          </p:cNvPr>
          <p:cNvSpPr/>
          <p:nvPr/>
        </p:nvSpPr>
        <p:spPr>
          <a:xfrm>
            <a:off x="9921240" y="2002611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657127-A399-152C-5095-AC907A465509}"/>
              </a:ext>
            </a:extLst>
          </p:cNvPr>
          <p:cNvSpPr/>
          <p:nvPr/>
        </p:nvSpPr>
        <p:spPr>
          <a:xfrm>
            <a:off x="10058400" y="2094721"/>
            <a:ext cx="1920240" cy="26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学科模板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5D8417-AE80-150F-F3DD-E42DCC78F3D7}"/>
              </a:ext>
            </a:extLst>
          </p:cNvPr>
          <p:cNvSpPr/>
          <p:nvPr/>
        </p:nvSpPr>
        <p:spPr>
          <a:xfrm>
            <a:off x="10058400" y="2424782"/>
            <a:ext cx="1920240" cy="84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Crash 碰撞安全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NVH 噪声振动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Durability 耐久疲劳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803559-9862-4321-B3C1-09DCC4570C23}"/>
              </a:ext>
            </a:extLst>
          </p:cNvPr>
          <p:cNvSpPr/>
          <p:nvPr/>
        </p:nvSpPr>
        <p:spPr>
          <a:xfrm>
            <a:off x="10058400" y="3324628"/>
            <a:ext cx="1920240" cy="230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按学科封装流程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A4390C-B428-8FEB-2A04-2E7B3FA8E458}"/>
              </a:ext>
            </a:extLst>
          </p:cNvPr>
          <p:cNvSpPr/>
          <p:nvPr/>
        </p:nvSpPr>
        <p:spPr>
          <a:xfrm>
            <a:off x="9916886" y="2002844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D7671A7-CEAC-FCAF-30CB-85C4A6033114}"/>
              </a:ext>
            </a:extLst>
          </p:cNvPr>
          <p:cNvSpPr/>
          <p:nvPr/>
        </p:nvSpPr>
        <p:spPr>
          <a:xfrm>
            <a:off x="525780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B4D5515-893C-6C78-D636-D1FB8C0861A3}"/>
              </a:ext>
            </a:extLst>
          </p:cNvPr>
          <p:cNvSpPr/>
          <p:nvPr/>
        </p:nvSpPr>
        <p:spPr>
          <a:xfrm>
            <a:off x="539496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模型转换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9E5721-C5A5-9A0A-20A0-1079665A1DAA}"/>
              </a:ext>
            </a:extLst>
          </p:cNvPr>
          <p:cNvSpPr/>
          <p:nvPr/>
        </p:nvSpPr>
        <p:spPr>
          <a:xfrm>
            <a:off x="539496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跨求解器模型互转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输入输出双向转换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保留网格与属性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708AA44-D8B7-E2D2-18BE-F3BB0B2793B7}"/>
              </a:ext>
            </a:extLst>
          </p:cNvPr>
          <p:cNvSpPr/>
          <p:nvPr/>
        </p:nvSpPr>
        <p:spPr>
          <a:xfrm>
            <a:off x="539496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一套网格多个求解器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17AEADF-B573-3B08-B36F-C4749233FC59}"/>
              </a:ext>
            </a:extLst>
          </p:cNvPr>
          <p:cNvSpPr/>
          <p:nvPr/>
        </p:nvSpPr>
        <p:spPr>
          <a:xfrm>
            <a:off x="758952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AA68DF9-15DE-90C5-8E5F-59FDEF47023B}"/>
              </a:ext>
            </a:extLst>
          </p:cNvPr>
          <p:cNvSpPr/>
          <p:nvPr/>
        </p:nvSpPr>
        <p:spPr>
          <a:xfrm>
            <a:off x="772668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结果后处理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324ECDE-D72D-6276-18EE-1487D02375AD}"/>
              </a:ext>
            </a:extLst>
          </p:cNvPr>
          <p:cNvSpPr/>
          <p:nvPr/>
        </p:nvSpPr>
        <p:spPr>
          <a:xfrm>
            <a:off x="772668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HyperView 结果可视化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多工况对比分析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报告模板自动输出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3E28704-9E9D-570F-15E9-0A6E6FDEA78A}"/>
              </a:ext>
            </a:extLst>
          </p:cNvPr>
          <p:cNvSpPr/>
          <p:nvPr/>
        </p:nvSpPr>
        <p:spPr>
          <a:xfrm>
            <a:off x="772668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前后处理同一环境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EB364CA-F033-690C-7DB5-AA7EE540C0A0}"/>
              </a:ext>
            </a:extLst>
          </p:cNvPr>
          <p:cNvSpPr/>
          <p:nvPr/>
        </p:nvSpPr>
        <p:spPr>
          <a:xfrm>
            <a:off x="992124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AAC89DD-B599-3C03-A0D9-318064253B83}"/>
              </a:ext>
            </a:extLst>
          </p:cNvPr>
          <p:cNvSpPr/>
          <p:nvPr/>
        </p:nvSpPr>
        <p:spPr>
          <a:xfrm>
            <a:off x="1005840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定制与自动化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4BD1629-C084-B658-DE94-85202FD2D471}"/>
              </a:ext>
            </a:extLst>
          </p:cNvPr>
          <p:cNvSpPr/>
          <p:nvPr/>
        </p:nvSpPr>
        <p:spPr>
          <a:xfrm>
            <a:off x="1005840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Tcl / Python 二次开发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用户自定义界面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企业流程封装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59E2F3-1C02-2DC2-EDF4-DE4FFDECF919}"/>
              </a:ext>
            </a:extLst>
          </p:cNvPr>
          <p:cNvSpPr/>
          <p:nvPr/>
        </p:nvSpPr>
        <p:spPr>
          <a:xfrm>
            <a:off x="1005840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企业级前处理平台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66F0C4-BC88-33CA-388B-D6007E5819C3}"/>
              </a:ext>
            </a:extLst>
          </p:cNvPr>
          <p:cNvSpPr/>
          <p:nvPr/>
        </p:nvSpPr>
        <p:spPr>
          <a:xfrm>
            <a:off x="5262154" y="3798159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B7071B-5A0D-9929-F111-F892948AC70E}"/>
              </a:ext>
            </a:extLst>
          </p:cNvPr>
          <p:cNvSpPr/>
          <p:nvPr/>
        </p:nvSpPr>
        <p:spPr>
          <a:xfrm>
            <a:off x="7593874" y="3791673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D945E3-00FC-4989-5FA8-41459F55EFAD}"/>
              </a:ext>
            </a:extLst>
          </p:cNvPr>
          <p:cNvSpPr/>
          <p:nvPr/>
        </p:nvSpPr>
        <p:spPr>
          <a:xfrm>
            <a:off x="9921240" y="3792716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91DF6C0-B44A-1FD5-5DAA-E6BABEA4A837}"/>
              </a:ext>
            </a:extLst>
          </p:cNvPr>
          <p:cNvGrpSpPr/>
          <p:nvPr/>
        </p:nvGrpSpPr>
        <p:grpSpPr>
          <a:xfrm>
            <a:off x="457200" y="2015134"/>
            <a:ext cx="2286000" cy="2933306"/>
            <a:chOff x="361406" y="1828800"/>
            <a:chExt cx="2381794" cy="3069274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B0FEF7E-786A-700A-A0AF-7BE1FCCC509C}"/>
                </a:ext>
              </a:extLst>
            </p:cNvPr>
            <p:cNvSpPr/>
            <p:nvPr/>
          </p:nvSpPr>
          <p:spPr>
            <a:xfrm>
              <a:off x="365760" y="1828800"/>
              <a:ext cx="2377440" cy="3062466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385C34DC-F5AC-6487-6354-08C5375654B1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solidFill>
              <a:srgbClr val="00CED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1C2C2FF-3E91-EEB2-BEF6-D3EEF8619D49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HYPERMESH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88805A7-9A0E-F0FE-D557-0022ECB3B6E8}"/>
                </a:ext>
              </a:extLst>
            </p:cNvPr>
            <p:cNvSpPr/>
            <p:nvPr/>
          </p:nvSpPr>
          <p:spPr>
            <a:xfrm>
              <a:off x="548640" y="2743200"/>
              <a:ext cx="2011680" cy="1564324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Siemens 旗下 Altair · 有限元前处理平台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30 余年专注 CAE 前处理，5000+ 商业用户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汽车、航空航天、重工、轨道交通、电子行业的通用前处理平台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359665-94C2-84B3-5C7E-DB9D12E9A918}"/>
                </a:ext>
              </a:extLst>
            </p:cNvPr>
            <p:cNvSpPr/>
            <p:nvPr/>
          </p:nvSpPr>
          <p:spPr>
            <a:xfrm>
              <a:off x="361406" y="1835608"/>
              <a:ext cx="50074" cy="3062466"/>
            </a:xfrm>
            <a:prstGeom prst="rect">
              <a:avLst/>
            </a:prstGeom>
            <a:solidFill>
              <a:srgbClr val="00CE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D3C1B25C-F998-C14B-2866-7662012F86E1}"/>
              </a:ext>
            </a:extLst>
          </p:cNvPr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前处理占仿真 70% 工时  ·  30+ 求解器接口  ·  5000+ 商业用户 — 从最耗时的一环切入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4F636DE-9ECF-4030-F152-53EFD9CCABFC}"/>
              </a:ext>
            </a:extLst>
          </p:cNvPr>
          <p:cNvSpPr/>
          <p:nvPr/>
        </p:nvSpPr>
        <p:spPr>
          <a:xfrm>
            <a:off x="457200" y="5074920"/>
            <a:ext cx="2286000" cy="411480"/>
          </a:xfrm>
          <a:prstGeom prst="rect">
            <a:avLst/>
          </a:prstGeom>
          <a:solidFill>
            <a:srgbClr val="003D7A"/>
          </a:solidFill>
          <a:ln w="12700" cap="flat" cmpd="sng" algn="ctr">
            <a:solidFill>
              <a:srgbClr val="0066C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9F08E442-C12C-E4D1-606E-6E788883A738}"/>
              </a:ext>
            </a:extLst>
          </p:cNvPr>
          <p:cNvSpPr/>
          <p:nvPr/>
        </p:nvSpPr>
        <p:spPr>
          <a:xfrm>
            <a:off x="614308" y="5093148"/>
            <a:ext cx="1930772" cy="39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1" dirty="0">
                <a:solidFill>
                  <a:prstClr val="white">
                    <a:lumMod val="85000"/>
                  </a:prstClr>
                </a:solidFill>
                <a:latin typeface="微软雅黑"/>
                <a:ea typeface="微软雅黑"/>
                <a:cs typeface="微软雅黑"/>
              </a:rPr>
              <a:t>Siemens 旗下 Altair</a:t>
            </a:r>
          </a:p>
        </p:txBody>
      </p:sp>
    </p:spTree>
    <p:extLst>
      <p:ext uri="{BB962C8B-B14F-4D97-AF65-F5344CB8AC3E}">
        <p14:creationId xmlns:p14="http://schemas.microsoft.com/office/powerpoint/2010/main" val="3492985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75071-36B6-3A8F-2F91-28DB502D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7F1898-005C-CF1E-D20B-9DB29E2EFC6A}"/>
              </a:ext>
            </a:extLst>
          </p:cNvPr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EC4EDB-AFA0-B7B7-72B0-18C85D8256CC}"/>
              </a:ext>
            </a:extLst>
          </p:cNvPr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571FDB-359D-71E3-679B-C3760250E50D}"/>
              </a:ext>
            </a:extLst>
          </p:cNvPr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 E S T W A Y  ·  百 世 慧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A016C-07B8-21D2-1107-347FAA28EC12}"/>
              </a:ext>
            </a:extLst>
          </p:cNvPr>
          <p:cNvSpPr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6AB021-B444-01CA-A05E-1208553CFFD2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P P E N D I X  ·  S I M C E N T E 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54F05-BFE2-C4BD-8612-4A129EAD98C0}"/>
              </a:ext>
            </a:extLst>
          </p:cNvPr>
          <p:cNvSpPr/>
          <p:nvPr/>
        </p:nvSpPr>
        <p:spPr>
          <a:xfrm>
            <a:off x="54864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仿真与试验一体化 — 覆盖 8 大方向，用实测数据标定仿真模型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B367B0-999A-35E5-CBFF-128A40EF5DEB}"/>
              </a:ext>
            </a:extLst>
          </p:cNvPr>
          <p:cNvSpPr/>
          <p:nvPr/>
        </p:nvSpPr>
        <p:spPr>
          <a:xfrm>
            <a:off x="9326880" y="672011"/>
            <a:ext cx="231648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93ED5C-2484-31EA-4CA7-C6F8137183B0}"/>
              </a:ext>
            </a:extLst>
          </p:cNvPr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8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百世慧 2030 战略 · 仿真业务布局    西门子 Simcenter · Altair 双产品线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4C30DF-7DC3-654D-C04E-B6E40D1A148B}"/>
              </a:ext>
            </a:extLst>
          </p:cNvPr>
          <p:cNvSpPr/>
          <p:nvPr/>
        </p:nvSpPr>
        <p:spPr>
          <a:xfrm>
            <a:off x="2926080" y="2015135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3D3C0A-A34F-48E4-27E4-53D34F3D2CBE}"/>
              </a:ext>
            </a:extLst>
          </p:cNvPr>
          <p:cNvSpPr/>
          <p:nvPr/>
        </p:nvSpPr>
        <p:spPr>
          <a:xfrm>
            <a:off x="3063240" y="2106517"/>
            <a:ext cx="1920240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流体与热管理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3A36BA-526C-85F7-7005-2D5F19E5C4DF}"/>
              </a:ext>
            </a:extLst>
          </p:cNvPr>
          <p:cNvSpPr/>
          <p:nvPr/>
        </p:nvSpPr>
        <p:spPr>
          <a:xfrm>
            <a:off x="3063240" y="2433968"/>
            <a:ext cx="1920240" cy="83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CFD 计算流体 · 共轭传热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多相流 · 颗粒与雾化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气动外流场 · 电池热管理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D34170-4C98-E892-757E-CC581F794A3C}"/>
              </a:ext>
            </a:extLst>
          </p:cNvPr>
          <p:cNvSpPr/>
          <p:nvPr/>
        </p:nvSpPr>
        <p:spPr>
          <a:xfrm>
            <a:off x="3063240" y="3326224"/>
            <a:ext cx="1920240" cy="2284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STAR-CCM+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6C8F3F-8858-AD14-69D3-9D0122CECC1B}"/>
              </a:ext>
            </a:extLst>
          </p:cNvPr>
          <p:cNvSpPr/>
          <p:nvPr/>
        </p:nvSpPr>
        <p:spPr>
          <a:xfrm>
            <a:off x="2926080" y="2015136"/>
            <a:ext cx="45720" cy="1674269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35FA678-0F57-3BE9-AA44-9B206E75926C}"/>
              </a:ext>
            </a:extLst>
          </p:cNvPr>
          <p:cNvSpPr/>
          <p:nvPr/>
        </p:nvSpPr>
        <p:spPr>
          <a:xfrm>
            <a:off x="5257800" y="2002610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584754-41ED-701B-8668-CD4ACC35328F}"/>
              </a:ext>
            </a:extLst>
          </p:cNvPr>
          <p:cNvSpPr/>
          <p:nvPr/>
        </p:nvSpPr>
        <p:spPr>
          <a:xfrm>
            <a:off x="5394960" y="2094571"/>
            <a:ext cx="1920240" cy="26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振动噪声 (NVH)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21CC6-B5F1-9ECE-0E3B-FF89F7835145}"/>
              </a:ext>
            </a:extLst>
          </p:cNvPr>
          <p:cNvSpPr/>
          <p:nvPr/>
        </p:nvSpPr>
        <p:spPr>
          <a:xfrm>
            <a:off x="5394960" y="2424093"/>
            <a:ext cx="1920240" cy="84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声学与振动分析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传递路径分析 (TPA)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声品质与噪声源定位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E996F8-A788-17AE-7A55-2FEE85386509}"/>
              </a:ext>
            </a:extLst>
          </p:cNvPr>
          <p:cNvSpPr/>
          <p:nvPr/>
        </p:nvSpPr>
        <p:spPr>
          <a:xfrm>
            <a:off x="5394960" y="3322374"/>
            <a:ext cx="1920240" cy="2298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Testlab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4FF555-729C-EF20-70C0-BDCE46F491CE}"/>
              </a:ext>
            </a:extLst>
          </p:cNvPr>
          <p:cNvSpPr/>
          <p:nvPr/>
        </p:nvSpPr>
        <p:spPr>
          <a:xfrm>
            <a:off x="5257800" y="2002610"/>
            <a:ext cx="45720" cy="168486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75FA5C-3647-BEF3-B753-022119134BE0}"/>
              </a:ext>
            </a:extLst>
          </p:cNvPr>
          <p:cNvSpPr/>
          <p:nvPr/>
        </p:nvSpPr>
        <p:spPr>
          <a:xfrm>
            <a:off x="7589520" y="2002456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7E4CF1-9C37-8E34-6312-963E86B4E27C}"/>
              </a:ext>
            </a:extLst>
          </p:cNvPr>
          <p:cNvSpPr/>
          <p:nvPr/>
        </p:nvSpPr>
        <p:spPr>
          <a:xfrm>
            <a:off x="7726680" y="2094677"/>
            <a:ext cx="1920240" cy="26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物理试验与数采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AFD911-A674-4E91-6110-230D2F192F8B}"/>
              </a:ext>
            </a:extLst>
          </p:cNvPr>
          <p:cNvSpPr/>
          <p:nvPr/>
        </p:nvSpPr>
        <p:spPr>
          <a:xfrm>
            <a:off x="7726680" y="2425137"/>
            <a:ext cx="1920240" cy="84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模态试验 · 结构动力学测试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道路载荷与耐久试验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多通道同步数据采集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F35529-8800-231C-B8D1-D63C872FF5C3}"/>
              </a:ext>
            </a:extLst>
          </p:cNvPr>
          <p:cNvSpPr/>
          <p:nvPr/>
        </p:nvSpPr>
        <p:spPr>
          <a:xfrm>
            <a:off x="7726680" y="3326142"/>
            <a:ext cx="1920240" cy="2305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Testlab · SCADAS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5CC276-CEC5-F954-DA7B-F08AF11C775A}"/>
              </a:ext>
            </a:extLst>
          </p:cNvPr>
          <p:cNvSpPr/>
          <p:nvPr/>
        </p:nvSpPr>
        <p:spPr>
          <a:xfrm>
            <a:off x="7589520" y="2001638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50E035-11BD-EDD7-69D8-FE496F13D32E}"/>
              </a:ext>
            </a:extLst>
          </p:cNvPr>
          <p:cNvSpPr/>
          <p:nvPr/>
        </p:nvSpPr>
        <p:spPr>
          <a:xfrm>
            <a:off x="2926080" y="3798768"/>
            <a:ext cx="2194560" cy="1676584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2C7256-BA08-59A4-667D-C901CCAD7C22}"/>
              </a:ext>
            </a:extLst>
          </p:cNvPr>
          <p:cNvSpPr/>
          <p:nvPr/>
        </p:nvSpPr>
        <p:spPr>
          <a:xfrm>
            <a:off x="3063240" y="3890218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试验-仿真关联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6FADBD7-13F6-B198-30BB-7371C7D38989}"/>
              </a:ext>
            </a:extLst>
          </p:cNvPr>
          <p:cNvSpPr/>
          <p:nvPr/>
        </p:nvSpPr>
        <p:spPr>
          <a:xfrm>
            <a:off x="3063240" y="4217914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仿真模型标定与修正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试验数据反演材料参数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虚拟与实测结果对比验证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CBCB99-98AD-B87D-83C5-4AF8A435AF64}"/>
              </a:ext>
            </a:extLst>
          </p:cNvPr>
          <p:cNvSpPr/>
          <p:nvPr/>
        </p:nvSpPr>
        <p:spPr>
          <a:xfrm>
            <a:off x="3063240" y="511088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Testlab · 3D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5CF42D-664E-B0E3-D419-7E795893170E}"/>
              </a:ext>
            </a:extLst>
          </p:cNvPr>
          <p:cNvSpPr/>
          <p:nvPr/>
        </p:nvSpPr>
        <p:spPr>
          <a:xfrm>
            <a:off x="2930434" y="3794152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229972-5D0A-70C3-4467-FABECC7219F9}"/>
              </a:ext>
            </a:extLst>
          </p:cNvPr>
          <p:cNvSpPr/>
          <p:nvPr/>
        </p:nvSpPr>
        <p:spPr>
          <a:xfrm>
            <a:off x="9921240" y="2002611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657127-A399-152C-5095-AC907A465509}"/>
              </a:ext>
            </a:extLst>
          </p:cNvPr>
          <p:cNvSpPr/>
          <p:nvPr/>
        </p:nvSpPr>
        <p:spPr>
          <a:xfrm>
            <a:off x="10058400" y="2094721"/>
            <a:ext cx="1920240" cy="26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系统仿真 (1D)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5D8417-AE80-150F-F3DD-E42DCC78F3D7}"/>
              </a:ext>
            </a:extLst>
          </p:cNvPr>
          <p:cNvSpPr/>
          <p:nvPr/>
        </p:nvSpPr>
        <p:spPr>
          <a:xfrm>
            <a:off x="10058400" y="2424782"/>
            <a:ext cx="1920240" cy="84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液压 · 气动 · 热 · 电多领域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控制策略联合仿真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整机/整车系统级性能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803559-9862-4321-B3C1-09DCC4570C23}"/>
              </a:ext>
            </a:extLst>
          </p:cNvPr>
          <p:cNvSpPr/>
          <p:nvPr/>
        </p:nvSpPr>
        <p:spPr>
          <a:xfrm>
            <a:off x="10058400" y="3324628"/>
            <a:ext cx="1920240" cy="230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Amesim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A4390C-B428-8FEB-2A04-2E7B3FA8E458}"/>
              </a:ext>
            </a:extLst>
          </p:cNvPr>
          <p:cNvSpPr/>
          <p:nvPr/>
        </p:nvSpPr>
        <p:spPr>
          <a:xfrm>
            <a:off x="9916886" y="2002844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D7671A7-CEAC-FCAF-30CB-85C4A6033114}"/>
              </a:ext>
            </a:extLst>
          </p:cNvPr>
          <p:cNvSpPr/>
          <p:nvPr/>
        </p:nvSpPr>
        <p:spPr>
          <a:xfrm>
            <a:off x="525780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B4D5515-893C-6C78-D636-D1FB8C0861A3}"/>
              </a:ext>
            </a:extLst>
          </p:cNvPr>
          <p:cNvSpPr/>
          <p:nvPr/>
        </p:nvSpPr>
        <p:spPr>
          <a:xfrm>
            <a:off x="539496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结构与耐久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9E5721-C5A5-9A0A-20A0-1079665A1DAA}"/>
              </a:ext>
            </a:extLst>
          </p:cNvPr>
          <p:cNvSpPr/>
          <p:nvPr/>
        </p:nvSpPr>
        <p:spPr>
          <a:xfrm>
            <a:off x="539496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线性/非线性结构分析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模态 · 频响 · 瞬态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疲劳寿命与耐久评估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708AA44-D8B7-E2D2-18BE-F3BB0B2793B7}"/>
              </a:ext>
            </a:extLst>
          </p:cNvPr>
          <p:cNvSpPr/>
          <p:nvPr/>
        </p:nvSpPr>
        <p:spPr>
          <a:xfrm>
            <a:off x="539496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3D · Nastran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17AEADF-B573-3B08-B36F-C4749233FC59}"/>
              </a:ext>
            </a:extLst>
          </p:cNvPr>
          <p:cNvSpPr/>
          <p:nvPr/>
        </p:nvSpPr>
        <p:spPr>
          <a:xfrm>
            <a:off x="758952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AA68DF9-15DE-90C5-8E5F-59FDEF47023B}"/>
              </a:ext>
            </a:extLst>
          </p:cNvPr>
          <p:cNvSpPr/>
          <p:nvPr/>
        </p:nvSpPr>
        <p:spPr>
          <a:xfrm>
            <a:off x="772668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电磁与电机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324ECDE-D72D-6276-18EE-1487D02375AD}"/>
              </a:ext>
            </a:extLst>
          </p:cNvPr>
          <p:cNvSpPr/>
          <p:nvPr/>
        </p:nvSpPr>
        <p:spPr>
          <a:xfrm>
            <a:off x="772668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电机电磁场分析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损耗 · 温升 · 效率图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驱动系统联合仿真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3E28704-9E9D-570F-15E9-0A6E6FDEA78A}"/>
              </a:ext>
            </a:extLst>
          </p:cNvPr>
          <p:cNvSpPr/>
          <p:nvPr/>
        </p:nvSpPr>
        <p:spPr>
          <a:xfrm>
            <a:off x="772668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E-Machine Design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EB364CA-F033-690C-7DB5-AA7EE540C0A0}"/>
              </a:ext>
            </a:extLst>
          </p:cNvPr>
          <p:cNvSpPr/>
          <p:nvPr/>
        </p:nvSpPr>
        <p:spPr>
          <a:xfrm>
            <a:off x="992124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AAC89DD-B599-3C03-A0D9-318064253B83}"/>
              </a:ext>
            </a:extLst>
          </p:cNvPr>
          <p:cNvSpPr/>
          <p:nvPr/>
        </p:nvSpPr>
        <p:spPr>
          <a:xfrm>
            <a:off x="1005840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设计探索与优化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4BD1629-C084-B658-DE94-85202FD2D471}"/>
              </a:ext>
            </a:extLst>
          </p:cNvPr>
          <p:cNvSpPr/>
          <p:nvPr/>
        </p:nvSpPr>
        <p:spPr>
          <a:xfrm>
            <a:off x="1005840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DOE 实验设计 · 响应面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多目标寻优 · 自适应搜索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大规模并行寻优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59E2F3-1C02-2DC2-EDF4-DE4FFDECF919}"/>
              </a:ext>
            </a:extLst>
          </p:cNvPr>
          <p:cNvSpPr/>
          <p:nvPr/>
        </p:nvSpPr>
        <p:spPr>
          <a:xfrm>
            <a:off x="1005840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Simcenter HEEDS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66F0C4-BC88-33CA-388B-D6007E5819C3}"/>
              </a:ext>
            </a:extLst>
          </p:cNvPr>
          <p:cNvSpPr/>
          <p:nvPr/>
        </p:nvSpPr>
        <p:spPr>
          <a:xfrm>
            <a:off x="5262154" y="3798159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B7071B-5A0D-9929-F111-F892948AC70E}"/>
              </a:ext>
            </a:extLst>
          </p:cNvPr>
          <p:cNvSpPr/>
          <p:nvPr/>
        </p:nvSpPr>
        <p:spPr>
          <a:xfrm>
            <a:off x="7593874" y="3791673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D945E3-00FC-4989-5FA8-41459F55EFAD}"/>
              </a:ext>
            </a:extLst>
          </p:cNvPr>
          <p:cNvSpPr/>
          <p:nvPr/>
        </p:nvSpPr>
        <p:spPr>
          <a:xfrm>
            <a:off x="9921240" y="3792716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91DF6C0-B44A-1FD5-5DAA-E6BABEA4A837}"/>
              </a:ext>
            </a:extLst>
          </p:cNvPr>
          <p:cNvGrpSpPr/>
          <p:nvPr/>
        </p:nvGrpSpPr>
        <p:grpSpPr>
          <a:xfrm>
            <a:off x="457200" y="2015134"/>
            <a:ext cx="2286000" cy="2933306"/>
            <a:chOff x="361406" y="1828800"/>
            <a:chExt cx="2381794" cy="3069274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B0FEF7E-786A-700A-A0AF-7BE1FCCC509C}"/>
                </a:ext>
              </a:extLst>
            </p:cNvPr>
            <p:cNvSpPr/>
            <p:nvPr/>
          </p:nvSpPr>
          <p:spPr>
            <a:xfrm>
              <a:off x="365760" y="1828800"/>
              <a:ext cx="2377440" cy="3062466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385C34DC-F5AC-6487-6354-08C5375654B1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solidFill>
              <a:srgbClr val="00CED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1C2C2FF-3E91-EEB2-BEF6-D3EEF8619D49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SIMCENTER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88805A7-9A0E-F0FE-D557-0022ECB3B6E8}"/>
                </a:ext>
              </a:extLst>
            </p:cNvPr>
            <p:cNvSpPr/>
            <p:nvPr/>
          </p:nvSpPr>
          <p:spPr>
            <a:xfrm>
              <a:off x="548640" y="2743200"/>
              <a:ext cx="2011680" cy="1564324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Siemens 旗下 · 仿真与试验一体化平台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覆盖 3D 仿真、1D 系统仿真与物理试验全链路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用实测数据标定模型，让仿真结论可被验证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359665-94C2-84B3-5C7E-DB9D12E9A918}"/>
                </a:ext>
              </a:extLst>
            </p:cNvPr>
            <p:cNvSpPr/>
            <p:nvPr/>
          </p:nvSpPr>
          <p:spPr>
            <a:xfrm>
              <a:off x="361406" y="1835608"/>
              <a:ext cx="50074" cy="3062466"/>
            </a:xfrm>
            <a:prstGeom prst="rect">
              <a:avLst/>
            </a:prstGeom>
            <a:solidFill>
              <a:srgbClr val="00CE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D3C1B25C-F998-C14B-2866-7662012F86E1}"/>
              </a:ext>
            </a:extLst>
          </p:cNvPr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CFD  ·  NVH  ·  1D 系统仿真  ·  物理试验 — 让仿真结论有实测数据背书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4F636DE-9ECF-4030-F152-53EFD9CCABFC}"/>
              </a:ext>
            </a:extLst>
          </p:cNvPr>
          <p:cNvSpPr/>
          <p:nvPr/>
        </p:nvSpPr>
        <p:spPr>
          <a:xfrm>
            <a:off x="457200" y="5074920"/>
            <a:ext cx="2286000" cy="411480"/>
          </a:xfrm>
          <a:prstGeom prst="rect">
            <a:avLst/>
          </a:prstGeom>
          <a:solidFill>
            <a:srgbClr val="003D7A"/>
          </a:solidFill>
          <a:ln w="12700" cap="flat" cmpd="sng" algn="ctr">
            <a:solidFill>
              <a:srgbClr val="0066C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9F08E442-C12C-E4D1-606E-6E788883A738}"/>
              </a:ext>
            </a:extLst>
          </p:cNvPr>
          <p:cNvSpPr/>
          <p:nvPr/>
        </p:nvSpPr>
        <p:spPr>
          <a:xfrm>
            <a:off x="614308" y="5093148"/>
            <a:ext cx="1930772" cy="39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1" dirty="0">
                <a:solidFill>
                  <a:prstClr val="white">
                    <a:lumMod val="85000"/>
                  </a:prstClr>
                </a:solidFill>
                <a:latin typeface="微软雅黑"/>
                <a:ea typeface="微软雅黑"/>
                <a:cs typeface="微软雅黑"/>
              </a:rPr>
              <a:t>Siemens 旗下 Simcenter</a:t>
            </a:r>
          </a:p>
        </p:txBody>
      </p:sp>
    </p:spTree>
    <p:extLst>
      <p:ext uri="{BB962C8B-B14F-4D97-AF65-F5344CB8AC3E}">
        <p14:creationId xmlns:p14="http://schemas.microsoft.com/office/powerpoint/2010/main" val="3492985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75071-36B6-3A8F-2F91-28DB502D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7F1898-005C-CF1E-D20B-9DB29E2EFC6A}"/>
              </a:ext>
            </a:extLst>
          </p:cNvPr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EC4EDB-AFA0-B7B7-72B0-18C85D8256CC}"/>
              </a:ext>
            </a:extLst>
          </p:cNvPr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571FDB-359D-71E3-679B-C3760250E50D}"/>
              </a:ext>
            </a:extLst>
          </p:cNvPr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 E S T W A Y  ·  百 世 慧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A016C-07B8-21D2-1107-347FAA28EC12}"/>
              </a:ext>
            </a:extLst>
          </p:cNvPr>
          <p:cNvSpPr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6AB021-B444-01CA-A05E-1208553CFFD2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P P E N D I X  ·  S T A R - C C M +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54F05-BFE2-C4BD-8612-4A129EAD98C0}"/>
              </a:ext>
            </a:extLst>
          </p:cNvPr>
          <p:cNvSpPr/>
          <p:nvPr/>
        </p:nvSpPr>
        <p:spPr>
          <a:xfrm>
            <a:off x="54864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流体与传热仿真 — 全球 CFD 市场份额第一，汽车与船舶行业的事实标准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B367B0-999A-35E5-CBFF-128A40EF5DEB}"/>
              </a:ext>
            </a:extLst>
          </p:cNvPr>
          <p:cNvSpPr/>
          <p:nvPr/>
        </p:nvSpPr>
        <p:spPr>
          <a:xfrm>
            <a:off x="9326880" y="672011"/>
            <a:ext cx="231648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93ED5C-2484-31EA-4CA7-C6F8137183B0}"/>
              </a:ext>
            </a:extLst>
          </p:cNvPr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8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百世慧 2030 战略 · 仿真业务布局    Simcenter 流体仿真核心产品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4C30DF-7DC3-654D-C04E-B6E40D1A148B}"/>
              </a:ext>
            </a:extLst>
          </p:cNvPr>
          <p:cNvSpPr/>
          <p:nvPr/>
        </p:nvSpPr>
        <p:spPr>
          <a:xfrm>
            <a:off x="2926080" y="2015135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3D3C0A-A34F-48E4-27E4-53D34F3D2CBE}"/>
              </a:ext>
            </a:extLst>
          </p:cNvPr>
          <p:cNvSpPr/>
          <p:nvPr/>
        </p:nvSpPr>
        <p:spPr>
          <a:xfrm>
            <a:off x="3063240" y="2106517"/>
            <a:ext cx="1920240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多物理场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3A36BA-526C-85F7-7005-2D5F19E5C4DF}"/>
              </a:ext>
            </a:extLst>
          </p:cNvPr>
          <p:cNvSpPr/>
          <p:nvPr/>
        </p:nvSpPr>
        <p:spPr>
          <a:xfrm>
            <a:off x="3063240" y="2433968"/>
            <a:ext cx="1920240" cy="83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流动 · 传热 · 相变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化学反应 · 多相流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电化学 · 电磁 · 噪声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D34170-4C98-E892-757E-CC581F794A3C}"/>
              </a:ext>
            </a:extLst>
          </p:cNvPr>
          <p:cNvSpPr/>
          <p:nvPr/>
        </p:nvSpPr>
        <p:spPr>
          <a:xfrm>
            <a:off x="3063240" y="3326224"/>
            <a:ext cx="1920240" cy="2284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第一梯队物理模型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6C8F3F-8858-AD14-69D3-9D0122CECC1B}"/>
              </a:ext>
            </a:extLst>
          </p:cNvPr>
          <p:cNvSpPr/>
          <p:nvPr/>
        </p:nvSpPr>
        <p:spPr>
          <a:xfrm>
            <a:off x="2926080" y="2015136"/>
            <a:ext cx="45720" cy="1674269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35FA678-0F57-3BE9-AA44-9B206E75926C}"/>
              </a:ext>
            </a:extLst>
          </p:cNvPr>
          <p:cNvSpPr/>
          <p:nvPr/>
        </p:nvSpPr>
        <p:spPr>
          <a:xfrm>
            <a:off x="5257800" y="2002610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584754-41ED-701B-8668-CD4ACC35328F}"/>
              </a:ext>
            </a:extLst>
          </p:cNvPr>
          <p:cNvSpPr/>
          <p:nvPr/>
        </p:nvSpPr>
        <p:spPr>
          <a:xfrm>
            <a:off x="5394960" y="2094571"/>
            <a:ext cx="1920240" cy="26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网格技术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21CC6-B5F1-9ECE-0E3B-FF89F7835145}"/>
              </a:ext>
            </a:extLst>
          </p:cNvPr>
          <p:cNvSpPr/>
          <p:nvPr/>
        </p:nvSpPr>
        <p:spPr>
          <a:xfrm>
            <a:off x="5394960" y="2424093"/>
            <a:ext cx="1920240" cy="84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多面体 / 六面体核心网格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贴体边界层网格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重叠网格 · 变形网格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E996F8-A788-17AE-7A55-2FEE85386509}"/>
              </a:ext>
            </a:extLst>
          </p:cNvPr>
          <p:cNvSpPr/>
          <p:nvPr/>
        </p:nvSpPr>
        <p:spPr>
          <a:xfrm>
            <a:off x="5394960" y="3322374"/>
            <a:ext cx="1920240" cy="2298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市场领先的网格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4FF555-729C-EF20-70C0-BDCE46F491CE}"/>
              </a:ext>
            </a:extLst>
          </p:cNvPr>
          <p:cNvSpPr/>
          <p:nvPr/>
        </p:nvSpPr>
        <p:spPr>
          <a:xfrm>
            <a:off x="5257800" y="2002610"/>
            <a:ext cx="45720" cy="168486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75FA5C-3647-BEF3-B753-022119134BE0}"/>
              </a:ext>
            </a:extLst>
          </p:cNvPr>
          <p:cNvSpPr/>
          <p:nvPr/>
        </p:nvSpPr>
        <p:spPr>
          <a:xfrm>
            <a:off x="7589520" y="2002456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7E4CF1-9C37-8E34-6312-963E86B4E27C}"/>
              </a:ext>
            </a:extLst>
          </p:cNvPr>
          <p:cNvSpPr/>
          <p:nvPr/>
        </p:nvSpPr>
        <p:spPr>
          <a:xfrm>
            <a:off x="7726680" y="2094677"/>
            <a:ext cx="1920240" cy="26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整车热管理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AFD911-A674-4E91-6110-230D2F192F8B}"/>
              </a:ext>
            </a:extLst>
          </p:cNvPr>
          <p:cNvSpPr/>
          <p:nvPr/>
        </p:nvSpPr>
        <p:spPr>
          <a:xfrm>
            <a:off x="7726680" y="2425137"/>
            <a:ext cx="1920240" cy="84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热平衡与热防护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电池包热管理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电机与电控散热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F35529-8800-231C-B8D1-D63C872FF5C3}"/>
              </a:ext>
            </a:extLst>
          </p:cNvPr>
          <p:cNvSpPr/>
          <p:nvPr/>
        </p:nvSpPr>
        <p:spPr>
          <a:xfrm>
            <a:off x="7726680" y="3326142"/>
            <a:ext cx="1920240" cy="2305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新能源三电散热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5CC276-CEC5-F954-DA7B-F08AF11C775A}"/>
              </a:ext>
            </a:extLst>
          </p:cNvPr>
          <p:cNvSpPr/>
          <p:nvPr/>
        </p:nvSpPr>
        <p:spPr>
          <a:xfrm>
            <a:off x="7589520" y="2001638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50E035-11BD-EDD7-69D8-FE496F13D32E}"/>
              </a:ext>
            </a:extLst>
          </p:cNvPr>
          <p:cNvSpPr/>
          <p:nvPr/>
        </p:nvSpPr>
        <p:spPr>
          <a:xfrm>
            <a:off x="2926080" y="3798768"/>
            <a:ext cx="2194560" cy="1676584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2C7256-BA08-59A4-667D-C901CCAD7C22}"/>
              </a:ext>
            </a:extLst>
          </p:cNvPr>
          <p:cNvSpPr/>
          <p:nvPr/>
        </p:nvSpPr>
        <p:spPr>
          <a:xfrm>
            <a:off x="3063240" y="3890218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内流与舒适性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6FADBD7-13F6-B198-30BB-7371C7D38989}"/>
              </a:ext>
            </a:extLst>
          </p:cNvPr>
          <p:cNvSpPr/>
          <p:nvPr/>
        </p:nvSpPr>
        <p:spPr>
          <a:xfrm>
            <a:off x="3063240" y="4217914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HVAC 压降与热特性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除霜 · 除雾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乘员舱舒适性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CBCB99-98AD-B87D-83C5-4AF8A435AF64}"/>
              </a:ext>
            </a:extLst>
          </p:cNvPr>
          <p:cNvSpPr/>
          <p:nvPr/>
        </p:nvSpPr>
        <p:spPr>
          <a:xfrm>
            <a:off x="3063240" y="511088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风管流量分配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5CF42D-664E-B0E3-D419-7E795893170E}"/>
              </a:ext>
            </a:extLst>
          </p:cNvPr>
          <p:cNvSpPr/>
          <p:nvPr/>
        </p:nvSpPr>
        <p:spPr>
          <a:xfrm>
            <a:off x="2930434" y="3794152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229972-5D0A-70C3-4467-FABECC7219F9}"/>
              </a:ext>
            </a:extLst>
          </p:cNvPr>
          <p:cNvSpPr/>
          <p:nvPr/>
        </p:nvSpPr>
        <p:spPr>
          <a:xfrm>
            <a:off x="9921240" y="2002611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657127-A399-152C-5095-AC907A465509}"/>
              </a:ext>
            </a:extLst>
          </p:cNvPr>
          <p:cNvSpPr/>
          <p:nvPr/>
        </p:nvSpPr>
        <p:spPr>
          <a:xfrm>
            <a:off x="10058400" y="2094721"/>
            <a:ext cx="1920240" cy="26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空气动力学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5D8417-AE80-150F-F3DD-E42DCC78F3D7}"/>
              </a:ext>
            </a:extLst>
          </p:cNvPr>
          <p:cNvSpPr/>
          <p:nvPr/>
        </p:nvSpPr>
        <p:spPr>
          <a:xfrm>
            <a:off x="10058400" y="2424782"/>
            <a:ext cx="1920240" cy="84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气动六分力 · 阻力升力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气动噪声 · 后视镜噪声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扬雪 · 涉水 · 车身污染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803559-9862-4321-B3C1-09DCC4570C23}"/>
              </a:ext>
            </a:extLst>
          </p:cNvPr>
          <p:cNvSpPr/>
          <p:nvPr/>
        </p:nvSpPr>
        <p:spPr>
          <a:xfrm>
            <a:off x="10058400" y="3324628"/>
            <a:ext cx="1920240" cy="230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风洞的数字替代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A4390C-B428-8FEB-2A04-2E7B3FA8E458}"/>
              </a:ext>
            </a:extLst>
          </p:cNvPr>
          <p:cNvSpPr/>
          <p:nvPr/>
        </p:nvSpPr>
        <p:spPr>
          <a:xfrm>
            <a:off x="9916886" y="2002844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D7671A7-CEAC-FCAF-30CB-85C4A6033114}"/>
              </a:ext>
            </a:extLst>
          </p:cNvPr>
          <p:cNvSpPr/>
          <p:nvPr/>
        </p:nvSpPr>
        <p:spPr>
          <a:xfrm>
            <a:off x="525780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B4D5515-893C-6C78-D636-D1FB8C0861A3}"/>
              </a:ext>
            </a:extLst>
          </p:cNvPr>
          <p:cNvSpPr/>
          <p:nvPr/>
        </p:nvSpPr>
        <p:spPr>
          <a:xfrm>
            <a:off x="539496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工艺过程仿真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9E5721-C5A5-9A0A-20A0-1079665A1DAA}"/>
              </a:ext>
            </a:extLst>
          </p:cNvPr>
          <p:cNvSpPr/>
          <p:nvPr/>
        </p:nvSpPr>
        <p:spPr>
          <a:xfrm>
            <a:off x="539496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电泳分析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喷涂仿真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烘干分析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708AA44-D8B7-E2D2-18BE-F3BB0B2793B7}"/>
              </a:ext>
            </a:extLst>
          </p:cNvPr>
          <p:cNvSpPr/>
          <p:nvPr/>
        </p:nvSpPr>
        <p:spPr>
          <a:xfrm>
            <a:off x="539496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制造工艺流体过程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17AEADF-B573-3B08-B36F-C4749233FC59}"/>
              </a:ext>
            </a:extLst>
          </p:cNvPr>
          <p:cNvSpPr/>
          <p:nvPr/>
        </p:nvSpPr>
        <p:spPr>
          <a:xfrm>
            <a:off x="758952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AA68DF9-15DE-90C5-8E5F-59FDEF47023B}"/>
              </a:ext>
            </a:extLst>
          </p:cNvPr>
          <p:cNvSpPr/>
          <p:nvPr/>
        </p:nvSpPr>
        <p:spPr>
          <a:xfrm>
            <a:off x="772668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设计空间探索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324ECDE-D72D-6276-18EE-1487D02375AD}"/>
              </a:ext>
            </a:extLst>
          </p:cNvPr>
          <p:cNvSpPr/>
          <p:nvPr/>
        </p:nvSpPr>
        <p:spPr>
          <a:xfrm>
            <a:off x="772668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DOE · 参数化优化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多目标寻优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敏感度与鲁棒性分析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3E28704-9E9D-570F-15E9-0A6E6FDEA78A}"/>
              </a:ext>
            </a:extLst>
          </p:cNvPr>
          <p:cNvSpPr/>
          <p:nvPr/>
        </p:nvSpPr>
        <p:spPr>
          <a:xfrm>
            <a:off x="772668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优化内置于求解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EB364CA-F033-690C-7DB5-AA7EE540C0A0}"/>
              </a:ext>
            </a:extLst>
          </p:cNvPr>
          <p:cNvSpPr/>
          <p:nvPr/>
        </p:nvSpPr>
        <p:spPr>
          <a:xfrm>
            <a:off x="992124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AAC89DD-B599-3C03-A0D9-318064253B83}"/>
              </a:ext>
            </a:extLst>
          </p:cNvPr>
          <p:cNvSpPr/>
          <p:nvPr/>
        </p:nvSpPr>
        <p:spPr>
          <a:xfrm>
            <a:off x="1005840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计算与集成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4BD1629-C084-B658-DE94-85202FD2D471}"/>
              </a:ext>
            </a:extLst>
          </p:cNvPr>
          <p:cNvSpPr/>
          <p:nvPr/>
        </p:nvSpPr>
        <p:spPr>
          <a:xfrm>
            <a:off x="1005840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无限 CPU / GPU 并行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CATIA · NX · Creo 客户端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Simcenter 与 PLM 集成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59E2F3-1C02-2DC2-EDF4-DE4FFDECF919}"/>
              </a:ext>
            </a:extLst>
          </p:cNvPr>
          <p:cNvSpPr/>
          <p:nvPr/>
        </p:nvSpPr>
        <p:spPr>
          <a:xfrm>
            <a:off x="1005840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云与集群部署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66F0C4-BC88-33CA-388B-D6007E5819C3}"/>
              </a:ext>
            </a:extLst>
          </p:cNvPr>
          <p:cNvSpPr/>
          <p:nvPr/>
        </p:nvSpPr>
        <p:spPr>
          <a:xfrm>
            <a:off x="5262154" y="3798159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B7071B-5A0D-9929-F111-F892948AC70E}"/>
              </a:ext>
            </a:extLst>
          </p:cNvPr>
          <p:cNvSpPr/>
          <p:nvPr/>
        </p:nvSpPr>
        <p:spPr>
          <a:xfrm>
            <a:off x="7593874" y="3791673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D945E3-00FC-4989-5FA8-41459F55EFAD}"/>
              </a:ext>
            </a:extLst>
          </p:cNvPr>
          <p:cNvSpPr/>
          <p:nvPr/>
        </p:nvSpPr>
        <p:spPr>
          <a:xfrm>
            <a:off x="9921240" y="3792716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91DF6C0-B44A-1FD5-5DAA-E6BABEA4A837}"/>
              </a:ext>
            </a:extLst>
          </p:cNvPr>
          <p:cNvGrpSpPr/>
          <p:nvPr/>
        </p:nvGrpSpPr>
        <p:grpSpPr>
          <a:xfrm>
            <a:off x="457200" y="2015134"/>
            <a:ext cx="2286000" cy="2933306"/>
            <a:chOff x="361406" y="1828800"/>
            <a:chExt cx="2381794" cy="3069274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B0FEF7E-786A-700A-A0AF-7BE1FCCC509C}"/>
                </a:ext>
              </a:extLst>
            </p:cNvPr>
            <p:cNvSpPr/>
            <p:nvPr/>
          </p:nvSpPr>
          <p:spPr>
            <a:xfrm>
              <a:off x="365760" y="1828800"/>
              <a:ext cx="2377440" cy="3062466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385C34DC-F5AC-6487-6354-08C5375654B1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solidFill>
              <a:srgbClr val="00CED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1C2C2FF-3E91-EEB2-BEF6-D3EEF8619D49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STAR-CCM+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88805A7-9A0E-F0FE-D557-0022ECB3B6E8}"/>
                </a:ext>
              </a:extLst>
            </p:cNvPr>
            <p:cNvSpPr/>
            <p:nvPr/>
          </p:nvSpPr>
          <p:spPr>
            <a:xfrm>
              <a:off x="548640" y="2743200"/>
              <a:ext cx="2011680" cy="1564324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Siemens 旗下 Simcenter · 多物理场 CFD 平台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前处理、求解、后处理、设计探索一体化界面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无限并行求解器，支持 CPU / GPU 大规模计算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359665-94C2-84B3-5C7E-DB9D12E9A918}"/>
                </a:ext>
              </a:extLst>
            </p:cNvPr>
            <p:cNvSpPr/>
            <p:nvPr/>
          </p:nvSpPr>
          <p:spPr>
            <a:xfrm>
              <a:off x="361406" y="1835608"/>
              <a:ext cx="50074" cy="3062466"/>
            </a:xfrm>
            <a:prstGeom prst="rect">
              <a:avLst/>
            </a:prstGeom>
            <a:solidFill>
              <a:srgbClr val="00CE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D3C1B25C-F998-C14B-2866-7662012F86E1}"/>
              </a:ext>
            </a:extLst>
          </p:cNvPr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全球 CFD 市场份额第一  ·  汽车与船舶行业事实标准 — 从建模到设计探索同一个界面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4F636DE-9ECF-4030-F152-53EFD9CCABFC}"/>
              </a:ext>
            </a:extLst>
          </p:cNvPr>
          <p:cNvSpPr/>
          <p:nvPr/>
        </p:nvSpPr>
        <p:spPr>
          <a:xfrm>
            <a:off x="457200" y="5074920"/>
            <a:ext cx="2286000" cy="411480"/>
          </a:xfrm>
          <a:prstGeom prst="rect">
            <a:avLst/>
          </a:prstGeom>
          <a:solidFill>
            <a:srgbClr val="003D7A"/>
          </a:solidFill>
          <a:ln w="12700" cap="flat" cmpd="sng" algn="ctr">
            <a:solidFill>
              <a:srgbClr val="0066C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9F08E442-C12C-E4D1-606E-6E788883A738}"/>
              </a:ext>
            </a:extLst>
          </p:cNvPr>
          <p:cNvSpPr/>
          <p:nvPr/>
        </p:nvSpPr>
        <p:spPr>
          <a:xfrm>
            <a:off x="614308" y="5093148"/>
            <a:ext cx="1930772" cy="39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1" dirty="0">
                <a:solidFill>
                  <a:prstClr val="white">
                    <a:lumMod val="85000"/>
                  </a:prstClr>
                </a:solidFill>
                <a:latin typeface="微软雅黑"/>
                <a:ea typeface="微软雅黑"/>
                <a:cs typeface="微软雅黑"/>
              </a:rPr>
              <a:t>Siemens 旗下 Simcenter</a:t>
            </a:r>
          </a:p>
        </p:txBody>
      </p:sp>
    </p:spTree>
    <p:extLst>
      <p:ext uri="{BB962C8B-B14F-4D97-AF65-F5344CB8AC3E}">
        <p14:creationId xmlns:p14="http://schemas.microsoft.com/office/powerpoint/2010/main" val="3492985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75071-36B6-3A8F-2F91-28DB502D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7F1898-005C-CF1E-D20B-9DB29E2EFC6A}"/>
              </a:ext>
            </a:extLst>
          </p:cNvPr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EC4EDB-AFA0-B7B7-72B0-18C85D8256CC}"/>
              </a:ext>
            </a:extLst>
          </p:cNvPr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571FDB-359D-71E3-679B-C3760250E50D}"/>
              </a:ext>
            </a:extLst>
          </p:cNvPr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 E S T W A Y  ·  百 世 慧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A016C-07B8-21D2-1107-347FAA28EC12}"/>
              </a:ext>
            </a:extLst>
          </p:cNvPr>
          <p:cNvSpPr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6AB021-B444-01CA-A05E-1208553CFFD2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P P E N D I X  ·  T E S T L A 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54F05-BFE2-C4BD-8612-4A129EAD98C0}"/>
              </a:ext>
            </a:extLst>
          </p:cNvPr>
          <p:cNvSpPr/>
          <p:nvPr/>
        </p:nvSpPr>
        <p:spPr>
          <a:xfrm>
            <a:off x="54864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试验与分析平台 — 仿真与试验无缝衔接，用实测数据修正仿真模型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B367B0-999A-35E5-CBFF-128A40EF5DEB}"/>
              </a:ext>
            </a:extLst>
          </p:cNvPr>
          <p:cNvSpPr/>
          <p:nvPr/>
        </p:nvSpPr>
        <p:spPr>
          <a:xfrm>
            <a:off x="9326880" y="672011"/>
            <a:ext cx="231648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93ED5C-2484-31EA-4CA7-C6F8137183B0}"/>
              </a:ext>
            </a:extLst>
          </p:cNvPr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8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百世慧 2030 战略 · 仿真业务布局    Simcenter 试验与数采核心产品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4C30DF-7DC3-654D-C04E-B6E40D1A148B}"/>
              </a:ext>
            </a:extLst>
          </p:cNvPr>
          <p:cNvSpPr/>
          <p:nvPr/>
        </p:nvSpPr>
        <p:spPr>
          <a:xfrm>
            <a:off x="2926080" y="2015135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3D3C0A-A34F-48E4-27E4-53D34F3D2CBE}"/>
              </a:ext>
            </a:extLst>
          </p:cNvPr>
          <p:cNvSpPr/>
          <p:nvPr/>
        </p:nvSpPr>
        <p:spPr>
          <a:xfrm>
            <a:off x="3063240" y="2106517"/>
            <a:ext cx="1920240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结构模态试验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3A36BA-526C-85F7-7005-2D5F19E5C4DF}"/>
              </a:ext>
            </a:extLst>
          </p:cNvPr>
          <p:cNvSpPr/>
          <p:nvPr/>
        </p:nvSpPr>
        <p:spPr>
          <a:xfrm>
            <a:off x="3063240" y="2433968"/>
            <a:ext cx="1920240" cy="83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锤击法 · MIMO FRF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MIMO 扫频与步进正弦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纯模态试验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D34170-4C98-E892-757E-CC581F794A3C}"/>
              </a:ext>
            </a:extLst>
          </p:cNvPr>
          <p:cNvSpPr/>
          <p:nvPr/>
        </p:nvSpPr>
        <p:spPr>
          <a:xfrm>
            <a:off x="3063240" y="3326224"/>
            <a:ext cx="1920240" cy="2284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PolyMax 专利算法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6C8F3F-8858-AD14-69D3-9D0122CECC1B}"/>
              </a:ext>
            </a:extLst>
          </p:cNvPr>
          <p:cNvSpPr/>
          <p:nvPr/>
        </p:nvSpPr>
        <p:spPr>
          <a:xfrm>
            <a:off x="2926080" y="2015136"/>
            <a:ext cx="45720" cy="1674269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35FA678-0F57-3BE9-AA44-9B206E75926C}"/>
              </a:ext>
            </a:extLst>
          </p:cNvPr>
          <p:cNvSpPr/>
          <p:nvPr/>
        </p:nvSpPr>
        <p:spPr>
          <a:xfrm>
            <a:off x="5257800" y="2002610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584754-41ED-701B-8668-CD4ACC35328F}"/>
              </a:ext>
            </a:extLst>
          </p:cNvPr>
          <p:cNvSpPr/>
          <p:nvPr/>
        </p:nvSpPr>
        <p:spPr>
          <a:xfrm>
            <a:off x="5394960" y="2094571"/>
            <a:ext cx="1920240" cy="26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传递路径分析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21CC6-B5F1-9ECE-0E3B-FF89F7835145}"/>
              </a:ext>
            </a:extLst>
          </p:cNvPr>
          <p:cNvSpPr/>
          <p:nvPr/>
        </p:nvSpPr>
        <p:spPr>
          <a:xfrm>
            <a:off x="5394960" y="2424093"/>
            <a:ext cx="1920240" cy="84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直接法 · 悬置刚度法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矩阵求逆 · OPAX / OTPA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CTPA 部件传递路径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E996F8-A788-17AE-7A55-2FEE85386509}"/>
              </a:ext>
            </a:extLst>
          </p:cNvPr>
          <p:cNvSpPr/>
          <p:nvPr/>
        </p:nvSpPr>
        <p:spPr>
          <a:xfrm>
            <a:off x="5394960" y="3322374"/>
            <a:ext cx="1920240" cy="2298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关键载荷与路径定位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4FF555-729C-EF20-70C0-BDCE46F491CE}"/>
              </a:ext>
            </a:extLst>
          </p:cNvPr>
          <p:cNvSpPr/>
          <p:nvPr/>
        </p:nvSpPr>
        <p:spPr>
          <a:xfrm>
            <a:off x="5257800" y="2002610"/>
            <a:ext cx="45720" cy="168486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75FA5C-3647-BEF3-B753-022119134BE0}"/>
              </a:ext>
            </a:extLst>
          </p:cNvPr>
          <p:cNvSpPr/>
          <p:nvPr/>
        </p:nvSpPr>
        <p:spPr>
          <a:xfrm>
            <a:off x="7589520" y="2002456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7E4CF1-9C37-8E34-6312-963E86B4E27C}"/>
              </a:ext>
            </a:extLst>
          </p:cNvPr>
          <p:cNvSpPr/>
          <p:nvPr/>
        </p:nvSpPr>
        <p:spPr>
          <a:xfrm>
            <a:off x="7726680" y="2094677"/>
            <a:ext cx="1920240" cy="26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声学试验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AFD911-A674-4E91-6110-230D2F192F8B}"/>
              </a:ext>
            </a:extLst>
          </p:cNvPr>
          <p:cNvSpPr/>
          <p:nvPr/>
        </p:nvSpPr>
        <p:spPr>
          <a:xfrm>
            <a:off x="7726680" y="2425137"/>
            <a:ext cx="1920240" cy="84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平面阵列 · 球形阵列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声品质评价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材料级吸隔声测试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F35529-8800-231C-B8D1-D63C872FF5C3}"/>
              </a:ext>
            </a:extLst>
          </p:cNvPr>
          <p:cNvSpPr/>
          <p:nvPr/>
        </p:nvSpPr>
        <p:spPr>
          <a:xfrm>
            <a:off x="7726680" y="3326142"/>
            <a:ext cx="1920240" cy="2305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风洞与整车声学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5CC276-CEC5-F954-DA7B-F08AF11C775A}"/>
              </a:ext>
            </a:extLst>
          </p:cNvPr>
          <p:cNvSpPr/>
          <p:nvPr/>
        </p:nvSpPr>
        <p:spPr>
          <a:xfrm>
            <a:off x="7589520" y="2001638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50E035-11BD-EDD7-69D8-FE496F13D32E}"/>
              </a:ext>
            </a:extLst>
          </p:cNvPr>
          <p:cNvSpPr/>
          <p:nvPr/>
        </p:nvSpPr>
        <p:spPr>
          <a:xfrm>
            <a:off x="2926080" y="3798768"/>
            <a:ext cx="2194560" cy="1676584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2C7256-BA08-59A4-667D-C901CCAD7C22}"/>
              </a:ext>
            </a:extLst>
          </p:cNvPr>
          <p:cNvSpPr/>
          <p:nvPr/>
        </p:nvSpPr>
        <p:spPr>
          <a:xfrm>
            <a:off x="3063240" y="3890218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耐久与环境试验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6FADBD7-13F6-B198-30BB-7371C7D38989}"/>
              </a:ext>
            </a:extLst>
          </p:cNvPr>
          <p:cNvSpPr/>
          <p:nvPr/>
        </p:nvSpPr>
        <p:spPr>
          <a:xfrm>
            <a:off x="3063240" y="4217914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道路载荷谱采集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疲劳寿命分析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振动环境试验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CBCB99-98AD-B87D-83C5-4AF8A435AF64}"/>
              </a:ext>
            </a:extLst>
          </p:cNvPr>
          <p:cNvSpPr/>
          <p:nvPr/>
        </p:nvSpPr>
        <p:spPr>
          <a:xfrm>
            <a:off x="3063240" y="511088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试验场与台架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5CF42D-664E-B0E3-D419-7E795893170E}"/>
              </a:ext>
            </a:extLst>
          </p:cNvPr>
          <p:cNvSpPr/>
          <p:nvPr/>
        </p:nvSpPr>
        <p:spPr>
          <a:xfrm>
            <a:off x="2930434" y="3794152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229972-5D0A-70C3-4467-FABECC7219F9}"/>
              </a:ext>
            </a:extLst>
          </p:cNvPr>
          <p:cNvSpPr/>
          <p:nvPr/>
        </p:nvSpPr>
        <p:spPr>
          <a:xfrm>
            <a:off x="9921240" y="2002611"/>
            <a:ext cx="2194560" cy="16812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657127-A399-152C-5095-AC907A465509}"/>
              </a:ext>
            </a:extLst>
          </p:cNvPr>
          <p:cNvSpPr/>
          <p:nvPr/>
        </p:nvSpPr>
        <p:spPr>
          <a:xfrm>
            <a:off x="10058400" y="2094721"/>
            <a:ext cx="1920240" cy="26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旋转机械 NVH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5D8417-AE80-150F-F3DD-E42DCC78F3D7}"/>
              </a:ext>
            </a:extLst>
          </p:cNvPr>
          <p:cNvSpPr/>
          <p:nvPr/>
        </p:nvSpPr>
        <p:spPr>
          <a:xfrm>
            <a:off x="10058400" y="2424782"/>
            <a:ext cx="1920240" cy="84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阶次分析 · 瀑布图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临界转速 · 轴心轨迹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扭振 · 包络解调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803559-9862-4321-B3C1-09DCC4570C23}"/>
              </a:ext>
            </a:extLst>
          </p:cNvPr>
          <p:cNvSpPr/>
          <p:nvPr/>
        </p:nvSpPr>
        <p:spPr>
          <a:xfrm>
            <a:off x="10058400" y="3324628"/>
            <a:ext cx="1920240" cy="230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电驱与变速箱噪声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A4390C-B428-8FEB-2A04-2E7B3FA8E458}"/>
              </a:ext>
            </a:extLst>
          </p:cNvPr>
          <p:cNvSpPr/>
          <p:nvPr/>
        </p:nvSpPr>
        <p:spPr>
          <a:xfrm>
            <a:off x="9916886" y="2002844"/>
            <a:ext cx="45720" cy="16812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D7671A7-CEAC-FCAF-30CB-85C4A6033114}"/>
              </a:ext>
            </a:extLst>
          </p:cNvPr>
          <p:cNvSpPr/>
          <p:nvPr/>
        </p:nvSpPr>
        <p:spPr>
          <a:xfrm>
            <a:off x="525780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B4D5515-893C-6C78-D636-D1FB8C0861A3}"/>
              </a:ext>
            </a:extLst>
          </p:cNvPr>
          <p:cNvSpPr/>
          <p:nvPr/>
        </p:nvSpPr>
        <p:spPr>
          <a:xfrm>
            <a:off x="539496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SCADAS 数采前端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9E5721-C5A5-9A0A-20A0-1079665A1DAA}"/>
              </a:ext>
            </a:extLst>
          </p:cNvPr>
          <p:cNvSpPr/>
          <p:nvPr/>
        </p:nvSpPr>
        <p:spPr>
          <a:xfrm>
            <a:off x="539496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XS 手持 · Mobile 便携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Lab 实验室 · RS 坚固型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IP67 · MIL-STD-810F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708AA44-D8B7-E2D2-18BE-F3BB0B2793B7}"/>
              </a:ext>
            </a:extLst>
          </p:cNvPr>
          <p:cNvSpPr/>
          <p:nvPr/>
        </p:nvSpPr>
        <p:spPr>
          <a:xfrm>
            <a:off x="539496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低噪声多物理量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17AEADF-B573-3B08-B36F-C4749233FC59}"/>
              </a:ext>
            </a:extLst>
          </p:cNvPr>
          <p:cNvSpPr/>
          <p:nvPr/>
        </p:nvSpPr>
        <p:spPr>
          <a:xfrm>
            <a:off x="758952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AA68DF9-15DE-90C5-8E5F-59FDEF47023B}"/>
              </a:ext>
            </a:extLst>
          </p:cNvPr>
          <p:cNvSpPr/>
          <p:nvPr/>
        </p:nvSpPr>
        <p:spPr>
          <a:xfrm>
            <a:off x="772668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试验-仿真关联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324ECDE-D72D-6276-18EE-1487D02375AD}"/>
              </a:ext>
            </a:extLst>
          </p:cNvPr>
          <p:cNvSpPr/>
          <p:nvPr/>
        </p:nvSpPr>
        <p:spPr>
          <a:xfrm>
            <a:off x="772668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模态置信准则 (MAC)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仿真模型校准与修正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虚拟样机装配 (VPA)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3E28704-9E9D-570F-15E9-0A6E6FDEA78A}"/>
              </a:ext>
            </a:extLst>
          </p:cNvPr>
          <p:cNvSpPr/>
          <p:nvPr/>
        </p:nvSpPr>
        <p:spPr>
          <a:xfrm>
            <a:off x="772668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用实测标定仿真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EB364CA-F033-690C-7DB5-AA7EE540C0A0}"/>
              </a:ext>
            </a:extLst>
          </p:cNvPr>
          <p:cNvSpPr/>
          <p:nvPr/>
        </p:nvSpPr>
        <p:spPr>
          <a:xfrm>
            <a:off x="9921240" y="3798159"/>
            <a:ext cx="2194560" cy="1676583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AAC89DD-B599-3C03-A0D9-318064253B83}"/>
              </a:ext>
            </a:extLst>
          </p:cNvPr>
          <p:cNvSpPr/>
          <p:nvPr/>
        </p:nvSpPr>
        <p:spPr>
          <a:xfrm>
            <a:off x="10058400" y="3889609"/>
            <a:ext cx="1920240" cy="26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数据管理与自动化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4BD1629-C084-B658-DE94-85202FD2D471}"/>
              </a:ext>
            </a:extLst>
          </p:cNvPr>
          <p:cNvSpPr/>
          <p:nvPr/>
        </p:nvSpPr>
        <p:spPr>
          <a:xfrm>
            <a:off x="10058400" y="4217305"/>
            <a:ext cx="1920240" cy="83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TLDM · ASAM-ODS 标准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Process Designer 流程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Python · Matlab · AI 模型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59E2F3-1C02-2DC2-EDF4-DE4FFDECF919}"/>
              </a:ext>
            </a:extLst>
          </p:cNvPr>
          <p:cNvSpPr/>
          <p:nvPr/>
        </p:nvSpPr>
        <p:spPr>
          <a:xfrm>
            <a:off x="10058400" y="5110275"/>
            <a:ext cx="1920240" cy="228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D1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试验流程自动化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66F0C4-BC88-33CA-388B-D6007E5819C3}"/>
              </a:ext>
            </a:extLst>
          </p:cNvPr>
          <p:cNvSpPr/>
          <p:nvPr/>
        </p:nvSpPr>
        <p:spPr>
          <a:xfrm>
            <a:off x="5262154" y="3798159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B7071B-5A0D-9929-F111-F892948AC70E}"/>
              </a:ext>
            </a:extLst>
          </p:cNvPr>
          <p:cNvSpPr/>
          <p:nvPr/>
        </p:nvSpPr>
        <p:spPr>
          <a:xfrm>
            <a:off x="7593874" y="3791673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D945E3-00FC-4989-5FA8-41459F55EFAD}"/>
              </a:ext>
            </a:extLst>
          </p:cNvPr>
          <p:cNvSpPr/>
          <p:nvPr/>
        </p:nvSpPr>
        <p:spPr>
          <a:xfrm>
            <a:off x="9921240" y="3792716"/>
            <a:ext cx="45720" cy="1675525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91DF6C0-B44A-1FD5-5DAA-E6BABEA4A837}"/>
              </a:ext>
            </a:extLst>
          </p:cNvPr>
          <p:cNvGrpSpPr/>
          <p:nvPr/>
        </p:nvGrpSpPr>
        <p:grpSpPr>
          <a:xfrm>
            <a:off x="457200" y="2015134"/>
            <a:ext cx="2286000" cy="2933306"/>
            <a:chOff x="361406" y="1828800"/>
            <a:chExt cx="2381794" cy="3069274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B0FEF7E-786A-700A-A0AF-7BE1FCCC509C}"/>
                </a:ext>
              </a:extLst>
            </p:cNvPr>
            <p:cNvSpPr/>
            <p:nvPr/>
          </p:nvSpPr>
          <p:spPr>
            <a:xfrm>
              <a:off x="365760" y="1828800"/>
              <a:ext cx="2377440" cy="3062466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385C34DC-F5AC-6487-6354-08C5375654B1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solidFill>
              <a:srgbClr val="00CED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1C2C2FF-3E91-EEB2-BEF6-D3EEF8619D49}"/>
                </a:ext>
              </a:extLst>
            </p:cNvPr>
            <p:cNvSpPr/>
            <p:nvPr/>
          </p:nvSpPr>
          <p:spPr>
            <a:xfrm>
              <a:off x="548640" y="20574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TESTLAB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88805A7-9A0E-F0FE-D557-0022ECB3B6E8}"/>
                </a:ext>
              </a:extLst>
            </p:cNvPr>
            <p:cNvSpPr/>
            <p:nvPr/>
          </p:nvSpPr>
          <p:spPr>
            <a:xfrm>
              <a:off x="548640" y="2743200"/>
              <a:ext cx="2011680" cy="1564324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Siemens 旗下 Simcenter · 试验与分析平台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覆盖模态、声学、耐久、旋转机械全试验类型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配套 SCADAS 数采前端，软硬件一体交付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359665-94C2-84B3-5C7E-DB9D12E9A918}"/>
                </a:ext>
              </a:extLst>
            </p:cNvPr>
            <p:cNvSpPr/>
            <p:nvPr/>
          </p:nvSpPr>
          <p:spPr>
            <a:xfrm>
              <a:off x="361406" y="1835608"/>
              <a:ext cx="50074" cy="3062466"/>
            </a:xfrm>
            <a:prstGeom prst="rect">
              <a:avLst/>
            </a:prstGeom>
            <a:solidFill>
              <a:srgbClr val="00CE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D3C1B25C-F998-C14B-2866-7662012F86E1}"/>
              </a:ext>
            </a:extLst>
          </p:cNvPr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模态  ·  声学  ·  耐久  ·  旋转机械 — 试验数据与仿真模型互相修正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4F636DE-9ECF-4030-F152-53EFD9CCABFC}"/>
              </a:ext>
            </a:extLst>
          </p:cNvPr>
          <p:cNvSpPr/>
          <p:nvPr/>
        </p:nvSpPr>
        <p:spPr>
          <a:xfrm>
            <a:off x="457200" y="5074920"/>
            <a:ext cx="2286000" cy="411480"/>
          </a:xfrm>
          <a:prstGeom prst="rect">
            <a:avLst/>
          </a:prstGeom>
          <a:solidFill>
            <a:srgbClr val="003D7A"/>
          </a:solidFill>
          <a:ln w="12700" cap="flat" cmpd="sng" algn="ctr">
            <a:solidFill>
              <a:srgbClr val="0066C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9F08E442-C12C-E4D1-606E-6E788883A738}"/>
              </a:ext>
            </a:extLst>
          </p:cNvPr>
          <p:cNvSpPr/>
          <p:nvPr/>
        </p:nvSpPr>
        <p:spPr>
          <a:xfrm>
            <a:off x="614308" y="5093148"/>
            <a:ext cx="1930772" cy="39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1" dirty="0">
                <a:solidFill>
                  <a:prstClr val="white">
                    <a:lumMod val="85000"/>
                  </a:prstClr>
                </a:solidFill>
                <a:latin typeface="微软雅黑"/>
                <a:ea typeface="微软雅黑"/>
                <a:cs typeface="微软雅黑"/>
              </a:rPr>
              <a:t>Siemens 旗下 Simcenter</a:t>
            </a:r>
          </a:p>
        </p:txBody>
      </p:sp>
    </p:spTree>
    <p:extLst>
      <p:ext uri="{BB962C8B-B14F-4D97-AF65-F5344CB8AC3E}">
        <p14:creationId xmlns:p14="http://schemas.microsoft.com/office/powerpoint/2010/main" val="3492985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66CC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66CC"/>
                </a:solidFill>
                <a:latin typeface="Arial"/>
              </a:rPr>
              <a:t>24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FFFFFF"/>
                </a:solidFill>
                <a:latin typeface="Arial"/>
              </a:rPr>
              <a:t>APPENDIX · CATIA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 — 3 大核心研发学科，覆盖造型 · 工程 · 系统工程全栈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百世慧在 CATIA 领域深耕多年，覆盖机械、电气、管路、复材等多专业协同交付能力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9260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9260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◆  造型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 spc="200">
                <a:solidFill>
                  <a:srgbClr val="0066CC"/>
                </a:solidFill>
                <a:latin typeface="Arial"/>
              </a:rPr>
              <a:t>Style &amp;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2926080" cy="929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36576" cy="929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工业设计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2651760" cy="4724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概念造型 · 参数化建模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工业美学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47160"/>
            <a:ext cx="2926080" cy="929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947160"/>
            <a:ext cx="36576" cy="929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992879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高级曲面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31208"/>
            <a:ext cx="2651760" cy="4724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级曲面 · 自由曲面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逆向造型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68240"/>
            <a:ext cx="2926080" cy="929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968240"/>
            <a:ext cx="36576" cy="929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01396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产品体验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52288"/>
            <a:ext cx="2651760" cy="4724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虚拟样机 · 可视化渲染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VR 沉浸体验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4087" y="2011680"/>
            <a:ext cx="53035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44087" y="2011680"/>
            <a:ext cx="5303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◆  工程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4087" y="2560320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 spc="200">
                <a:solidFill>
                  <a:srgbClr val="0066CC"/>
                </a:solidFill>
                <a:latin typeface="Arial"/>
              </a:rPr>
              <a:t>Engineering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4087" y="2926080"/>
            <a:ext cx="2606040" cy="67437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44087" y="2926080"/>
            <a:ext cx="36576" cy="6743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5527" y="297180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机械工程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5527" y="3218688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大装配设计 · 公差分析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参数化模具设计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1567" y="2926080"/>
            <a:ext cx="2606040" cy="67437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41567" y="2926080"/>
            <a:ext cx="36576" cy="6743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3007" y="297180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模具与铸造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3218688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分型面 · 型芯型腔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模流分析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44087" y="3673602"/>
            <a:ext cx="2606040" cy="67437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44087" y="3673602"/>
            <a:ext cx="36576" cy="6743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35527" y="371932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钣金设计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5527" y="3958395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展开计算 · 成形仿真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折弯工艺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1567" y="3673602"/>
            <a:ext cx="2606040" cy="67437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1567" y="3673602"/>
            <a:ext cx="36576" cy="6743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33007" y="371932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复合材料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007" y="3966210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铺层设计 · 制造仿真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重量优化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44087" y="4421124"/>
            <a:ext cx="2606040" cy="67437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444087" y="4421124"/>
            <a:ext cx="36576" cy="6743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35527" y="4466844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电气系统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5527" y="4705917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线束设计 · 3D 布线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电气图纸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1567" y="4421124"/>
            <a:ext cx="2606040" cy="67437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41567" y="4421124"/>
            <a:ext cx="36576" cy="6743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33007" y="4466844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管路系统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3007" y="4713732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P&amp;ID 导入 · 柔性管路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干涉检查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44087" y="5168646"/>
            <a:ext cx="2606040" cy="729234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444087" y="5168646"/>
            <a:ext cx="36576" cy="730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535527" y="5214366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增材制造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5527" y="5461254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3D 打印 · 点阵结构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拓扑优化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1567" y="5168646"/>
            <a:ext cx="2606040" cy="729234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41567" y="5168646"/>
            <a:ext cx="36576" cy="730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33007" y="5214366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基于模型定义 (MBD)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3007" y="5461254"/>
            <a:ext cx="2468880" cy="3543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三维标注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全三维流程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08415" y="2011680"/>
            <a:ext cx="29260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08415" y="2011680"/>
            <a:ext cx="29260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◆  系统工程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08415" y="256032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 spc="200">
                <a:solidFill>
                  <a:srgbClr val="0066CC"/>
                </a:solidFill>
                <a:latin typeface="Arial"/>
              </a:rPr>
              <a:t>Systems Engineering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08415" y="2926080"/>
            <a:ext cx="2926080" cy="929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08415" y="2926080"/>
            <a:ext cx="36576" cy="929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45575" y="297180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45575" y="3310128"/>
            <a:ext cx="2651760" cy="4724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RFLP 方法论 · 需求分解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系统建模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08415" y="3947160"/>
            <a:ext cx="2926080" cy="929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808415" y="3947160"/>
            <a:ext cx="36576" cy="929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45575" y="3992879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系统集成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45575" y="4331208"/>
            <a:ext cx="2651760" cy="4724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多专业协同 · 接口管理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数字主线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08415" y="4968240"/>
            <a:ext cx="2926080" cy="9296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08415" y="4968240"/>
            <a:ext cx="36576" cy="929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45575" y="501396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系统建模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45575" y="5352288"/>
            <a:ext cx="2651760" cy="4724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SysML · 行为仿真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模型验证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0" y="6112475"/>
            <a:ext cx="12191695" cy="25660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RFLP 系统工程方法论 · MBD 全三维流程 · 自顶向下骨架建模 — 为复杂研发提供工程方法支撑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0310137-87A4-F387-4DFD-107E8CFB4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244" y="751205"/>
            <a:ext cx="1432369" cy="3721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FF6600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000">
                <a:solidFill>
                  <a:srgbClr val="FF6600"/>
                </a:solidFill>
                <a:latin typeface="Arial"/>
              </a:rPr>
              <a:t>25 / 28</a:t>
            </a:r>
            <a:endParaRPr sz="1000" b="0" i="0">
              <a:solidFill>
                <a:srgbClr val="FF66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FFFFFF"/>
                </a:solidFill>
                <a:latin typeface="Arial"/>
              </a:rPr>
              <a:t>APPENDIX · ENOVIA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341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研发管理 — 覆盖产品全生命周期</a:t>
            </a:r>
            <a:r>
              <a:rPr lang="en-CN" sz="1800" b="1" i="0">
                <a:solidFill>
                  <a:srgbClr val="FFFFFF"/>
                </a:solidFill>
                <a:latin typeface="微软雅黑"/>
              </a:rPr>
              <a:t>PLM</a:t>
            </a: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，从需求到交付的数字化研发底座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百世慧具备集团级 PLM 全过程实施咨询及底层技术架构搭建能力，服务汽车、半导体、高端装备等多个行业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182307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182307" cy="457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03415"/>
            <a:ext cx="2182307" cy="25660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1  </a:t>
            </a: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需求与立项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30947" y="2011680"/>
            <a:ext cx="2182307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30947" y="2011680"/>
            <a:ext cx="2182307" cy="457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0947" y="2011680"/>
            <a:ext cx="2182307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产品研发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4694" y="2011680"/>
            <a:ext cx="2182307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04694" y="2011680"/>
            <a:ext cx="2182307" cy="457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4694" y="2011680"/>
            <a:ext cx="2182307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工艺与制造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441" y="2011680"/>
            <a:ext cx="2182307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78441" y="2011680"/>
            <a:ext cx="2182307" cy="457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78441" y="2011680"/>
            <a:ext cx="2182307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计划与执行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2188" y="2011680"/>
            <a:ext cx="2182307" cy="64008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52188" y="2011680"/>
            <a:ext cx="2182307" cy="457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2188" y="2011680"/>
            <a:ext cx="2182307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维护与服务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88920"/>
            <a:ext cx="11277295" cy="320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企业级协同平台  ·  项目驱动业务管理  ·  全流程管控底座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91840"/>
            <a:ext cx="3667658" cy="12344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45720" cy="1234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383280"/>
            <a:ext cx="339333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600"/>
                </a:solidFill>
                <a:latin typeface="微软雅黑"/>
                <a:ea typeface="微软雅黑"/>
                <a:cs typeface="微软雅黑"/>
              </a:rPr>
              <a:t>概念设计与创新管理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49039"/>
            <a:ext cx="3393338" cy="514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需求捕获 · 创意管理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APQP 流程 · </a:t>
            </a:r>
            <a:r>
              <a:rPr lang="en-CN"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立项管理</a:t>
            </a:r>
            <a:endParaRPr sz="11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62018" y="3291840"/>
            <a:ext cx="3667658" cy="12344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62018" y="3291840"/>
            <a:ext cx="45720" cy="1234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9178" y="3383280"/>
            <a:ext cx="339333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600"/>
                </a:solidFill>
                <a:latin typeface="微软雅黑"/>
                <a:ea typeface="微软雅黑"/>
                <a:cs typeface="微软雅黑"/>
              </a:rPr>
              <a:t>多学科协同设计与仿真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9178" y="3749039"/>
            <a:ext cx="3393338" cy="514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机电软液控协同 · </a:t>
            </a:r>
            <a:r>
              <a:rPr lang="en-US" sz="1100" b="0" i="0">
                <a:solidFill>
                  <a:srgbClr val="FFFFFF"/>
                </a:solidFill>
                <a:latin typeface="微软雅黑"/>
              </a:rPr>
              <a:t>MODSIM</a:t>
            </a: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一体化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BOM 管理 · 变更管控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6836" y="3291840"/>
            <a:ext cx="3667658" cy="12344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66836" y="3291840"/>
            <a:ext cx="45720" cy="1234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3996" y="3383280"/>
            <a:ext cx="339333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600"/>
                </a:solidFill>
                <a:latin typeface="微软雅黑"/>
                <a:ea typeface="微软雅黑"/>
                <a:cs typeface="微软雅黑"/>
              </a:rPr>
              <a:t>沉浸式虚拟样机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3996" y="3749039"/>
            <a:ext cx="3393338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数字孪生 · 虚拟验证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DMU 装配检查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63440"/>
            <a:ext cx="3667658" cy="12344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663440"/>
            <a:ext cx="45720" cy="1234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4754879"/>
            <a:ext cx="339333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600"/>
                </a:solidFill>
                <a:latin typeface="微软雅黑"/>
                <a:ea typeface="微软雅黑"/>
                <a:cs typeface="微软雅黑"/>
              </a:rPr>
              <a:t>企业知识库与标准件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120640"/>
            <a:ext cx="3393338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知识规则 · 标准件库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模板管理 · 经验沉淀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2018" y="4663440"/>
            <a:ext cx="3667658" cy="12344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62018" y="4663440"/>
            <a:ext cx="45720" cy="1234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99178" y="4754879"/>
            <a:ext cx="339333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600"/>
                </a:solidFill>
                <a:latin typeface="微软雅黑"/>
                <a:ea typeface="微软雅黑"/>
                <a:cs typeface="微软雅黑"/>
              </a:rPr>
              <a:t>数字化工艺与虚拟制造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9178" y="5120640"/>
            <a:ext cx="3393338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MBOM 打通 · 数控编程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工艺仿真 · DELMIA 集成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6836" y="4663440"/>
            <a:ext cx="3667658" cy="12344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66836" y="4663440"/>
            <a:ext cx="45720" cy="1234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03996" y="4754879"/>
            <a:ext cx="3393338" cy="2566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600"/>
                </a:solidFill>
                <a:latin typeface="微软雅黑"/>
                <a:ea typeface="微软雅黑"/>
                <a:cs typeface="微软雅黑"/>
              </a:rPr>
              <a:t>大数据分析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3996" y="5120640"/>
            <a:ext cx="3393338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BI 看板 · 自动报表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追踪 · 决策支持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IPD 集成产品开发  ·  多基地协同  ·  ERP/MOM 集成  ·  PPAP 质量体系 — 企业级实时协同底座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5E80799-6EF5-6045-4040-BD86013F0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597" y="738416"/>
            <a:ext cx="1815061" cy="3862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FFD700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FFD700"/>
                </a:solidFill>
                <a:latin typeface="Arial"/>
              </a:rPr>
              <a:t>26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01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6096000" cy="777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5486400" cy="22140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chemeClr val="bg1"/>
                </a:solidFill>
                <a:latin typeface="Arial"/>
              </a:rPr>
              <a:t>APPENDIX · DELMIA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数字制造 — 覆盖工艺规划 · 虚拟工厂 · 人机工程 · 机器人 · 数控加工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2397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百世慧将 DELMIA 规划方法论与自研 ProMESA MOM 深度融合，真正打通从工艺规划到车间执行的数据链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167676" cy="1920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45720" cy="1920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193907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D700"/>
                </a:solidFill>
                <a:latin typeface="微软雅黑"/>
                <a:ea typeface="微软雅黑"/>
                <a:cs typeface="微软雅黑"/>
              </a:rPr>
              <a:t>数字化工艺规划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939076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装配工艺仿真 · 工艺路线设计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MBOM 打通 · 工时分析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三维可视化工艺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9390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FFD700"/>
                </a:solidFill>
                <a:latin typeface="Arial"/>
              </a:rPr>
              <a:t>Process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4604" y="2011680"/>
            <a:ext cx="2167676" cy="1920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34604" y="2011680"/>
            <a:ext cx="45720" cy="1920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71764" y="2103120"/>
            <a:ext cx="193907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D700"/>
                </a:solidFill>
                <a:latin typeface="微软雅黑"/>
                <a:ea typeface="微软雅黑"/>
                <a:cs typeface="微软雅黑"/>
              </a:rPr>
              <a:t>虚拟工厂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764" y="2468880"/>
            <a:ext cx="1939076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工厂布局规划 · 产线设计验证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物流仿真 · 价值流分析 VSM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产能瓶颈识别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764" y="3566160"/>
            <a:ext cx="19390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FFD700"/>
                </a:solidFill>
                <a:latin typeface="Arial"/>
              </a:rPr>
              <a:t>Virtual Factory · DM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2009" y="2011680"/>
            <a:ext cx="2167676" cy="1920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12009" y="2011680"/>
            <a:ext cx="45720" cy="1920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9169" y="2103120"/>
            <a:ext cx="193907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D700"/>
                </a:solidFill>
                <a:latin typeface="微软雅黑"/>
                <a:ea typeface="微软雅黑"/>
                <a:cs typeface="微软雅黑"/>
              </a:rPr>
              <a:t>人机工程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9169" y="2468880"/>
            <a:ext cx="1939076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作业强度评估 · 工位安全分析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人体姿态仿真 · 可达性验证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169" y="3566160"/>
            <a:ext cx="19390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FFD700"/>
                </a:solidFill>
                <a:latin typeface="Arial"/>
              </a:rPr>
              <a:t>Ergonomics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9413" y="2011680"/>
            <a:ext cx="2167676" cy="1920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89413" y="2011680"/>
            <a:ext cx="45720" cy="1920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6573" y="2103120"/>
            <a:ext cx="193907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D700"/>
                </a:solidFill>
                <a:latin typeface="微软雅黑"/>
                <a:ea typeface="微软雅黑"/>
                <a:cs typeface="微软雅黑"/>
              </a:rPr>
              <a:t>机器人仿真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6573" y="2468880"/>
            <a:ext cx="1939076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机器人离线编程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焊接/喷涂仿真 · 虚拟调试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多机协同 · 碰撞检测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6573" y="3566160"/>
            <a:ext cx="19390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FFD700"/>
                </a:solidFill>
                <a:latin typeface="Arial"/>
              </a:rPr>
              <a:t>Robotics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66818" y="2011680"/>
            <a:ext cx="2167676" cy="1920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66818" y="2011680"/>
            <a:ext cx="45720" cy="19202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03978" y="2103120"/>
            <a:ext cx="193907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D700"/>
                </a:solidFill>
                <a:latin typeface="微软雅黑"/>
                <a:ea typeface="微软雅黑"/>
                <a:cs typeface="微软雅黑"/>
              </a:rPr>
              <a:t>数控加工编程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3978" y="2468880"/>
            <a:ext cx="1939076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多轴铣车复合 · NC 代码验证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机床运动仿真 · 刀具技术规范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978" y="3566160"/>
            <a:ext cx="19390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FFD700"/>
                </a:solidFill>
                <a:latin typeface="Arial"/>
              </a:rPr>
              <a:t>Machining · NC Programming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1277295" cy="1783080"/>
          </a:xfrm>
          <a:prstGeom prst="rect">
            <a:avLst/>
          </a:prstGeom>
          <a:solidFill>
            <a:srgbClr val="003D7A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114800"/>
            <a:ext cx="54864" cy="17830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297680"/>
            <a:ext cx="2286000" cy="4114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297680"/>
            <a:ext cx="22860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01F3F"/>
                </a:solidFill>
                <a:latin typeface="微软雅黑"/>
                <a:ea typeface="微软雅黑"/>
                <a:cs typeface="微软雅黑"/>
              </a:rPr>
              <a:t>系统级动态仿真 (高阶)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297680"/>
            <a:ext cx="45720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D700"/>
                </a:solidFill>
                <a:latin typeface="微软雅黑"/>
              </a:rPr>
              <a:t>DELMIA DM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00600"/>
            <a:ext cx="1091153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离散事件建模  ·  全厂物流与 AGV 调度  ·  复杂派工逻辑  ·  产能瓶颈动态分析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01F3F"/>
                </a:solidFill>
                <a:latin typeface="微软雅黑"/>
                <a:ea typeface="微软雅黑"/>
                <a:cs typeface="微软雅黑"/>
              </a:rPr>
              <a:t>工艺规划 · 工厂仿真 · 机器人离线编程 · 多产品并行派工 — 物理建厂前完成数字化排雷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A8A72BA-C6D5-62E6-4C34-B9ED27575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621" y="752665"/>
            <a:ext cx="1603873" cy="3547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FFB800"/>
                </a:solidFill>
                <a:latin typeface="Arial"/>
              </a:rPr>
              <a:t>BESTWAY · 百世慧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164592"/>
            <a:ext cx="1097280" cy="204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CN" sz="1000" b="0" i="0">
                <a:solidFill>
                  <a:srgbClr val="FFB800"/>
                </a:solidFill>
                <a:latin typeface="Arial"/>
              </a:rPr>
              <a:t>27 / 28</a:t>
            </a:r>
            <a:endParaRPr sz="1000" b="0" i="0">
              <a:solidFill>
                <a:srgbClr val="FFB8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777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5847" y="548640"/>
            <a:ext cx="6095847" cy="77724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FFFFFF"/>
                </a:solidFill>
                <a:latin typeface="Arial"/>
              </a:rPr>
              <a:t>APPENDIX · ProMESA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制造运营管理平台 — 6 大核心模块（自研 · 自主可控）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7295" cy="2228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贯通锂电铜箔 · 流程与离散制造 — 已在诺德、嘉元、华创、江铜等头部企业完成多基地落地，覆盖近 3000 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4167" y="1965960"/>
            <a:ext cx="4023360" cy="3840480"/>
          </a:xfrm>
          <a:prstGeom prst="rect">
            <a:avLst/>
          </a:prstGeom>
          <a:noFill/>
          <a:ln w="63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75607" y="2057400"/>
            <a:ext cx="3840480" cy="3657600"/>
          </a:xfrm>
          <a:prstGeom prst="rect">
            <a:avLst/>
          </a:prstGeom>
          <a:solidFill>
            <a:srgbClr val="0066CC"/>
          </a:solidFill>
          <a:ln w="254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75607" y="2057400"/>
            <a:ext cx="38404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75607" y="2240280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400">
                <a:solidFill>
                  <a:srgbClr val="00D4FF"/>
                </a:solidFill>
                <a:latin typeface="Arial"/>
              </a:rPr>
              <a:t>CORE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5607" y="2560320"/>
            <a:ext cx="38404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微软雅黑"/>
              </a:rPr>
              <a:t>ProMESA MOM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5607" y="3246120"/>
            <a:ext cx="3840480" cy="341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制造运营平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3852067"/>
            <a:ext cx="2926080" cy="2694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◆  多基地统一管控</a:t>
            </a:r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、集团架构</a:t>
            </a:r>
            <a:endParaRPr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32807" y="4133088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◆  高并发 · 高稳定性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4425696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◆  自主可控 · 深度定制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9927" y="4846320"/>
            <a:ext cx="3291840" cy="6858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9927" y="4892040"/>
            <a:ext cx="3291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 spc="300">
                <a:solidFill>
                  <a:srgbClr val="00D4FF"/>
                </a:solidFill>
                <a:latin typeface="Arial"/>
              </a:rPr>
              <a:t>集成接口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9927" y="51206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BI · APS · SCADA · ERP · PPC · 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57400"/>
            <a:ext cx="2834640" cy="1188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2057400"/>
            <a:ext cx="45720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213055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QMS 质量管理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2423160"/>
            <a:ext cx="2606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SPC 统计过程控制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CTS 全流程追溯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FMEA · 在线检测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79" y="2999232"/>
            <a:ext cx="27432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71800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→ 端到端质量过程保证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37560"/>
            <a:ext cx="2834640" cy="1188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337560"/>
            <a:ext cx="45720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341071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EMS 设备管理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3703320"/>
            <a:ext cx="2606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TPM 预防维保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实时状态监控 · 故障预警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OEE 分析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79" y="4279392"/>
            <a:ext cx="27432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251960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→ 提升设备综合效率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2834640" cy="1188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4617720"/>
            <a:ext cx="45720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79" y="469087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SCMS 配刀配切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983480"/>
            <a:ext cx="2606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智能配切排版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刀具寿命管理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材料利用率优化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79" y="5559552"/>
            <a:ext cx="27432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532120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→ 铜箔行业专属模块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82735" y="2057400"/>
            <a:ext cx="2834640" cy="1188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82735" y="2057400"/>
            <a:ext cx="45720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19895" y="213055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WMS 仓储物流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9895" y="2423160"/>
            <a:ext cx="2606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物料精细化管控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拉动式物流 · 智能仓储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库存分析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9895" y="2999232"/>
            <a:ext cx="27432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11335" y="2971800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→ 精准的物料与库存管理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82735" y="3337560"/>
            <a:ext cx="2834640" cy="1188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82735" y="3337560"/>
            <a:ext cx="45720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19895" y="341071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MES 生产执行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9895" y="3703320"/>
            <a:ext cx="2606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工单全生命周期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生产过程透明化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工时管理 · PPC 排产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19895" y="4279392"/>
            <a:ext cx="27432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11335" y="4251960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→ 核心工单与流程管控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82735" y="4617720"/>
            <a:ext cx="2834640" cy="118872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082735" y="4617720"/>
            <a:ext cx="45720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19895" y="469087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B800"/>
                </a:solidFill>
                <a:latin typeface="微软雅黑"/>
                <a:ea typeface="微软雅黑"/>
                <a:cs typeface="微软雅黑"/>
              </a:rPr>
              <a:t>CTS 追溯系统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9895" y="4983480"/>
            <a:ext cx="2606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批次正向追溯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批次逆向追溯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全链质量档案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19895" y="5559552"/>
            <a:ext cx="27432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11335" y="5532120"/>
            <a:ext cx="2514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→ 满足宁德时代等顶级客户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自主可控 · 深度定制 · 集成接口完整 — 国内锂电铜箔头部企业 MOM 主流选择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5AA99F0-374A-D436-5333-92FC7EBF810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130620" y="552450"/>
            <a:ext cx="1305393" cy="796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</TotalTime>
  <Words>3671</Words>
  <Application>Microsoft Macintosh PowerPoint</Application>
  <PresentationFormat>Widescreen</PresentationFormat>
  <Paragraphs>976</Paragraphs>
  <Slides>27</Slides>
  <Notes>8</Notes>
  <HiddenSlides>17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Microsoft YaHei</vt:lpstr>
      <vt:lpstr>Microsoft YaHei</vt:lpstr>
      <vt:lpstr>Microsoft YaHei Light</vt:lpstr>
      <vt:lpstr>Aptos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cg</dc:creator>
  <cp:keywords/>
  <dc:description>generated using python-pptx</dc:description>
  <cp:lastModifiedBy>KANE</cp:lastModifiedBy>
  <cp:revision>385</cp:revision>
  <cp:lastPrinted>2026-05-20T09:07:11Z</cp:lastPrinted>
  <dcterms:created xsi:type="dcterms:W3CDTF">2013-01-27T09:14:16Z</dcterms:created>
  <dcterms:modified xsi:type="dcterms:W3CDTF">2026-09-03T04:16:27Z</dcterms:modified>
  <cp:category/>
</cp:coreProperties>
</file>