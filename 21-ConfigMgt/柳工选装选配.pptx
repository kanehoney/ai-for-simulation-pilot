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tiff" ContentType="image/tiff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95"/>
  </p:notesMasterIdLst>
  <p:handoutMasterIdLst>
    <p:handoutMasterId r:id="rId96"/>
  </p:handoutMasterIdLst>
  <p:sldIdLst>
    <p:sldId id="474" r:id="rId2"/>
    <p:sldId id="481" r:id="rId3"/>
    <p:sldId id="478" r:id="rId4"/>
    <p:sldId id="483" r:id="rId5"/>
    <p:sldId id="522" r:id="rId6"/>
    <p:sldId id="521" r:id="rId7"/>
    <p:sldId id="479" r:id="rId8"/>
    <p:sldId id="527" r:id="rId9"/>
    <p:sldId id="529" r:id="rId10"/>
    <p:sldId id="530" r:id="rId11"/>
    <p:sldId id="532" r:id="rId12"/>
    <p:sldId id="531" r:id="rId13"/>
    <p:sldId id="542" r:id="rId14"/>
    <p:sldId id="526" r:id="rId15"/>
    <p:sldId id="533" r:id="rId16"/>
    <p:sldId id="528" r:id="rId17"/>
    <p:sldId id="536" r:id="rId18"/>
    <p:sldId id="520" r:id="rId19"/>
    <p:sldId id="534" r:id="rId20"/>
    <p:sldId id="595" r:id="rId21"/>
    <p:sldId id="552" r:id="rId22"/>
    <p:sldId id="596" r:id="rId23"/>
    <p:sldId id="550" r:id="rId24"/>
    <p:sldId id="543" r:id="rId25"/>
    <p:sldId id="554" r:id="rId26"/>
    <p:sldId id="555" r:id="rId27"/>
    <p:sldId id="572" r:id="rId28"/>
    <p:sldId id="573" r:id="rId29"/>
    <p:sldId id="578" r:id="rId30"/>
    <p:sldId id="556" r:id="rId31"/>
    <p:sldId id="559" r:id="rId32"/>
    <p:sldId id="584" r:id="rId33"/>
    <p:sldId id="585" r:id="rId34"/>
    <p:sldId id="586" r:id="rId35"/>
    <p:sldId id="587" r:id="rId36"/>
    <p:sldId id="588" r:id="rId37"/>
    <p:sldId id="589" r:id="rId38"/>
    <p:sldId id="538" r:id="rId39"/>
    <p:sldId id="487" r:id="rId40"/>
    <p:sldId id="535" r:id="rId41"/>
    <p:sldId id="539" r:id="rId42"/>
    <p:sldId id="519" r:id="rId43"/>
    <p:sldId id="544" r:id="rId44"/>
    <p:sldId id="545" r:id="rId45"/>
    <p:sldId id="546" r:id="rId46"/>
    <p:sldId id="560" r:id="rId47"/>
    <p:sldId id="575" r:id="rId48"/>
    <p:sldId id="576" r:id="rId49"/>
    <p:sldId id="574" r:id="rId50"/>
    <p:sldId id="561" r:id="rId51"/>
    <p:sldId id="562" r:id="rId52"/>
    <p:sldId id="563" r:id="rId53"/>
    <p:sldId id="580" r:id="rId54"/>
    <p:sldId id="581" r:id="rId55"/>
    <p:sldId id="579" r:id="rId56"/>
    <p:sldId id="582" r:id="rId57"/>
    <p:sldId id="564" r:id="rId58"/>
    <p:sldId id="565" r:id="rId59"/>
    <p:sldId id="549" r:id="rId60"/>
    <p:sldId id="567" r:id="rId61"/>
    <p:sldId id="568" r:id="rId62"/>
    <p:sldId id="569" r:id="rId63"/>
    <p:sldId id="571" r:id="rId64"/>
    <p:sldId id="583" r:id="rId65"/>
    <p:sldId id="590" r:id="rId66"/>
    <p:sldId id="592" r:id="rId67"/>
    <p:sldId id="591" r:id="rId68"/>
    <p:sldId id="593" r:id="rId69"/>
    <p:sldId id="594" r:id="rId70"/>
    <p:sldId id="597" r:id="rId71"/>
    <p:sldId id="598" r:id="rId72"/>
    <p:sldId id="600" r:id="rId73"/>
    <p:sldId id="616" r:id="rId74"/>
    <p:sldId id="603" r:id="rId75"/>
    <p:sldId id="617" r:id="rId76"/>
    <p:sldId id="619" r:id="rId77"/>
    <p:sldId id="620" r:id="rId78"/>
    <p:sldId id="621" r:id="rId79"/>
    <p:sldId id="622" r:id="rId80"/>
    <p:sldId id="623" r:id="rId81"/>
    <p:sldId id="602" r:id="rId82"/>
    <p:sldId id="601" r:id="rId83"/>
    <p:sldId id="604" r:id="rId84"/>
    <p:sldId id="605" r:id="rId85"/>
    <p:sldId id="606" r:id="rId86"/>
    <p:sldId id="607" r:id="rId87"/>
    <p:sldId id="611" r:id="rId88"/>
    <p:sldId id="613" r:id="rId89"/>
    <p:sldId id="612" r:id="rId90"/>
    <p:sldId id="608" r:id="rId91"/>
    <p:sldId id="614" r:id="rId92"/>
    <p:sldId id="609" r:id="rId93"/>
    <p:sldId id="477" r:id="rId9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8E1E"/>
    <a:srgbClr val="8EE4D0"/>
    <a:srgbClr val="8FE2AF"/>
    <a:srgbClr val="4C4D4F"/>
    <a:srgbClr val="FFC637"/>
    <a:srgbClr val="FFCE55"/>
    <a:srgbClr val="EBB700"/>
    <a:srgbClr val="E98300"/>
    <a:srgbClr val="6FAEAB"/>
    <a:srgbClr val="CABE9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3529" autoAdjust="0"/>
    <p:restoredTop sz="98168" autoAdjust="0"/>
  </p:normalViewPr>
  <p:slideViewPr>
    <p:cSldViewPr snapToGrid="0">
      <p:cViewPr varScale="1">
        <p:scale>
          <a:sx n="85" d="100"/>
          <a:sy n="85" d="100"/>
        </p:scale>
        <p:origin x="-1229" y="-86"/>
      </p:cViewPr>
      <p:guideLst>
        <p:guide orient="horz" pos="2160"/>
        <p:guide orient="horz" pos="4282"/>
        <p:guide orient="horz" pos="4148"/>
        <p:guide orient="horz" pos="68"/>
        <p:guide orient="horz" pos="4041"/>
        <p:guide orient="horz" pos="655"/>
        <p:guide pos="400"/>
        <p:guide pos="561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-3606" y="-96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474" cy="479399"/>
          </a:xfrm>
          <a:prstGeom prst="rect">
            <a:avLst/>
          </a:prstGeom>
        </p:spPr>
        <p:txBody>
          <a:bodyPr vert="horz" lIns="95674" tIns="47837" rIns="95674" bIns="47837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4055" y="0"/>
            <a:ext cx="3169474" cy="479399"/>
          </a:xfrm>
          <a:prstGeom prst="rect">
            <a:avLst/>
          </a:prstGeom>
        </p:spPr>
        <p:txBody>
          <a:bodyPr vert="horz" lIns="95674" tIns="47837" rIns="95674" bIns="47837" rtlCol="0"/>
          <a:lstStyle>
            <a:lvl1pPr algn="r">
              <a:defRPr sz="1300"/>
            </a:lvl1pPr>
          </a:lstStyle>
          <a:p>
            <a:fld id="{06C181CF-A042-4832-BDD5-38EDC3E6E011}" type="datetimeFigureOut">
              <a:rPr lang="en-US" smtClean="0"/>
              <a:pPr/>
              <a:t>10/25/2013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49"/>
            <a:ext cx="3169474" cy="479399"/>
          </a:xfrm>
          <a:prstGeom prst="rect">
            <a:avLst/>
          </a:prstGeom>
        </p:spPr>
        <p:txBody>
          <a:bodyPr vert="horz" lIns="95674" tIns="47837" rIns="95674" bIns="47837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4055" y="9120149"/>
            <a:ext cx="3169474" cy="479399"/>
          </a:xfrm>
          <a:prstGeom prst="rect">
            <a:avLst/>
          </a:prstGeom>
        </p:spPr>
        <p:txBody>
          <a:bodyPr vert="horz" lIns="95674" tIns="47837" rIns="95674" bIns="47837" rtlCol="0" anchor="b"/>
          <a:lstStyle>
            <a:lvl1pPr algn="r">
              <a:defRPr sz="1300"/>
            </a:lvl1pPr>
          </a:lstStyle>
          <a:p>
            <a:fld id="{0E045E17-82EF-4621-8E74-4DB5DB1C85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991009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699" cy="480060"/>
          </a:xfrm>
          <a:prstGeom prst="rect">
            <a:avLst/>
          </a:prstGeom>
        </p:spPr>
        <p:txBody>
          <a:bodyPr vert="horz" lIns="95071" tIns="47536" rIns="95071" bIns="4753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843" y="0"/>
            <a:ext cx="3169699" cy="480060"/>
          </a:xfrm>
          <a:prstGeom prst="rect">
            <a:avLst/>
          </a:prstGeom>
        </p:spPr>
        <p:txBody>
          <a:bodyPr vert="horz" lIns="95071" tIns="47536" rIns="95071" bIns="47536" rtlCol="0"/>
          <a:lstStyle>
            <a:lvl1pPr algn="r">
              <a:defRPr sz="1300"/>
            </a:lvl1pPr>
          </a:lstStyle>
          <a:p>
            <a:fld id="{5B3CCA9C-E570-492E-B787-71E9E4B3DD38}" type="datetimeFigureOut">
              <a:rPr lang="en-US" smtClean="0"/>
              <a:pPr/>
              <a:t>10/25/2013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1" tIns="47536" rIns="95071" bIns="4753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53" y="4560570"/>
            <a:ext cx="5851497" cy="4320540"/>
          </a:xfrm>
          <a:prstGeom prst="rect">
            <a:avLst/>
          </a:prstGeom>
        </p:spPr>
        <p:txBody>
          <a:bodyPr vert="horz" lIns="95071" tIns="47536" rIns="95071" bIns="4753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497"/>
            <a:ext cx="3169699" cy="480060"/>
          </a:xfrm>
          <a:prstGeom prst="rect">
            <a:avLst/>
          </a:prstGeom>
        </p:spPr>
        <p:txBody>
          <a:bodyPr vert="horz" lIns="95071" tIns="47536" rIns="95071" bIns="4753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843" y="9119497"/>
            <a:ext cx="3169699" cy="480060"/>
          </a:xfrm>
          <a:prstGeom prst="rect">
            <a:avLst/>
          </a:prstGeom>
        </p:spPr>
        <p:txBody>
          <a:bodyPr vert="horz" lIns="95071" tIns="47536" rIns="95071" bIns="47536" rtlCol="0" anchor="b"/>
          <a:lstStyle>
            <a:lvl1pPr algn="r">
              <a:defRPr sz="1300"/>
            </a:lvl1pPr>
          </a:lstStyle>
          <a:p>
            <a:fld id="{0764BD10-A002-4C14-8765-7063E5386E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12592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58372" name="页眉占位符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www.ptc.com</a:t>
            </a:r>
          </a:p>
        </p:txBody>
      </p:sp>
      <p:sp>
        <p:nvSpPr>
          <p:cNvPr id="58373" name="日期占位符 4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C30C7B0-63C1-4469-96F8-21B1B8352B34}" type="datetime5">
              <a:rPr lang="zh-CN" altLang="en-US" smtClean="0"/>
              <a:pPr/>
              <a:t>2013/10/25</a:t>
            </a:fld>
            <a:endParaRPr lang="en-US" altLang="zh-CN" smtClean="0"/>
          </a:p>
        </p:txBody>
      </p:sp>
      <p:sp>
        <p:nvSpPr>
          <p:cNvPr id="58374" name="页脚占位符 5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© Copyright 2002 Parametric Technology Corporation</a:t>
            </a:r>
            <a:endParaRPr lang="en-US" altLang="zh-CN" smtClean="0"/>
          </a:p>
        </p:txBody>
      </p:sp>
      <p:sp>
        <p:nvSpPr>
          <p:cNvPr id="58375" name="灯片编号占位符 6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965108-CD87-43A6-AA34-A8F96BF6EFBF}" type="slidenum">
              <a:rPr lang="zh-CN" altLang="en-US" smtClean="0"/>
              <a:pPr/>
              <a:t>35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5" name="Picture 4" descr="Industrial.jp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7" name="Picture 6" descr="PTC Brand for Cover.pn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448396" y="292744"/>
              <a:ext cx="8247207" cy="761937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3504" y="1976887"/>
            <a:ext cx="6296230" cy="430887"/>
          </a:xfrm>
        </p:spPr>
        <p:txBody>
          <a:bodyPr wrap="square" anchor="t" anchorCtr="0">
            <a:sp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Add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51144" y="5925312"/>
            <a:ext cx="3741308" cy="492443"/>
          </a:xfrm>
        </p:spPr>
        <p:txBody>
          <a:bodyPr wrap="square">
            <a:sp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Presenter’s Name</a:t>
            </a:r>
            <a:br>
              <a:rPr lang="en-US" dirty="0" smtClean="0"/>
            </a:br>
            <a:r>
              <a:rPr lang="en-US" dirty="0" smtClean="0"/>
              <a:t>Date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5356_CorpPPT_sectionbrea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 bwMode="auto">
          <a:xfrm flipV="1">
            <a:off x="0" y="6675863"/>
            <a:ext cx="9144000" cy="18213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49000">
                <a:schemeClr val="bg1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24" name="Rectangle 6"/>
          <p:cNvSpPr txBox="1">
            <a:spLocks noChangeArrowheads="1"/>
          </p:cNvSpPr>
          <p:nvPr userDrawn="1"/>
        </p:nvSpPr>
        <p:spPr bwMode="auto">
          <a:xfrm>
            <a:off x="8479608" y="6711449"/>
            <a:ext cx="444500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7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874BA-B114-4D1F-A449-70AD1C45E88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MS PGothic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MS PGothic" pitchFamily="34" charset="-128"/>
              <a:cs typeface="+mn-cs"/>
            </a:endParaRPr>
          </a:p>
        </p:txBody>
      </p:sp>
      <p:sp>
        <p:nvSpPr>
          <p:cNvPr id="25" name="Rectangle 5"/>
          <p:cNvSpPr txBox="1">
            <a:spLocks noChangeArrowheads="1"/>
          </p:cNvSpPr>
          <p:nvPr userDrawn="1"/>
        </p:nvSpPr>
        <p:spPr bwMode="auto">
          <a:xfrm>
            <a:off x="231775" y="6711449"/>
            <a:ext cx="1801368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MS PGothic" pitchFamily="34" charset="-128"/>
                <a:cs typeface="+mn-cs"/>
              </a:rPr>
              <a:t>INDUSTRIAL</a:t>
            </a:r>
          </a:p>
        </p:txBody>
      </p:sp>
      <p:sp>
        <p:nvSpPr>
          <p:cNvPr id="12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440814" y="4257052"/>
            <a:ext cx="8255129" cy="33832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41324" y="3064727"/>
            <a:ext cx="8255129" cy="457200"/>
          </a:xfrm>
        </p:spPr>
        <p:txBody>
          <a:bodyPr/>
          <a:lstStyle>
            <a:lvl1pPr algn="l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7871257" y="1167799"/>
            <a:ext cx="1017949" cy="5216712"/>
            <a:chOff x="7871257" y="1167799"/>
            <a:chExt cx="1017949" cy="5216712"/>
          </a:xfrm>
        </p:grpSpPr>
        <p:pic>
          <p:nvPicPr>
            <p:cNvPr id="10" name="Picture 9" descr="Tractor.pn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7871257" y="2559260"/>
              <a:ext cx="1017948" cy="1042330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 w="12700">
              <a:solidFill>
                <a:schemeClr val="accent6"/>
              </a:solidFill>
            </a:ln>
            <a:effectLst/>
          </p:spPr>
        </p:pic>
        <p:pic>
          <p:nvPicPr>
            <p:cNvPr id="11" name="Picture 10" descr="Industrial plant.pn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7871257" y="1167799"/>
              <a:ext cx="1017948" cy="1042330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 w="12700">
              <a:solidFill>
                <a:schemeClr val="accent6"/>
              </a:solidFill>
            </a:ln>
            <a:effectLst/>
          </p:spPr>
        </p:pic>
        <p:pic>
          <p:nvPicPr>
            <p:cNvPr id="12" name="Picture 11" descr="Loading dock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7871258" y="3950721"/>
              <a:ext cx="1017948" cy="1042330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 w="12700">
              <a:solidFill>
                <a:schemeClr val="accent6"/>
              </a:solidFill>
            </a:ln>
            <a:effectLst/>
          </p:spPr>
        </p:pic>
        <p:pic>
          <p:nvPicPr>
            <p:cNvPr id="13" name="Picture 12" descr="Machine.pn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7871257" y="5342181"/>
              <a:ext cx="1017948" cy="1042330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 w="12700">
              <a:solidFill>
                <a:schemeClr val="accent6"/>
              </a:solidFill>
            </a:ln>
            <a:effectLst/>
          </p:spPr>
        </p:pic>
      </p:grp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16100" y="192088"/>
            <a:ext cx="7612056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16100" y="896112"/>
            <a:ext cx="7095744" cy="338806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216100" y="1380744"/>
            <a:ext cx="7098988" cy="5029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6" y="1380744"/>
            <a:ext cx="8699737" cy="5029200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1922" y="1380744"/>
            <a:ext cx="4176132" cy="5029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0856" y="1380744"/>
            <a:ext cx="4176132" cy="5029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1922" y="1380744"/>
            <a:ext cx="2748477" cy="5029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5"/>
          </p:nvPr>
        </p:nvSpPr>
        <p:spPr>
          <a:xfrm>
            <a:off x="3181000" y="1380744"/>
            <a:ext cx="2752344" cy="5029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6"/>
          </p:nvPr>
        </p:nvSpPr>
        <p:spPr>
          <a:xfrm>
            <a:off x="6148120" y="1380744"/>
            <a:ext cx="2752344" cy="5029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8" name="Subtitle 2"/>
          <p:cNvSpPr>
            <a:spLocks noGrp="1" noChangeAspect="1"/>
          </p:cNvSpPr>
          <p:nvPr>
            <p:ph type="subTitle" idx="17"/>
          </p:nvPr>
        </p:nvSpPr>
        <p:spPr>
          <a:xfrm>
            <a:off x="215590" y="896112"/>
            <a:ext cx="8695944" cy="33832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219456" y="1380744"/>
            <a:ext cx="4071938" cy="237744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6"/>
          </p:nvPr>
        </p:nvSpPr>
        <p:spPr>
          <a:xfrm>
            <a:off x="4845050" y="1380744"/>
            <a:ext cx="4071938" cy="237744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quarter" idx="19"/>
          </p:nvPr>
        </p:nvSpPr>
        <p:spPr>
          <a:xfrm>
            <a:off x="219456" y="4041648"/>
            <a:ext cx="4071938" cy="237744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9" name="Content Placeholder 11"/>
          <p:cNvSpPr>
            <a:spLocks noGrp="1"/>
          </p:cNvSpPr>
          <p:nvPr>
            <p:ph sz="quarter" idx="20"/>
          </p:nvPr>
        </p:nvSpPr>
        <p:spPr>
          <a:xfrm>
            <a:off x="4845050" y="4041648"/>
            <a:ext cx="4071938" cy="237744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1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ver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219456" y="1380744"/>
            <a:ext cx="8697532" cy="237744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6" name="Content Placeholder 11"/>
          <p:cNvSpPr>
            <a:spLocks noGrp="1"/>
          </p:cNvSpPr>
          <p:nvPr>
            <p:ph sz="quarter" idx="19"/>
          </p:nvPr>
        </p:nvSpPr>
        <p:spPr>
          <a:xfrm>
            <a:off x="219456" y="4041648"/>
            <a:ext cx="8697532" cy="237744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third/Two-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0900" y="1380744"/>
            <a:ext cx="5526088" cy="5029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19250" y="1380744"/>
            <a:ext cx="2771600" cy="5029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6"/>
          </p:nvPr>
        </p:nvSpPr>
        <p:spPr>
          <a:xfrm>
            <a:off x="215590" y="896112"/>
            <a:ext cx="8695944" cy="338328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356_CorpPPT_Thank YOu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2009 PTC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41313" y="6735763"/>
            <a:ext cx="444500" cy="10636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96544-CACB-41CE-9DA6-0068FE7BF1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458006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5356_CorpPPT_inside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77" y="0"/>
            <a:ext cx="9143245" cy="82898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 bwMode="auto">
          <a:xfrm flipV="1">
            <a:off x="0" y="6675863"/>
            <a:ext cx="9144000" cy="18213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49000">
                <a:schemeClr val="bg1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6100" y="192088"/>
            <a:ext cx="7612056" cy="4572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" y="1380744"/>
            <a:ext cx="8613648" cy="5029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8479608" y="6711449"/>
            <a:ext cx="444500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7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874BA-B114-4D1F-A449-70AD1C45E88A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MS PGothic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MS PGothic" pitchFamily="34" charset="-128"/>
              <a:cs typeface="+mn-cs"/>
            </a:endParaRPr>
          </a:p>
        </p:txBody>
      </p:sp>
      <p:sp>
        <p:nvSpPr>
          <p:cNvPr id="11" name="Rectangle 5"/>
          <p:cNvSpPr txBox="1">
            <a:spLocks noChangeArrowheads="1"/>
          </p:cNvSpPr>
          <p:nvPr/>
        </p:nvSpPr>
        <p:spPr bwMode="auto">
          <a:xfrm>
            <a:off x="231774" y="6711449"/>
            <a:ext cx="1805181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MS PGothic" pitchFamily="34" charset="-128"/>
                <a:cs typeface="+mn-cs"/>
              </a:rPr>
              <a:t>INDUSTRIAL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MS PGothic" pitchFamily="34" charset="-128"/>
              <a:cs typeface="+mn-cs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6681419"/>
            <a:ext cx="9144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2576" y="671169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7" r:id="rId3"/>
    <p:sldLayoutId id="2147483654" r:id="rId4"/>
    <p:sldLayoutId id="2147483650" r:id="rId5"/>
    <p:sldLayoutId id="2147483652" r:id="rId6"/>
    <p:sldLayoutId id="2147483653" r:id="rId7"/>
    <p:sldLayoutId id="2147483657" r:id="rId8"/>
    <p:sldLayoutId id="2147483658" r:id="rId9"/>
    <p:sldLayoutId id="2147483656" r:id="rId10"/>
    <p:sldLayoutId id="2147483655" r:id="rId11"/>
    <p:sldLayoutId id="2147483668" r:id="rId12"/>
    <p:sldLayoutId id="2147483669" r:id="rId13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914400" rtl="0" eaLnBrk="1" latinLnBrk="0" hangingPunct="1">
        <a:spcBef>
          <a:spcPts val="1800"/>
        </a:spcBef>
        <a:buClr>
          <a:schemeClr val="accent1"/>
        </a:buClr>
        <a:buFont typeface="Wingdings" pitchFamily="2" charset="2"/>
        <a:buChar char="§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4213" indent="-228600" algn="l" defTabSz="914400" rtl="0" eaLnBrk="1" latinLnBrk="0" hangingPunct="1">
        <a:spcBef>
          <a:spcPts val="0"/>
        </a:spcBef>
        <a:spcAft>
          <a:spcPts val="200"/>
        </a:spcAft>
        <a:buFont typeface="Arial" pitchFamily="34" charset="0"/>
        <a:buChar char="–"/>
        <a:defRPr sz="1800" kern="1200">
          <a:solidFill>
            <a:srgbClr val="4C4D4F"/>
          </a:solidFill>
          <a:latin typeface="Arial Narrow" pitchFamily="34" charset="0"/>
          <a:ea typeface="+mn-ea"/>
          <a:cs typeface="+mn-cs"/>
        </a:defRPr>
      </a:lvl2pPr>
      <a:lvl3pPr marL="1143000" indent="-228600" algn="l" defTabSz="1085850" rtl="0" eaLnBrk="1" latinLnBrk="0" hangingPunct="1">
        <a:spcBef>
          <a:spcPts val="0"/>
        </a:spcBef>
        <a:spcAft>
          <a:spcPts val="200"/>
        </a:spcAft>
        <a:buFont typeface="Arial" pitchFamily="34" charset="0"/>
        <a:buChar char="•"/>
        <a:defRPr sz="1600" kern="1200">
          <a:solidFill>
            <a:srgbClr val="4C4D4F"/>
          </a:solidFill>
          <a:latin typeface="Arial Narrow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4C4D4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4C4D4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0.png"/><Relationship Id="rId7" Type="http://schemas.openxmlformats.org/officeDocument/2006/relationships/image" Target="../media/image3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71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16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74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16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5.tiff"/><Relationship Id="rId4" Type="http://schemas.openxmlformats.org/officeDocument/2006/relationships/image" Target="../media/image16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6.jpeg"/><Relationship Id="rId4" Type="http://schemas.openxmlformats.org/officeDocument/2006/relationships/image" Target="../media/image16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7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柳工选装</a:t>
            </a:r>
            <a:r>
              <a:rPr lang="zh-CN" altLang="en-US" dirty="0"/>
              <a:t>管理</a:t>
            </a:r>
            <a:r>
              <a:rPr lang="zh-CN" altLang="en-US" dirty="0" smtClean="0"/>
              <a:t>业务描述方案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951144" y="5925312"/>
            <a:ext cx="3741308" cy="492443"/>
          </a:xfrm>
        </p:spPr>
        <p:txBody>
          <a:bodyPr/>
          <a:lstStyle/>
          <a:p>
            <a:r>
              <a:rPr lang="zh-CN" altLang="en-US" dirty="0" smtClean="0"/>
              <a:t>许少宁</a:t>
            </a:r>
            <a:endParaRPr lang="en-US" altLang="zh-CN" dirty="0" smtClean="0"/>
          </a:p>
          <a:p>
            <a:r>
              <a:rPr lang="en-US" dirty="0" smtClean="0"/>
              <a:t>2011</a:t>
            </a:r>
            <a:r>
              <a:rPr lang="en-US" altLang="zh-CN" dirty="0" smtClean="0"/>
              <a:t>-07-11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柳工选装选配业务描述方案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zh-CN" altLang="en-US" dirty="0" smtClean="0"/>
              <a:t>修改历史记录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graphicFrame>
        <p:nvGraphicFramePr>
          <p:cNvPr id="7" name="Group 144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9085511"/>
              </p:ext>
            </p:extLst>
          </p:nvPr>
        </p:nvGraphicFramePr>
        <p:xfrm>
          <a:off x="452438" y="1547813"/>
          <a:ext cx="8262967" cy="3085651"/>
        </p:xfrm>
        <a:graphic>
          <a:graphicData uri="http://schemas.openxmlformats.org/drawingml/2006/table">
            <a:tbl>
              <a:tblPr/>
              <a:tblGrid>
                <a:gridCol w="769645"/>
                <a:gridCol w="1045580"/>
                <a:gridCol w="3090155"/>
                <a:gridCol w="3357587"/>
              </a:tblGrid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宋体" pitchFamily="2" charset="-122"/>
                        </a:rPr>
                        <a:t>版本 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宋体" pitchFamily="2" charset="-122"/>
                        </a:rPr>
                        <a:t>交付日期 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宋体" pitchFamily="2" charset="-122"/>
                        </a:rPr>
                        <a:t>描述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宋体" pitchFamily="2" charset="-122"/>
                        </a:rPr>
                        <a:t>更改依据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98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63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75000"/>
                        </a:spcBef>
                        <a:spcAft>
                          <a:spcPct val="4000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58" name="标题 5"/>
          <p:cNvSpPr>
            <a:spLocks noGrp="1"/>
          </p:cNvSpPr>
          <p:nvPr>
            <p:ph type="title"/>
          </p:nvPr>
        </p:nvSpPr>
        <p:spPr>
          <a:xfrm>
            <a:off x="216100" y="192088"/>
            <a:ext cx="7612056" cy="457200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柳工选装选配业务描述方案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9" name="副标题 6"/>
          <p:cNvSpPr>
            <a:spLocks noGrp="1"/>
          </p:cNvSpPr>
          <p:nvPr>
            <p:ph type="subTitle" idx="15"/>
          </p:nvPr>
        </p:nvSpPr>
        <p:spPr>
          <a:xfrm>
            <a:off x="216100" y="896112"/>
            <a:ext cx="7095744" cy="338806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目录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0" name="AutoShape 3"/>
          <p:cNvSpPr>
            <a:spLocks noChangeArrowheads="1"/>
          </p:cNvSpPr>
          <p:nvPr/>
        </p:nvSpPr>
        <p:spPr bwMode="auto">
          <a:xfrm>
            <a:off x="1312754" y="1815962"/>
            <a:ext cx="5034258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1635017" y="1776275"/>
            <a:ext cx="4935537" cy="466725"/>
          </a:xfrm>
          <a:prstGeom prst="roundRect">
            <a:avLst>
              <a:gd name="adj" fmla="val 16667"/>
            </a:avLst>
          </a:prstGeom>
          <a:noFill/>
          <a:ln w="38100">
            <a:noFill/>
            <a:round/>
            <a:headEnd/>
            <a:tailEnd/>
          </a:ln>
        </p:spPr>
        <p:txBody>
          <a:bodyPr wrap="none" anchor="ctr"/>
          <a:lstStyle/>
          <a:p>
            <a:pPr latinLnBrk="1"/>
            <a:r>
              <a:rPr kumimoji="1" lang="zh-CN" altLang="en-US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文档说明</a:t>
            </a:r>
            <a:endParaRPr kumimoji="1" lang="en-US" altLang="ko-KR" sz="2400" dirty="0">
              <a:solidFill>
                <a:schemeClr val="bg1"/>
              </a:solidFill>
              <a:latin typeface="Verdana" pitchFamily="34" charset="0"/>
              <a:ea typeface="굴림" pitchFamily="34" charset="-127"/>
            </a:endParaRP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344245" y="1484922"/>
            <a:ext cx="1275590" cy="3538899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571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atinLnBrk="1">
              <a:defRPr/>
            </a:pPr>
            <a:r>
              <a:rPr kumimoji="1" lang="en-US" altLang="ko-KR" sz="9600" b="1" dirty="0">
                <a:solidFill>
                  <a:srgbClr val="FFFFFF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1</a:t>
            </a:r>
          </a:p>
        </p:txBody>
      </p:sp>
      <p:sp>
        <p:nvSpPr>
          <p:cNvPr id="63" name="AutoShape 3"/>
          <p:cNvSpPr>
            <a:spLocks noChangeArrowheads="1"/>
          </p:cNvSpPr>
          <p:nvPr/>
        </p:nvSpPr>
        <p:spPr bwMode="auto">
          <a:xfrm>
            <a:off x="2312891" y="2569003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关于本方案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65" name="AutoShape 3"/>
          <p:cNvSpPr>
            <a:spLocks noChangeArrowheads="1"/>
          </p:cNvSpPr>
          <p:nvPr/>
        </p:nvSpPr>
        <p:spPr bwMode="auto">
          <a:xfrm>
            <a:off x="2334406" y="3063855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实施目标与范围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66" name="AutoShape 3"/>
          <p:cNvSpPr>
            <a:spLocks noChangeArrowheads="1"/>
          </p:cNvSpPr>
          <p:nvPr/>
        </p:nvSpPr>
        <p:spPr bwMode="auto">
          <a:xfrm>
            <a:off x="2345164" y="3569464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参考资料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13" name="Line 3"/>
          <p:cNvSpPr>
            <a:spLocks noChangeShapeType="1"/>
          </p:cNvSpPr>
          <p:nvPr/>
        </p:nvSpPr>
        <p:spPr bwMode="auto">
          <a:xfrm flipV="1">
            <a:off x="1826707" y="2269863"/>
            <a:ext cx="6607288" cy="387"/>
          </a:xfrm>
          <a:prstGeom prst="line">
            <a:avLst/>
          </a:prstGeom>
          <a:noFill/>
          <a:ln w="50800" cmpd="thickThin">
            <a:solidFill>
              <a:schemeClr val="accent6">
                <a:lumMod val="50000"/>
              </a:schemeClr>
            </a:solidFill>
            <a:round/>
            <a:headEnd/>
            <a:tailEnd/>
          </a:ln>
        </p:spPr>
        <p:txBody>
          <a:bodyPr wrap="square" lIns="91407" tIns="45704" rIns="91407" bIns="45704" anchor="ctr">
            <a:spAutoFit/>
          </a:bodyPr>
          <a:lstStyle/>
          <a:p>
            <a:endParaRPr lang="zh-CN" altLang="en-US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文档说明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196134" y="1256035"/>
            <a:ext cx="8695944" cy="338328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ct val="40000"/>
              </a:spcAft>
              <a:buSzPct val="80000"/>
              <a:tabLst>
                <a:tab pos="357188" algn="l"/>
              </a:tabLst>
            </a:pPr>
            <a:r>
              <a:rPr lang="zh-CN" altLang="en-US" dirty="0"/>
              <a:t>关于本</a:t>
            </a:r>
            <a:r>
              <a:rPr lang="zh-CN" altLang="en-US" dirty="0" smtClean="0"/>
              <a:t>方案</a:t>
            </a:r>
            <a:r>
              <a:rPr lang="zh-CN" altLang="zh-CN" dirty="0" smtClean="0"/>
              <a:t>：</a:t>
            </a:r>
            <a:endParaRPr lang="zh-CN" altLang="zh-CN" dirty="0"/>
          </a:p>
          <a:p>
            <a:pPr marL="452438" indent="-452438">
              <a:spcBef>
                <a:spcPts val="1200"/>
              </a:spcBef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本文档是在前期与业务部门业务访谈、需求分析并结合现有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PLM</a:t>
            </a:r>
            <a:r>
              <a:rPr lang="zh-CN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系统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现状分析的基础上，以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PTC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的项目实施方法论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“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价值实现平台（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Realized Value Platform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）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”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为基础，依据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PTC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行业最佳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实践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Best Practice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）与实施经验，形成的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选装管理总体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解决方案，供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柳工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PLM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系统项目组成员评审和确定。</a:t>
            </a:r>
          </a:p>
          <a:p>
            <a:pPr marL="452438" indent="-452438">
              <a:spcBef>
                <a:spcPts val="1200"/>
              </a:spcBef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本文档描述的业务解决方案，将作为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柳工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PLM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系统项目的详细设计与系统升级的重要输入和指导文档。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en-US" altLang="zh-CN" sz="18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本文档中出现的所有用户界面仅作为功能示意，旨在比较形象和直观地让用户对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未来的系统功能进一步的了解，并不代表系统实施后的实际页面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。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文档说明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196134" y="1256035"/>
            <a:ext cx="8695944" cy="338328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ct val="40000"/>
              </a:spcAft>
              <a:buSzPct val="80000"/>
              <a:tabLst>
                <a:tab pos="357188" algn="l"/>
              </a:tabLst>
            </a:pPr>
            <a:r>
              <a:rPr lang="zh-CN" altLang="zh-CN" dirty="0"/>
              <a:t>本次项目实施目标如下：</a:t>
            </a:r>
          </a:p>
          <a:p>
            <a:pPr marL="452438" indent="-452438">
              <a:lnSpc>
                <a:spcPct val="8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基于柳工平台研制策略，构建通用产品结构，将产品功能与物理零部件进行分离，通过选装规则实现多种配置逻辑关系的产品结构管理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模式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。</a:t>
            </a:r>
            <a:endParaRPr lang="zh-CN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8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以柳工产品模块化设计为基础，帮助柳工规划未来产品结构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，用于管理和组织设计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、制造</a:t>
            </a:r>
            <a:r>
              <a:rPr lang="zh-CN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数据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。</a:t>
            </a:r>
            <a:endParaRPr lang="zh-CN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lvl="0" indent="-452438">
              <a:lnSpc>
                <a:spcPct val="8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能够基于选装的结果，进行产品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CAD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三维可视化数据的动态组装，满足设计评审和协调的需要。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8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实现设计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EBOM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）到制造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MBOM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）转换过程中，已定义选装规则（选项、选项约束关系）的</a:t>
            </a:r>
            <a:r>
              <a:rPr lang="zh-CN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传递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，</a:t>
            </a:r>
            <a:r>
              <a:rPr lang="zh-CN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以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用于后续从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MBOM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发布到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SAP</a:t>
            </a:r>
            <a:r>
              <a:rPr lang="zh-CN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系统。</a:t>
            </a:r>
          </a:p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697536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文档说明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196134" y="1256035"/>
            <a:ext cx="8695944" cy="338328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ct val="40000"/>
              </a:spcAft>
              <a:buSzPct val="80000"/>
              <a:tabLst>
                <a:tab pos="357188" algn="l"/>
              </a:tabLst>
            </a:pPr>
            <a:r>
              <a:rPr lang="zh-CN" altLang="en-US" dirty="0" smtClean="0"/>
              <a:t>参考资料</a:t>
            </a:r>
            <a:endParaRPr lang="zh-CN" altLang="zh-CN" dirty="0"/>
          </a:p>
          <a:p>
            <a:pPr marL="452438" indent="-452438">
              <a:lnSpc>
                <a:spcPct val="8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《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广西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柳工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PLM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系统二期实施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项目工作说明书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》</a:t>
            </a:r>
          </a:p>
          <a:p>
            <a:pPr marL="452438" indent="-452438">
              <a:lnSpc>
                <a:spcPct val="8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《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柳工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PLM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选装管理访谈会议纪要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》</a:t>
            </a:r>
          </a:p>
          <a:p>
            <a:pPr marL="452438" indent="-452438">
              <a:lnSpc>
                <a:spcPct val="8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《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柳工物料编码方案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》V4.1</a:t>
            </a:r>
          </a:p>
          <a:p>
            <a:pPr marL="452438" indent="-452438">
              <a:lnSpc>
                <a:spcPct val="8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n"/>
              <a:tabLst>
                <a:tab pos="357188" algn="l"/>
              </a:tabLst>
            </a:pPr>
            <a:endParaRPr lang="zh-CN" altLang="zh-CN" sz="1800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809844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58" name="标题 5"/>
          <p:cNvSpPr>
            <a:spLocks noGrp="1"/>
          </p:cNvSpPr>
          <p:nvPr>
            <p:ph type="title"/>
          </p:nvPr>
        </p:nvSpPr>
        <p:spPr>
          <a:xfrm>
            <a:off x="216100" y="192088"/>
            <a:ext cx="7612056" cy="457200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柳工选装选配业务描述方案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9" name="副标题 6"/>
          <p:cNvSpPr>
            <a:spLocks noGrp="1"/>
          </p:cNvSpPr>
          <p:nvPr>
            <p:ph type="subTitle" idx="15"/>
          </p:nvPr>
        </p:nvSpPr>
        <p:spPr>
          <a:xfrm>
            <a:off x="216100" y="896112"/>
            <a:ext cx="7095744" cy="338806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目录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0" name="AutoShape 3"/>
          <p:cNvSpPr>
            <a:spLocks noChangeArrowheads="1"/>
          </p:cNvSpPr>
          <p:nvPr/>
        </p:nvSpPr>
        <p:spPr bwMode="auto">
          <a:xfrm>
            <a:off x="1312753" y="1815962"/>
            <a:ext cx="7121241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1635017" y="1776275"/>
            <a:ext cx="7032328" cy="466725"/>
          </a:xfrm>
          <a:prstGeom prst="roundRect">
            <a:avLst>
              <a:gd name="adj" fmla="val 16667"/>
            </a:avLst>
          </a:prstGeom>
          <a:noFill/>
          <a:ln w="38100">
            <a:noFill/>
            <a:round/>
            <a:headEnd/>
            <a:tailEnd/>
          </a:ln>
        </p:spPr>
        <p:txBody>
          <a:bodyPr wrap="none" anchor="ctr"/>
          <a:lstStyle/>
          <a:p>
            <a:pPr latinLnBrk="1"/>
            <a:r>
              <a:rPr kumimoji="1" lang="zh-CN" altLang="en-US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业务现状和未来总体解决</a:t>
            </a:r>
            <a:r>
              <a:rPr kumimoji="1" lang="zh-CN" altLang="en-US" sz="2400" dirty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方案</a:t>
            </a:r>
            <a:endParaRPr kumimoji="1" lang="en-US" altLang="ko-KR" sz="2400" dirty="0">
              <a:solidFill>
                <a:schemeClr val="bg1"/>
              </a:solidFill>
              <a:latin typeface="Verdana" pitchFamily="34" charset="0"/>
              <a:ea typeface="굴림" pitchFamily="34" charset="-127"/>
            </a:endParaRP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344245" y="1484922"/>
            <a:ext cx="1275590" cy="3538899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571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atinLnBrk="1">
              <a:defRPr/>
            </a:pPr>
            <a:r>
              <a:rPr kumimoji="1" lang="en-US" altLang="ko-KR" sz="9600" b="1" dirty="0">
                <a:solidFill>
                  <a:srgbClr val="FFFFFF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2</a:t>
            </a:r>
          </a:p>
        </p:txBody>
      </p:sp>
      <p:sp>
        <p:nvSpPr>
          <p:cNvPr id="63" name="AutoShape 3"/>
          <p:cNvSpPr>
            <a:spLocks noChangeArrowheads="1"/>
          </p:cNvSpPr>
          <p:nvPr/>
        </p:nvSpPr>
        <p:spPr bwMode="auto">
          <a:xfrm>
            <a:off x="2312891" y="2569003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业务现状分析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65" name="AutoShape 3"/>
          <p:cNvSpPr>
            <a:spLocks noChangeArrowheads="1"/>
          </p:cNvSpPr>
          <p:nvPr/>
        </p:nvSpPr>
        <p:spPr bwMode="auto">
          <a:xfrm>
            <a:off x="2334406" y="3063855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核心问题和需求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16" name="Line 3"/>
          <p:cNvSpPr>
            <a:spLocks noChangeShapeType="1"/>
          </p:cNvSpPr>
          <p:nvPr/>
        </p:nvSpPr>
        <p:spPr bwMode="auto">
          <a:xfrm flipV="1">
            <a:off x="1826707" y="2269863"/>
            <a:ext cx="6607288" cy="387"/>
          </a:xfrm>
          <a:prstGeom prst="line">
            <a:avLst/>
          </a:prstGeom>
          <a:noFill/>
          <a:ln w="50800" cmpd="thickThin">
            <a:solidFill>
              <a:schemeClr val="accent6">
                <a:lumMod val="50000"/>
              </a:schemeClr>
            </a:solidFill>
            <a:round/>
            <a:headEnd/>
            <a:tailEnd/>
          </a:ln>
        </p:spPr>
        <p:txBody>
          <a:bodyPr wrap="square" lIns="91407" tIns="45704" rIns="91407" bIns="45704" anchor="ctr">
            <a:spAutoFit/>
          </a:bodyPr>
          <a:lstStyle/>
          <a:p>
            <a:endParaRPr lang="zh-CN" altLang="en-US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auto">
          <a:xfrm>
            <a:off x="2344758" y="3535863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未来总体解决方案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选装选配业务现状</a:t>
            </a:r>
          </a:p>
        </p:txBody>
      </p:sp>
      <p:sp>
        <p:nvSpPr>
          <p:cNvPr id="3" name="矩形 2"/>
          <p:cNvSpPr/>
          <p:nvPr/>
        </p:nvSpPr>
        <p:spPr>
          <a:xfrm>
            <a:off x="282102" y="1027312"/>
            <a:ext cx="8589524" cy="537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r>
              <a:rPr lang="zh-CN" altLang="en-US" sz="2200" dirty="0"/>
              <a:t>业务背景</a:t>
            </a:r>
            <a:r>
              <a:rPr lang="zh-CN" altLang="zh-CN" sz="2200" dirty="0" smtClean="0"/>
              <a:t>：</a:t>
            </a:r>
            <a:endParaRPr lang="en-US" altLang="zh-CN" sz="2200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柳工是</a:t>
            </a:r>
            <a:r>
              <a:rPr lang="zh-CN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中国</a:t>
            </a:r>
            <a:r>
              <a:rPr lang="zh-CN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领先的工程机械</a:t>
            </a:r>
            <a:r>
              <a:rPr lang="zh-CN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制造商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，</a:t>
            </a:r>
            <a:r>
              <a:rPr lang="zh-CN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核心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产品</a:t>
            </a:r>
            <a:r>
              <a:rPr lang="zh-CN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为</a:t>
            </a:r>
            <a:r>
              <a:rPr lang="zh-CN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轮式装载机、履带式挖掘机、路面机械、小型工程机械、</a:t>
            </a:r>
            <a:r>
              <a:rPr lang="zh-CN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叉车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，其中装载机和</a:t>
            </a:r>
            <a:r>
              <a:rPr lang="zh-CN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挖掘机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业务几乎占据柳工销售量的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90%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。</a:t>
            </a: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大部分产品以库存式生产，少量的客户特殊订单。对于客户特殊订单，装载机由于改装困难，很少在库存产品上进行拆装，直接再生产，相应的供货周期就会较长；叉车等产品由于改装方便，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则通过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在库存产品上进行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拆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装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来满足客户的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需求。</a:t>
            </a: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由于市场竞争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的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需要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，柳工尽量在满足客户需求的前提下缩短供货周期，所以生产部门为了应对市场需求的变化，在销售预测的基础上增大库存生产量，造成柳工的库存成本压力很大。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264032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选装选配业务现状</a:t>
            </a:r>
          </a:p>
        </p:txBody>
      </p:sp>
      <p:sp>
        <p:nvSpPr>
          <p:cNvPr id="3" name="矩形 2"/>
          <p:cNvSpPr/>
          <p:nvPr/>
        </p:nvSpPr>
        <p:spPr>
          <a:xfrm>
            <a:off x="282102" y="1027312"/>
            <a:ext cx="8589524" cy="6038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r>
              <a:rPr lang="zh-CN" altLang="en-US" sz="2200" dirty="0"/>
              <a:t>产品选配特点</a:t>
            </a:r>
            <a:r>
              <a:rPr lang="zh-CN" altLang="zh-CN" sz="2200" dirty="0" smtClean="0"/>
              <a:t>：</a:t>
            </a:r>
            <a:endParaRPr lang="en-US" altLang="zh-CN" sz="2200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柳工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在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PDM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和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ERP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中，针对每种配置不同的车型都使用不同的整机号，即一机一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。在一机一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的模式下，即使在现有车型上修改一个简单的配置，都需要重新生成一个整机号和整机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，目前装载机整机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已达到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1300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多个。</a:t>
            </a: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柳工使用整机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号来包含有整车的配置信息，并在整机名称中进行相关配置信息的描述：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lvl="0"/>
            <a:r>
              <a:rPr lang="en-US" altLang="zh-CN" sz="1600" dirty="0" smtClean="0">
                <a:latin typeface="+mn-ea"/>
              </a:rPr>
              <a:t>    1) </a:t>
            </a:r>
            <a:r>
              <a:rPr lang="zh-CN" altLang="zh-CN" sz="1600" dirty="0" smtClean="0">
                <a:latin typeface="+mn-ea"/>
              </a:rPr>
              <a:t>整机</a:t>
            </a:r>
            <a:r>
              <a:rPr lang="zh-CN" altLang="zh-CN" sz="1600" dirty="0">
                <a:latin typeface="+mn-ea"/>
              </a:rPr>
              <a:t>编码：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smtClean="0">
                <a:latin typeface="+mn-ea"/>
              </a:rPr>
              <a:t>7</a:t>
            </a:r>
            <a:r>
              <a:rPr lang="zh-CN" altLang="zh-CN" sz="1600" dirty="0">
                <a:latin typeface="+mn-ea"/>
              </a:rPr>
              <a:t>位设计编号 </a:t>
            </a:r>
            <a:r>
              <a:rPr lang="en-US" altLang="zh-CN" sz="1600" dirty="0">
                <a:latin typeface="+mn-ea"/>
              </a:rPr>
              <a:t>+  4</a:t>
            </a:r>
            <a:r>
              <a:rPr lang="zh-CN" altLang="zh-CN" sz="1600" dirty="0">
                <a:latin typeface="+mn-ea"/>
              </a:rPr>
              <a:t>位配置顺序码 </a:t>
            </a:r>
            <a:r>
              <a:rPr lang="en-US" altLang="zh-CN" sz="1600" dirty="0">
                <a:latin typeface="+mn-ea"/>
              </a:rPr>
              <a:t>+  B  +  3</a:t>
            </a:r>
            <a:r>
              <a:rPr lang="zh-CN" altLang="zh-CN" sz="1600" dirty="0">
                <a:latin typeface="+mn-ea"/>
              </a:rPr>
              <a:t>位工作装置顺序码</a:t>
            </a:r>
            <a:r>
              <a:rPr lang="en-US" altLang="zh-CN" sz="1600" dirty="0">
                <a:latin typeface="+mn-ea"/>
              </a:rPr>
              <a:t> </a:t>
            </a:r>
            <a:r>
              <a:rPr lang="zh-CN" altLang="en-US" sz="1600" dirty="0" smtClean="0">
                <a:latin typeface="+mn-ea"/>
              </a:rPr>
              <a:t>（</a:t>
            </a:r>
            <a:r>
              <a:rPr lang="zh-CN" altLang="zh-CN" sz="1600" dirty="0" smtClean="0">
                <a:latin typeface="+mn-ea"/>
              </a:rPr>
              <a:t>总长度</a:t>
            </a:r>
            <a:r>
              <a:rPr lang="en-US" altLang="zh-CN" sz="1600" dirty="0" smtClean="0">
                <a:latin typeface="+mn-ea"/>
              </a:rPr>
              <a:t>15</a:t>
            </a:r>
            <a:r>
              <a:rPr lang="zh-CN" altLang="zh-CN" sz="1600" dirty="0">
                <a:latin typeface="+mn-ea"/>
              </a:rPr>
              <a:t>位</a:t>
            </a:r>
            <a:r>
              <a:rPr lang="zh-CN" altLang="zh-CN" sz="1600" dirty="0" smtClean="0">
                <a:latin typeface="+mn-ea"/>
              </a:rPr>
              <a:t>）</a:t>
            </a:r>
            <a:endParaRPr lang="en-US" altLang="zh-CN" sz="1600" dirty="0" smtClean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smtClean="0">
                <a:latin typeface="+mn-ea"/>
              </a:rPr>
              <a:t>   </a:t>
            </a:r>
          </a:p>
          <a:p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smtClean="0">
                <a:latin typeface="+mn-ea"/>
              </a:rPr>
              <a:t>   </a:t>
            </a:r>
            <a:r>
              <a:rPr lang="en-US" altLang="zh-CN" sz="1600" dirty="0">
                <a:latin typeface="+mn-ea"/>
              </a:rPr>
              <a:t>2) </a:t>
            </a:r>
            <a:r>
              <a:rPr lang="zh-CN" altLang="en-US" sz="1600" dirty="0" smtClean="0">
                <a:latin typeface="+mn-ea"/>
              </a:rPr>
              <a:t>整机</a:t>
            </a:r>
            <a:r>
              <a:rPr lang="zh-CN" altLang="en-US" sz="1600" dirty="0">
                <a:latin typeface="+mn-ea"/>
              </a:rPr>
              <a:t>名称：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b="1" dirty="0" smtClean="0"/>
              <a:t>       </a:t>
            </a:r>
            <a:r>
              <a:rPr lang="zh-CN" altLang="zh-CN" sz="1600" dirty="0">
                <a:latin typeface="+mn-ea"/>
              </a:rPr>
              <a:t>装</a:t>
            </a:r>
            <a:r>
              <a:rPr lang="en-US" altLang="zh-CN" sz="1600" dirty="0">
                <a:latin typeface="+mn-ea"/>
              </a:rPr>
              <a:t>  </a:t>
            </a:r>
            <a:r>
              <a:rPr lang="zh-CN" altLang="zh-CN" sz="1600" dirty="0">
                <a:latin typeface="+mn-ea"/>
              </a:rPr>
              <a:t>——销售机型</a:t>
            </a:r>
            <a:r>
              <a:rPr lang="en-US" altLang="zh-CN" sz="1600" dirty="0">
                <a:latin typeface="+mn-ea"/>
              </a:rPr>
              <a:t>+</a:t>
            </a:r>
            <a:r>
              <a:rPr lang="zh-CN" altLang="zh-CN" sz="1600" dirty="0">
                <a:latin typeface="+mn-ea"/>
              </a:rPr>
              <a:t>产品类</a:t>
            </a:r>
            <a:r>
              <a:rPr lang="en-US" altLang="zh-CN" sz="1600" dirty="0">
                <a:latin typeface="+mn-ea"/>
              </a:rPr>
              <a:t>+</a:t>
            </a:r>
            <a:r>
              <a:rPr lang="zh-CN" altLang="zh-CN" sz="1600" dirty="0">
                <a:latin typeface="+mn-ea"/>
              </a:rPr>
              <a:t>发动机厂家</a:t>
            </a:r>
            <a:r>
              <a:rPr lang="en-US" altLang="zh-CN" sz="1600" dirty="0">
                <a:latin typeface="+mn-ea"/>
              </a:rPr>
              <a:t>+</a:t>
            </a:r>
            <a:r>
              <a:rPr lang="zh-CN" altLang="zh-CN" sz="1600" dirty="0">
                <a:latin typeface="+mn-ea"/>
              </a:rPr>
              <a:t>桥</a:t>
            </a:r>
            <a:r>
              <a:rPr lang="en-US" altLang="zh-CN" sz="1600" dirty="0">
                <a:latin typeface="+mn-ea"/>
              </a:rPr>
              <a:t>+</a:t>
            </a:r>
            <a:r>
              <a:rPr lang="zh-CN" altLang="zh-CN" sz="1600" dirty="0">
                <a:latin typeface="+mn-ea"/>
              </a:rPr>
              <a:t>箱</a:t>
            </a:r>
            <a:r>
              <a:rPr lang="en-US" altLang="zh-CN" sz="1600" dirty="0">
                <a:latin typeface="+mn-ea"/>
              </a:rPr>
              <a:t>+</a:t>
            </a:r>
            <a:r>
              <a:rPr lang="zh-CN" altLang="zh-CN" sz="1600" dirty="0">
                <a:latin typeface="+mn-ea"/>
              </a:rPr>
              <a:t>空调</a:t>
            </a:r>
            <a:r>
              <a:rPr lang="en-US" altLang="zh-CN" sz="1600" dirty="0">
                <a:latin typeface="+mn-ea"/>
              </a:rPr>
              <a:t>+</a:t>
            </a:r>
            <a:r>
              <a:rPr lang="zh-CN" altLang="zh-CN" sz="1600" dirty="0">
                <a:latin typeface="+mn-ea"/>
              </a:rPr>
              <a:t>其他特征</a:t>
            </a:r>
            <a:r>
              <a:rPr lang="en-US" altLang="zh-CN" sz="1600" dirty="0">
                <a:latin typeface="+mn-ea"/>
              </a:rPr>
              <a:t>+</a:t>
            </a:r>
            <a:r>
              <a:rPr lang="zh-CN" altLang="zh-CN" sz="1600" dirty="0">
                <a:latin typeface="+mn-ea"/>
              </a:rPr>
              <a:t>非标关键</a:t>
            </a:r>
            <a:r>
              <a:rPr lang="zh-CN" altLang="zh-CN" sz="1600" dirty="0" smtClean="0">
                <a:latin typeface="+mn-ea"/>
              </a:rPr>
              <a:t>特征</a:t>
            </a:r>
            <a:endParaRPr lang="en-US" altLang="zh-CN" sz="1600" dirty="0" smtClean="0">
              <a:latin typeface="+mn-ea"/>
            </a:endParaRPr>
          </a:p>
          <a:p>
            <a:r>
              <a:rPr lang="en-US" altLang="zh-CN" dirty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   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zh-CN" altLang="en-US" sz="1600" dirty="0">
                <a:latin typeface="+mn-ea"/>
              </a:rPr>
              <a:t>举例</a:t>
            </a:r>
            <a:r>
              <a:rPr lang="zh-CN" altLang="en-US" sz="1600" dirty="0" smtClean="0">
                <a:latin typeface="+mn-ea"/>
              </a:rPr>
              <a:t>：</a:t>
            </a:r>
            <a:r>
              <a:rPr lang="zh-CN" altLang="zh-CN" sz="1600" dirty="0" smtClean="0">
                <a:latin typeface="+mn-ea"/>
              </a:rPr>
              <a:t> </a:t>
            </a:r>
            <a:r>
              <a:rPr lang="zh-CN" altLang="en-US" sz="1600" dirty="0" smtClean="0">
                <a:latin typeface="+mn-ea"/>
              </a:rPr>
              <a:t> </a:t>
            </a:r>
            <a:r>
              <a:rPr lang="en-US" altLang="zh-CN" sz="1600" dirty="0">
                <a:latin typeface="+mn-ea"/>
              </a:rPr>
              <a:t>62F00060002B001   </a:t>
            </a:r>
            <a:r>
              <a:rPr lang="en-US" altLang="zh-CN" sz="1600" dirty="0" smtClean="0">
                <a:latin typeface="+mn-ea"/>
              </a:rPr>
              <a:t>ZL30E</a:t>
            </a:r>
            <a:r>
              <a:rPr lang="zh-CN" altLang="zh-CN" sz="1600" dirty="0">
                <a:latin typeface="+mn-ea"/>
              </a:rPr>
              <a:t>装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zh-CN" sz="1600" dirty="0">
                <a:latin typeface="+mn-ea"/>
              </a:rPr>
              <a:t>玉柴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zh-CN" sz="1600" dirty="0">
                <a:latin typeface="+mn-ea"/>
              </a:rPr>
              <a:t>柳工桥箱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zh-CN" sz="1600" dirty="0">
                <a:latin typeface="+mn-ea"/>
              </a:rPr>
              <a:t>暖风</a:t>
            </a:r>
            <a:r>
              <a:rPr lang="en-US" altLang="zh-CN" sz="1600" dirty="0">
                <a:latin typeface="+mn-ea"/>
              </a:rPr>
              <a:t>/1.7</a:t>
            </a:r>
            <a:r>
              <a:rPr lang="zh-CN" altLang="zh-CN" sz="1600" dirty="0">
                <a:latin typeface="+mn-ea"/>
              </a:rPr>
              <a:t>方斗</a:t>
            </a:r>
          </a:p>
          <a:p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9370052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选装选配业务现状</a:t>
            </a:r>
          </a:p>
        </p:txBody>
      </p:sp>
      <p:sp>
        <p:nvSpPr>
          <p:cNvPr id="3" name="矩形 2"/>
          <p:cNvSpPr/>
          <p:nvPr/>
        </p:nvSpPr>
        <p:spPr>
          <a:xfrm>
            <a:off x="282102" y="1027312"/>
            <a:ext cx="8589524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r>
              <a:rPr lang="zh-CN" altLang="en-US" sz="2200" dirty="0"/>
              <a:t>产品选配</a:t>
            </a:r>
            <a:r>
              <a:rPr lang="zh-CN" altLang="en-US" sz="2200" dirty="0" smtClean="0"/>
              <a:t>特点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续</a:t>
            </a:r>
            <a:r>
              <a:rPr lang="en-US" altLang="zh-CN" sz="2200" dirty="0" smtClean="0"/>
              <a:t>)</a:t>
            </a:r>
            <a:r>
              <a:rPr lang="zh-CN" altLang="zh-CN" sz="2200" dirty="0" smtClean="0"/>
              <a:t>：</a:t>
            </a:r>
            <a:endParaRPr lang="en-US" altLang="zh-CN" sz="2200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33875268"/>
              </p:ext>
            </p:extLst>
          </p:nvPr>
        </p:nvGraphicFramePr>
        <p:xfrm>
          <a:off x="389106" y="1634247"/>
          <a:ext cx="8180962" cy="42218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0358"/>
                <a:gridCol w="1550974"/>
                <a:gridCol w="2334983"/>
                <a:gridCol w="545397"/>
                <a:gridCol w="2829250"/>
              </a:tblGrid>
              <a:tr h="506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effectLst/>
                        </a:rPr>
                        <a:t>机型</a:t>
                      </a:r>
                      <a:endParaRPr lang="zh-CN" sz="1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CE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7</a:t>
                      </a:r>
                      <a:r>
                        <a:rPr lang="zh-CN" sz="1200" kern="0" dirty="0">
                          <a:effectLst/>
                        </a:rPr>
                        <a:t>位设计编码变号配置</a:t>
                      </a:r>
                      <a:endParaRPr lang="zh-CN" sz="1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CE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4</a:t>
                      </a:r>
                      <a:r>
                        <a:rPr lang="zh-CN" sz="1200" kern="0" dirty="0">
                          <a:effectLst/>
                        </a:rPr>
                        <a:t>位配置编码变号配置</a:t>
                      </a:r>
                      <a:endParaRPr lang="zh-CN" sz="1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CE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B</a:t>
                      </a:r>
                      <a:endParaRPr lang="zh-CN" sz="1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CE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3</a:t>
                      </a:r>
                      <a:r>
                        <a:rPr lang="zh-CN" sz="1200" kern="0" dirty="0">
                          <a:effectLst/>
                        </a:rPr>
                        <a:t>位工作装置编码变号配置</a:t>
                      </a:r>
                      <a:endParaRPr lang="zh-CN" sz="1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CE55"/>
                    </a:solidFill>
                  </a:tcPr>
                </a:tc>
              </a:tr>
              <a:tr h="14891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装载机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发动机、桥、箱、工作系统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空调、冷启动、铭牌、空滤的预滤、尾气净化、集中润滑、保险杠、警示灯、蜂鸣器、称重系统、音响系统、封闭驾驶室，敞开式驾驶室、高流量、快换装置等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各类斗、岩石斗、抱叉、侧卸、耐磨斗、装煤斗、加大斗、</a:t>
                      </a:r>
                      <a:r>
                        <a:rPr lang="en-US" sz="1200" kern="0">
                          <a:effectLst/>
                        </a:rPr>
                        <a:t>(</a:t>
                      </a:r>
                      <a:r>
                        <a:rPr lang="zh-CN" sz="1200" kern="0">
                          <a:effectLst/>
                        </a:rPr>
                        <a:t>快换）抱叉、</a:t>
                      </a:r>
                      <a:r>
                        <a:rPr lang="en-US" sz="1200" kern="0">
                          <a:effectLst/>
                        </a:rPr>
                        <a:t>(</a:t>
                      </a:r>
                      <a:r>
                        <a:rPr lang="zh-CN" sz="1200" kern="0">
                          <a:effectLst/>
                        </a:rPr>
                        <a:t>快换）四合一斗、草叉、</a:t>
                      </a:r>
                      <a:r>
                        <a:rPr lang="en-US" sz="1200" kern="0">
                          <a:effectLst/>
                        </a:rPr>
                        <a:t>(</a:t>
                      </a:r>
                      <a:r>
                        <a:rPr lang="zh-CN" sz="1200" kern="0">
                          <a:effectLst/>
                        </a:rPr>
                        <a:t>快换）货叉、快换斗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260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挖掘机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发动机、液压系统（泵、主阀、马达）、行走架型式（履带、轮式、湿地式、</a:t>
                      </a:r>
                      <a:r>
                        <a:rPr lang="en-US" sz="1200" kern="0">
                          <a:effectLst/>
                        </a:rPr>
                        <a:t>LC</a:t>
                      </a:r>
                      <a:r>
                        <a:rPr lang="zh-CN" sz="1200" kern="0">
                          <a:effectLst/>
                        </a:rPr>
                        <a:t>型）、超长臂、动臂偏转、零后悬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动臂、斗杆、推土铲、宽履带、橡胶履带、橡胶履带块、操作模式切换、旋转警示灯、行走报警、回转报警、超载报警、防落物保护装置、驾驶室、灭火器、液压锤管路、液压剪管路、低压管路、自动加油泵、防爆阀、控制器、显示器、</a:t>
                      </a:r>
                      <a:r>
                        <a:rPr lang="en-US" sz="1200" kern="0">
                          <a:effectLst/>
                        </a:rPr>
                        <a:t>GPS</a:t>
                      </a:r>
                      <a:r>
                        <a:rPr lang="zh-CN" sz="1200" kern="0">
                          <a:effectLst/>
                        </a:rPr>
                        <a:t>、标贴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>
                          <a:effectLst/>
                        </a:rPr>
                        <a:t>　</a:t>
                      </a:r>
                      <a:endParaRPr lang="zh-CN" sz="1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effectLst/>
                        </a:rPr>
                        <a:t>铲斗、抓斗、松土器、液压锤、液压剪、快换装置</a:t>
                      </a:r>
                      <a:endParaRPr lang="zh-CN" sz="1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01966"/>
            <a:ext cx="841442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/>
              <a:t>注：以上只是以装载机和挖掘机为例，柳工实际选配产品还包括：</a:t>
            </a:r>
            <a:r>
              <a:rPr lang="zh-CN" altLang="zh-CN" sz="1400" dirty="0" smtClean="0"/>
              <a:t>叉车</a:t>
            </a:r>
            <a:r>
              <a:rPr lang="zh-CN" altLang="en-US" sz="1400" dirty="0" smtClean="0"/>
              <a:t>、</a:t>
            </a:r>
            <a:r>
              <a:rPr lang="zh-CN" altLang="zh-CN" sz="1400" dirty="0" smtClean="0"/>
              <a:t>平地机</a:t>
            </a:r>
            <a:r>
              <a:rPr lang="zh-CN" altLang="en-US" sz="1400" dirty="0" smtClean="0"/>
              <a:t>、</a:t>
            </a:r>
            <a:r>
              <a:rPr lang="zh-CN" altLang="zh-CN" sz="1400" dirty="0"/>
              <a:t>摊铺</a:t>
            </a:r>
            <a:r>
              <a:rPr lang="zh-CN" altLang="zh-CN" sz="1400" dirty="0" smtClean="0"/>
              <a:t>机</a:t>
            </a:r>
            <a:r>
              <a:rPr lang="zh-CN" altLang="en-US" sz="1400" dirty="0" smtClean="0"/>
              <a:t>、</a:t>
            </a:r>
            <a:r>
              <a:rPr lang="zh-CN" altLang="zh-CN" sz="1400" dirty="0"/>
              <a:t>铣刨</a:t>
            </a:r>
            <a:r>
              <a:rPr lang="zh-CN" altLang="zh-CN" sz="1400" dirty="0" smtClean="0"/>
              <a:t>机</a:t>
            </a:r>
            <a:r>
              <a:rPr lang="zh-CN" altLang="en-US" sz="1400" dirty="0" smtClean="0"/>
              <a:t>、</a:t>
            </a:r>
            <a:r>
              <a:rPr lang="zh-CN" altLang="zh-CN" sz="1400" dirty="0" smtClean="0"/>
              <a:t>压路机</a:t>
            </a:r>
            <a:r>
              <a:rPr lang="zh-CN" altLang="en-US" sz="1400" dirty="0" smtClean="0"/>
              <a:t>、</a:t>
            </a:r>
            <a:r>
              <a:rPr lang="zh-CN" altLang="zh-CN" sz="1400" dirty="0"/>
              <a:t>堆垛</a:t>
            </a:r>
            <a:r>
              <a:rPr lang="zh-CN" altLang="zh-CN" sz="1400" dirty="0" smtClean="0"/>
              <a:t>车</a:t>
            </a:r>
            <a:r>
              <a:rPr lang="zh-CN" altLang="en-US" sz="1400" dirty="0" smtClean="0"/>
              <a:t>、</a:t>
            </a:r>
            <a:r>
              <a:rPr lang="zh-CN" altLang="zh-CN" sz="1400" dirty="0" smtClean="0"/>
              <a:t>推土机</a:t>
            </a:r>
            <a:r>
              <a:rPr lang="zh-CN" altLang="en-US" sz="1400" dirty="0" smtClean="0"/>
              <a:t>、</a:t>
            </a:r>
            <a:r>
              <a:rPr lang="zh-CN" altLang="zh-CN" sz="1400" dirty="0" smtClean="0"/>
              <a:t>吊管机</a:t>
            </a:r>
            <a:r>
              <a:rPr lang="zh-CN" altLang="en-US" sz="1400" dirty="0" smtClean="0"/>
              <a:t>、汽车起重机、</a:t>
            </a:r>
            <a:r>
              <a:rPr lang="zh-CN" altLang="zh-CN" sz="1400" dirty="0"/>
              <a:t>履带</a:t>
            </a:r>
            <a:r>
              <a:rPr lang="zh-CN" altLang="zh-CN" sz="1400" dirty="0" smtClean="0"/>
              <a:t>起重机</a:t>
            </a:r>
            <a:r>
              <a:rPr lang="zh-CN" altLang="en-US" sz="1400" dirty="0" smtClean="0"/>
              <a:t>、</a:t>
            </a:r>
            <a:r>
              <a:rPr lang="zh-CN" altLang="zh-CN" sz="1400" dirty="0"/>
              <a:t>履带式强夯</a:t>
            </a:r>
            <a:r>
              <a:rPr lang="zh-CN" altLang="zh-CN" sz="1400" dirty="0" smtClean="0"/>
              <a:t>机</a:t>
            </a:r>
            <a:r>
              <a:rPr lang="zh-CN" altLang="en-US" sz="1400" dirty="0" smtClean="0"/>
              <a:t>、</a:t>
            </a:r>
            <a:r>
              <a:rPr lang="zh-CN" altLang="zh-CN" sz="1400" dirty="0" smtClean="0"/>
              <a:t>混凝土搅拌运输车</a:t>
            </a:r>
            <a:r>
              <a:rPr lang="zh-CN" altLang="en-US" sz="1400" dirty="0" smtClean="0"/>
              <a:t>、</a:t>
            </a:r>
            <a:r>
              <a:rPr lang="zh-CN" altLang="zh-CN" sz="1400" dirty="0"/>
              <a:t>混凝土</a:t>
            </a:r>
            <a:r>
              <a:rPr lang="zh-CN" altLang="zh-CN" sz="1400" dirty="0" smtClean="0"/>
              <a:t>泵</a:t>
            </a:r>
            <a:r>
              <a:rPr lang="zh-CN" altLang="en-US" sz="1400" dirty="0" smtClean="0"/>
              <a:t>等。</a:t>
            </a:r>
          </a:p>
        </p:txBody>
      </p:sp>
    </p:spTree>
    <p:extLst>
      <p:ext uri="{BB962C8B-B14F-4D97-AF65-F5344CB8AC3E}">
        <p14:creationId xmlns="" xmlns:p14="http://schemas.microsoft.com/office/powerpoint/2010/main" val="625248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选装选配业务现状</a:t>
            </a:r>
          </a:p>
        </p:txBody>
      </p:sp>
      <p:sp>
        <p:nvSpPr>
          <p:cNvPr id="3" name="矩形 2"/>
          <p:cNvSpPr/>
          <p:nvPr/>
        </p:nvSpPr>
        <p:spPr>
          <a:xfrm>
            <a:off x="282102" y="1027312"/>
            <a:ext cx="858952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r>
              <a:rPr lang="zh-CN" altLang="en-US" sz="2200" dirty="0"/>
              <a:t>产品选配</a:t>
            </a:r>
            <a:r>
              <a:rPr lang="zh-CN" altLang="en-US" sz="2200" dirty="0" smtClean="0"/>
              <a:t>特点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续</a:t>
            </a:r>
            <a:r>
              <a:rPr lang="en-US" altLang="zh-CN" sz="2200" dirty="0" smtClean="0"/>
              <a:t>)</a:t>
            </a:r>
            <a:r>
              <a:rPr lang="zh-CN" altLang="zh-CN" sz="2200" dirty="0" smtClean="0"/>
              <a:t>：</a:t>
            </a:r>
            <a:endParaRPr lang="en-US" altLang="zh-CN" sz="2200" dirty="0" smtClean="0"/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目前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使用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《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物料主数据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-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整机编号新旧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对照表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》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记录柳工所有已生产过产品的整机号、产品配置描述等信息，供销售部门、生产部门、研发部门等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查询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sz="2200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61" y="2431286"/>
            <a:ext cx="7772401" cy="38430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83528001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选装选配业务现状</a:t>
            </a:r>
          </a:p>
        </p:txBody>
      </p:sp>
      <p:sp>
        <p:nvSpPr>
          <p:cNvPr id="3" name="矩形 2"/>
          <p:cNvSpPr/>
          <p:nvPr/>
        </p:nvSpPr>
        <p:spPr>
          <a:xfrm>
            <a:off x="282102" y="861942"/>
            <a:ext cx="8589524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r>
              <a:rPr lang="zh-CN" altLang="en-US" sz="2200" dirty="0"/>
              <a:t>产品</a:t>
            </a:r>
            <a:r>
              <a:rPr lang="zh-CN" altLang="en-US" sz="2200" dirty="0" smtClean="0"/>
              <a:t>选配流程现状</a:t>
            </a:r>
            <a:r>
              <a:rPr lang="en-US" altLang="zh-CN" sz="2200" dirty="0" smtClean="0"/>
              <a:t> </a:t>
            </a:r>
            <a:r>
              <a:rPr lang="zh-CN" altLang="zh-CN" sz="2200" dirty="0" smtClean="0"/>
              <a:t>：</a:t>
            </a:r>
            <a:endParaRPr lang="en-US" altLang="zh-CN" sz="2200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259" y="1373250"/>
            <a:ext cx="7535915" cy="5240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5925719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14511" y="6704538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7062928" y="1047583"/>
            <a:ext cx="2087563" cy="863600"/>
          </a:xfrm>
          <a:prstGeom prst="wedgeEllipseCallout">
            <a:avLst>
              <a:gd name="adj1" fmla="val -13782"/>
              <a:gd name="adj2" fmla="val 98528"/>
            </a:avLst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eaLnBrk="0" hangingPunct="0"/>
            <a:r>
              <a:rPr lang="zh-CN" altLang="en-US" sz="1400" b="0" dirty="0" smtClean="0">
                <a:solidFill>
                  <a:schemeClr val="tx1"/>
                </a:solidFill>
                <a:latin typeface="Arial" charset="0"/>
              </a:rPr>
              <a:t>销售的需求总是在变，怎么才能及时交货？</a:t>
            </a:r>
            <a:endParaRPr lang="zh-CN" altLang="en-US" sz="14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3" name="AutoShape 21"/>
          <p:cNvSpPr>
            <a:spLocks noChangeArrowheads="1"/>
          </p:cNvSpPr>
          <p:nvPr/>
        </p:nvSpPr>
        <p:spPr bwMode="auto">
          <a:xfrm>
            <a:off x="4672500" y="2959020"/>
            <a:ext cx="1368425" cy="935037"/>
          </a:xfrm>
          <a:prstGeom prst="cube">
            <a:avLst>
              <a:gd name="adj" fmla="val 44819"/>
            </a:avLst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Arial" charset="0"/>
                <a:sym typeface="Wingdings" pitchFamily="2" charset="2"/>
              </a:rPr>
              <a:t>制造</a:t>
            </a:r>
            <a:r>
              <a:rPr lang="zh-CN" altLang="en-US" dirty="0" smtClean="0">
                <a:latin typeface="Arial" charset="0"/>
                <a:sym typeface="Wingdings" pitchFamily="2" charset="2"/>
              </a:rPr>
              <a:t>部门</a:t>
            </a:r>
            <a:endParaRPr lang="zh-CN" altLang="en-US" dirty="0">
              <a:latin typeface="Arial" charset="0"/>
            </a:endParaRPr>
          </a:p>
        </p:txBody>
      </p:sp>
      <p:sp>
        <p:nvSpPr>
          <p:cNvPr id="14" name="AutoShape 24"/>
          <p:cNvSpPr>
            <a:spLocks noChangeArrowheads="1"/>
          </p:cNvSpPr>
          <p:nvPr/>
        </p:nvSpPr>
        <p:spPr bwMode="auto">
          <a:xfrm>
            <a:off x="6544163" y="2885995"/>
            <a:ext cx="1439862" cy="935037"/>
          </a:xfrm>
          <a:prstGeom prst="cube">
            <a:avLst>
              <a:gd name="adj" fmla="val 44819"/>
            </a:avLst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Arial" charset="0"/>
                <a:sym typeface="Wingdings" pitchFamily="2" charset="2"/>
              </a:rPr>
              <a:t>生产</a:t>
            </a:r>
            <a:r>
              <a:rPr lang="zh-CN" altLang="en-US" dirty="0" smtClean="0">
                <a:latin typeface="Arial" charset="0"/>
                <a:sym typeface="Wingdings" pitchFamily="2" charset="2"/>
              </a:rPr>
              <a:t>部门</a:t>
            </a:r>
            <a:endParaRPr lang="zh-CN" altLang="en-US" dirty="0">
              <a:latin typeface="Arial" charset="0"/>
            </a:endParaRPr>
          </a:p>
        </p:txBody>
      </p:sp>
      <p:pic>
        <p:nvPicPr>
          <p:cNvPr id="15" name="Picture 30" descr="j01953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963" y="2381170"/>
            <a:ext cx="808037" cy="825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utoShape 129"/>
          <p:cNvSpPr>
            <a:spLocks noChangeArrowheads="1"/>
          </p:cNvSpPr>
          <p:nvPr/>
        </p:nvSpPr>
        <p:spPr bwMode="auto">
          <a:xfrm>
            <a:off x="2463456" y="912812"/>
            <a:ext cx="1587500" cy="1278061"/>
          </a:xfrm>
          <a:prstGeom prst="wedgeEllipseCallout">
            <a:avLst>
              <a:gd name="adj1" fmla="val -16567"/>
              <a:gd name="adj2" fmla="val 49613"/>
            </a:avLst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1400" b="0" dirty="0">
                <a:solidFill>
                  <a:schemeClr val="tx1"/>
                </a:solidFill>
                <a:latin typeface="Arial" charset="0"/>
              </a:rPr>
              <a:t>简单的搭配问题</a:t>
            </a:r>
            <a:r>
              <a:rPr lang="zh-CN" altLang="en-US" sz="1400" b="0" dirty="0" smtClean="0">
                <a:solidFill>
                  <a:schemeClr val="tx1"/>
                </a:solidFill>
                <a:latin typeface="Arial" charset="0"/>
              </a:rPr>
              <a:t>，如果销售人员能够自己解决就好了！</a:t>
            </a:r>
            <a:endParaRPr lang="en-US" altLang="zh-CN" sz="1400" b="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" name="AutoShape 134"/>
          <p:cNvSpPr>
            <a:spLocks noChangeArrowheads="1"/>
          </p:cNvSpPr>
          <p:nvPr/>
        </p:nvSpPr>
        <p:spPr bwMode="auto">
          <a:xfrm>
            <a:off x="4549449" y="4029852"/>
            <a:ext cx="2089150" cy="1368425"/>
          </a:xfrm>
          <a:prstGeom prst="wedgeEllipseCallout">
            <a:avLst>
              <a:gd name="adj1" fmla="val -70139"/>
              <a:gd name="adj2" fmla="val 44778"/>
            </a:avLst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eaLnBrk="0" hangingPunct="0"/>
            <a:r>
              <a:rPr lang="zh-CN" altLang="en-US" sz="1400" b="0">
                <a:solidFill>
                  <a:schemeClr val="tx1"/>
                </a:solidFill>
                <a:latin typeface="Arial" charset="0"/>
              </a:rPr>
              <a:t>零部件有问题，产品要召回，哪些客户选择和购买了这些零件生产的产品呢？</a:t>
            </a:r>
          </a:p>
        </p:txBody>
      </p:sp>
      <p:pic>
        <p:nvPicPr>
          <p:cNvPr id="21" name="Picture 135" descr="j024069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313" y="2309732"/>
            <a:ext cx="1057275" cy="8461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AutoShape 146"/>
          <p:cNvSpPr>
            <a:spLocks noChangeArrowheads="1"/>
          </p:cNvSpPr>
          <p:nvPr/>
        </p:nvSpPr>
        <p:spPr bwMode="auto">
          <a:xfrm>
            <a:off x="3109586" y="5182377"/>
            <a:ext cx="1439863" cy="935038"/>
          </a:xfrm>
          <a:prstGeom prst="cube">
            <a:avLst>
              <a:gd name="adj" fmla="val 44819"/>
            </a:avLst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zh-CN" altLang="en-US">
                <a:latin typeface="Arial" charset="0"/>
                <a:sym typeface="Wingdings" pitchFamily="2" charset="2"/>
              </a:rPr>
              <a:t>服务部门</a:t>
            </a:r>
            <a:endParaRPr lang="zh-CN" altLang="en-US">
              <a:latin typeface="Arial" charset="0"/>
            </a:endParaRPr>
          </a:p>
        </p:txBody>
      </p:sp>
      <p:pic>
        <p:nvPicPr>
          <p:cNvPr id="26" name="Picture 15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774" y="4912502"/>
            <a:ext cx="654050" cy="4841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AutoShape 155"/>
          <p:cNvSpPr>
            <a:spLocks noChangeArrowheads="1"/>
          </p:cNvSpPr>
          <p:nvPr/>
        </p:nvSpPr>
        <p:spPr bwMode="auto">
          <a:xfrm>
            <a:off x="1957061" y="3858402"/>
            <a:ext cx="1584325" cy="1079500"/>
          </a:xfrm>
          <a:prstGeom prst="wedgeEllipseCallout">
            <a:avLst>
              <a:gd name="adj1" fmla="val -58819"/>
              <a:gd name="adj2" fmla="val 58824"/>
            </a:avLst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eaLnBrk="0" hangingPunct="0"/>
            <a:r>
              <a:rPr lang="zh-CN" altLang="en-US" sz="1400" b="0">
                <a:solidFill>
                  <a:schemeClr val="tx1"/>
                </a:solidFill>
                <a:latin typeface="Arial" charset="0"/>
              </a:rPr>
              <a:t>这批配置产品的实际成本是多少呢？</a:t>
            </a:r>
          </a:p>
        </p:txBody>
      </p:sp>
      <p:sp>
        <p:nvSpPr>
          <p:cNvPr id="30" name="AutoShape 156"/>
          <p:cNvSpPr>
            <a:spLocks noChangeArrowheads="1"/>
          </p:cNvSpPr>
          <p:nvPr/>
        </p:nvSpPr>
        <p:spPr bwMode="auto">
          <a:xfrm>
            <a:off x="1093461" y="5226827"/>
            <a:ext cx="1439863" cy="935038"/>
          </a:xfrm>
          <a:prstGeom prst="cube">
            <a:avLst>
              <a:gd name="adj" fmla="val 44819"/>
            </a:avLst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Arial" charset="0"/>
                <a:sym typeface="Wingdings" pitchFamily="2" charset="2"/>
              </a:rPr>
              <a:t>财务</a:t>
            </a:r>
            <a:r>
              <a:rPr lang="zh-CN" altLang="en-US" dirty="0" smtClean="0">
                <a:latin typeface="Arial" charset="0"/>
                <a:sym typeface="Wingdings" pitchFamily="2" charset="2"/>
              </a:rPr>
              <a:t>部门</a:t>
            </a:r>
            <a:endParaRPr lang="zh-CN" altLang="en-US" dirty="0">
              <a:latin typeface="Arial" charset="0"/>
            </a:endParaRPr>
          </a:p>
        </p:txBody>
      </p:sp>
      <p:pic>
        <p:nvPicPr>
          <p:cNvPr id="31" name="Picture 158" descr="j029202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411" y="4677552"/>
            <a:ext cx="865188" cy="8207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320599" y="2190873"/>
            <a:ext cx="1728788" cy="1654175"/>
            <a:chOff x="661661" y="2374090"/>
            <a:chExt cx="1728788" cy="1654175"/>
          </a:xfrm>
        </p:grpSpPr>
        <p:sp>
          <p:nvSpPr>
            <p:cNvPr id="11" name="AutoShape 15"/>
            <p:cNvSpPr>
              <a:spLocks noChangeArrowheads="1"/>
            </p:cNvSpPr>
            <p:nvPr/>
          </p:nvSpPr>
          <p:spPr bwMode="auto">
            <a:xfrm>
              <a:off x="661661" y="3093227"/>
              <a:ext cx="1439863" cy="935038"/>
            </a:xfrm>
            <a:prstGeom prst="cube">
              <a:avLst>
                <a:gd name="adj" fmla="val 44819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dirty="0">
                  <a:latin typeface="Arial" charset="0"/>
                  <a:sym typeface="Wingdings" pitchFamily="2" charset="2"/>
                </a:rPr>
                <a:t>设计部门</a:t>
              </a:r>
              <a:endParaRPr lang="zh-CN" altLang="en-US" dirty="0">
                <a:latin typeface="Arial" charset="0"/>
              </a:endParaRPr>
            </a:p>
          </p:txBody>
        </p:sp>
        <p:pic>
          <p:nvPicPr>
            <p:cNvPr id="22" name="Picture 138" descr="j029198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561" y="2374090"/>
              <a:ext cx="990600" cy="104933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AutoShape 159"/>
            <p:cNvSpPr>
              <a:spLocks noChangeArrowheads="1"/>
            </p:cNvSpPr>
            <p:nvPr/>
          </p:nvSpPr>
          <p:spPr bwMode="auto">
            <a:xfrm>
              <a:off x="1885624" y="3453590"/>
              <a:ext cx="504825" cy="485775"/>
            </a:xfrm>
            <a:prstGeom prst="rightArrow">
              <a:avLst>
                <a:gd name="adj1" fmla="val 50000"/>
                <a:gd name="adj2" fmla="val 25980"/>
              </a:avLst>
            </a:prstGeom>
            <a:gradFill rotWithShape="1">
              <a:gsLst>
                <a:gs pos="0">
                  <a:srgbClr val="FFBD5D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>
              <a:prstShdw prst="shdw17" dist="17961" dir="2700000">
                <a:srgbClr val="FFBD5D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9pPr>
            </a:lstStyle>
            <a:p>
              <a:pPr algn="ctr"/>
              <a:endParaRPr lang="zh-CN" altLang="zh-CN">
                <a:latin typeface="Arial" charset="0"/>
              </a:endParaRPr>
            </a:p>
          </p:txBody>
        </p:sp>
      </p:grpSp>
      <p:sp>
        <p:nvSpPr>
          <p:cNvPr id="34" name="AutoShape 166"/>
          <p:cNvSpPr>
            <a:spLocks noChangeArrowheads="1"/>
          </p:cNvSpPr>
          <p:nvPr/>
        </p:nvSpPr>
        <p:spPr bwMode="auto">
          <a:xfrm>
            <a:off x="6039338" y="3246357"/>
            <a:ext cx="431800" cy="485775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BD5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FFBD5D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algn="ctr"/>
            <a:endParaRPr lang="zh-CN" altLang="zh-CN">
              <a:latin typeface="Arial" charset="0"/>
            </a:endParaRPr>
          </a:p>
        </p:txBody>
      </p:sp>
      <p:sp>
        <p:nvSpPr>
          <p:cNvPr id="36" name="AutoShape 168"/>
          <p:cNvSpPr>
            <a:spLocks noChangeArrowheads="1"/>
          </p:cNvSpPr>
          <p:nvPr/>
        </p:nvSpPr>
        <p:spPr bwMode="auto">
          <a:xfrm>
            <a:off x="661661" y="5541152"/>
            <a:ext cx="431800" cy="485775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BD5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FFBD5D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algn="ctr"/>
            <a:endParaRPr lang="zh-CN" altLang="zh-CN">
              <a:latin typeface="Arial" charset="0"/>
            </a:endParaRPr>
          </a:p>
        </p:txBody>
      </p:sp>
      <p:sp>
        <p:nvSpPr>
          <p:cNvPr id="37" name="AutoShape 169"/>
          <p:cNvSpPr>
            <a:spLocks noChangeArrowheads="1"/>
          </p:cNvSpPr>
          <p:nvPr/>
        </p:nvSpPr>
        <p:spPr bwMode="auto">
          <a:xfrm>
            <a:off x="2534911" y="5541152"/>
            <a:ext cx="431800" cy="485775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BD5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FFBD5D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algn="ctr"/>
            <a:endParaRPr lang="zh-CN" altLang="zh-CN">
              <a:latin typeface="Arial" charset="0"/>
            </a:endParaRPr>
          </a:p>
        </p:txBody>
      </p:sp>
      <p:sp>
        <p:nvSpPr>
          <p:cNvPr id="38" name="AutoShape 175"/>
          <p:cNvSpPr>
            <a:spLocks noChangeArrowheads="1"/>
          </p:cNvSpPr>
          <p:nvPr/>
        </p:nvSpPr>
        <p:spPr bwMode="auto">
          <a:xfrm>
            <a:off x="4672500" y="381549"/>
            <a:ext cx="2396605" cy="2059487"/>
          </a:xfrm>
          <a:prstGeom prst="wedgeEllipseCallout">
            <a:avLst>
              <a:gd name="adj1" fmla="val -33881"/>
              <a:gd name="adj2" fmla="val 49561"/>
            </a:avLst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eaLnBrk="0" hangingPunct="0"/>
            <a:r>
              <a:rPr lang="zh-CN" altLang="en-US" sz="1400" b="0" dirty="0">
                <a:solidFill>
                  <a:schemeClr val="tx1"/>
                </a:solidFill>
              </a:rPr>
              <a:t>配置</a:t>
            </a:r>
            <a:r>
              <a:rPr lang="zh-CN" altLang="en-US" sz="1400" b="0" dirty="0" smtClean="0">
                <a:solidFill>
                  <a:schemeClr val="tx1"/>
                </a:solidFill>
              </a:rPr>
              <a:t>产品种类太多了，我们需要维护大量的</a:t>
            </a:r>
            <a:r>
              <a:rPr lang="en-US" altLang="zh-CN" sz="1400" b="0" dirty="0" smtClean="0">
                <a:solidFill>
                  <a:schemeClr val="tx1"/>
                </a:solidFill>
              </a:rPr>
              <a:t>BOM</a:t>
            </a:r>
            <a:r>
              <a:rPr lang="zh-CN" altLang="en-US" sz="1400" b="0" dirty="0" smtClean="0">
                <a:solidFill>
                  <a:schemeClr val="tx1"/>
                </a:solidFill>
              </a:rPr>
              <a:t>！</a:t>
            </a:r>
            <a:endParaRPr lang="en-US" altLang="zh-CN" sz="1400" b="0" dirty="0" smtClean="0">
              <a:solidFill>
                <a:schemeClr val="tx1"/>
              </a:solidFill>
            </a:endParaRPr>
          </a:p>
          <a:p>
            <a:pPr eaLnBrk="0" hangingPunct="0"/>
            <a:r>
              <a:rPr lang="zh-CN" altLang="en-US" sz="1400" b="0" dirty="0" smtClean="0">
                <a:solidFill>
                  <a:schemeClr val="tx1"/>
                </a:solidFill>
                <a:latin typeface="Arial" charset="0"/>
              </a:rPr>
              <a:t>这种</a:t>
            </a:r>
            <a:r>
              <a:rPr lang="zh-CN" altLang="en-US" sz="1400" b="0" dirty="0">
                <a:solidFill>
                  <a:schemeClr val="tx1"/>
                </a:solidFill>
                <a:latin typeface="Arial" charset="0"/>
              </a:rPr>
              <a:t>配置的产品只用一次就不用了，为什么还要放在系统里？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  <p:sp>
        <p:nvSpPr>
          <p:cNvPr id="39" name="AutoShape 176"/>
          <p:cNvSpPr>
            <a:spLocks noChangeArrowheads="1"/>
          </p:cNvSpPr>
          <p:nvPr/>
        </p:nvSpPr>
        <p:spPr bwMode="auto">
          <a:xfrm>
            <a:off x="4549449" y="4074302"/>
            <a:ext cx="2089150" cy="1368425"/>
          </a:xfrm>
          <a:prstGeom prst="wedgeEllipseCallout">
            <a:avLst>
              <a:gd name="adj1" fmla="val -70139"/>
              <a:gd name="adj2" fmla="val 44778"/>
            </a:avLst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eaLnBrk="0" hangingPunct="0"/>
            <a:r>
              <a:rPr lang="zh-CN" altLang="en-US" sz="1400" b="0" dirty="0">
                <a:solidFill>
                  <a:schemeClr val="tx1"/>
                </a:solidFill>
                <a:latin typeface="Arial" charset="0"/>
              </a:rPr>
              <a:t>零部件有问题</a:t>
            </a:r>
            <a:r>
              <a:rPr lang="zh-CN" altLang="en-US" sz="1400" b="0" dirty="0" smtClean="0">
                <a:solidFill>
                  <a:schemeClr val="tx1"/>
                </a:solidFill>
                <a:latin typeface="Arial" charset="0"/>
              </a:rPr>
              <a:t>，哪些</a:t>
            </a:r>
            <a:r>
              <a:rPr lang="zh-CN" altLang="en-US" sz="1400" b="0" dirty="0">
                <a:solidFill>
                  <a:schemeClr val="tx1"/>
                </a:solidFill>
                <a:latin typeface="Arial" charset="0"/>
              </a:rPr>
              <a:t>配置中使用了这些零部件</a:t>
            </a:r>
            <a:r>
              <a:rPr lang="en-US" altLang="zh-CN" sz="1400" b="0" dirty="0">
                <a:solidFill>
                  <a:schemeClr val="tx1"/>
                </a:solidFill>
                <a:latin typeface="Arial" charset="0"/>
              </a:rPr>
              <a:t>,</a:t>
            </a:r>
            <a:r>
              <a:rPr lang="zh-CN" altLang="en-US" sz="1400" b="0" dirty="0">
                <a:solidFill>
                  <a:schemeClr val="tx1"/>
                </a:solidFill>
                <a:latin typeface="Arial" charset="0"/>
              </a:rPr>
              <a:t>要通知谁呢？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34369" y="985794"/>
            <a:ext cx="1965304" cy="2919466"/>
            <a:chOff x="2800838" y="1110386"/>
            <a:chExt cx="1965304" cy="2919466"/>
          </a:xfrm>
        </p:grpSpPr>
        <p:grpSp>
          <p:nvGrpSpPr>
            <p:cNvPr id="3" name="组合 2"/>
            <p:cNvGrpSpPr/>
            <p:nvPr/>
          </p:nvGrpSpPr>
          <p:grpSpPr>
            <a:xfrm>
              <a:off x="2800838" y="2496327"/>
              <a:ext cx="1368425" cy="1533525"/>
              <a:chOff x="2800838" y="2496327"/>
              <a:chExt cx="1368425" cy="1533525"/>
            </a:xfrm>
          </p:grpSpPr>
          <p:sp>
            <p:nvSpPr>
              <p:cNvPr id="12" name="AutoShape 18"/>
              <p:cNvSpPr>
                <a:spLocks noChangeArrowheads="1"/>
              </p:cNvSpPr>
              <p:nvPr/>
            </p:nvSpPr>
            <p:spPr bwMode="auto">
              <a:xfrm>
                <a:off x="2800838" y="3094815"/>
                <a:ext cx="1368425" cy="935037"/>
              </a:xfrm>
              <a:prstGeom prst="cube">
                <a:avLst>
                  <a:gd name="adj" fmla="val 44819"/>
                </a:avLst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rgbClr val="00CC00"/>
                    </a:solidFill>
                    <a:latin typeface="宋体" pitchFamily="2" charset="-122"/>
                    <a:ea typeface="宋体" pitchFamily="2" charset="-122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latin typeface="Arial" charset="0"/>
                    <a:sym typeface="Wingdings" pitchFamily="2" charset="2"/>
                  </a:rPr>
                  <a:t>销售部门</a:t>
                </a:r>
                <a:endParaRPr lang="zh-CN" altLang="en-US" dirty="0">
                  <a:latin typeface="Arial" charset="0"/>
                </a:endParaRPr>
              </a:p>
            </p:txBody>
          </p:sp>
          <p:grpSp>
            <p:nvGrpSpPr>
              <p:cNvPr id="16" name="Group 31"/>
              <p:cNvGrpSpPr>
                <a:grpSpLocks/>
              </p:cNvGrpSpPr>
              <p:nvPr/>
            </p:nvGrpSpPr>
            <p:grpSpPr bwMode="auto">
              <a:xfrm>
                <a:off x="3046900" y="2496327"/>
                <a:ext cx="688975" cy="957263"/>
                <a:chOff x="2174" y="2081"/>
                <a:chExt cx="643" cy="654"/>
              </a:xfrm>
            </p:grpSpPr>
            <p:sp>
              <p:nvSpPr>
                <p:cNvPr id="42" name="Freeform 32"/>
                <p:cNvSpPr>
                  <a:spLocks/>
                </p:cNvSpPr>
                <p:nvPr/>
              </p:nvSpPr>
              <p:spPr bwMode="auto">
                <a:xfrm>
                  <a:off x="2262" y="2081"/>
                  <a:ext cx="555" cy="645"/>
                </a:xfrm>
                <a:custGeom>
                  <a:avLst/>
                  <a:gdLst>
                    <a:gd name="T0" fmla="*/ 590 w 2221"/>
                    <a:gd name="T1" fmla="*/ 160 h 2578"/>
                    <a:gd name="T2" fmla="*/ 526 w 2221"/>
                    <a:gd name="T3" fmla="*/ 168 h 2578"/>
                    <a:gd name="T4" fmla="*/ 428 w 2221"/>
                    <a:gd name="T5" fmla="*/ 191 h 2578"/>
                    <a:gd name="T6" fmla="*/ 309 w 2221"/>
                    <a:gd name="T7" fmla="*/ 234 h 2578"/>
                    <a:gd name="T8" fmla="*/ 193 w 2221"/>
                    <a:gd name="T9" fmla="*/ 306 h 2578"/>
                    <a:gd name="T10" fmla="*/ 99 w 2221"/>
                    <a:gd name="T11" fmla="*/ 403 h 2578"/>
                    <a:gd name="T12" fmla="*/ 44 w 2221"/>
                    <a:gd name="T13" fmla="*/ 508 h 2578"/>
                    <a:gd name="T14" fmla="*/ 17 w 2221"/>
                    <a:gd name="T15" fmla="*/ 642 h 2578"/>
                    <a:gd name="T16" fmla="*/ 14 w 2221"/>
                    <a:gd name="T17" fmla="*/ 1029 h 2578"/>
                    <a:gd name="T18" fmla="*/ 11 w 2221"/>
                    <a:gd name="T19" fmla="*/ 1167 h 2578"/>
                    <a:gd name="T20" fmla="*/ 0 w 2221"/>
                    <a:gd name="T21" fmla="*/ 1575 h 2578"/>
                    <a:gd name="T22" fmla="*/ 22 w 2221"/>
                    <a:gd name="T23" fmla="*/ 1695 h 2578"/>
                    <a:gd name="T24" fmla="*/ 61 w 2221"/>
                    <a:gd name="T25" fmla="*/ 1812 h 2578"/>
                    <a:gd name="T26" fmla="*/ 103 w 2221"/>
                    <a:gd name="T27" fmla="*/ 1914 h 2578"/>
                    <a:gd name="T28" fmla="*/ 153 w 2221"/>
                    <a:gd name="T29" fmla="*/ 2014 h 2578"/>
                    <a:gd name="T30" fmla="*/ 206 w 2221"/>
                    <a:gd name="T31" fmla="*/ 2104 h 2578"/>
                    <a:gd name="T32" fmla="*/ 260 w 2221"/>
                    <a:gd name="T33" fmla="*/ 2175 h 2578"/>
                    <a:gd name="T34" fmla="*/ 325 w 2221"/>
                    <a:gd name="T35" fmla="*/ 2228 h 2578"/>
                    <a:gd name="T36" fmla="*/ 474 w 2221"/>
                    <a:gd name="T37" fmla="*/ 2293 h 2578"/>
                    <a:gd name="T38" fmla="*/ 672 w 2221"/>
                    <a:gd name="T39" fmla="*/ 2365 h 2578"/>
                    <a:gd name="T40" fmla="*/ 877 w 2221"/>
                    <a:gd name="T41" fmla="*/ 2432 h 2578"/>
                    <a:gd name="T42" fmla="*/ 1041 w 2221"/>
                    <a:gd name="T43" fmla="*/ 2486 h 2578"/>
                    <a:gd name="T44" fmla="*/ 1122 w 2221"/>
                    <a:gd name="T45" fmla="*/ 2516 h 2578"/>
                    <a:gd name="T46" fmla="*/ 1194 w 2221"/>
                    <a:gd name="T47" fmla="*/ 2548 h 2578"/>
                    <a:gd name="T48" fmla="*/ 1271 w 2221"/>
                    <a:gd name="T49" fmla="*/ 2573 h 2578"/>
                    <a:gd name="T50" fmla="*/ 1297 w 2221"/>
                    <a:gd name="T51" fmla="*/ 2578 h 2578"/>
                    <a:gd name="T52" fmla="*/ 1364 w 2221"/>
                    <a:gd name="T53" fmla="*/ 2578 h 2578"/>
                    <a:gd name="T54" fmla="*/ 1487 w 2221"/>
                    <a:gd name="T55" fmla="*/ 2577 h 2578"/>
                    <a:gd name="T56" fmla="*/ 1636 w 2221"/>
                    <a:gd name="T57" fmla="*/ 2570 h 2578"/>
                    <a:gd name="T58" fmla="*/ 1781 w 2221"/>
                    <a:gd name="T59" fmla="*/ 2556 h 2578"/>
                    <a:gd name="T60" fmla="*/ 1894 w 2221"/>
                    <a:gd name="T61" fmla="*/ 2531 h 2578"/>
                    <a:gd name="T62" fmla="*/ 1909 w 2221"/>
                    <a:gd name="T63" fmla="*/ 2526 h 2578"/>
                    <a:gd name="T64" fmla="*/ 1944 w 2221"/>
                    <a:gd name="T65" fmla="*/ 2508 h 2578"/>
                    <a:gd name="T66" fmla="*/ 1997 w 2221"/>
                    <a:gd name="T67" fmla="*/ 2473 h 2578"/>
                    <a:gd name="T68" fmla="*/ 2056 w 2221"/>
                    <a:gd name="T69" fmla="*/ 2417 h 2578"/>
                    <a:gd name="T70" fmla="*/ 2116 w 2221"/>
                    <a:gd name="T71" fmla="*/ 2333 h 2578"/>
                    <a:gd name="T72" fmla="*/ 2174 w 2221"/>
                    <a:gd name="T73" fmla="*/ 2201 h 2578"/>
                    <a:gd name="T74" fmla="*/ 2213 w 2221"/>
                    <a:gd name="T75" fmla="*/ 2010 h 2578"/>
                    <a:gd name="T76" fmla="*/ 2217 w 2221"/>
                    <a:gd name="T77" fmla="*/ 1758 h 2578"/>
                    <a:gd name="T78" fmla="*/ 2144 w 2221"/>
                    <a:gd name="T79" fmla="*/ 1334 h 2578"/>
                    <a:gd name="T80" fmla="*/ 2090 w 2221"/>
                    <a:gd name="T81" fmla="*/ 1142 h 2578"/>
                    <a:gd name="T82" fmla="*/ 2128 w 2221"/>
                    <a:gd name="T83" fmla="*/ 744 h 2578"/>
                    <a:gd name="T84" fmla="*/ 2125 w 2221"/>
                    <a:gd name="T85" fmla="*/ 545 h 2578"/>
                    <a:gd name="T86" fmla="*/ 2086 w 2221"/>
                    <a:gd name="T87" fmla="*/ 380 h 2578"/>
                    <a:gd name="T88" fmla="*/ 2029 w 2221"/>
                    <a:gd name="T89" fmla="*/ 263 h 2578"/>
                    <a:gd name="T90" fmla="*/ 1961 w 2221"/>
                    <a:gd name="T91" fmla="*/ 176 h 2578"/>
                    <a:gd name="T92" fmla="*/ 1881 w 2221"/>
                    <a:gd name="T93" fmla="*/ 107 h 2578"/>
                    <a:gd name="T94" fmla="*/ 1842 w 2221"/>
                    <a:gd name="T95" fmla="*/ 82 h 2578"/>
                    <a:gd name="T96" fmla="*/ 1800 w 2221"/>
                    <a:gd name="T97" fmla="*/ 59 h 2578"/>
                    <a:gd name="T98" fmla="*/ 1756 w 2221"/>
                    <a:gd name="T99" fmla="*/ 41 h 2578"/>
                    <a:gd name="T100" fmla="*/ 1713 w 2221"/>
                    <a:gd name="T101" fmla="*/ 27 h 2578"/>
                    <a:gd name="T102" fmla="*/ 1670 w 2221"/>
                    <a:gd name="T103" fmla="*/ 15 h 2578"/>
                    <a:gd name="T104" fmla="*/ 1622 w 2221"/>
                    <a:gd name="T105" fmla="*/ 7 h 2578"/>
                    <a:gd name="T106" fmla="*/ 1573 w 2221"/>
                    <a:gd name="T107" fmla="*/ 2 h 2578"/>
                    <a:gd name="T108" fmla="*/ 1524 w 2221"/>
                    <a:gd name="T109" fmla="*/ 2 h 2578"/>
                    <a:gd name="T110" fmla="*/ 1477 w 2221"/>
                    <a:gd name="T111" fmla="*/ 4 h 2578"/>
                    <a:gd name="T112" fmla="*/ 1432 w 2221"/>
                    <a:gd name="T113" fmla="*/ 12 h 2578"/>
                    <a:gd name="T114" fmla="*/ 1349 w 2221"/>
                    <a:gd name="T115" fmla="*/ 34 h 2578"/>
                    <a:gd name="T116" fmla="*/ 1227 w 2221"/>
                    <a:gd name="T117" fmla="*/ 88 h 2578"/>
                    <a:gd name="T118" fmla="*/ 1131 w 2221"/>
                    <a:gd name="T119" fmla="*/ 138 h 2578"/>
                    <a:gd name="T120" fmla="*/ 1021 w 2221"/>
                    <a:gd name="T121" fmla="*/ 174 h 2578"/>
                    <a:gd name="T122" fmla="*/ 860 w 2221"/>
                    <a:gd name="T123" fmla="*/ 184 h 2578"/>
                    <a:gd name="T124" fmla="*/ 604 w 2221"/>
                    <a:gd name="T125" fmla="*/ 159 h 25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2221" h="2578">
                      <a:moveTo>
                        <a:pt x="604" y="159"/>
                      </a:moveTo>
                      <a:lnTo>
                        <a:pt x="600" y="159"/>
                      </a:lnTo>
                      <a:lnTo>
                        <a:pt x="590" y="160"/>
                      </a:lnTo>
                      <a:lnTo>
                        <a:pt x="573" y="162"/>
                      </a:lnTo>
                      <a:lnTo>
                        <a:pt x="552" y="164"/>
                      </a:lnTo>
                      <a:lnTo>
                        <a:pt x="526" y="168"/>
                      </a:lnTo>
                      <a:lnTo>
                        <a:pt x="496" y="174"/>
                      </a:lnTo>
                      <a:lnTo>
                        <a:pt x="463" y="181"/>
                      </a:lnTo>
                      <a:lnTo>
                        <a:pt x="428" y="191"/>
                      </a:lnTo>
                      <a:lnTo>
                        <a:pt x="390" y="202"/>
                      </a:lnTo>
                      <a:lnTo>
                        <a:pt x="350" y="217"/>
                      </a:lnTo>
                      <a:lnTo>
                        <a:pt x="309" y="234"/>
                      </a:lnTo>
                      <a:lnTo>
                        <a:pt x="270" y="255"/>
                      </a:lnTo>
                      <a:lnTo>
                        <a:pt x="231" y="279"/>
                      </a:lnTo>
                      <a:lnTo>
                        <a:pt x="193" y="306"/>
                      </a:lnTo>
                      <a:lnTo>
                        <a:pt x="157" y="338"/>
                      </a:lnTo>
                      <a:lnTo>
                        <a:pt x="123" y="373"/>
                      </a:lnTo>
                      <a:lnTo>
                        <a:pt x="99" y="403"/>
                      </a:lnTo>
                      <a:lnTo>
                        <a:pt x="78" y="436"/>
                      </a:lnTo>
                      <a:lnTo>
                        <a:pt x="60" y="470"/>
                      </a:lnTo>
                      <a:lnTo>
                        <a:pt x="44" y="508"/>
                      </a:lnTo>
                      <a:lnTo>
                        <a:pt x="31" y="550"/>
                      </a:lnTo>
                      <a:lnTo>
                        <a:pt x="22" y="594"/>
                      </a:lnTo>
                      <a:lnTo>
                        <a:pt x="17" y="642"/>
                      </a:lnTo>
                      <a:lnTo>
                        <a:pt x="14" y="692"/>
                      </a:lnTo>
                      <a:lnTo>
                        <a:pt x="14" y="901"/>
                      </a:lnTo>
                      <a:lnTo>
                        <a:pt x="14" y="1029"/>
                      </a:lnTo>
                      <a:lnTo>
                        <a:pt x="14" y="1095"/>
                      </a:lnTo>
                      <a:lnTo>
                        <a:pt x="14" y="1113"/>
                      </a:lnTo>
                      <a:lnTo>
                        <a:pt x="11" y="1167"/>
                      </a:lnTo>
                      <a:lnTo>
                        <a:pt x="7" y="1297"/>
                      </a:lnTo>
                      <a:lnTo>
                        <a:pt x="2" y="1449"/>
                      </a:lnTo>
                      <a:lnTo>
                        <a:pt x="0" y="1575"/>
                      </a:lnTo>
                      <a:lnTo>
                        <a:pt x="2" y="1608"/>
                      </a:lnTo>
                      <a:lnTo>
                        <a:pt x="10" y="1649"/>
                      </a:lnTo>
                      <a:lnTo>
                        <a:pt x="22" y="1695"/>
                      </a:lnTo>
                      <a:lnTo>
                        <a:pt x="38" y="1746"/>
                      </a:lnTo>
                      <a:lnTo>
                        <a:pt x="49" y="1779"/>
                      </a:lnTo>
                      <a:lnTo>
                        <a:pt x="61" y="1812"/>
                      </a:lnTo>
                      <a:lnTo>
                        <a:pt x="74" y="1846"/>
                      </a:lnTo>
                      <a:lnTo>
                        <a:pt x="89" y="1880"/>
                      </a:lnTo>
                      <a:lnTo>
                        <a:pt x="103" y="1914"/>
                      </a:lnTo>
                      <a:lnTo>
                        <a:pt x="119" y="1948"/>
                      </a:lnTo>
                      <a:lnTo>
                        <a:pt x="136" y="1982"/>
                      </a:lnTo>
                      <a:lnTo>
                        <a:pt x="153" y="2014"/>
                      </a:lnTo>
                      <a:lnTo>
                        <a:pt x="170" y="2045"/>
                      </a:lnTo>
                      <a:lnTo>
                        <a:pt x="189" y="2075"/>
                      </a:lnTo>
                      <a:lnTo>
                        <a:pt x="206" y="2104"/>
                      </a:lnTo>
                      <a:lnTo>
                        <a:pt x="224" y="2130"/>
                      </a:lnTo>
                      <a:lnTo>
                        <a:pt x="242" y="2154"/>
                      </a:lnTo>
                      <a:lnTo>
                        <a:pt x="260" y="2175"/>
                      </a:lnTo>
                      <a:lnTo>
                        <a:pt x="278" y="2193"/>
                      </a:lnTo>
                      <a:lnTo>
                        <a:pt x="295" y="2208"/>
                      </a:lnTo>
                      <a:lnTo>
                        <a:pt x="325" y="2228"/>
                      </a:lnTo>
                      <a:lnTo>
                        <a:pt x="366" y="2249"/>
                      </a:lnTo>
                      <a:lnTo>
                        <a:pt x="416" y="2271"/>
                      </a:lnTo>
                      <a:lnTo>
                        <a:pt x="474" y="2293"/>
                      </a:lnTo>
                      <a:lnTo>
                        <a:pt x="537" y="2318"/>
                      </a:lnTo>
                      <a:lnTo>
                        <a:pt x="602" y="2342"/>
                      </a:lnTo>
                      <a:lnTo>
                        <a:pt x="672" y="2365"/>
                      </a:lnTo>
                      <a:lnTo>
                        <a:pt x="741" y="2389"/>
                      </a:lnTo>
                      <a:lnTo>
                        <a:pt x="810" y="2411"/>
                      </a:lnTo>
                      <a:lnTo>
                        <a:pt x="877" y="2432"/>
                      </a:lnTo>
                      <a:lnTo>
                        <a:pt x="938" y="2452"/>
                      </a:lnTo>
                      <a:lnTo>
                        <a:pt x="994" y="2470"/>
                      </a:lnTo>
                      <a:lnTo>
                        <a:pt x="1041" y="2486"/>
                      </a:lnTo>
                      <a:lnTo>
                        <a:pt x="1080" y="2499"/>
                      </a:lnTo>
                      <a:lnTo>
                        <a:pt x="1108" y="2510"/>
                      </a:lnTo>
                      <a:lnTo>
                        <a:pt x="1122" y="2516"/>
                      </a:lnTo>
                      <a:lnTo>
                        <a:pt x="1142" y="2527"/>
                      </a:lnTo>
                      <a:lnTo>
                        <a:pt x="1167" y="2537"/>
                      </a:lnTo>
                      <a:lnTo>
                        <a:pt x="1194" y="2548"/>
                      </a:lnTo>
                      <a:lnTo>
                        <a:pt x="1223" y="2557"/>
                      </a:lnTo>
                      <a:lnTo>
                        <a:pt x="1250" y="2566"/>
                      </a:lnTo>
                      <a:lnTo>
                        <a:pt x="1271" y="2573"/>
                      </a:lnTo>
                      <a:lnTo>
                        <a:pt x="1286" y="2577"/>
                      </a:lnTo>
                      <a:lnTo>
                        <a:pt x="1292" y="2578"/>
                      </a:lnTo>
                      <a:lnTo>
                        <a:pt x="1297" y="2578"/>
                      </a:lnTo>
                      <a:lnTo>
                        <a:pt x="1311" y="2578"/>
                      </a:lnTo>
                      <a:lnTo>
                        <a:pt x="1334" y="2578"/>
                      </a:lnTo>
                      <a:lnTo>
                        <a:pt x="1364" y="2578"/>
                      </a:lnTo>
                      <a:lnTo>
                        <a:pt x="1401" y="2578"/>
                      </a:lnTo>
                      <a:lnTo>
                        <a:pt x="1441" y="2578"/>
                      </a:lnTo>
                      <a:lnTo>
                        <a:pt x="1487" y="2577"/>
                      </a:lnTo>
                      <a:lnTo>
                        <a:pt x="1536" y="2575"/>
                      </a:lnTo>
                      <a:lnTo>
                        <a:pt x="1586" y="2573"/>
                      </a:lnTo>
                      <a:lnTo>
                        <a:pt x="1636" y="2570"/>
                      </a:lnTo>
                      <a:lnTo>
                        <a:pt x="1687" y="2566"/>
                      </a:lnTo>
                      <a:lnTo>
                        <a:pt x="1735" y="2561"/>
                      </a:lnTo>
                      <a:lnTo>
                        <a:pt x="1781" y="2556"/>
                      </a:lnTo>
                      <a:lnTo>
                        <a:pt x="1825" y="2549"/>
                      </a:lnTo>
                      <a:lnTo>
                        <a:pt x="1863" y="2540"/>
                      </a:lnTo>
                      <a:lnTo>
                        <a:pt x="1894" y="2531"/>
                      </a:lnTo>
                      <a:lnTo>
                        <a:pt x="1896" y="2531"/>
                      </a:lnTo>
                      <a:lnTo>
                        <a:pt x="1901" y="2528"/>
                      </a:lnTo>
                      <a:lnTo>
                        <a:pt x="1909" y="2526"/>
                      </a:lnTo>
                      <a:lnTo>
                        <a:pt x="1918" y="2522"/>
                      </a:lnTo>
                      <a:lnTo>
                        <a:pt x="1931" y="2516"/>
                      </a:lnTo>
                      <a:lnTo>
                        <a:pt x="1944" y="2508"/>
                      </a:lnTo>
                      <a:lnTo>
                        <a:pt x="1961" y="2498"/>
                      </a:lnTo>
                      <a:lnTo>
                        <a:pt x="1978" y="2487"/>
                      </a:lnTo>
                      <a:lnTo>
                        <a:pt x="1997" y="2473"/>
                      </a:lnTo>
                      <a:lnTo>
                        <a:pt x="2016" y="2457"/>
                      </a:lnTo>
                      <a:lnTo>
                        <a:pt x="2036" y="2438"/>
                      </a:lnTo>
                      <a:lnTo>
                        <a:pt x="2056" y="2417"/>
                      </a:lnTo>
                      <a:lnTo>
                        <a:pt x="2077" y="2392"/>
                      </a:lnTo>
                      <a:lnTo>
                        <a:pt x="2096" y="2364"/>
                      </a:lnTo>
                      <a:lnTo>
                        <a:pt x="2116" y="2333"/>
                      </a:lnTo>
                      <a:lnTo>
                        <a:pt x="2135" y="2298"/>
                      </a:lnTo>
                      <a:lnTo>
                        <a:pt x="2156" y="2253"/>
                      </a:lnTo>
                      <a:lnTo>
                        <a:pt x="2174" y="2201"/>
                      </a:lnTo>
                      <a:lnTo>
                        <a:pt x="2190" y="2144"/>
                      </a:lnTo>
                      <a:lnTo>
                        <a:pt x="2204" y="2079"/>
                      </a:lnTo>
                      <a:lnTo>
                        <a:pt x="2213" y="2010"/>
                      </a:lnTo>
                      <a:lnTo>
                        <a:pt x="2219" y="1932"/>
                      </a:lnTo>
                      <a:lnTo>
                        <a:pt x="2221" y="1850"/>
                      </a:lnTo>
                      <a:lnTo>
                        <a:pt x="2217" y="1758"/>
                      </a:lnTo>
                      <a:lnTo>
                        <a:pt x="2198" y="1550"/>
                      </a:lnTo>
                      <a:lnTo>
                        <a:pt x="2171" y="1418"/>
                      </a:lnTo>
                      <a:lnTo>
                        <a:pt x="2144" y="1334"/>
                      </a:lnTo>
                      <a:lnTo>
                        <a:pt x="2119" y="1276"/>
                      </a:lnTo>
                      <a:lnTo>
                        <a:pt x="2099" y="1221"/>
                      </a:lnTo>
                      <a:lnTo>
                        <a:pt x="2090" y="1142"/>
                      </a:lnTo>
                      <a:lnTo>
                        <a:pt x="2095" y="1016"/>
                      </a:lnTo>
                      <a:lnTo>
                        <a:pt x="2119" y="819"/>
                      </a:lnTo>
                      <a:lnTo>
                        <a:pt x="2128" y="744"/>
                      </a:lnTo>
                      <a:lnTo>
                        <a:pt x="2132" y="674"/>
                      </a:lnTo>
                      <a:lnTo>
                        <a:pt x="2131" y="608"/>
                      </a:lnTo>
                      <a:lnTo>
                        <a:pt x="2125" y="545"/>
                      </a:lnTo>
                      <a:lnTo>
                        <a:pt x="2116" y="486"/>
                      </a:lnTo>
                      <a:lnTo>
                        <a:pt x="2103" y="431"/>
                      </a:lnTo>
                      <a:lnTo>
                        <a:pt x="2086" y="380"/>
                      </a:lnTo>
                      <a:lnTo>
                        <a:pt x="2066" y="331"/>
                      </a:lnTo>
                      <a:lnTo>
                        <a:pt x="2049" y="296"/>
                      </a:lnTo>
                      <a:lnTo>
                        <a:pt x="2029" y="263"/>
                      </a:lnTo>
                      <a:lnTo>
                        <a:pt x="2007" y="231"/>
                      </a:lnTo>
                      <a:lnTo>
                        <a:pt x="1985" y="202"/>
                      </a:lnTo>
                      <a:lnTo>
                        <a:pt x="1961" y="176"/>
                      </a:lnTo>
                      <a:lnTo>
                        <a:pt x="1935" y="151"/>
                      </a:lnTo>
                      <a:lnTo>
                        <a:pt x="1909" y="128"/>
                      </a:lnTo>
                      <a:lnTo>
                        <a:pt x="1881" y="107"/>
                      </a:lnTo>
                      <a:lnTo>
                        <a:pt x="1868" y="97"/>
                      </a:lnTo>
                      <a:lnTo>
                        <a:pt x="1855" y="90"/>
                      </a:lnTo>
                      <a:lnTo>
                        <a:pt x="1842" y="82"/>
                      </a:lnTo>
                      <a:lnTo>
                        <a:pt x="1827" y="74"/>
                      </a:lnTo>
                      <a:lnTo>
                        <a:pt x="1814" y="66"/>
                      </a:lnTo>
                      <a:lnTo>
                        <a:pt x="1800" y="59"/>
                      </a:lnTo>
                      <a:lnTo>
                        <a:pt x="1785" y="53"/>
                      </a:lnTo>
                      <a:lnTo>
                        <a:pt x="1771" y="48"/>
                      </a:lnTo>
                      <a:lnTo>
                        <a:pt x="1756" y="41"/>
                      </a:lnTo>
                      <a:lnTo>
                        <a:pt x="1742" y="36"/>
                      </a:lnTo>
                      <a:lnTo>
                        <a:pt x="1727" y="32"/>
                      </a:lnTo>
                      <a:lnTo>
                        <a:pt x="1713" y="27"/>
                      </a:lnTo>
                      <a:lnTo>
                        <a:pt x="1699" y="23"/>
                      </a:lnTo>
                      <a:lnTo>
                        <a:pt x="1684" y="19"/>
                      </a:lnTo>
                      <a:lnTo>
                        <a:pt x="1670" y="15"/>
                      </a:lnTo>
                      <a:lnTo>
                        <a:pt x="1655" y="12"/>
                      </a:lnTo>
                      <a:lnTo>
                        <a:pt x="1638" y="9"/>
                      </a:lnTo>
                      <a:lnTo>
                        <a:pt x="1622" y="7"/>
                      </a:lnTo>
                      <a:lnTo>
                        <a:pt x="1605" y="4"/>
                      </a:lnTo>
                      <a:lnTo>
                        <a:pt x="1590" y="3"/>
                      </a:lnTo>
                      <a:lnTo>
                        <a:pt x="1573" y="2"/>
                      </a:lnTo>
                      <a:lnTo>
                        <a:pt x="1557" y="2"/>
                      </a:lnTo>
                      <a:lnTo>
                        <a:pt x="1540" y="0"/>
                      </a:lnTo>
                      <a:lnTo>
                        <a:pt x="1524" y="2"/>
                      </a:lnTo>
                      <a:lnTo>
                        <a:pt x="1508" y="2"/>
                      </a:lnTo>
                      <a:lnTo>
                        <a:pt x="1492" y="3"/>
                      </a:lnTo>
                      <a:lnTo>
                        <a:pt x="1477" y="4"/>
                      </a:lnTo>
                      <a:lnTo>
                        <a:pt x="1462" y="7"/>
                      </a:lnTo>
                      <a:lnTo>
                        <a:pt x="1447" y="8"/>
                      </a:lnTo>
                      <a:lnTo>
                        <a:pt x="1432" y="12"/>
                      </a:lnTo>
                      <a:lnTo>
                        <a:pt x="1418" y="15"/>
                      </a:lnTo>
                      <a:lnTo>
                        <a:pt x="1403" y="19"/>
                      </a:lnTo>
                      <a:lnTo>
                        <a:pt x="1349" y="34"/>
                      </a:lnTo>
                      <a:lnTo>
                        <a:pt x="1303" y="53"/>
                      </a:lnTo>
                      <a:lnTo>
                        <a:pt x="1263" y="70"/>
                      </a:lnTo>
                      <a:lnTo>
                        <a:pt x="1227" y="88"/>
                      </a:lnTo>
                      <a:lnTo>
                        <a:pt x="1194" y="105"/>
                      </a:lnTo>
                      <a:lnTo>
                        <a:pt x="1163" y="122"/>
                      </a:lnTo>
                      <a:lnTo>
                        <a:pt x="1131" y="138"/>
                      </a:lnTo>
                      <a:lnTo>
                        <a:pt x="1099" y="151"/>
                      </a:lnTo>
                      <a:lnTo>
                        <a:pt x="1062" y="164"/>
                      </a:lnTo>
                      <a:lnTo>
                        <a:pt x="1021" y="174"/>
                      </a:lnTo>
                      <a:lnTo>
                        <a:pt x="975" y="180"/>
                      </a:lnTo>
                      <a:lnTo>
                        <a:pt x="921" y="184"/>
                      </a:lnTo>
                      <a:lnTo>
                        <a:pt x="860" y="184"/>
                      </a:lnTo>
                      <a:lnTo>
                        <a:pt x="786" y="180"/>
                      </a:lnTo>
                      <a:lnTo>
                        <a:pt x="702" y="172"/>
                      </a:lnTo>
                      <a:lnTo>
                        <a:pt x="604" y="159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3" name="Freeform 33"/>
                <p:cNvSpPr>
                  <a:spLocks/>
                </p:cNvSpPr>
                <p:nvPr/>
              </p:nvSpPr>
              <p:spPr bwMode="auto">
                <a:xfrm>
                  <a:off x="2615" y="2367"/>
                  <a:ext cx="22" cy="28"/>
                </a:xfrm>
                <a:custGeom>
                  <a:avLst/>
                  <a:gdLst>
                    <a:gd name="T0" fmla="*/ 59 w 87"/>
                    <a:gd name="T1" fmla="*/ 109 h 109"/>
                    <a:gd name="T2" fmla="*/ 87 w 87"/>
                    <a:gd name="T3" fmla="*/ 0 h 109"/>
                    <a:gd name="T4" fmla="*/ 0 w 87"/>
                    <a:gd name="T5" fmla="*/ 55 h 109"/>
                    <a:gd name="T6" fmla="*/ 0 w 87"/>
                    <a:gd name="T7" fmla="*/ 109 h 109"/>
                    <a:gd name="T8" fmla="*/ 59 w 87"/>
                    <a:gd name="T9" fmla="*/ 109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109">
                      <a:moveTo>
                        <a:pt x="59" y="109"/>
                      </a:moveTo>
                      <a:lnTo>
                        <a:pt x="87" y="0"/>
                      </a:lnTo>
                      <a:lnTo>
                        <a:pt x="0" y="55"/>
                      </a:lnTo>
                      <a:lnTo>
                        <a:pt x="0" y="109"/>
                      </a:lnTo>
                      <a:lnTo>
                        <a:pt x="59" y="10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4" name="Freeform 34"/>
                <p:cNvSpPr>
                  <a:spLocks/>
                </p:cNvSpPr>
                <p:nvPr/>
              </p:nvSpPr>
              <p:spPr bwMode="auto">
                <a:xfrm>
                  <a:off x="2430" y="2379"/>
                  <a:ext cx="287" cy="340"/>
                </a:xfrm>
                <a:custGeom>
                  <a:avLst/>
                  <a:gdLst>
                    <a:gd name="T0" fmla="*/ 576 w 1147"/>
                    <a:gd name="T1" fmla="*/ 749 h 1357"/>
                    <a:gd name="T2" fmla="*/ 611 w 1147"/>
                    <a:gd name="T3" fmla="*/ 642 h 1357"/>
                    <a:gd name="T4" fmla="*/ 604 w 1147"/>
                    <a:gd name="T5" fmla="*/ 570 h 1357"/>
                    <a:gd name="T6" fmla="*/ 579 w 1147"/>
                    <a:gd name="T7" fmla="*/ 534 h 1357"/>
                    <a:gd name="T8" fmla="*/ 545 w 1147"/>
                    <a:gd name="T9" fmla="*/ 505 h 1357"/>
                    <a:gd name="T10" fmla="*/ 524 w 1147"/>
                    <a:gd name="T11" fmla="*/ 458 h 1357"/>
                    <a:gd name="T12" fmla="*/ 515 w 1147"/>
                    <a:gd name="T13" fmla="*/ 371 h 1357"/>
                    <a:gd name="T14" fmla="*/ 0 w 1147"/>
                    <a:gd name="T15" fmla="*/ 252 h 1357"/>
                    <a:gd name="T16" fmla="*/ 56 w 1147"/>
                    <a:gd name="T17" fmla="*/ 253 h 1357"/>
                    <a:gd name="T18" fmla="*/ 157 w 1147"/>
                    <a:gd name="T19" fmla="*/ 259 h 1357"/>
                    <a:gd name="T20" fmla="*/ 218 w 1147"/>
                    <a:gd name="T21" fmla="*/ 273 h 1357"/>
                    <a:gd name="T22" fmla="*/ 271 w 1147"/>
                    <a:gd name="T23" fmla="*/ 281 h 1357"/>
                    <a:gd name="T24" fmla="*/ 309 w 1147"/>
                    <a:gd name="T25" fmla="*/ 284 h 1357"/>
                    <a:gd name="T26" fmla="*/ 430 w 1147"/>
                    <a:gd name="T27" fmla="*/ 245 h 1357"/>
                    <a:gd name="T28" fmla="*/ 464 w 1147"/>
                    <a:gd name="T29" fmla="*/ 227 h 1357"/>
                    <a:gd name="T30" fmla="*/ 518 w 1147"/>
                    <a:gd name="T31" fmla="*/ 209 h 1357"/>
                    <a:gd name="T32" fmla="*/ 565 w 1147"/>
                    <a:gd name="T33" fmla="*/ 197 h 1357"/>
                    <a:gd name="T34" fmla="*/ 603 w 1147"/>
                    <a:gd name="T35" fmla="*/ 180 h 1357"/>
                    <a:gd name="T36" fmla="*/ 666 w 1147"/>
                    <a:gd name="T37" fmla="*/ 173 h 1357"/>
                    <a:gd name="T38" fmla="*/ 707 w 1147"/>
                    <a:gd name="T39" fmla="*/ 179 h 1357"/>
                    <a:gd name="T40" fmla="*/ 782 w 1147"/>
                    <a:gd name="T41" fmla="*/ 190 h 1357"/>
                    <a:gd name="T42" fmla="*/ 828 w 1147"/>
                    <a:gd name="T43" fmla="*/ 205 h 1357"/>
                    <a:gd name="T44" fmla="*/ 917 w 1147"/>
                    <a:gd name="T45" fmla="*/ 232 h 1357"/>
                    <a:gd name="T46" fmla="*/ 997 w 1147"/>
                    <a:gd name="T47" fmla="*/ 255 h 1357"/>
                    <a:gd name="T48" fmla="*/ 927 w 1147"/>
                    <a:gd name="T49" fmla="*/ 110 h 1357"/>
                    <a:gd name="T50" fmla="*/ 927 w 1147"/>
                    <a:gd name="T51" fmla="*/ 29 h 1357"/>
                    <a:gd name="T52" fmla="*/ 956 w 1147"/>
                    <a:gd name="T53" fmla="*/ 7 h 1357"/>
                    <a:gd name="T54" fmla="*/ 993 w 1147"/>
                    <a:gd name="T55" fmla="*/ 1 h 1357"/>
                    <a:gd name="T56" fmla="*/ 1063 w 1147"/>
                    <a:gd name="T57" fmla="*/ 38 h 1357"/>
                    <a:gd name="T58" fmla="*/ 1117 w 1147"/>
                    <a:gd name="T59" fmla="*/ 143 h 1357"/>
                    <a:gd name="T60" fmla="*/ 1140 w 1147"/>
                    <a:gd name="T61" fmla="*/ 234 h 1357"/>
                    <a:gd name="T62" fmla="*/ 1147 w 1147"/>
                    <a:gd name="T63" fmla="*/ 289 h 1357"/>
                    <a:gd name="T64" fmla="*/ 1119 w 1147"/>
                    <a:gd name="T65" fmla="*/ 365 h 1357"/>
                    <a:gd name="T66" fmla="*/ 1065 w 1147"/>
                    <a:gd name="T67" fmla="*/ 379 h 1357"/>
                    <a:gd name="T68" fmla="*/ 1014 w 1147"/>
                    <a:gd name="T69" fmla="*/ 385 h 1357"/>
                    <a:gd name="T70" fmla="*/ 977 w 1147"/>
                    <a:gd name="T71" fmla="*/ 383 h 1357"/>
                    <a:gd name="T72" fmla="*/ 925 w 1147"/>
                    <a:gd name="T73" fmla="*/ 379 h 1357"/>
                    <a:gd name="T74" fmla="*/ 896 w 1147"/>
                    <a:gd name="T75" fmla="*/ 377 h 1357"/>
                    <a:gd name="T76" fmla="*/ 833 w 1147"/>
                    <a:gd name="T77" fmla="*/ 633 h 1357"/>
                    <a:gd name="T78" fmla="*/ 872 w 1147"/>
                    <a:gd name="T79" fmla="*/ 675 h 1357"/>
                    <a:gd name="T80" fmla="*/ 948 w 1147"/>
                    <a:gd name="T81" fmla="*/ 790 h 1357"/>
                    <a:gd name="T82" fmla="*/ 983 w 1147"/>
                    <a:gd name="T83" fmla="*/ 923 h 1357"/>
                    <a:gd name="T84" fmla="*/ 960 w 1147"/>
                    <a:gd name="T85" fmla="*/ 1061 h 1357"/>
                    <a:gd name="T86" fmla="*/ 924 w 1147"/>
                    <a:gd name="T87" fmla="*/ 1124 h 1357"/>
                    <a:gd name="T88" fmla="*/ 872 w 1147"/>
                    <a:gd name="T89" fmla="*/ 1188 h 1357"/>
                    <a:gd name="T90" fmla="*/ 745 w 1147"/>
                    <a:gd name="T91" fmla="*/ 1292 h 1357"/>
                    <a:gd name="T92" fmla="*/ 649 w 1147"/>
                    <a:gd name="T93" fmla="*/ 1357 h 1357"/>
                    <a:gd name="T94" fmla="*/ 568 w 1147"/>
                    <a:gd name="T95" fmla="*/ 799 h 13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147" h="1357">
                      <a:moveTo>
                        <a:pt x="568" y="799"/>
                      </a:moveTo>
                      <a:lnTo>
                        <a:pt x="570" y="785"/>
                      </a:lnTo>
                      <a:lnTo>
                        <a:pt x="576" y="749"/>
                      </a:lnTo>
                      <a:lnTo>
                        <a:pt x="586" y="707"/>
                      </a:lnTo>
                      <a:lnTo>
                        <a:pt x="599" y="669"/>
                      </a:lnTo>
                      <a:lnTo>
                        <a:pt x="611" y="642"/>
                      </a:lnTo>
                      <a:lnTo>
                        <a:pt x="614" y="617"/>
                      </a:lnTo>
                      <a:lnTo>
                        <a:pt x="611" y="595"/>
                      </a:lnTo>
                      <a:lnTo>
                        <a:pt x="604" y="570"/>
                      </a:lnTo>
                      <a:lnTo>
                        <a:pt x="599" y="557"/>
                      </a:lnTo>
                      <a:lnTo>
                        <a:pt x="590" y="545"/>
                      </a:lnTo>
                      <a:lnTo>
                        <a:pt x="579" y="534"/>
                      </a:lnTo>
                      <a:lnTo>
                        <a:pt x="568" y="524"/>
                      </a:lnTo>
                      <a:lnTo>
                        <a:pt x="556" y="515"/>
                      </a:lnTo>
                      <a:lnTo>
                        <a:pt x="545" y="505"/>
                      </a:lnTo>
                      <a:lnTo>
                        <a:pt x="536" y="496"/>
                      </a:lnTo>
                      <a:lnTo>
                        <a:pt x="531" y="487"/>
                      </a:lnTo>
                      <a:lnTo>
                        <a:pt x="524" y="458"/>
                      </a:lnTo>
                      <a:lnTo>
                        <a:pt x="519" y="419"/>
                      </a:lnTo>
                      <a:lnTo>
                        <a:pt x="516" y="386"/>
                      </a:lnTo>
                      <a:lnTo>
                        <a:pt x="515" y="371"/>
                      </a:lnTo>
                      <a:lnTo>
                        <a:pt x="343" y="408"/>
                      </a:lnTo>
                      <a:lnTo>
                        <a:pt x="16" y="382"/>
                      </a:lnTo>
                      <a:lnTo>
                        <a:pt x="0" y="252"/>
                      </a:lnTo>
                      <a:lnTo>
                        <a:pt x="8" y="252"/>
                      </a:lnTo>
                      <a:lnTo>
                        <a:pt x="27" y="252"/>
                      </a:lnTo>
                      <a:lnTo>
                        <a:pt x="56" y="253"/>
                      </a:lnTo>
                      <a:lnTo>
                        <a:pt x="88" y="253"/>
                      </a:lnTo>
                      <a:lnTo>
                        <a:pt x="123" y="256"/>
                      </a:lnTo>
                      <a:lnTo>
                        <a:pt x="157" y="259"/>
                      </a:lnTo>
                      <a:lnTo>
                        <a:pt x="184" y="263"/>
                      </a:lnTo>
                      <a:lnTo>
                        <a:pt x="203" y="268"/>
                      </a:lnTo>
                      <a:lnTo>
                        <a:pt x="218" y="273"/>
                      </a:lnTo>
                      <a:lnTo>
                        <a:pt x="235" y="277"/>
                      </a:lnTo>
                      <a:lnTo>
                        <a:pt x="254" y="280"/>
                      </a:lnTo>
                      <a:lnTo>
                        <a:pt x="271" y="281"/>
                      </a:lnTo>
                      <a:lnTo>
                        <a:pt x="287" y="282"/>
                      </a:lnTo>
                      <a:lnTo>
                        <a:pt x="300" y="284"/>
                      </a:lnTo>
                      <a:lnTo>
                        <a:pt x="309" y="284"/>
                      </a:lnTo>
                      <a:lnTo>
                        <a:pt x="312" y="284"/>
                      </a:lnTo>
                      <a:lnTo>
                        <a:pt x="427" y="247"/>
                      </a:lnTo>
                      <a:lnTo>
                        <a:pt x="430" y="245"/>
                      </a:lnTo>
                      <a:lnTo>
                        <a:pt x="438" y="242"/>
                      </a:lnTo>
                      <a:lnTo>
                        <a:pt x="450" y="235"/>
                      </a:lnTo>
                      <a:lnTo>
                        <a:pt x="464" y="227"/>
                      </a:lnTo>
                      <a:lnTo>
                        <a:pt x="481" y="221"/>
                      </a:lnTo>
                      <a:lnTo>
                        <a:pt x="499" y="214"/>
                      </a:lnTo>
                      <a:lnTo>
                        <a:pt x="518" y="209"/>
                      </a:lnTo>
                      <a:lnTo>
                        <a:pt x="536" y="205"/>
                      </a:lnTo>
                      <a:lnTo>
                        <a:pt x="552" y="202"/>
                      </a:lnTo>
                      <a:lnTo>
                        <a:pt x="565" y="197"/>
                      </a:lnTo>
                      <a:lnTo>
                        <a:pt x="578" y="192"/>
                      </a:lnTo>
                      <a:lnTo>
                        <a:pt x="590" y="185"/>
                      </a:lnTo>
                      <a:lnTo>
                        <a:pt x="603" y="180"/>
                      </a:lnTo>
                      <a:lnTo>
                        <a:pt x="620" y="175"/>
                      </a:lnTo>
                      <a:lnTo>
                        <a:pt x="640" y="173"/>
                      </a:lnTo>
                      <a:lnTo>
                        <a:pt x="666" y="173"/>
                      </a:lnTo>
                      <a:lnTo>
                        <a:pt x="671" y="175"/>
                      </a:lnTo>
                      <a:lnTo>
                        <a:pt x="686" y="176"/>
                      </a:lnTo>
                      <a:lnTo>
                        <a:pt x="707" y="179"/>
                      </a:lnTo>
                      <a:lnTo>
                        <a:pt x="732" y="182"/>
                      </a:lnTo>
                      <a:lnTo>
                        <a:pt x="758" y="186"/>
                      </a:lnTo>
                      <a:lnTo>
                        <a:pt x="782" y="190"/>
                      </a:lnTo>
                      <a:lnTo>
                        <a:pt x="801" y="196"/>
                      </a:lnTo>
                      <a:lnTo>
                        <a:pt x="813" y="200"/>
                      </a:lnTo>
                      <a:lnTo>
                        <a:pt x="828" y="205"/>
                      </a:lnTo>
                      <a:lnTo>
                        <a:pt x="851" y="213"/>
                      </a:lnTo>
                      <a:lnTo>
                        <a:pt x="883" y="222"/>
                      </a:lnTo>
                      <a:lnTo>
                        <a:pt x="917" y="232"/>
                      </a:lnTo>
                      <a:lnTo>
                        <a:pt x="950" y="242"/>
                      </a:lnTo>
                      <a:lnTo>
                        <a:pt x="977" y="249"/>
                      </a:lnTo>
                      <a:lnTo>
                        <a:pt x="997" y="255"/>
                      </a:lnTo>
                      <a:lnTo>
                        <a:pt x="1005" y="257"/>
                      </a:lnTo>
                      <a:lnTo>
                        <a:pt x="933" y="122"/>
                      </a:lnTo>
                      <a:lnTo>
                        <a:pt x="927" y="110"/>
                      </a:lnTo>
                      <a:lnTo>
                        <a:pt x="918" y="83"/>
                      </a:lnTo>
                      <a:lnTo>
                        <a:pt x="916" y="51"/>
                      </a:lnTo>
                      <a:lnTo>
                        <a:pt x="927" y="29"/>
                      </a:lnTo>
                      <a:lnTo>
                        <a:pt x="938" y="21"/>
                      </a:lnTo>
                      <a:lnTo>
                        <a:pt x="947" y="13"/>
                      </a:lnTo>
                      <a:lnTo>
                        <a:pt x="956" y="7"/>
                      </a:lnTo>
                      <a:lnTo>
                        <a:pt x="967" y="1"/>
                      </a:lnTo>
                      <a:lnTo>
                        <a:pt x="979" y="0"/>
                      </a:lnTo>
                      <a:lnTo>
                        <a:pt x="993" y="1"/>
                      </a:lnTo>
                      <a:lnTo>
                        <a:pt x="1013" y="8"/>
                      </a:lnTo>
                      <a:lnTo>
                        <a:pt x="1036" y="18"/>
                      </a:lnTo>
                      <a:lnTo>
                        <a:pt x="1063" y="38"/>
                      </a:lnTo>
                      <a:lnTo>
                        <a:pt x="1084" y="68"/>
                      </a:lnTo>
                      <a:lnTo>
                        <a:pt x="1102" y="105"/>
                      </a:lnTo>
                      <a:lnTo>
                        <a:pt x="1117" y="143"/>
                      </a:lnTo>
                      <a:lnTo>
                        <a:pt x="1127" y="180"/>
                      </a:lnTo>
                      <a:lnTo>
                        <a:pt x="1135" y="211"/>
                      </a:lnTo>
                      <a:lnTo>
                        <a:pt x="1140" y="234"/>
                      </a:lnTo>
                      <a:lnTo>
                        <a:pt x="1141" y="242"/>
                      </a:lnTo>
                      <a:lnTo>
                        <a:pt x="1144" y="256"/>
                      </a:lnTo>
                      <a:lnTo>
                        <a:pt x="1147" y="289"/>
                      </a:lnTo>
                      <a:lnTo>
                        <a:pt x="1144" y="327"/>
                      </a:lnTo>
                      <a:lnTo>
                        <a:pt x="1131" y="356"/>
                      </a:lnTo>
                      <a:lnTo>
                        <a:pt x="1119" y="365"/>
                      </a:lnTo>
                      <a:lnTo>
                        <a:pt x="1103" y="371"/>
                      </a:lnTo>
                      <a:lnTo>
                        <a:pt x="1085" y="377"/>
                      </a:lnTo>
                      <a:lnTo>
                        <a:pt x="1065" y="379"/>
                      </a:lnTo>
                      <a:lnTo>
                        <a:pt x="1046" y="382"/>
                      </a:lnTo>
                      <a:lnTo>
                        <a:pt x="1029" y="383"/>
                      </a:lnTo>
                      <a:lnTo>
                        <a:pt x="1014" y="385"/>
                      </a:lnTo>
                      <a:lnTo>
                        <a:pt x="1004" y="385"/>
                      </a:lnTo>
                      <a:lnTo>
                        <a:pt x="993" y="385"/>
                      </a:lnTo>
                      <a:lnTo>
                        <a:pt x="977" y="383"/>
                      </a:lnTo>
                      <a:lnTo>
                        <a:pt x="960" y="382"/>
                      </a:lnTo>
                      <a:lnTo>
                        <a:pt x="942" y="381"/>
                      </a:lnTo>
                      <a:lnTo>
                        <a:pt x="925" y="379"/>
                      </a:lnTo>
                      <a:lnTo>
                        <a:pt x="910" y="378"/>
                      </a:lnTo>
                      <a:lnTo>
                        <a:pt x="900" y="377"/>
                      </a:lnTo>
                      <a:lnTo>
                        <a:pt x="896" y="377"/>
                      </a:lnTo>
                      <a:lnTo>
                        <a:pt x="849" y="382"/>
                      </a:lnTo>
                      <a:lnTo>
                        <a:pt x="808" y="538"/>
                      </a:lnTo>
                      <a:lnTo>
                        <a:pt x="833" y="633"/>
                      </a:lnTo>
                      <a:lnTo>
                        <a:pt x="838" y="638"/>
                      </a:lnTo>
                      <a:lnTo>
                        <a:pt x="853" y="651"/>
                      </a:lnTo>
                      <a:lnTo>
                        <a:pt x="872" y="675"/>
                      </a:lnTo>
                      <a:lnTo>
                        <a:pt x="897" y="705"/>
                      </a:lnTo>
                      <a:lnTo>
                        <a:pt x="924" y="744"/>
                      </a:lnTo>
                      <a:lnTo>
                        <a:pt x="948" y="790"/>
                      </a:lnTo>
                      <a:lnTo>
                        <a:pt x="969" y="844"/>
                      </a:lnTo>
                      <a:lnTo>
                        <a:pt x="985" y="903"/>
                      </a:lnTo>
                      <a:lnTo>
                        <a:pt x="983" y="923"/>
                      </a:lnTo>
                      <a:lnTo>
                        <a:pt x="976" y="967"/>
                      </a:lnTo>
                      <a:lnTo>
                        <a:pt x="968" y="1020"/>
                      </a:lnTo>
                      <a:lnTo>
                        <a:pt x="960" y="1061"/>
                      </a:lnTo>
                      <a:lnTo>
                        <a:pt x="954" y="1079"/>
                      </a:lnTo>
                      <a:lnTo>
                        <a:pt x="941" y="1100"/>
                      </a:lnTo>
                      <a:lnTo>
                        <a:pt x="924" y="1124"/>
                      </a:lnTo>
                      <a:lnTo>
                        <a:pt x="905" y="1148"/>
                      </a:lnTo>
                      <a:lnTo>
                        <a:pt x="887" y="1169"/>
                      </a:lnTo>
                      <a:lnTo>
                        <a:pt x="872" y="1188"/>
                      </a:lnTo>
                      <a:lnTo>
                        <a:pt x="860" y="1201"/>
                      </a:lnTo>
                      <a:lnTo>
                        <a:pt x="857" y="1205"/>
                      </a:lnTo>
                      <a:lnTo>
                        <a:pt x="745" y="1292"/>
                      </a:lnTo>
                      <a:lnTo>
                        <a:pt x="706" y="1332"/>
                      </a:lnTo>
                      <a:lnTo>
                        <a:pt x="678" y="1357"/>
                      </a:lnTo>
                      <a:lnTo>
                        <a:pt x="649" y="1357"/>
                      </a:lnTo>
                      <a:lnTo>
                        <a:pt x="625" y="886"/>
                      </a:lnTo>
                      <a:lnTo>
                        <a:pt x="578" y="862"/>
                      </a:lnTo>
                      <a:lnTo>
                        <a:pt x="568" y="7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5" name="Freeform 35"/>
                <p:cNvSpPr>
                  <a:spLocks/>
                </p:cNvSpPr>
                <p:nvPr/>
              </p:nvSpPr>
              <p:spPr bwMode="auto">
                <a:xfrm>
                  <a:off x="2409" y="2184"/>
                  <a:ext cx="257" cy="250"/>
                </a:xfrm>
                <a:custGeom>
                  <a:avLst/>
                  <a:gdLst>
                    <a:gd name="T0" fmla="*/ 173 w 1027"/>
                    <a:gd name="T1" fmla="*/ 17 h 1000"/>
                    <a:gd name="T2" fmla="*/ 189 w 1027"/>
                    <a:gd name="T3" fmla="*/ 67 h 1000"/>
                    <a:gd name="T4" fmla="*/ 194 w 1027"/>
                    <a:gd name="T5" fmla="*/ 144 h 1000"/>
                    <a:gd name="T6" fmla="*/ 160 w 1027"/>
                    <a:gd name="T7" fmla="*/ 222 h 1000"/>
                    <a:gd name="T8" fmla="*/ 116 w 1027"/>
                    <a:gd name="T9" fmla="*/ 254 h 1000"/>
                    <a:gd name="T10" fmla="*/ 95 w 1027"/>
                    <a:gd name="T11" fmla="*/ 266 h 1000"/>
                    <a:gd name="T12" fmla="*/ 61 w 1027"/>
                    <a:gd name="T13" fmla="*/ 290 h 1000"/>
                    <a:gd name="T14" fmla="*/ 26 w 1027"/>
                    <a:gd name="T15" fmla="*/ 324 h 1000"/>
                    <a:gd name="T16" fmla="*/ 4 w 1027"/>
                    <a:gd name="T17" fmla="*/ 367 h 1000"/>
                    <a:gd name="T18" fmla="*/ 3 w 1027"/>
                    <a:gd name="T19" fmla="*/ 421 h 1000"/>
                    <a:gd name="T20" fmla="*/ 36 w 1027"/>
                    <a:gd name="T21" fmla="*/ 483 h 1000"/>
                    <a:gd name="T22" fmla="*/ 112 w 1027"/>
                    <a:gd name="T23" fmla="*/ 554 h 1000"/>
                    <a:gd name="T24" fmla="*/ 172 w 1027"/>
                    <a:gd name="T25" fmla="*/ 593 h 1000"/>
                    <a:gd name="T26" fmla="*/ 183 w 1027"/>
                    <a:gd name="T27" fmla="*/ 600 h 1000"/>
                    <a:gd name="T28" fmla="*/ 202 w 1027"/>
                    <a:gd name="T29" fmla="*/ 613 h 1000"/>
                    <a:gd name="T30" fmla="*/ 233 w 1027"/>
                    <a:gd name="T31" fmla="*/ 630 h 1000"/>
                    <a:gd name="T32" fmla="*/ 272 w 1027"/>
                    <a:gd name="T33" fmla="*/ 649 h 1000"/>
                    <a:gd name="T34" fmla="*/ 320 w 1027"/>
                    <a:gd name="T35" fmla="*/ 672 h 1000"/>
                    <a:gd name="T36" fmla="*/ 378 w 1027"/>
                    <a:gd name="T37" fmla="*/ 697 h 1000"/>
                    <a:gd name="T38" fmla="*/ 444 w 1027"/>
                    <a:gd name="T39" fmla="*/ 719 h 1000"/>
                    <a:gd name="T40" fmla="*/ 521 w 1027"/>
                    <a:gd name="T41" fmla="*/ 751 h 1000"/>
                    <a:gd name="T42" fmla="*/ 586 w 1027"/>
                    <a:gd name="T43" fmla="*/ 817 h 1000"/>
                    <a:gd name="T44" fmla="*/ 626 w 1027"/>
                    <a:gd name="T45" fmla="*/ 900 h 1000"/>
                    <a:gd name="T46" fmla="*/ 645 w 1027"/>
                    <a:gd name="T47" fmla="*/ 967 h 1000"/>
                    <a:gd name="T48" fmla="*/ 650 w 1027"/>
                    <a:gd name="T49" fmla="*/ 988 h 1000"/>
                    <a:gd name="T50" fmla="*/ 676 w 1027"/>
                    <a:gd name="T51" fmla="*/ 997 h 1000"/>
                    <a:gd name="T52" fmla="*/ 721 w 1027"/>
                    <a:gd name="T53" fmla="*/ 1000 h 1000"/>
                    <a:gd name="T54" fmla="*/ 772 w 1027"/>
                    <a:gd name="T55" fmla="*/ 982 h 1000"/>
                    <a:gd name="T56" fmla="*/ 798 w 1027"/>
                    <a:gd name="T57" fmla="*/ 954 h 1000"/>
                    <a:gd name="T58" fmla="*/ 812 w 1027"/>
                    <a:gd name="T59" fmla="*/ 915 h 1000"/>
                    <a:gd name="T60" fmla="*/ 833 w 1027"/>
                    <a:gd name="T61" fmla="*/ 857 h 1000"/>
                    <a:gd name="T62" fmla="*/ 854 w 1027"/>
                    <a:gd name="T63" fmla="*/ 803 h 1000"/>
                    <a:gd name="T64" fmla="*/ 875 w 1027"/>
                    <a:gd name="T65" fmla="*/ 766 h 1000"/>
                    <a:gd name="T66" fmla="*/ 903 w 1027"/>
                    <a:gd name="T67" fmla="*/ 727 h 1000"/>
                    <a:gd name="T68" fmla="*/ 932 w 1027"/>
                    <a:gd name="T69" fmla="*/ 685 h 1000"/>
                    <a:gd name="T70" fmla="*/ 952 w 1027"/>
                    <a:gd name="T71" fmla="*/ 647 h 1000"/>
                    <a:gd name="T72" fmla="*/ 960 w 1027"/>
                    <a:gd name="T73" fmla="*/ 617 h 1000"/>
                    <a:gd name="T74" fmla="*/ 993 w 1027"/>
                    <a:gd name="T75" fmla="*/ 523 h 1000"/>
                    <a:gd name="T76" fmla="*/ 1023 w 1027"/>
                    <a:gd name="T77" fmla="*/ 386 h 1000"/>
                    <a:gd name="T78" fmla="*/ 1018 w 1027"/>
                    <a:gd name="T79" fmla="*/ 250 h 1000"/>
                    <a:gd name="T80" fmla="*/ 968 w 1027"/>
                    <a:gd name="T81" fmla="*/ 178 h 1000"/>
                    <a:gd name="T82" fmla="*/ 902 w 1027"/>
                    <a:gd name="T83" fmla="*/ 135 h 1000"/>
                    <a:gd name="T84" fmla="*/ 813 w 1027"/>
                    <a:gd name="T85" fmla="*/ 96 h 1000"/>
                    <a:gd name="T86" fmla="*/ 707 w 1027"/>
                    <a:gd name="T87" fmla="*/ 60 h 1000"/>
                    <a:gd name="T88" fmla="*/ 588 w 1027"/>
                    <a:gd name="T89" fmla="*/ 31 h 1000"/>
                    <a:gd name="T90" fmla="*/ 465 w 1027"/>
                    <a:gd name="T91" fmla="*/ 10 h 1000"/>
                    <a:gd name="T92" fmla="*/ 341 w 1027"/>
                    <a:gd name="T93" fmla="*/ 1 h 1000"/>
                    <a:gd name="T94" fmla="*/ 225 w 1027"/>
                    <a:gd name="T95" fmla="*/ 2 h 1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027" h="1000">
                      <a:moveTo>
                        <a:pt x="169" y="9"/>
                      </a:moveTo>
                      <a:lnTo>
                        <a:pt x="173" y="17"/>
                      </a:lnTo>
                      <a:lnTo>
                        <a:pt x="181" y="37"/>
                      </a:lnTo>
                      <a:lnTo>
                        <a:pt x="189" y="67"/>
                      </a:lnTo>
                      <a:lnTo>
                        <a:pt x="196" y="103"/>
                      </a:lnTo>
                      <a:lnTo>
                        <a:pt x="194" y="144"/>
                      </a:lnTo>
                      <a:lnTo>
                        <a:pt x="184" y="184"/>
                      </a:lnTo>
                      <a:lnTo>
                        <a:pt x="160" y="222"/>
                      </a:lnTo>
                      <a:lnTo>
                        <a:pt x="120" y="253"/>
                      </a:lnTo>
                      <a:lnTo>
                        <a:pt x="116" y="254"/>
                      </a:lnTo>
                      <a:lnTo>
                        <a:pt x="108" y="260"/>
                      </a:lnTo>
                      <a:lnTo>
                        <a:pt x="95" y="266"/>
                      </a:lnTo>
                      <a:lnTo>
                        <a:pt x="78" y="277"/>
                      </a:lnTo>
                      <a:lnTo>
                        <a:pt x="61" y="290"/>
                      </a:lnTo>
                      <a:lnTo>
                        <a:pt x="43" y="306"/>
                      </a:lnTo>
                      <a:lnTo>
                        <a:pt x="26" y="324"/>
                      </a:lnTo>
                      <a:lnTo>
                        <a:pt x="13" y="344"/>
                      </a:lnTo>
                      <a:lnTo>
                        <a:pt x="4" y="367"/>
                      </a:lnTo>
                      <a:lnTo>
                        <a:pt x="0" y="392"/>
                      </a:lnTo>
                      <a:lnTo>
                        <a:pt x="3" y="421"/>
                      </a:lnTo>
                      <a:lnTo>
                        <a:pt x="15" y="451"/>
                      </a:lnTo>
                      <a:lnTo>
                        <a:pt x="36" y="483"/>
                      </a:lnTo>
                      <a:lnTo>
                        <a:pt x="67" y="517"/>
                      </a:lnTo>
                      <a:lnTo>
                        <a:pt x="112" y="554"/>
                      </a:lnTo>
                      <a:lnTo>
                        <a:pt x="171" y="592"/>
                      </a:lnTo>
                      <a:lnTo>
                        <a:pt x="172" y="593"/>
                      </a:lnTo>
                      <a:lnTo>
                        <a:pt x="176" y="596"/>
                      </a:lnTo>
                      <a:lnTo>
                        <a:pt x="183" y="600"/>
                      </a:lnTo>
                      <a:lnTo>
                        <a:pt x="192" y="605"/>
                      </a:lnTo>
                      <a:lnTo>
                        <a:pt x="202" y="613"/>
                      </a:lnTo>
                      <a:lnTo>
                        <a:pt x="217" y="621"/>
                      </a:lnTo>
                      <a:lnTo>
                        <a:pt x="233" y="630"/>
                      </a:lnTo>
                      <a:lnTo>
                        <a:pt x="251" y="639"/>
                      </a:lnTo>
                      <a:lnTo>
                        <a:pt x="272" y="649"/>
                      </a:lnTo>
                      <a:lnTo>
                        <a:pt x="296" y="661"/>
                      </a:lnTo>
                      <a:lnTo>
                        <a:pt x="320" y="672"/>
                      </a:lnTo>
                      <a:lnTo>
                        <a:pt x="348" y="684"/>
                      </a:lnTo>
                      <a:lnTo>
                        <a:pt x="378" y="697"/>
                      </a:lnTo>
                      <a:lnTo>
                        <a:pt x="411" y="709"/>
                      </a:lnTo>
                      <a:lnTo>
                        <a:pt x="444" y="719"/>
                      </a:lnTo>
                      <a:lnTo>
                        <a:pt x="481" y="731"/>
                      </a:lnTo>
                      <a:lnTo>
                        <a:pt x="521" y="751"/>
                      </a:lnTo>
                      <a:lnTo>
                        <a:pt x="557" y="781"/>
                      </a:lnTo>
                      <a:lnTo>
                        <a:pt x="586" y="817"/>
                      </a:lnTo>
                      <a:lnTo>
                        <a:pt x="609" y="858"/>
                      </a:lnTo>
                      <a:lnTo>
                        <a:pt x="626" y="900"/>
                      </a:lnTo>
                      <a:lnTo>
                        <a:pt x="638" y="937"/>
                      </a:lnTo>
                      <a:lnTo>
                        <a:pt x="645" y="967"/>
                      </a:lnTo>
                      <a:lnTo>
                        <a:pt x="646" y="987"/>
                      </a:lnTo>
                      <a:lnTo>
                        <a:pt x="650" y="988"/>
                      </a:lnTo>
                      <a:lnTo>
                        <a:pt x="661" y="993"/>
                      </a:lnTo>
                      <a:lnTo>
                        <a:pt x="676" y="997"/>
                      </a:lnTo>
                      <a:lnTo>
                        <a:pt x="697" y="1000"/>
                      </a:lnTo>
                      <a:lnTo>
                        <a:pt x="721" y="1000"/>
                      </a:lnTo>
                      <a:lnTo>
                        <a:pt x="746" y="995"/>
                      </a:lnTo>
                      <a:lnTo>
                        <a:pt x="772" y="982"/>
                      </a:lnTo>
                      <a:lnTo>
                        <a:pt x="797" y="959"/>
                      </a:lnTo>
                      <a:lnTo>
                        <a:pt x="798" y="954"/>
                      </a:lnTo>
                      <a:lnTo>
                        <a:pt x="804" y="937"/>
                      </a:lnTo>
                      <a:lnTo>
                        <a:pt x="812" y="915"/>
                      </a:lnTo>
                      <a:lnTo>
                        <a:pt x="821" y="887"/>
                      </a:lnTo>
                      <a:lnTo>
                        <a:pt x="833" y="857"/>
                      </a:lnTo>
                      <a:lnTo>
                        <a:pt x="843" y="828"/>
                      </a:lnTo>
                      <a:lnTo>
                        <a:pt x="854" y="803"/>
                      </a:lnTo>
                      <a:lnTo>
                        <a:pt x="864" y="783"/>
                      </a:lnTo>
                      <a:lnTo>
                        <a:pt x="875" y="766"/>
                      </a:lnTo>
                      <a:lnTo>
                        <a:pt x="889" y="747"/>
                      </a:lnTo>
                      <a:lnTo>
                        <a:pt x="903" y="727"/>
                      </a:lnTo>
                      <a:lnTo>
                        <a:pt x="918" y="706"/>
                      </a:lnTo>
                      <a:lnTo>
                        <a:pt x="932" y="685"/>
                      </a:lnTo>
                      <a:lnTo>
                        <a:pt x="943" y="665"/>
                      </a:lnTo>
                      <a:lnTo>
                        <a:pt x="952" y="647"/>
                      </a:lnTo>
                      <a:lnTo>
                        <a:pt x="955" y="630"/>
                      </a:lnTo>
                      <a:lnTo>
                        <a:pt x="960" y="617"/>
                      </a:lnTo>
                      <a:lnTo>
                        <a:pt x="974" y="579"/>
                      </a:lnTo>
                      <a:lnTo>
                        <a:pt x="993" y="523"/>
                      </a:lnTo>
                      <a:lnTo>
                        <a:pt x="1010" y="458"/>
                      </a:lnTo>
                      <a:lnTo>
                        <a:pt x="1023" y="386"/>
                      </a:lnTo>
                      <a:lnTo>
                        <a:pt x="1027" y="315"/>
                      </a:lnTo>
                      <a:lnTo>
                        <a:pt x="1018" y="250"/>
                      </a:lnTo>
                      <a:lnTo>
                        <a:pt x="990" y="199"/>
                      </a:lnTo>
                      <a:lnTo>
                        <a:pt x="968" y="178"/>
                      </a:lnTo>
                      <a:lnTo>
                        <a:pt x="938" y="156"/>
                      </a:lnTo>
                      <a:lnTo>
                        <a:pt x="902" y="135"/>
                      </a:lnTo>
                      <a:lnTo>
                        <a:pt x="860" y="115"/>
                      </a:lnTo>
                      <a:lnTo>
                        <a:pt x="813" y="96"/>
                      </a:lnTo>
                      <a:lnTo>
                        <a:pt x="762" y="77"/>
                      </a:lnTo>
                      <a:lnTo>
                        <a:pt x="707" y="60"/>
                      </a:lnTo>
                      <a:lnTo>
                        <a:pt x="649" y="44"/>
                      </a:lnTo>
                      <a:lnTo>
                        <a:pt x="588" y="31"/>
                      </a:lnTo>
                      <a:lnTo>
                        <a:pt x="527" y="19"/>
                      </a:lnTo>
                      <a:lnTo>
                        <a:pt x="465" y="10"/>
                      </a:lnTo>
                      <a:lnTo>
                        <a:pt x="403" y="4"/>
                      </a:lnTo>
                      <a:lnTo>
                        <a:pt x="341" y="1"/>
                      </a:lnTo>
                      <a:lnTo>
                        <a:pt x="282" y="0"/>
                      </a:lnTo>
                      <a:lnTo>
                        <a:pt x="225" y="2"/>
                      </a:lnTo>
                      <a:lnTo>
                        <a:pt x="169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6" name="Freeform 36"/>
                <p:cNvSpPr>
                  <a:spLocks/>
                </p:cNvSpPr>
                <p:nvPr/>
              </p:nvSpPr>
              <p:spPr bwMode="auto">
                <a:xfrm>
                  <a:off x="2422" y="2194"/>
                  <a:ext cx="235" cy="244"/>
                </a:xfrm>
                <a:custGeom>
                  <a:avLst/>
                  <a:gdLst>
                    <a:gd name="T0" fmla="*/ 183 w 938"/>
                    <a:gd name="T1" fmla="*/ 15 h 979"/>
                    <a:gd name="T2" fmla="*/ 194 w 938"/>
                    <a:gd name="T3" fmla="*/ 63 h 979"/>
                    <a:gd name="T4" fmla="*/ 193 w 938"/>
                    <a:gd name="T5" fmla="*/ 138 h 979"/>
                    <a:gd name="T6" fmla="*/ 159 w 938"/>
                    <a:gd name="T7" fmla="*/ 211 h 979"/>
                    <a:gd name="T8" fmla="*/ 119 w 938"/>
                    <a:gd name="T9" fmla="*/ 242 h 979"/>
                    <a:gd name="T10" fmla="*/ 97 w 938"/>
                    <a:gd name="T11" fmla="*/ 252 h 979"/>
                    <a:gd name="T12" fmla="*/ 63 w 938"/>
                    <a:gd name="T13" fmla="*/ 272 h 979"/>
                    <a:gd name="T14" fmla="*/ 29 w 938"/>
                    <a:gd name="T15" fmla="*/ 301 h 979"/>
                    <a:gd name="T16" fmla="*/ 5 w 938"/>
                    <a:gd name="T17" fmla="*/ 339 h 979"/>
                    <a:gd name="T18" fmla="*/ 1 w 938"/>
                    <a:gd name="T19" fmla="*/ 387 h 979"/>
                    <a:gd name="T20" fmla="*/ 30 w 938"/>
                    <a:gd name="T21" fmla="*/ 442 h 979"/>
                    <a:gd name="T22" fmla="*/ 101 w 938"/>
                    <a:gd name="T23" fmla="*/ 507 h 979"/>
                    <a:gd name="T24" fmla="*/ 159 w 938"/>
                    <a:gd name="T25" fmla="*/ 544 h 979"/>
                    <a:gd name="T26" fmla="*/ 173 w 938"/>
                    <a:gd name="T27" fmla="*/ 550 h 979"/>
                    <a:gd name="T28" fmla="*/ 201 w 938"/>
                    <a:gd name="T29" fmla="*/ 563 h 979"/>
                    <a:gd name="T30" fmla="*/ 237 w 938"/>
                    <a:gd name="T31" fmla="*/ 580 h 979"/>
                    <a:gd name="T32" fmla="*/ 282 w 938"/>
                    <a:gd name="T33" fmla="*/ 600 h 979"/>
                    <a:gd name="T34" fmla="*/ 329 w 938"/>
                    <a:gd name="T35" fmla="*/ 621 h 979"/>
                    <a:gd name="T36" fmla="*/ 378 w 938"/>
                    <a:gd name="T37" fmla="*/ 642 h 979"/>
                    <a:gd name="T38" fmla="*/ 425 w 938"/>
                    <a:gd name="T39" fmla="*/ 660 h 979"/>
                    <a:gd name="T40" fmla="*/ 497 w 938"/>
                    <a:gd name="T41" fmla="*/ 697 h 979"/>
                    <a:gd name="T42" fmla="*/ 567 w 938"/>
                    <a:gd name="T43" fmla="*/ 777 h 979"/>
                    <a:gd name="T44" fmla="*/ 608 w 938"/>
                    <a:gd name="T45" fmla="*/ 868 h 979"/>
                    <a:gd name="T46" fmla="*/ 627 w 938"/>
                    <a:gd name="T47" fmla="*/ 939 h 979"/>
                    <a:gd name="T48" fmla="*/ 634 w 938"/>
                    <a:gd name="T49" fmla="*/ 961 h 979"/>
                    <a:gd name="T50" fmla="*/ 638 w 938"/>
                    <a:gd name="T51" fmla="*/ 971 h 979"/>
                    <a:gd name="T52" fmla="*/ 648 w 938"/>
                    <a:gd name="T53" fmla="*/ 979 h 979"/>
                    <a:gd name="T54" fmla="*/ 669 w 938"/>
                    <a:gd name="T55" fmla="*/ 971 h 979"/>
                    <a:gd name="T56" fmla="*/ 688 w 938"/>
                    <a:gd name="T57" fmla="*/ 948 h 979"/>
                    <a:gd name="T58" fmla="*/ 705 w 938"/>
                    <a:gd name="T59" fmla="*/ 893 h 979"/>
                    <a:gd name="T60" fmla="*/ 730 w 938"/>
                    <a:gd name="T61" fmla="*/ 811 h 979"/>
                    <a:gd name="T62" fmla="*/ 755 w 938"/>
                    <a:gd name="T63" fmla="*/ 740 h 979"/>
                    <a:gd name="T64" fmla="*/ 774 w 938"/>
                    <a:gd name="T65" fmla="*/ 704 h 979"/>
                    <a:gd name="T66" fmla="*/ 808 w 938"/>
                    <a:gd name="T67" fmla="*/ 668 h 979"/>
                    <a:gd name="T68" fmla="*/ 844 w 938"/>
                    <a:gd name="T69" fmla="*/ 630 h 979"/>
                    <a:gd name="T70" fmla="*/ 870 w 938"/>
                    <a:gd name="T71" fmla="*/ 595 h 979"/>
                    <a:gd name="T72" fmla="*/ 879 w 938"/>
                    <a:gd name="T73" fmla="*/ 568 h 979"/>
                    <a:gd name="T74" fmla="*/ 908 w 938"/>
                    <a:gd name="T75" fmla="*/ 486 h 979"/>
                    <a:gd name="T76" fmla="*/ 934 w 938"/>
                    <a:gd name="T77" fmla="*/ 364 h 979"/>
                    <a:gd name="T78" fmla="*/ 929 w 938"/>
                    <a:gd name="T79" fmla="*/ 243 h 979"/>
                    <a:gd name="T80" fmla="*/ 886 w 938"/>
                    <a:gd name="T81" fmla="*/ 176 h 979"/>
                    <a:gd name="T82" fmla="*/ 827 w 938"/>
                    <a:gd name="T83" fmla="*/ 137 h 979"/>
                    <a:gd name="T84" fmla="*/ 749 w 938"/>
                    <a:gd name="T85" fmla="*/ 99 h 979"/>
                    <a:gd name="T86" fmla="*/ 656 w 938"/>
                    <a:gd name="T87" fmla="*/ 63 h 979"/>
                    <a:gd name="T88" fmla="*/ 552 w 938"/>
                    <a:gd name="T89" fmla="*/ 34 h 979"/>
                    <a:gd name="T90" fmla="*/ 443 w 938"/>
                    <a:gd name="T91" fmla="*/ 13 h 979"/>
                    <a:gd name="T92" fmla="*/ 334 w 938"/>
                    <a:gd name="T93" fmla="*/ 1 h 979"/>
                    <a:gd name="T94" fmla="*/ 229 w 938"/>
                    <a:gd name="T95" fmla="*/ 1 h 9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938" h="979">
                      <a:moveTo>
                        <a:pt x="181" y="7"/>
                      </a:moveTo>
                      <a:lnTo>
                        <a:pt x="183" y="15"/>
                      </a:lnTo>
                      <a:lnTo>
                        <a:pt x="189" y="34"/>
                      </a:lnTo>
                      <a:lnTo>
                        <a:pt x="194" y="63"/>
                      </a:lnTo>
                      <a:lnTo>
                        <a:pt x="197" y="99"/>
                      </a:lnTo>
                      <a:lnTo>
                        <a:pt x="193" y="138"/>
                      </a:lnTo>
                      <a:lnTo>
                        <a:pt x="181" y="176"/>
                      </a:lnTo>
                      <a:lnTo>
                        <a:pt x="159" y="211"/>
                      </a:lnTo>
                      <a:lnTo>
                        <a:pt x="122" y="240"/>
                      </a:lnTo>
                      <a:lnTo>
                        <a:pt x="119" y="242"/>
                      </a:lnTo>
                      <a:lnTo>
                        <a:pt x="110" y="246"/>
                      </a:lnTo>
                      <a:lnTo>
                        <a:pt x="97" y="252"/>
                      </a:lnTo>
                      <a:lnTo>
                        <a:pt x="81" y="260"/>
                      </a:lnTo>
                      <a:lnTo>
                        <a:pt x="63" y="272"/>
                      </a:lnTo>
                      <a:lnTo>
                        <a:pt x="46" y="285"/>
                      </a:lnTo>
                      <a:lnTo>
                        <a:pt x="29" y="301"/>
                      </a:lnTo>
                      <a:lnTo>
                        <a:pt x="15" y="319"/>
                      </a:lnTo>
                      <a:lnTo>
                        <a:pt x="5" y="339"/>
                      </a:lnTo>
                      <a:lnTo>
                        <a:pt x="0" y="362"/>
                      </a:lnTo>
                      <a:lnTo>
                        <a:pt x="1" y="387"/>
                      </a:lnTo>
                      <a:lnTo>
                        <a:pt x="11" y="414"/>
                      </a:lnTo>
                      <a:lnTo>
                        <a:pt x="30" y="442"/>
                      </a:lnTo>
                      <a:lnTo>
                        <a:pt x="60" y="474"/>
                      </a:lnTo>
                      <a:lnTo>
                        <a:pt x="101" y="507"/>
                      </a:lnTo>
                      <a:lnTo>
                        <a:pt x="156" y="542"/>
                      </a:lnTo>
                      <a:lnTo>
                        <a:pt x="159" y="544"/>
                      </a:lnTo>
                      <a:lnTo>
                        <a:pt x="164" y="546"/>
                      </a:lnTo>
                      <a:lnTo>
                        <a:pt x="173" y="550"/>
                      </a:lnTo>
                      <a:lnTo>
                        <a:pt x="185" y="557"/>
                      </a:lnTo>
                      <a:lnTo>
                        <a:pt x="201" y="563"/>
                      </a:lnTo>
                      <a:lnTo>
                        <a:pt x="218" y="571"/>
                      </a:lnTo>
                      <a:lnTo>
                        <a:pt x="237" y="580"/>
                      </a:lnTo>
                      <a:lnTo>
                        <a:pt x="258" y="589"/>
                      </a:lnTo>
                      <a:lnTo>
                        <a:pt x="282" y="600"/>
                      </a:lnTo>
                      <a:lnTo>
                        <a:pt x="306" y="610"/>
                      </a:lnTo>
                      <a:lnTo>
                        <a:pt x="329" y="621"/>
                      </a:lnTo>
                      <a:lnTo>
                        <a:pt x="354" y="631"/>
                      </a:lnTo>
                      <a:lnTo>
                        <a:pt x="378" y="642"/>
                      </a:lnTo>
                      <a:lnTo>
                        <a:pt x="401" y="651"/>
                      </a:lnTo>
                      <a:lnTo>
                        <a:pt x="425" y="660"/>
                      </a:lnTo>
                      <a:lnTo>
                        <a:pt x="447" y="670"/>
                      </a:lnTo>
                      <a:lnTo>
                        <a:pt x="497" y="697"/>
                      </a:lnTo>
                      <a:lnTo>
                        <a:pt x="537" y="734"/>
                      </a:lnTo>
                      <a:lnTo>
                        <a:pt x="567" y="777"/>
                      </a:lnTo>
                      <a:lnTo>
                        <a:pt x="590" y="823"/>
                      </a:lnTo>
                      <a:lnTo>
                        <a:pt x="608" y="868"/>
                      </a:lnTo>
                      <a:lnTo>
                        <a:pt x="619" y="907"/>
                      </a:lnTo>
                      <a:lnTo>
                        <a:pt x="627" y="939"/>
                      </a:lnTo>
                      <a:lnTo>
                        <a:pt x="634" y="958"/>
                      </a:lnTo>
                      <a:lnTo>
                        <a:pt x="634" y="961"/>
                      </a:lnTo>
                      <a:lnTo>
                        <a:pt x="635" y="965"/>
                      </a:lnTo>
                      <a:lnTo>
                        <a:pt x="638" y="971"/>
                      </a:lnTo>
                      <a:lnTo>
                        <a:pt x="642" y="977"/>
                      </a:lnTo>
                      <a:lnTo>
                        <a:pt x="648" y="979"/>
                      </a:lnTo>
                      <a:lnTo>
                        <a:pt x="657" y="979"/>
                      </a:lnTo>
                      <a:lnTo>
                        <a:pt x="669" y="971"/>
                      </a:lnTo>
                      <a:lnTo>
                        <a:pt x="685" y="957"/>
                      </a:lnTo>
                      <a:lnTo>
                        <a:pt x="688" y="948"/>
                      </a:lnTo>
                      <a:lnTo>
                        <a:pt x="694" y="925"/>
                      </a:lnTo>
                      <a:lnTo>
                        <a:pt x="705" y="893"/>
                      </a:lnTo>
                      <a:lnTo>
                        <a:pt x="717" y="853"/>
                      </a:lnTo>
                      <a:lnTo>
                        <a:pt x="730" y="811"/>
                      </a:lnTo>
                      <a:lnTo>
                        <a:pt x="741" y="773"/>
                      </a:lnTo>
                      <a:lnTo>
                        <a:pt x="755" y="740"/>
                      </a:lnTo>
                      <a:lnTo>
                        <a:pt x="764" y="719"/>
                      </a:lnTo>
                      <a:lnTo>
                        <a:pt x="774" y="704"/>
                      </a:lnTo>
                      <a:lnTo>
                        <a:pt x="790" y="687"/>
                      </a:lnTo>
                      <a:lnTo>
                        <a:pt x="808" y="668"/>
                      </a:lnTo>
                      <a:lnTo>
                        <a:pt x="827" y="650"/>
                      </a:lnTo>
                      <a:lnTo>
                        <a:pt x="844" y="630"/>
                      </a:lnTo>
                      <a:lnTo>
                        <a:pt x="860" y="612"/>
                      </a:lnTo>
                      <a:lnTo>
                        <a:pt x="870" y="595"/>
                      </a:lnTo>
                      <a:lnTo>
                        <a:pt x="874" y="580"/>
                      </a:lnTo>
                      <a:lnTo>
                        <a:pt x="879" y="568"/>
                      </a:lnTo>
                      <a:lnTo>
                        <a:pt x="891" y="534"/>
                      </a:lnTo>
                      <a:lnTo>
                        <a:pt x="908" y="486"/>
                      </a:lnTo>
                      <a:lnTo>
                        <a:pt x="924" y="427"/>
                      </a:lnTo>
                      <a:lnTo>
                        <a:pt x="934" y="364"/>
                      </a:lnTo>
                      <a:lnTo>
                        <a:pt x="938" y="301"/>
                      </a:lnTo>
                      <a:lnTo>
                        <a:pt x="929" y="243"/>
                      </a:lnTo>
                      <a:lnTo>
                        <a:pt x="906" y="196"/>
                      </a:lnTo>
                      <a:lnTo>
                        <a:pt x="886" y="176"/>
                      </a:lnTo>
                      <a:lnTo>
                        <a:pt x="860" y="156"/>
                      </a:lnTo>
                      <a:lnTo>
                        <a:pt x="827" y="137"/>
                      </a:lnTo>
                      <a:lnTo>
                        <a:pt x="790" y="117"/>
                      </a:lnTo>
                      <a:lnTo>
                        <a:pt x="749" y="99"/>
                      </a:lnTo>
                      <a:lnTo>
                        <a:pt x="703" y="80"/>
                      </a:lnTo>
                      <a:lnTo>
                        <a:pt x="656" y="63"/>
                      </a:lnTo>
                      <a:lnTo>
                        <a:pt x="605" y="47"/>
                      </a:lnTo>
                      <a:lnTo>
                        <a:pt x="552" y="34"/>
                      </a:lnTo>
                      <a:lnTo>
                        <a:pt x="499" y="22"/>
                      </a:lnTo>
                      <a:lnTo>
                        <a:pt x="443" y="13"/>
                      </a:lnTo>
                      <a:lnTo>
                        <a:pt x="388" y="5"/>
                      </a:lnTo>
                      <a:lnTo>
                        <a:pt x="334" y="1"/>
                      </a:lnTo>
                      <a:lnTo>
                        <a:pt x="281" y="0"/>
                      </a:lnTo>
                      <a:lnTo>
                        <a:pt x="229" y="1"/>
                      </a:lnTo>
                      <a:lnTo>
                        <a:pt x="181" y="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7" name="Freeform 37"/>
                <p:cNvSpPr>
                  <a:spLocks/>
                </p:cNvSpPr>
                <p:nvPr/>
              </p:nvSpPr>
              <p:spPr bwMode="auto">
                <a:xfrm>
                  <a:off x="2541" y="2263"/>
                  <a:ext cx="14" cy="25"/>
                </a:xfrm>
                <a:custGeom>
                  <a:avLst/>
                  <a:gdLst>
                    <a:gd name="T0" fmla="*/ 38 w 59"/>
                    <a:gd name="T1" fmla="*/ 96 h 102"/>
                    <a:gd name="T2" fmla="*/ 31 w 59"/>
                    <a:gd name="T3" fmla="*/ 92 h 102"/>
                    <a:gd name="T4" fmla="*/ 27 w 59"/>
                    <a:gd name="T5" fmla="*/ 85 h 102"/>
                    <a:gd name="T6" fmla="*/ 25 w 59"/>
                    <a:gd name="T7" fmla="*/ 75 h 102"/>
                    <a:gd name="T8" fmla="*/ 25 w 59"/>
                    <a:gd name="T9" fmla="*/ 63 h 102"/>
                    <a:gd name="T10" fmla="*/ 27 w 59"/>
                    <a:gd name="T11" fmla="*/ 53 h 102"/>
                    <a:gd name="T12" fmla="*/ 32 w 59"/>
                    <a:gd name="T13" fmla="*/ 43 h 102"/>
                    <a:gd name="T14" fmla="*/ 39 w 59"/>
                    <a:gd name="T15" fmla="*/ 37 h 102"/>
                    <a:gd name="T16" fmla="*/ 46 w 59"/>
                    <a:gd name="T17" fmla="*/ 36 h 102"/>
                    <a:gd name="T18" fmla="*/ 51 w 59"/>
                    <a:gd name="T19" fmla="*/ 38 h 102"/>
                    <a:gd name="T20" fmla="*/ 55 w 59"/>
                    <a:gd name="T21" fmla="*/ 42 h 102"/>
                    <a:gd name="T22" fmla="*/ 57 w 59"/>
                    <a:gd name="T23" fmla="*/ 47 h 102"/>
                    <a:gd name="T24" fmla="*/ 59 w 59"/>
                    <a:gd name="T25" fmla="*/ 54 h 102"/>
                    <a:gd name="T26" fmla="*/ 59 w 59"/>
                    <a:gd name="T27" fmla="*/ 34 h 102"/>
                    <a:gd name="T28" fmla="*/ 55 w 59"/>
                    <a:gd name="T29" fmla="*/ 17 h 102"/>
                    <a:gd name="T30" fmla="*/ 47 w 59"/>
                    <a:gd name="T31" fmla="*/ 5 h 102"/>
                    <a:gd name="T32" fmla="*/ 36 w 59"/>
                    <a:gd name="T33" fmla="*/ 0 h 102"/>
                    <a:gd name="T34" fmla="*/ 25 w 59"/>
                    <a:gd name="T35" fmla="*/ 3 h 102"/>
                    <a:gd name="T36" fmla="*/ 14 w 59"/>
                    <a:gd name="T37" fmla="*/ 13 h 102"/>
                    <a:gd name="T38" fmla="*/ 5 w 59"/>
                    <a:gd name="T39" fmla="*/ 28 h 102"/>
                    <a:gd name="T40" fmla="*/ 0 w 59"/>
                    <a:gd name="T41" fmla="*/ 47 h 102"/>
                    <a:gd name="T42" fmla="*/ 0 w 59"/>
                    <a:gd name="T43" fmla="*/ 68 h 102"/>
                    <a:gd name="T44" fmla="*/ 4 w 59"/>
                    <a:gd name="T45" fmla="*/ 85 h 102"/>
                    <a:gd name="T46" fmla="*/ 11 w 59"/>
                    <a:gd name="T47" fmla="*/ 97 h 102"/>
                    <a:gd name="T48" fmla="*/ 22 w 59"/>
                    <a:gd name="T49" fmla="*/ 102 h 102"/>
                    <a:gd name="T50" fmla="*/ 27 w 59"/>
                    <a:gd name="T51" fmla="*/ 102 h 102"/>
                    <a:gd name="T52" fmla="*/ 31 w 59"/>
                    <a:gd name="T53" fmla="*/ 101 h 102"/>
                    <a:gd name="T54" fmla="*/ 36 w 59"/>
                    <a:gd name="T55" fmla="*/ 100 h 102"/>
                    <a:gd name="T56" fmla="*/ 40 w 59"/>
                    <a:gd name="T57" fmla="*/ 96 h 102"/>
                    <a:gd name="T58" fmla="*/ 39 w 59"/>
                    <a:gd name="T59" fmla="*/ 96 h 102"/>
                    <a:gd name="T60" fmla="*/ 39 w 59"/>
                    <a:gd name="T61" fmla="*/ 96 h 102"/>
                    <a:gd name="T62" fmla="*/ 38 w 59"/>
                    <a:gd name="T63" fmla="*/ 96 h 102"/>
                    <a:gd name="T64" fmla="*/ 38 w 59"/>
                    <a:gd name="T65" fmla="*/ 96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59" h="102">
                      <a:moveTo>
                        <a:pt x="38" y="96"/>
                      </a:moveTo>
                      <a:lnTo>
                        <a:pt x="31" y="92"/>
                      </a:lnTo>
                      <a:lnTo>
                        <a:pt x="27" y="85"/>
                      </a:lnTo>
                      <a:lnTo>
                        <a:pt x="25" y="75"/>
                      </a:lnTo>
                      <a:lnTo>
                        <a:pt x="25" y="63"/>
                      </a:lnTo>
                      <a:lnTo>
                        <a:pt x="27" y="53"/>
                      </a:lnTo>
                      <a:lnTo>
                        <a:pt x="32" y="43"/>
                      </a:lnTo>
                      <a:lnTo>
                        <a:pt x="39" y="37"/>
                      </a:lnTo>
                      <a:lnTo>
                        <a:pt x="46" y="36"/>
                      </a:lnTo>
                      <a:lnTo>
                        <a:pt x="51" y="38"/>
                      </a:lnTo>
                      <a:lnTo>
                        <a:pt x="55" y="42"/>
                      </a:lnTo>
                      <a:lnTo>
                        <a:pt x="57" y="47"/>
                      </a:lnTo>
                      <a:lnTo>
                        <a:pt x="59" y="54"/>
                      </a:lnTo>
                      <a:lnTo>
                        <a:pt x="59" y="34"/>
                      </a:lnTo>
                      <a:lnTo>
                        <a:pt x="55" y="17"/>
                      </a:lnTo>
                      <a:lnTo>
                        <a:pt x="47" y="5"/>
                      </a:lnTo>
                      <a:lnTo>
                        <a:pt x="36" y="0"/>
                      </a:lnTo>
                      <a:lnTo>
                        <a:pt x="25" y="3"/>
                      </a:lnTo>
                      <a:lnTo>
                        <a:pt x="14" y="13"/>
                      </a:lnTo>
                      <a:lnTo>
                        <a:pt x="5" y="28"/>
                      </a:lnTo>
                      <a:lnTo>
                        <a:pt x="0" y="47"/>
                      </a:lnTo>
                      <a:lnTo>
                        <a:pt x="0" y="68"/>
                      </a:lnTo>
                      <a:lnTo>
                        <a:pt x="4" y="85"/>
                      </a:lnTo>
                      <a:lnTo>
                        <a:pt x="11" y="97"/>
                      </a:lnTo>
                      <a:lnTo>
                        <a:pt x="22" y="102"/>
                      </a:lnTo>
                      <a:lnTo>
                        <a:pt x="27" y="102"/>
                      </a:lnTo>
                      <a:lnTo>
                        <a:pt x="31" y="101"/>
                      </a:lnTo>
                      <a:lnTo>
                        <a:pt x="36" y="100"/>
                      </a:lnTo>
                      <a:lnTo>
                        <a:pt x="40" y="96"/>
                      </a:lnTo>
                      <a:lnTo>
                        <a:pt x="39" y="96"/>
                      </a:lnTo>
                      <a:lnTo>
                        <a:pt x="39" y="96"/>
                      </a:lnTo>
                      <a:lnTo>
                        <a:pt x="38" y="96"/>
                      </a:lnTo>
                      <a:lnTo>
                        <a:pt x="38" y="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Freeform 38"/>
                <p:cNvSpPr>
                  <a:spLocks/>
                </p:cNvSpPr>
                <p:nvPr/>
              </p:nvSpPr>
              <p:spPr bwMode="auto">
                <a:xfrm>
                  <a:off x="2475" y="2246"/>
                  <a:ext cx="15" cy="24"/>
                </a:xfrm>
                <a:custGeom>
                  <a:avLst/>
                  <a:gdLst>
                    <a:gd name="T0" fmla="*/ 29 w 60"/>
                    <a:gd name="T1" fmla="*/ 90 h 95"/>
                    <a:gd name="T2" fmla="*/ 24 w 60"/>
                    <a:gd name="T3" fmla="*/ 86 h 95"/>
                    <a:gd name="T4" fmla="*/ 21 w 60"/>
                    <a:gd name="T5" fmla="*/ 78 h 95"/>
                    <a:gd name="T6" fmla="*/ 21 w 60"/>
                    <a:gd name="T7" fmla="*/ 69 h 95"/>
                    <a:gd name="T8" fmla="*/ 24 w 60"/>
                    <a:gd name="T9" fmla="*/ 58 h 95"/>
                    <a:gd name="T10" fmla="*/ 29 w 60"/>
                    <a:gd name="T11" fmla="*/ 48 h 95"/>
                    <a:gd name="T12" fmla="*/ 34 w 60"/>
                    <a:gd name="T13" fmla="*/ 41 h 95"/>
                    <a:gd name="T14" fmla="*/ 42 w 60"/>
                    <a:gd name="T15" fmla="*/ 37 h 95"/>
                    <a:gd name="T16" fmla="*/ 49 w 60"/>
                    <a:gd name="T17" fmla="*/ 37 h 95"/>
                    <a:gd name="T18" fmla="*/ 53 w 60"/>
                    <a:gd name="T19" fmla="*/ 40 h 95"/>
                    <a:gd name="T20" fmla="*/ 55 w 60"/>
                    <a:gd name="T21" fmla="*/ 44 h 95"/>
                    <a:gd name="T22" fmla="*/ 56 w 60"/>
                    <a:gd name="T23" fmla="*/ 49 h 95"/>
                    <a:gd name="T24" fmla="*/ 56 w 60"/>
                    <a:gd name="T25" fmla="*/ 56 h 95"/>
                    <a:gd name="T26" fmla="*/ 60 w 60"/>
                    <a:gd name="T27" fmla="*/ 37 h 95"/>
                    <a:gd name="T28" fmla="*/ 59 w 60"/>
                    <a:gd name="T29" fmla="*/ 21 h 95"/>
                    <a:gd name="T30" fmla="*/ 55 w 60"/>
                    <a:gd name="T31" fmla="*/ 8 h 95"/>
                    <a:gd name="T32" fmla="*/ 46 w 60"/>
                    <a:gd name="T33" fmla="*/ 2 h 95"/>
                    <a:gd name="T34" fmla="*/ 41 w 60"/>
                    <a:gd name="T35" fmla="*/ 0 h 95"/>
                    <a:gd name="T36" fmla="*/ 35 w 60"/>
                    <a:gd name="T37" fmla="*/ 2 h 95"/>
                    <a:gd name="T38" fmla="*/ 29 w 60"/>
                    <a:gd name="T39" fmla="*/ 4 h 95"/>
                    <a:gd name="T40" fmla="*/ 24 w 60"/>
                    <a:gd name="T41" fmla="*/ 8 h 95"/>
                    <a:gd name="T42" fmla="*/ 18 w 60"/>
                    <a:gd name="T43" fmla="*/ 15 h 95"/>
                    <a:gd name="T44" fmla="*/ 13 w 60"/>
                    <a:gd name="T45" fmla="*/ 21 h 95"/>
                    <a:gd name="T46" fmla="*/ 8 w 60"/>
                    <a:gd name="T47" fmla="*/ 29 h 95"/>
                    <a:gd name="T48" fmla="*/ 4 w 60"/>
                    <a:gd name="T49" fmla="*/ 39 h 95"/>
                    <a:gd name="T50" fmla="*/ 0 w 60"/>
                    <a:gd name="T51" fmla="*/ 57 h 95"/>
                    <a:gd name="T52" fmla="*/ 0 w 60"/>
                    <a:gd name="T53" fmla="*/ 74 h 95"/>
                    <a:gd name="T54" fmla="*/ 4 w 60"/>
                    <a:gd name="T55" fmla="*/ 86 h 95"/>
                    <a:gd name="T56" fmla="*/ 13 w 60"/>
                    <a:gd name="T57" fmla="*/ 94 h 95"/>
                    <a:gd name="T58" fmla="*/ 18 w 60"/>
                    <a:gd name="T59" fmla="*/ 95 h 95"/>
                    <a:gd name="T60" fmla="*/ 22 w 60"/>
                    <a:gd name="T61" fmla="*/ 95 h 95"/>
                    <a:gd name="T62" fmla="*/ 28 w 60"/>
                    <a:gd name="T63" fmla="*/ 94 h 95"/>
                    <a:gd name="T64" fmla="*/ 32 w 60"/>
                    <a:gd name="T65" fmla="*/ 91 h 95"/>
                    <a:gd name="T66" fmla="*/ 32 w 60"/>
                    <a:gd name="T67" fmla="*/ 90 h 95"/>
                    <a:gd name="T68" fmla="*/ 30 w 60"/>
                    <a:gd name="T69" fmla="*/ 90 h 95"/>
                    <a:gd name="T70" fmla="*/ 30 w 60"/>
                    <a:gd name="T71" fmla="*/ 90 h 95"/>
                    <a:gd name="T72" fmla="*/ 29 w 60"/>
                    <a:gd name="T73" fmla="*/ 9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60" h="95">
                      <a:moveTo>
                        <a:pt x="29" y="90"/>
                      </a:moveTo>
                      <a:lnTo>
                        <a:pt x="24" y="86"/>
                      </a:lnTo>
                      <a:lnTo>
                        <a:pt x="21" y="78"/>
                      </a:lnTo>
                      <a:lnTo>
                        <a:pt x="21" y="69"/>
                      </a:lnTo>
                      <a:lnTo>
                        <a:pt x="24" y="58"/>
                      </a:lnTo>
                      <a:lnTo>
                        <a:pt x="29" y="48"/>
                      </a:lnTo>
                      <a:lnTo>
                        <a:pt x="34" y="41"/>
                      </a:lnTo>
                      <a:lnTo>
                        <a:pt x="42" y="37"/>
                      </a:lnTo>
                      <a:lnTo>
                        <a:pt x="49" y="37"/>
                      </a:lnTo>
                      <a:lnTo>
                        <a:pt x="53" y="40"/>
                      </a:lnTo>
                      <a:lnTo>
                        <a:pt x="55" y="44"/>
                      </a:lnTo>
                      <a:lnTo>
                        <a:pt x="56" y="49"/>
                      </a:lnTo>
                      <a:lnTo>
                        <a:pt x="56" y="56"/>
                      </a:lnTo>
                      <a:lnTo>
                        <a:pt x="60" y="37"/>
                      </a:lnTo>
                      <a:lnTo>
                        <a:pt x="59" y="21"/>
                      </a:lnTo>
                      <a:lnTo>
                        <a:pt x="55" y="8"/>
                      </a:lnTo>
                      <a:lnTo>
                        <a:pt x="46" y="2"/>
                      </a:lnTo>
                      <a:lnTo>
                        <a:pt x="41" y="0"/>
                      </a:lnTo>
                      <a:lnTo>
                        <a:pt x="35" y="2"/>
                      </a:lnTo>
                      <a:lnTo>
                        <a:pt x="29" y="4"/>
                      </a:lnTo>
                      <a:lnTo>
                        <a:pt x="24" y="8"/>
                      </a:lnTo>
                      <a:lnTo>
                        <a:pt x="18" y="15"/>
                      </a:lnTo>
                      <a:lnTo>
                        <a:pt x="13" y="21"/>
                      </a:lnTo>
                      <a:lnTo>
                        <a:pt x="8" y="29"/>
                      </a:lnTo>
                      <a:lnTo>
                        <a:pt x="4" y="39"/>
                      </a:lnTo>
                      <a:lnTo>
                        <a:pt x="0" y="57"/>
                      </a:lnTo>
                      <a:lnTo>
                        <a:pt x="0" y="74"/>
                      </a:lnTo>
                      <a:lnTo>
                        <a:pt x="4" y="86"/>
                      </a:lnTo>
                      <a:lnTo>
                        <a:pt x="13" y="94"/>
                      </a:lnTo>
                      <a:lnTo>
                        <a:pt x="18" y="95"/>
                      </a:lnTo>
                      <a:lnTo>
                        <a:pt x="22" y="95"/>
                      </a:lnTo>
                      <a:lnTo>
                        <a:pt x="28" y="94"/>
                      </a:lnTo>
                      <a:lnTo>
                        <a:pt x="32" y="91"/>
                      </a:lnTo>
                      <a:lnTo>
                        <a:pt x="32" y="90"/>
                      </a:lnTo>
                      <a:lnTo>
                        <a:pt x="30" y="90"/>
                      </a:lnTo>
                      <a:lnTo>
                        <a:pt x="30" y="90"/>
                      </a:lnTo>
                      <a:lnTo>
                        <a:pt x="29" y="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9" name="Freeform 39"/>
                <p:cNvSpPr>
                  <a:spLocks/>
                </p:cNvSpPr>
                <p:nvPr/>
              </p:nvSpPr>
              <p:spPr bwMode="auto">
                <a:xfrm>
                  <a:off x="2477" y="2274"/>
                  <a:ext cx="20" cy="28"/>
                </a:xfrm>
                <a:custGeom>
                  <a:avLst/>
                  <a:gdLst>
                    <a:gd name="T0" fmla="*/ 80 w 80"/>
                    <a:gd name="T1" fmla="*/ 0 h 115"/>
                    <a:gd name="T2" fmla="*/ 79 w 80"/>
                    <a:gd name="T3" fmla="*/ 2 h 115"/>
                    <a:gd name="T4" fmla="*/ 73 w 80"/>
                    <a:gd name="T5" fmla="*/ 7 h 115"/>
                    <a:gd name="T6" fmla="*/ 67 w 80"/>
                    <a:gd name="T7" fmla="*/ 12 h 115"/>
                    <a:gd name="T8" fmla="*/ 56 w 80"/>
                    <a:gd name="T9" fmla="*/ 20 h 115"/>
                    <a:gd name="T10" fmla="*/ 45 w 80"/>
                    <a:gd name="T11" fmla="*/ 27 h 115"/>
                    <a:gd name="T12" fmla="*/ 31 w 80"/>
                    <a:gd name="T13" fmla="*/ 33 h 115"/>
                    <a:gd name="T14" fmla="*/ 16 w 80"/>
                    <a:gd name="T15" fmla="*/ 37 h 115"/>
                    <a:gd name="T16" fmla="*/ 0 w 80"/>
                    <a:gd name="T17" fmla="*/ 40 h 115"/>
                    <a:gd name="T18" fmla="*/ 0 w 80"/>
                    <a:gd name="T19" fmla="*/ 41 h 115"/>
                    <a:gd name="T20" fmla="*/ 0 w 80"/>
                    <a:gd name="T21" fmla="*/ 46 h 115"/>
                    <a:gd name="T22" fmla="*/ 1 w 80"/>
                    <a:gd name="T23" fmla="*/ 54 h 115"/>
                    <a:gd name="T24" fmla="*/ 4 w 80"/>
                    <a:gd name="T25" fmla="*/ 63 h 115"/>
                    <a:gd name="T26" fmla="*/ 9 w 80"/>
                    <a:gd name="T27" fmla="*/ 74 h 115"/>
                    <a:gd name="T28" fmla="*/ 16 w 80"/>
                    <a:gd name="T29" fmla="*/ 86 h 115"/>
                    <a:gd name="T30" fmla="*/ 26 w 80"/>
                    <a:gd name="T31" fmla="*/ 98 h 115"/>
                    <a:gd name="T32" fmla="*/ 39 w 80"/>
                    <a:gd name="T33" fmla="*/ 109 h 115"/>
                    <a:gd name="T34" fmla="*/ 62 w 80"/>
                    <a:gd name="T35" fmla="*/ 115 h 115"/>
                    <a:gd name="T36" fmla="*/ 58 w 80"/>
                    <a:gd name="T37" fmla="*/ 109 h 115"/>
                    <a:gd name="T38" fmla="*/ 48 w 80"/>
                    <a:gd name="T39" fmla="*/ 98 h 115"/>
                    <a:gd name="T40" fmla="*/ 37 w 80"/>
                    <a:gd name="T41" fmla="*/ 79 h 115"/>
                    <a:gd name="T42" fmla="*/ 25 w 80"/>
                    <a:gd name="T43" fmla="*/ 58 h 115"/>
                    <a:gd name="T44" fmla="*/ 27 w 80"/>
                    <a:gd name="T45" fmla="*/ 57 h 115"/>
                    <a:gd name="T46" fmla="*/ 33 w 80"/>
                    <a:gd name="T47" fmla="*/ 53 h 115"/>
                    <a:gd name="T48" fmla="*/ 39 w 80"/>
                    <a:gd name="T49" fmla="*/ 48 h 115"/>
                    <a:gd name="T50" fmla="*/ 48 w 80"/>
                    <a:gd name="T51" fmla="*/ 41 h 115"/>
                    <a:gd name="T52" fmla="*/ 59 w 80"/>
                    <a:gd name="T53" fmla="*/ 32 h 115"/>
                    <a:gd name="T54" fmla="*/ 67 w 80"/>
                    <a:gd name="T55" fmla="*/ 23 h 115"/>
                    <a:gd name="T56" fmla="*/ 75 w 80"/>
                    <a:gd name="T57" fmla="*/ 11 h 115"/>
                    <a:gd name="T58" fmla="*/ 80 w 80"/>
                    <a:gd name="T59" fmla="*/ 0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80" h="115">
                      <a:moveTo>
                        <a:pt x="80" y="0"/>
                      </a:moveTo>
                      <a:lnTo>
                        <a:pt x="79" y="2"/>
                      </a:lnTo>
                      <a:lnTo>
                        <a:pt x="73" y="7"/>
                      </a:lnTo>
                      <a:lnTo>
                        <a:pt x="67" y="12"/>
                      </a:lnTo>
                      <a:lnTo>
                        <a:pt x="56" y="20"/>
                      </a:lnTo>
                      <a:lnTo>
                        <a:pt x="45" y="27"/>
                      </a:lnTo>
                      <a:lnTo>
                        <a:pt x="31" y="33"/>
                      </a:lnTo>
                      <a:lnTo>
                        <a:pt x="16" y="37"/>
                      </a:lnTo>
                      <a:lnTo>
                        <a:pt x="0" y="40"/>
                      </a:lnTo>
                      <a:lnTo>
                        <a:pt x="0" y="41"/>
                      </a:lnTo>
                      <a:lnTo>
                        <a:pt x="0" y="46"/>
                      </a:lnTo>
                      <a:lnTo>
                        <a:pt x="1" y="54"/>
                      </a:lnTo>
                      <a:lnTo>
                        <a:pt x="4" y="63"/>
                      </a:lnTo>
                      <a:lnTo>
                        <a:pt x="9" y="74"/>
                      </a:lnTo>
                      <a:lnTo>
                        <a:pt x="16" y="86"/>
                      </a:lnTo>
                      <a:lnTo>
                        <a:pt x="26" y="98"/>
                      </a:lnTo>
                      <a:lnTo>
                        <a:pt x="39" y="109"/>
                      </a:lnTo>
                      <a:lnTo>
                        <a:pt x="62" y="115"/>
                      </a:lnTo>
                      <a:lnTo>
                        <a:pt x="58" y="109"/>
                      </a:lnTo>
                      <a:lnTo>
                        <a:pt x="48" y="98"/>
                      </a:lnTo>
                      <a:lnTo>
                        <a:pt x="37" y="79"/>
                      </a:lnTo>
                      <a:lnTo>
                        <a:pt x="25" y="58"/>
                      </a:lnTo>
                      <a:lnTo>
                        <a:pt x="27" y="57"/>
                      </a:lnTo>
                      <a:lnTo>
                        <a:pt x="33" y="53"/>
                      </a:lnTo>
                      <a:lnTo>
                        <a:pt x="39" y="48"/>
                      </a:lnTo>
                      <a:lnTo>
                        <a:pt x="48" y="41"/>
                      </a:lnTo>
                      <a:lnTo>
                        <a:pt x="59" y="32"/>
                      </a:lnTo>
                      <a:lnTo>
                        <a:pt x="67" y="23"/>
                      </a:lnTo>
                      <a:lnTo>
                        <a:pt x="75" y="11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Freeform 40"/>
                <p:cNvSpPr>
                  <a:spLocks/>
                </p:cNvSpPr>
                <p:nvPr/>
              </p:nvSpPr>
              <p:spPr bwMode="auto">
                <a:xfrm>
                  <a:off x="2454" y="2315"/>
                  <a:ext cx="61" cy="53"/>
                </a:xfrm>
                <a:custGeom>
                  <a:avLst/>
                  <a:gdLst>
                    <a:gd name="T0" fmla="*/ 92 w 246"/>
                    <a:gd name="T1" fmla="*/ 202 h 211"/>
                    <a:gd name="T2" fmla="*/ 118 w 246"/>
                    <a:gd name="T3" fmla="*/ 209 h 211"/>
                    <a:gd name="T4" fmla="*/ 142 w 246"/>
                    <a:gd name="T5" fmla="*/ 211 h 211"/>
                    <a:gd name="T6" fmla="*/ 161 w 246"/>
                    <a:gd name="T7" fmla="*/ 210 h 211"/>
                    <a:gd name="T8" fmla="*/ 177 w 246"/>
                    <a:gd name="T9" fmla="*/ 206 h 211"/>
                    <a:gd name="T10" fmla="*/ 192 w 246"/>
                    <a:gd name="T11" fmla="*/ 200 h 211"/>
                    <a:gd name="T12" fmla="*/ 204 w 246"/>
                    <a:gd name="T13" fmla="*/ 190 h 211"/>
                    <a:gd name="T14" fmla="*/ 214 w 246"/>
                    <a:gd name="T15" fmla="*/ 183 h 211"/>
                    <a:gd name="T16" fmla="*/ 222 w 246"/>
                    <a:gd name="T17" fmla="*/ 175 h 211"/>
                    <a:gd name="T18" fmla="*/ 231 w 246"/>
                    <a:gd name="T19" fmla="*/ 162 h 211"/>
                    <a:gd name="T20" fmla="*/ 238 w 246"/>
                    <a:gd name="T21" fmla="*/ 146 h 211"/>
                    <a:gd name="T22" fmla="*/ 243 w 246"/>
                    <a:gd name="T23" fmla="*/ 131 h 211"/>
                    <a:gd name="T24" fmla="*/ 246 w 246"/>
                    <a:gd name="T25" fmla="*/ 125 h 211"/>
                    <a:gd name="T26" fmla="*/ 243 w 246"/>
                    <a:gd name="T27" fmla="*/ 122 h 211"/>
                    <a:gd name="T28" fmla="*/ 234 w 246"/>
                    <a:gd name="T29" fmla="*/ 113 h 211"/>
                    <a:gd name="T30" fmla="*/ 223 w 246"/>
                    <a:gd name="T31" fmla="*/ 101 h 211"/>
                    <a:gd name="T32" fmla="*/ 209 w 246"/>
                    <a:gd name="T33" fmla="*/ 88 h 211"/>
                    <a:gd name="T34" fmla="*/ 196 w 246"/>
                    <a:gd name="T35" fmla="*/ 72 h 211"/>
                    <a:gd name="T36" fmla="*/ 183 w 246"/>
                    <a:gd name="T37" fmla="*/ 59 h 211"/>
                    <a:gd name="T38" fmla="*/ 172 w 246"/>
                    <a:gd name="T39" fmla="*/ 47 h 211"/>
                    <a:gd name="T40" fmla="*/ 167 w 246"/>
                    <a:gd name="T41" fmla="*/ 39 h 211"/>
                    <a:gd name="T42" fmla="*/ 163 w 246"/>
                    <a:gd name="T43" fmla="*/ 34 h 211"/>
                    <a:gd name="T44" fmla="*/ 159 w 246"/>
                    <a:gd name="T45" fmla="*/ 29 h 211"/>
                    <a:gd name="T46" fmla="*/ 154 w 246"/>
                    <a:gd name="T47" fmla="*/ 22 h 211"/>
                    <a:gd name="T48" fmla="*/ 148 w 246"/>
                    <a:gd name="T49" fmla="*/ 17 h 211"/>
                    <a:gd name="T50" fmla="*/ 143 w 246"/>
                    <a:gd name="T51" fmla="*/ 13 h 211"/>
                    <a:gd name="T52" fmla="*/ 137 w 246"/>
                    <a:gd name="T53" fmla="*/ 9 h 211"/>
                    <a:gd name="T54" fmla="*/ 130 w 246"/>
                    <a:gd name="T55" fmla="*/ 7 h 211"/>
                    <a:gd name="T56" fmla="*/ 123 w 246"/>
                    <a:gd name="T57" fmla="*/ 7 h 211"/>
                    <a:gd name="T58" fmla="*/ 113 w 246"/>
                    <a:gd name="T59" fmla="*/ 9 h 211"/>
                    <a:gd name="T60" fmla="*/ 104 w 246"/>
                    <a:gd name="T61" fmla="*/ 15 h 211"/>
                    <a:gd name="T62" fmla="*/ 97 w 246"/>
                    <a:gd name="T63" fmla="*/ 21 h 211"/>
                    <a:gd name="T64" fmla="*/ 95 w 246"/>
                    <a:gd name="T65" fmla="*/ 24 h 211"/>
                    <a:gd name="T66" fmla="*/ 71 w 246"/>
                    <a:gd name="T67" fmla="*/ 5 h 211"/>
                    <a:gd name="T68" fmla="*/ 60 w 246"/>
                    <a:gd name="T69" fmla="*/ 0 h 211"/>
                    <a:gd name="T70" fmla="*/ 54 w 246"/>
                    <a:gd name="T71" fmla="*/ 4 h 211"/>
                    <a:gd name="T72" fmla="*/ 46 w 246"/>
                    <a:gd name="T73" fmla="*/ 12 h 211"/>
                    <a:gd name="T74" fmla="*/ 34 w 246"/>
                    <a:gd name="T75" fmla="*/ 22 h 211"/>
                    <a:gd name="T76" fmla="*/ 25 w 246"/>
                    <a:gd name="T77" fmla="*/ 30 h 211"/>
                    <a:gd name="T78" fmla="*/ 13 w 246"/>
                    <a:gd name="T79" fmla="*/ 41 h 211"/>
                    <a:gd name="T80" fmla="*/ 4 w 246"/>
                    <a:gd name="T81" fmla="*/ 51 h 211"/>
                    <a:gd name="T82" fmla="*/ 0 w 246"/>
                    <a:gd name="T83" fmla="*/ 55 h 211"/>
                    <a:gd name="T84" fmla="*/ 17 w 246"/>
                    <a:gd name="T85" fmla="*/ 83 h 211"/>
                    <a:gd name="T86" fmla="*/ 26 w 246"/>
                    <a:gd name="T87" fmla="*/ 108 h 211"/>
                    <a:gd name="T88" fmla="*/ 28 w 246"/>
                    <a:gd name="T89" fmla="*/ 125 h 211"/>
                    <a:gd name="T90" fmla="*/ 28 w 246"/>
                    <a:gd name="T91" fmla="*/ 131 h 211"/>
                    <a:gd name="T92" fmla="*/ 28 w 246"/>
                    <a:gd name="T93" fmla="*/ 134 h 211"/>
                    <a:gd name="T94" fmla="*/ 28 w 246"/>
                    <a:gd name="T95" fmla="*/ 139 h 211"/>
                    <a:gd name="T96" fmla="*/ 30 w 246"/>
                    <a:gd name="T97" fmla="*/ 147 h 211"/>
                    <a:gd name="T98" fmla="*/ 34 w 246"/>
                    <a:gd name="T99" fmla="*/ 158 h 211"/>
                    <a:gd name="T100" fmla="*/ 42 w 246"/>
                    <a:gd name="T101" fmla="*/ 169 h 211"/>
                    <a:gd name="T102" fmla="*/ 53 w 246"/>
                    <a:gd name="T103" fmla="*/ 181 h 211"/>
                    <a:gd name="T104" fmla="*/ 70 w 246"/>
                    <a:gd name="T105" fmla="*/ 192 h 211"/>
                    <a:gd name="T106" fmla="*/ 92 w 246"/>
                    <a:gd name="T107" fmla="*/ 202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46" h="211">
                      <a:moveTo>
                        <a:pt x="92" y="202"/>
                      </a:moveTo>
                      <a:lnTo>
                        <a:pt x="118" y="209"/>
                      </a:lnTo>
                      <a:lnTo>
                        <a:pt x="142" y="211"/>
                      </a:lnTo>
                      <a:lnTo>
                        <a:pt x="161" y="210"/>
                      </a:lnTo>
                      <a:lnTo>
                        <a:pt x="177" y="206"/>
                      </a:lnTo>
                      <a:lnTo>
                        <a:pt x="192" y="200"/>
                      </a:lnTo>
                      <a:lnTo>
                        <a:pt x="204" y="190"/>
                      </a:lnTo>
                      <a:lnTo>
                        <a:pt x="214" y="183"/>
                      </a:lnTo>
                      <a:lnTo>
                        <a:pt x="222" y="175"/>
                      </a:lnTo>
                      <a:lnTo>
                        <a:pt x="231" y="162"/>
                      </a:lnTo>
                      <a:lnTo>
                        <a:pt x="238" y="146"/>
                      </a:lnTo>
                      <a:lnTo>
                        <a:pt x="243" y="131"/>
                      </a:lnTo>
                      <a:lnTo>
                        <a:pt x="246" y="125"/>
                      </a:lnTo>
                      <a:lnTo>
                        <a:pt x="243" y="122"/>
                      </a:lnTo>
                      <a:lnTo>
                        <a:pt x="234" y="113"/>
                      </a:lnTo>
                      <a:lnTo>
                        <a:pt x="223" y="101"/>
                      </a:lnTo>
                      <a:lnTo>
                        <a:pt x="209" y="88"/>
                      </a:lnTo>
                      <a:lnTo>
                        <a:pt x="196" y="72"/>
                      </a:lnTo>
                      <a:lnTo>
                        <a:pt x="183" y="59"/>
                      </a:lnTo>
                      <a:lnTo>
                        <a:pt x="172" y="47"/>
                      </a:lnTo>
                      <a:lnTo>
                        <a:pt x="167" y="39"/>
                      </a:lnTo>
                      <a:lnTo>
                        <a:pt x="163" y="34"/>
                      </a:lnTo>
                      <a:lnTo>
                        <a:pt x="159" y="29"/>
                      </a:lnTo>
                      <a:lnTo>
                        <a:pt x="154" y="22"/>
                      </a:lnTo>
                      <a:lnTo>
                        <a:pt x="148" y="17"/>
                      </a:lnTo>
                      <a:lnTo>
                        <a:pt x="143" y="13"/>
                      </a:lnTo>
                      <a:lnTo>
                        <a:pt x="137" y="9"/>
                      </a:lnTo>
                      <a:lnTo>
                        <a:pt x="130" y="7"/>
                      </a:lnTo>
                      <a:lnTo>
                        <a:pt x="123" y="7"/>
                      </a:lnTo>
                      <a:lnTo>
                        <a:pt x="113" y="9"/>
                      </a:lnTo>
                      <a:lnTo>
                        <a:pt x="104" y="15"/>
                      </a:lnTo>
                      <a:lnTo>
                        <a:pt x="97" y="21"/>
                      </a:lnTo>
                      <a:lnTo>
                        <a:pt x="95" y="24"/>
                      </a:lnTo>
                      <a:lnTo>
                        <a:pt x="71" y="5"/>
                      </a:lnTo>
                      <a:lnTo>
                        <a:pt x="60" y="0"/>
                      </a:lnTo>
                      <a:lnTo>
                        <a:pt x="54" y="4"/>
                      </a:lnTo>
                      <a:lnTo>
                        <a:pt x="46" y="12"/>
                      </a:lnTo>
                      <a:lnTo>
                        <a:pt x="34" y="22"/>
                      </a:lnTo>
                      <a:lnTo>
                        <a:pt x="25" y="30"/>
                      </a:lnTo>
                      <a:lnTo>
                        <a:pt x="13" y="41"/>
                      </a:lnTo>
                      <a:lnTo>
                        <a:pt x="4" y="51"/>
                      </a:lnTo>
                      <a:lnTo>
                        <a:pt x="0" y="55"/>
                      </a:lnTo>
                      <a:lnTo>
                        <a:pt x="17" y="83"/>
                      </a:lnTo>
                      <a:lnTo>
                        <a:pt x="26" y="108"/>
                      </a:lnTo>
                      <a:lnTo>
                        <a:pt x="28" y="125"/>
                      </a:lnTo>
                      <a:lnTo>
                        <a:pt x="28" y="131"/>
                      </a:lnTo>
                      <a:lnTo>
                        <a:pt x="28" y="134"/>
                      </a:lnTo>
                      <a:lnTo>
                        <a:pt x="28" y="139"/>
                      </a:lnTo>
                      <a:lnTo>
                        <a:pt x="30" y="147"/>
                      </a:lnTo>
                      <a:lnTo>
                        <a:pt x="34" y="158"/>
                      </a:lnTo>
                      <a:lnTo>
                        <a:pt x="42" y="169"/>
                      </a:lnTo>
                      <a:lnTo>
                        <a:pt x="53" y="181"/>
                      </a:lnTo>
                      <a:lnTo>
                        <a:pt x="70" y="192"/>
                      </a:lnTo>
                      <a:lnTo>
                        <a:pt x="92" y="2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Freeform 41"/>
                <p:cNvSpPr>
                  <a:spLocks/>
                </p:cNvSpPr>
                <p:nvPr/>
              </p:nvSpPr>
              <p:spPr bwMode="auto">
                <a:xfrm>
                  <a:off x="2462" y="2321"/>
                  <a:ext cx="47" cy="25"/>
                </a:xfrm>
                <a:custGeom>
                  <a:avLst/>
                  <a:gdLst>
                    <a:gd name="T0" fmla="*/ 0 w 191"/>
                    <a:gd name="T1" fmla="*/ 45 h 102"/>
                    <a:gd name="T2" fmla="*/ 3 w 191"/>
                    <a:gd name="T3" fmla="*/ 39 h 102"/>
                    <a:gd name="T4" fmla="*/ 9 w 191"/>
                    <a:gd name="T5" fmla="*/ 25 h 102"/>
                    <a:gd name="T6" fmla="*/ 19 w 191"/>
                    <a:gd name="T7" fmla="*/ 11 h 102"/>
                    <a:gd name="T8" fmla="*/ 30 w 191"/>
                    <a:gd name="T9" fmla="*/ 0 h 102"/>
                    <a:gd name="T10" fmla="*/ 33 w 191"/>
                    <a:gd name="T11" fmla="*/ 1 h 102"/>
                    <a:gd name="T12" fmla="*/ 40 w 191"/>
                    <a:gd name="T13" fmla="*/ 5 h 102"/>
                    <a:gd name="T14" fmla="*/ 47 w 191"/>
                    <a:gd name="T15" fmla="*/ 11 h 102"/>
                    <a:gd name="T16" fmla="*/ 53 w 191"/>
                    <a:gd name="T17" fmla="*/ 16 h 102"/>
                    <a:gd name="T18" fmla="*/ 57 w 191"/>
                    <a:gd name="T19" fmla="*/ 21 h 102"/>
                    <a:gd name="T20" fmla="*/ 62 w 191"/>
                    <a:gd name="T21" fmla="*/ 24 h 102"/>
                    <a:gd name="T22" fmla="*/ 66 w 191"/>
                    <a:gd name="T23" fmla="*/ 26 h 102"/>
                    <a:gd name="T24" fmla="*/ 67 w 191"/>
                    <a:gd name="T25" fmla="*/ 28 h 102"/>
                    <a:gd name="T26" fmla="*/ 68 w 191"/>
                    <a:gd name="T27" fmla="*/ 22 h 102"/>
                    <a:gd name="T28" fmla="*/ 74 w 191"/>
                    <a:gd name="T29" fmla="*/ 12 h 102"/>
                    <a:gd name="T30" fmla="*/ 84 w 191"/>
                    <a:gd name="T31" fmla="*/ 4 h 102"/>
                    <a:gd name="T32" fmla="*/ 99 w 191"/>
                    <a:gd name="T33" fmla="*/ 5 h 102"/>
                    <a:gd name="T34" fmla="*/ 103 w 191"/>
                    <a:gd name="T35" fmla="*/ 8 h 102"/>
                    <a:gd name="T36" fmla="*/ 112 w 191"/>
                    <a:gd name="T37" fmla="*/ 15 h 102"/>
                    <a:gd name="T38" fmla="*/ 121 w 191"/>
                    <a:gd name="T39" fmla="*/ 21 h 102"/>
                    <a:gd name="T40" fmla="*/ 128 w 191"/>
                    <a:gd name="T41" fmla="*/ 28 h 102"/>
                    <a:gd name="T42" fmla="*/ 131 w 191"/>
                    <a:gd name="T43" fmla="*/ 33 h 102"/>
                    <a:gd name="T44" fmla="*/ 139 w 191"/>
                    <a:gd name="T45" fmla="*/ 41 h 102"/>
                    <a:gd name="T46" fmla="*/ 147 w 191"/>
                    <a:gd name="T47" fmla="*/ 50 h 102"/>
                    <a:gd name="T48" fmla="*/ 158 w 191"/>
                    <a:gd name="T49" fmla="*/ 62 h 102"/>
                    <a:gd name="T50" fmla="*/ 167 w 191"/>
                    <a:gd name="T51" fmla="*/ 74 h 102"/>
                    <a:gd name="T52" fmla="*/ 177 w 191"/>
                    <a:gd name="T53" fmla="*/ 84 h 102"/>
                    <a:gd name="T54" fmla="*/ 185 w 191"/>
                    <a:gd name="T55" fmla="*/ 95 h 102"/>
                    <a:gd name="T56" fmla="*/ 191 w 191"/>
                    <a:gd name="T57" fmla="*/ 102 h 102"/>
                    <a:gd name="T58" fmla="*/ 188 w 191"/>
                    <a:gd name="T59" fmla="*/ 101 h 102"/>
                    <a:gd name="T60" fmla="*/ 181 w 191"/>
                    <a:gd name="T61" fmla="*/ 96 h 102"/>
                    <a:gd name="T62" fmla="*/ 172 w 191"/>
                    <a:gd name="T63" fmla="*/ 89 h 102"/>
                    <a:gd name="T64" fmla="*/ 160 w 191"/>
                    <a:gd name="T65" fmla="*/ 81 h 102"/>
                    <a:gd name="T66" fmla="*/ 149 w 191"/>
                    <a:gd name="T67" fmla="*/ 72 h 102"/>
                    <a:gd name="T68" fmla="*/ 138 w 191"/>
                    <a:gd name="T69" fmla="*/ 64 h 102"/>
                    <a:gd name="T70" fmla="*/ 128 w 191"/>
                    <a:gd name="T71" fmla="*/ 58 h 102"/>
                    <a:gd name="T72" fmla="*/ 121 w 191"/>
                    <a:gd name="T73" fmla="*/ 53 h 102"/>
                    <a:gd name="T74" fmla="*/ 110 w 191"/>
                    <a:gd name="T75" fmla="*/ 46 h 102"/>
                    <a:gd name="T76" fmla="*/ 101 w 191"/>
                    <a:gd name="T77" fmla="*/ 42 h 102"/>
                    <a:gd name="T78" fmla="*/ 93 w 191"/>
                    <a:gd name="T79" fmla="*/ 39 h 102"/>
                    <a:gd name="T80" fmla="*/ 88 w 191"/>
                    <a:gd name="T81" fmla="*/ 39 h 102"/>
                    <a:gd name="T82" fmla="*/ 83 w 191"/>
                    <a:gd name="T83" fmla="*/ 41 h 102"/>
                    <a:gd name="T84" fmla="*/ 76 w 191"/>
                    <a:gd name="T85" fmla="*/ 42 h 102"/>
                    <a:gd name="T86" fmla="*/ 71 w 191"/>
                    <a:gd name="T87" fmla="*/ 45 h 102"/>
                    <a:gd name="T88" fmla="*/ 70 w 191"/>
                    <a:gd name="T89" fmla="*/ 45 h 102"/>
                    <a:gd name="T90" fmla="*/ 67 w 191"/>
                    <a:gd name="T91" fmla="*/ 43 h 102"/>
                    <a:gd name="T92" fmla="*/ 62 w 191"/>
                    <a:gd name="T93" fmla="*/ 42 h 102"/>
                    <a:gd name="T94" fmla="*/ 54 w 191"/>
                    <a:gd name="T95" fmla="*/ 38 h 102"/>
                    <a:gd name="T96" fmla="*/ 47 w 191"/>
                    <a:gd name="T97" fmla="*/ 34 h 102"/>
                    <a:gd name="T98" fmla="*/ 42 w 191"/>
                    <a:gd name="T99" fmla="*/ 29 h 102"/>
                    <a:gd name="T100" fmla="*/ 37 w 191"/>
                    <a:gd name="T101" fmla="*/ 25 h 102"/>
                    <a:gd name="T102" fmla="*/ 30 w 191"/>
                    <a:gd name="T103" fmla="*/ 24 h 102"/>
                    <a:gd name="T104" fmla="*/ 24 w 191"/>
                    <a:gd name="T105" fmla="*/ 26 h 102"/>
                    <a:gd name="T106" fmla="*/ 21 w 191"/>
                    <a:gd name="T107" fmla="*/ 29 h 102"/>
                    <a:gd name="T108" fmla="*/ 16 w 191"/>
                    <a:gd name="T109" fmla="*/ 36 h 102"/>
                    <a:gd name="T110" fmla="*/ 8 w 191"/>
                    <a:gd name="T111" fmla="*/ 42 h 102"/>
                    <a:gd name="T112" fmla="*/ 0 w 191"/>
                    <a:gd name="T113" fmla="*/ 45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91" h="102">
                      <a:moveTo>
                        <a:pt x="0" y="45"/>
                      </a:moveTo>
                      <a:lnTo>
                        <a:pt x="3" y="39"/>
                      </a:lnTo>
                      <a:lnTo>
                        <a:pt x="9" y="25"/>
                      </a:lnTo>
                      <a:lnTo>
                        <a:pt x="19" y="11"/>
                      </a:lnTo>
                      <a:lnTo>
                        <a:pt x="30" y="0"/>
                      </a:lnTo>
                      <a:lnTo>
                        <a:pt x="33" y="1"/>
                      </a:lnTo>
                      <a:lnTo>
                        <a:pt x="40" y="5"/>
                      </a:lnTo>
                      <a:lnTo>
                        <a:pt x="47" y="11"/>
                      </a:lnTo>
                      <a:lnTo>
                        <a:pt x="53" y="16"/>
                      </a:lnTo>
                      <a:lnTo>
                        <a:pt x="57" y="21"/>
                      </a:lnTo>
                      <a:lnTo>
                        <a:pt x="62" y="24"/>
                      </a:lnTo>
                      <a:lnTo>
                        <a:pt x="66" y="26"/>
                      </a:lnTo>
                      <a:lnTo>
                        <a:pt x="67" y="28"/>
                      </a:lnTo>
                      <a:lnTo>
                        <a:pt x="68" y="22"/>
                      </a:lnTo>
                      <a:lnTo>
                        <a:pt x="74" y="12"/>
                      </a:lnTo>
                      <a:lnTo>
                        <a:pt x="84" y="4"/>
                      </a:lnTo>
                      <a:lnTo>
                        <a:pt x="99" y="5"/>
                      </a:lnTo>
                      <a:lnTo>
                        <a:pt x="103" y="8"/>
                      </a:lnTo>
                      <a:lnTo>
                        <a:pt x="112" y="15"/>
                      </a:lnTo>
                      <a:lnTo>
                        <a:pt x="121" y="21"/>
                      </a:lnTo>
                      <a:lnTo>
                        <a:pt x="128" y="28"/>
                      </a:lnTo>
                      <a:lnTo>
                        <a:pt x="131" y="33"/>
                      </a:lnTo>
                      <a:lnTo>
                        <a:pt x="139" y="41"/>
                      </a:lnTo>
                      <a:lnTo>
                        <a:pt x="147" y="50"/>
                      </a:lnTo>
                      <a:lnTo>
                        <a:pt x="158" y="62"/>
                      </a:lnTo>
                      <a:lnTo>
                        <a:pt x="167" y="74"/>
                      </a:lnTo>
                      <a:lnTo>
                        <a:pt x="177" y="84"/>
                      </a:lnTo>
                      <a:lnTo>
                        <a:pt x="185" y="95"/>
                      </a:lnTo>
                      <a:lnTo>
                        <a:pt x="191" y="102"/>
                      </a:lnTo>
                      <a:lnTo>
                        <a:pt x="188" y="101"/>
                      </a:lnTo>
                      <a:lnTo>
                        <a:pt x="181" y="96"/>
                      </a:lnTo>
                      <a:lnTo>
                        <a:pt x="172" y="89"/>
                      </a:lnTo>
                      <a:lnTo>
                        <a:pt x="160" y="81"/>
                      </a:lnTo>
                      <a:lnTo>
                        <a:pt x="149" y="72"/>
                      </a:lnTo>
                      <a:lnTo>
                        <a:pt x="138" y="64"/>
                      </a:lnTo>
                      <a:lnTo>
                        <a:pt x="128" y="58"/>
                      </a:lnTo>
                      <a:lnTo>
                        <a:pt x="121" y="53"/>
                      </a:lnTo>
                      <a:lnTo>
                        <a:pt x="110" y="46"/>
                      </a:lnTo>
                      <a:lnTo>
                        <a:pt x="101" y="42"/>
                      </a:lnTo>
                      <a:lnTo>
                        <a:pt x="93" y="39"/>
                      </a:lnTo>
                      <a:lnTo>
                        <a:pt x="88" y="39"/>
                      </a:lnTo>
                      <a:lnTo>
                        <a:pt x="83" y="41"/>
                      </a:lnTo>
                      <a:lnTo>
                        <a:pt x="76" y="42"/>
                      </a:lnTo>
                      <a:lnTo>
                        <a:pt x="71" y="45"/>
                      </a:lnTo>
                      <a:lnTo>
                        <a:pt x="70" y="45"/>
                      </a:lnTo>
                      <a:lnTo>
                        <a:pt x="67" y="43"/>
                      </a:lnTo>
                      <a:lnTo>
                        <a:pt x="62" y="42"/>
                      </a:lnTo>
                      <a:lnTo>
                        <a:pt x="54" y="38"/>
                      </a:lnTo>
                      <a:lnTo>
                        <a:pt x="47" y="34"/>
                      </a:lnTo>
                      <a:lnTo>
                        <a:pt x="42" y="29"/>
                      </a:lnTo>
                      <a:lnTo>
                        <a:pt x="37" y="25"/>
                      </a:lnTo>
                      <a:lnTo>
                        <a:pt x="30" y="24"/>
                      </a:lnTo>
                      <a:lnTo>
                        <a:pt x="24" y="26"/>
                      </a:lnTo>
                      <a:lnTo>
                        <a:pt x="21" y="29"/>
                      </a:lnTo>
                      <a:lnTo>
                        <a:pt x="16" y="36"/>
                      </a:lnTo>
                      <a:lnTo>
                        <a:pt x="8" y="42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2" name="Freeform 42"/>
                <p:cNvSpPr>
                  <a:spLocks/>
                </p:cNvSpPr>
                <p:nvPr/>
              </p:nvSpPr>
              <p:spPr bwMode="auto">
                <a:xfrm>
                  <a:off x="2477" y="2356"/>
                  <a:ext cx="11" cy="7"/>
                </a:xfrm>
                <a:custGeom>
                  <a:avLst/>
                  <a:gdLst>
                    <a:gd name="T0" fmla="*/ 44 w 44"/>
                    <a:gd name="T1" fmla="*/ 17 h 26"/>
                    <a:gd name="T2" fmla="*/ 41 w 44"/>
                    <a:gd name="T3" fmla="*/ 21 h 26"/>
                    <a:gd name="T4" fmla="*/ 36 w 44"/>
                    <a:gd name="T5" fmla="*/ 25 h 26"/>
                    <a:gd name="T6" fmla="*/ 28 w 44"/>
                    <a:gd name="T7" fmla="*/ 26 h 26"/>
                    <a:gd name="T8" fmla="*/ 20 w 44"/>
                    <a:gd name="T9" fmla="*/ 26 h 26"/>
                    <a:gd name="T10" fmla="*/ 12 w 44"/>
                    <a:gd name="T11" fmla="*/ 25 h 26"/>
                    <a:gd name="T12" fmla="*/ 5 w 44"/>
                    <a:gd name="T13" fmla="*/ 21 h 26"/>
                    <a:gd name="T14" fmla="*/ 2 w 44"/>
                    <a:gd name="T15" fmla="*/ 16 h 26"/>
                    <a:gd name="T16" fmla="*/ 0 w 44"/>
                    <a:gd name="T17" fmla="*/ 10 h 26"/>
                    <a:gd name="T18" fmla="*/ 3 w 44"/>
                    <a:gd name="T19" fmla="*/ 5 h 26"/>
                    <a:gd name="T20" fmla="*/ 8 w 44"/>
                    <a:gd name="T21" fmla="*/ 2 h 26"/>
                    <a:gd name="T22" fmla="*/ 16 w 44"/>
                    <a:gd name="T23" fmla="*/ 0 h 26"/>
                    <a:gd name="T24" fmla="*/ 24 w 44"/>
                    <a:gd name="T25" fmla="*/ 0 h 26"/>
                    <a:gd name="T26" fmla="*/ 32 w 44"/>
                    <a:gd name="T27" fmla="*/ 2 h 26"/>
                    <a:gd name="T28" fmla="*/ 38 w 44"/>
                    <a:gd name="T29" fmla="*/ 6 h 26"/>
                    <a:gd name="T30" fmla="*/ 42 w 44"/>
                    <a:gd name="T31" fmla="*/ 12 h 26"/>
                    <a:gd name="T32" fmla="*/ 44 w 44"/>
                    <a:gd name="T33" fmla="*/ 17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4" h="26">
                      <a:moveTo>
                        <a:pt x="44" y="17"/>
                      </a:moveTo>
                      <a:lnTo>
                        <a:pt x="41" y="21"/>
                      </a:lnTo>
                      <a:lnTo>
                        <a:pt x="36" y="25"/>
                      </a:lnTo>
                      <a:lnTo>
                        <a:pt x="28" y="26"/>
                      </a:lnTo>
                      <a:lnTo>
                        <a:pt x="20" y="26"/>
                      </a:lnTo>
                      <a:lnTo>
                        <a:pt x="12" y="25"/>
                      </a:lnTo>
                      <a:lnTo>
                        <a:pt x="5" y="21"/>
                      </a:lnTo>
                      <a:lnTo>
                        <a:pt x="2" y="16"/>
                      </a:lnTo>
                      <a:lnTo>
                        <a:pt x="0" y="10"/>
                      </a:lnTo>
                      <a:lnTo>
                        <a:pt x="3" y="5"/>
                      </a:lnTo>
                      <a:lnTo>
                        <a:pt x="8" y="2"/>
                      </a:lnTo>
                      <a:lnTo>
                        <a:pt x="16" y="0"/>
                      </a:lnTo>
                      <a:lnTo>
                        <a:pt x="24" y="0"/>
                      </a:lnTo>
                      <a:lnTo>
                        <a:pt x="32" y="2"/>
                      </a:lnTo>
                      <a:lnTo>
                        <a:pt x="38" y="6"/>
                      </a:lnTo>
                      <a:lnTo>
                        <a:pt x="42" y="12"/>
                      </a:lnTo>
                      <a:lnTo>
                        <a:pt x="44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3" name="Freeform 43"/>
                <p:cNvSpPr>
                  <a:spLocks/>
                </p:cNvSpPr>
                <p:nvPr/>
              </p:nvSpPr>
              <p:spPr bwMode="auto">
                <a:xfrm>
                  <a:off x="2425" y="2155"/>
                  <a:ext cx="253" cy="260"/>
                </a:xfrm>
                <a:custGeom>
                  <a:avLst/>
                  <a:gdLst>
                    <a:gd name="T0" fmla="*/ 833 w 1014"/>
                    <a:gd name="T1" fmla="*/ 600 h 1037"/>
                    <a:gd name="T2" fmla="*/ 821 w 1014"/>
                    <a:gd name="T3" fmla="*/ 709 h 1037"/>
                    <a:gd name="T4" fmla="*/ 800 w 1014"/>
                    <a:gd name="T5" fmla="*/ 752 h 1037"/>
                    <a:gd name="T6" fmla="*/ 834 w 1014"/>
                    <a:gd name="T7" fmla="*/ 724 h 1037"/>
                    <a:gd name="T8" fmla="*/ 848 w 1014"/>
                    <a:gd name="T9" fmla="*/ 696 h 1037"/>
                    <a:gd name="T10" fmla="*/ 847 w 1014"/>
                    <a:gd name="T11" fmla="*/ 724 h 1037"/>
                    <a:gd name="T12" fmla="*/ 812 w 1014"/>
                    <a:gd name="T13" fmla="*/ 774 h 1037"/>
                    <a:gd name="T14" fmla="*/ 754 w 1014"/>
                    <a:gd name="T15" fmla="*/ 786 h 1037"/>
                    <a:gd name="T16" fmla="*/ 746 w 1014"/>
                    <a:gd name="T17" fmla="*/ 850 h 1037"/>
                    <a:gd name="T18" fmla="*/ 788 w 1014"/>
                    <a:gd name="T19" fmla="*/ 879 h 1037"/>
                    <a:gd name="T20" fmla="*/ 825 w 1014"/>
                    <a:gd name="T21" fmla="*/ 892 h 1037"/>
                    <a:gd name="T22" fmla="*/ 812 w 1014"/>
                    <a:gd name="T23" fmla="*/ 898 h 1037"/>
                    <a:gd name="T24" fmla="*/ 754 w 1014"/>
                    <a:gd name="T25" fmla="*/ 882 h 1037"/>
                    <a:gd name="T26" fmla="*/ 724 w 1014"/>
                    <a:gd name="T27" fmla="*/ 860 h 1037"/>
                    <a:gd name="T28" fmla="*/ 745 w 1014"/>
                    <a:gd name="T29" fmla="*/ 923 h 1037"/>
                    <a:gd name="T30" fmla="*/ 796 w 1014"/>
                    <a:gd name="T31" fmla="*/ 933 h 1037"/>
                    <a:gd name="T32" fmla="*/ 825 w 1014"/>
                    <a:gd name="T33" fmla="*/ 930 h 1037"/>
                    <a:gd name="T34" fmla="*/ 788 w 1014"/>
                    <a:gd name="T35" fmla="*/ 940 h 1037"/>
                    <a:gd name="T36" fmla="*/ 713 w 1014"/>
                    <a:gd name="T37" fmla="*/ 930 h 1037"/>
                    <a:gd name="T38" fmla="*/ 675 w 1014"/>
                    <a:gd name="T39" fmla="*/ 920 h 1037"/>
                    <a:gd name="T40" fmla="*/ 759 w 1014"/>
                    <a:gd name="T41" fmla="*/ 1033 h 1037"/>
                    <a:gd name="T42" fmla="*/ 847 w 1014"/>
                    <a:gd name="T43" fmla="*/ 1026 h 1037"/>
                    <a:gd name="T44" fmla="*/ 889 w 1014"/>
                    <a:gd name="T45" fmla="*/ 1008 h 1037"/>
                    <a:gd name="T46" fmla="*/ 1009 w 1014"/>
                    <a:gd name="T47" fmla="*/ 702 h 1037"/>
                    <a:gd name="T48" fmla="*/ 1002 w 1014"/>
                    <a:gd name="T49" fmla="*/ 316 h 1037"/>
                    <a:gd name="T50" fmla="*/ 963 w 1014"/>
                    <a:gd name="T51" fmla="*/ 157 h 1037"/>
                    <a:gd name="T52" fmla="*/ 855 w 1014"/>
                    <a:gd name="T53" fmla="*/ 56 h 1037"/>
                    <a:gd name="T54" fmla="*/ 722 w 1014"/>
                    <a:gd name="T55" fmla="*/ 18 h 1037"/>
                    <a:gd name="T56" fmla="*/ 592 w 1014"/>
                    <a:gd name="T57" fmla="*/ 21 h 1037"/>
                    <a:gd name="T58" fmla="*/ 494 w 1014"/>
                    <a:gd name="T59" fmla="*/ 38 h 1037"/>
                    <a:gd name="T60" fmla="*/ 454 w 1014"/>
                    <a:gd name="T61" fmla="*/ 50 h 1037"/>
                    <a:gd name="T62" fmla="*/ 366 w 1014"/>
                    <a:gd name="T63" fmla="*/ 18 h 1037"/>
                    <a:gd name="T64" fmla="*/ 290 w 1014"/>
                    <a:gd name="T65" fmla="*/ 3 h 1037"/>
                    <a:gd name="T66" fmla="*/ 227 w 1014"/>
                    <a:gd name="T67" fmla="*/ 0 h 1037"/>
                    <a:gd name="T68" fmla="*/ 175 w 1014"/>
                    <a:gd name="T69" fmla="*/ 8 h 1037"/>
                    <a:gd name="T70" fmla="*/ 131 w 1014"/>
                    <a:gd name="T71" fmla="*/ 25 h 1037"/>
                    <a:gd name="T72" fmla="*/ 63 w 1014"/>
                    <a:gd name="T73" fmla="*/ 87 h 1037"/>
                    <a:gd name="T74" fmla="*/ 15 w 1014"/>
                    <a:gd name="T75" fmla="*/ 188 h 1037"/>
                    <a:gd name="T76" fmla="*/ 0 w 1014"/>
                    <a:gd name="T77" fmla="*/ 239 h 1037"/>
                    <a:gd name="T78" fmla="*/ 41 w 1014"/>
                    <a:gd name="T79" fmla="*/ 249 h 1037"/>
                    <a:gd name="T80" fmla="*/ 146 w 1014"/>
                    <a:gd name="T81" fmla="*/ 274 h 1037"/>
                    <a:gd name="T82" fmla="*/ 293 w 1014"/>
                    <a:gd name="T83" fmla="*/ 306 h 1037"/>
                    <a:gd name="T84" fmla="*/ 458 w 1014"/>
                    <a:gd name="T85" fmla="*/ 337 h 1037"/>
                    <a:gd name="T86" fmla="*/ 619 w 1014"/>
                    <a:gd name="T87" fmla="*/ 357 h 1037"/>
                    <a:gd name="T88" fmla="*/ 682 w 1014"/>
                    <a:gd name="T89" fmla="*/ 381 h 1037"/>
                    <a:gd name="T90" fmla="*/ 728 w 1014"/>
                    <a:gd name="T91" fmla="*/ 453 h 1037"/>
                    <a:gd name="T92" fmla="*/ 752 w 1014"/>
                    <a:gd name="T93" fmla="*/ 524 h 1037"/>
                    <a:gd name="T94" fmla="*/ 756 w 1014"/>
                    <a:gd name="T95" fmla="*/ 559 h 1037"/>
                    <a:gd name="T96" fmla="*/ 746 w 1014"/>
                    <a:gd name="T97" fmla="*/ 629 h 1037"/>
                    <a:gd name="T98" fmla="*/ 717 w 1014"/>
                    <a:gd name="T99" fmla="*/ 668 h 1037"/>
                    <a:gd name="T100" fmla="*/ 752 w 1014"/>
                    <a:gd name="T101" fmla="*/ 659 h 1037"/>
                    <a:gd name="T102" fmla="*/ 787 w 1014"/>
                    <a:gd name="T103" fmla="*/ 575 h 10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014" h="1037">
                      <a:moveTo>
                        <a:pt x="797" y="509"/>
                      </a:moveTo>
                      <a:lnTo>
                        <a:pt x="821" y="556"/>
                      </a:lnTo>
                      <a:lnTo>
                        <a:pt x="833" y="600"/>
                      </a:lnTo>
                      <a:lnTo>
                        <a:pt x="834" y="642"/>
                      </a:lnTo>
                      <a:lnTo>
                        <a:pt x="830" y="677"/>
                      </a:lnTo>
                      <a:lnTo>
                        <a:pt x="821" y="709"/>
                      </a:lnTo>
                      <a:lnTo>
                        <a:pt x="812" y="732"/>
                      </a:lnTo>
                      <a:lnTo>
                        <a:pt x="802" y="747"/>
                      </a:lnTo>
                      <a:lnTo>
                        <a:pt x="800" y="752"/>
                      </a:lnTo>
                      <a:lnTo>
                        <a:pt x="814" y="744"/>
                      </a:lnTo>
                      <a:lnTo>
                        <a:pt x="826" y="735"/>
                      </a:lnTo>
                      <a:lnTo>
                        <a:pt x="834" y="724"/>
                      </a:lnTo>
                      <a:lnTo>
                        <a:pt x="842" y="714"/>
                      </a:lnTo>
                      <a:lnTo>
                        <a:pt x="846" y="703"/>
                      </a:lnTo>
                      <a:lnTo>
                        <a:pt x="848" y="696"/>
                      </a:lnTo>
                      <a:lnTo>
                        <a:pt x="851" y="690"/>
                      </a:lnTo>
                      <a:lnTo>
                        <a:pt x="851" y="688"/>
                      </a:lnTo>
                      <a:lnTo>
                        <a:pt x="847" y="724"/>
                      </a:lnTo>
                      <a:lnTo>
                        <a:pt x="842" y="747"/>
                      </a:lnTo>
                      <a:lnTo>
                        <a:pt x="829" y="764"/>
                      </a:lnTo>
                      <a:lnTo>
                        <a:pt x="812" y="774"/>
                      </a:lnTo>
                      <a:lnTo>
                        <a:pt x="792" y="781"/>
                      </a:lnTo>
                      <a:lnTo>
                        <a:pt x="771" y="785"/>
                      </a:lnTo>
                      <a:lnTo>
                        <a:pt x="754" y="786"/>
                      </a:lnTo>
                      <a:lnTo>
                        <a:pt x="742" y="786"/>
                      </a:lnTo>
                      <a:lnTo>
                        <a:pt x="737" y="786"/>
                      </a:lnTo>
                      <a:lnTo>
                        <a:pt x="746" y="850"/>
                      </a:lnTo>
                      <a:lnTo>
                        <a:pt x="759" y="862"/>
                      </a:lnTo>
                      <a:lnTo>
                        <a:pt x="774" y="871"/>
                      </a:lnTo>
                      <a:lnTo>
                        <a:pt x="788" y="879"/>
                      </a:lnTo>
                      <a:lnTo>
                        <a:pt x="802" y="886"/>
                      </a:lnTo>
                      <a:lnTo>
                        <a:pt x="814" y="890"/>
                      </a:lnTo>
                      <a:lnTo>
                        <a:pt x="825" y="892"/>
                      </a:lnTo>
                      <a:lnTo>
                        <a:pt x="831" y="895"/>
                      </a:lnTo>
                      <a:lnTo>
                        <a:pt x="834" y="895"/>
                      </a:lnTo>
                      <a:lnTo>
                        <a:pt x="812" y="898"/>
                      </a:lnTo>
                      <a:lnTo>
                        <a:pt x="791" y="895"/>
                      </a:lnTo>
                      <a:lnTo>
                        <a:pt x="771" y="890"/>
                      </a:lnTo>
                      <a:lnTo>
                        <a:pt x="754" y="882"/>
                      </a:lnTo>
                      <a:lnTo>
                        <a:pt x="741" y="873"/>
                      </a:lnTo>
                      <a:lnTo>
                        <a:pt x="730" y="865"/>
                      </a:lnTo>
                      <a:lnTo>
                        <a:pt x="724" y="860"/>
                      </a:lnTo>
                      <a:lnTo>
                        <a:pt x="721" y="857"/>
                      </a:lnTo>
                      <a:lnTo>
                        <a:pt x="725" y="912"/>
                      </a:lnTo>
                      <a:lnTo>
                        <a:pt x="745" y="923"/>
                      </a:lnTo>
                      <a:lnTo>
                        <a:pt x="763" y="929"/>
                      </a:lnTo>
                      <a:lnTo>
                        <a:pt x="780" y="933"/>
                      </a:lnTo>
                      <a:lnTo>
                        <a:pt x="796" y="933"/>
                      </a:lnTo>
                      <a:lnTo>
                        <a:pt x="809" y="933"/>
                      </a:lnTo>
                      <a:lnTo>
                        <a:pt x="818" y="932"/>
                      </a:lnTo>
                      <a:lnTo>
                        <a:pt x="825" y="930"/>
                      </a:lnTo>
                      <a:lnTo>
                        <a:pt x="827" y="929"/>
                      </a:lnTo>
                      <a:lnTo>
                        <a:pt x="810" y="937"/>
                      </a:lnTo>
                      <a:lnTo>
                        <a:pt x="788" y="940"/>
                      </a:lnTo>
                      <a:lnTo>
                        <a:pt x="763" y="938"/>
                      </a:lnTo>
                      <a:lnTo>
                        <a:pt x="738" y="936"/>
                      </a:lnTo>
                      <a:lnTo>
                        <a:pt x="713" y="930"/>
                      </a:lnTo>
                      <a:lnTo>
                        <a:pt x="693" y="925"/>
                      </a:lnTo>
                      <a:lnTo>
                        <a:pt x="680" y="921"/>
                      </a:lnTo>
                      <a:lnTo>
                        <a:pt x="675" y="920"/>
                      </a:lnTo>
                      <a:lnTo>
                        <a:pt x="701" y="997"/>
                      </a:lnTo>
                      <a:lnTo>
                        <a:pt x="729" y="1021"/>
                      </a:lnTo>
                      <a:lnTo>
                        <a:pt x="759" y="1033"/>
                      </a:lnTo>
                      <a:lnTo>
                        <a:pt x="791" y="1037"/>
                      </a:lnTo>
                      <a:lnTo>
                        <a:pt x="821" y="1033"/>
                      </a:lnTo>
                      <a:lnTo>
                        <a:pt x="847" y="1026"/>
                      </a:lnTo>
                      <a:lnTo>
                        <a:pt x="869" y="1017"/>
                      </a:lnTo>
                      <a:lnTo>
                        <a:pt x="884" y="1011"/>
                      </a:lnTo>
                      <a:lnTo>
                        <a:pt x="889" y="1008"/>
                      </a:lnTo>
                      <a:lnTo>
                        <a:pt x="951" y="940"/>
                      </a:lnTo>
                      <a:lnTo>
                        <a:pt x="989" y="832"/>
                      </a:lnTo>
                      <a:lnTo>
                        <a:pt x="1009" y="702"/>
                      </a:lnTo>
                      <a:lnTo>
                        <a:pt x="1014" y="563"/>
                      </a:lnTo>
                      <a:lnTo>
                        <a:pt x="1010" y="430"/>
                      </a:lnTo>
                      <a:lnTo>
                        <a:pt x="1002" y="316"/>
                      </a:lnTo>
                      <a:lnTo>
                        <a:pt x="993" y="237"/>
                      </a:lnTo>
                      <a:lnTo>
                        <a:pt x="989" y="209"/>
                      </a:lnTo>
                      <a:lnTo>
                        <a:pt x="963" y="157"/>
                      </a:lnTo>
                      <a:lnTo>
                        <a:pt x="931" y="115"/>
                      </a:lnTo>
                      <a:lnTo>
                        <a:pt x="896" y="81"/>
                      </a:lnTo>
                      <a:lnTo>
                        <a:pt x="855" y="56"/>
                      </a:lnTo>
                      <a:lnTo>
                        <a:pt x="812" y="38"/>
                      </a:lnTo>
                      <a:lnTo>
                        <a:pt x="767" y="26"/>
                      </a:lnTo>
                      <a:lnTo>
                        <a:pt x="722" y="18"/>
                      </a:lnTo>
                      <a:lnTo>
                        <a:pt x="676" y="16"/>
                      </a:lnTo>
                      <a:lnTo>
                        <a:pt x="633" y="17"/>
                      </a:lnTo>
                      <a:lnTo>
                        <a:pt x="592" y="21"/>
                      </a:lnTo>
                      <a:lnTo>
                        <a:pt x="554" y="26"/>
                      </a:lnTo>
                      <a:lnTo>
                        <a:pt x="521" y="33"/>
                      </a:lnTo>
                      <a:lnTo>
                        <a:pt x="494" y="38"/>
                      </a:lnTo>
                      <a:lnTo>
                        <a:pt x="473" y="45"/>
                      </a:lnTo>
                      <a:lnTo>
                        <a:pt x="460" y="48"/>
                      </a:lnTo>
                      <a:lnTo>
                        <a:pt x="454" y="50"/>
                      </a:lnTo>
                      <a:lnTo>
                        <a:pt x="423" y="38"/>
                      </a:lnTo>
                      <a:lnTo>
                        <a:pt x="394" y="27"/>
                      </a:lnTo>
                      <a:lnTo>
                        <a:pt x="366" y="18"/>
                      </a:lnTo>
                      <a:lnTo>
                        <a:pt x="339" y="12"/>
                      </a:lnTo>
                      <a:lnTo>
                        <a:pt x="314" y="6"/>
                      </a:lnTo>
                      <a:lnTo>
                        <a:pt x="290" y="3"/>
                      </a:lnTo>
                      <a:lnTo>
                        <a:pt x="268" y="1"/>
                      </a:lnTo>
                      <a:lnTo>
                        <a:pt x="247" y="0"/>
                      </a:lnTo>
                      <a:lnTo>
                        <a:pt x="227" y="0"/>
                      </a:lnTo>
                      <a:lnTo>
                        <a:pt x="209" y="1"/>
                      </a:lnTo>
                      <a:lnTo>
                        <a:pt x="191" y="4"/>
                      </a:lnTo>
                      <a:lnTo>
                        <a:pt x="175" y="8"/>
                      </a:lnTo>
                      <a:lnTo>
                        <a:pt x="159" y="13"/>
                      </a:lnTo>
                      <a:lnTo>
                        <a:pt x="145" y="18"/>
                      </a:lnTo>
                      <a:lnTo>
                        <a:pt x="131" y="25"/>
                      </a:lnTo>
                      <a:lnTo>
                        <a:pt x="120" y="31"/>
                      </a:lnTo>
                      <a:lnTo>
                        <a:pt x="88" y="56"/>
                      </a:lnTo>
                      <a:lnTo>
                        <a:pt x="63" y="87"/>
                      </a:lnTo>
                      <a:lnTo>
                        <a:pt x="42" y="121"/>
                      </a:lnTo>
                      <a:lnTo>
                        <a:pt x="26" y="156"/>
                      </a:lnTo>
                      <a:lnTo>
                        <a:pt x="15" y="188"/>
                      </a:lnTo>
                      <a:lnTo>
                        <a:pt x="7" y="214"/>
                      </a:lnTo>
                      <a:lnTo>
                        <a:pt x="1" y="232"/>
                      </a:lnTo>
                      <a:lnTo>
                        <a:pt x="0" y="239"/>
                      </a:lnTo>
                      <a:lnTo>
                        <a:pt x="5" y="240"/>
                      </a:lnTo>
                      <a:lnTo>
                        <a:pt x="19" y="244"/>
                      </a:lnTo>
                      <a:lnTo>
                        <a:pt x="41" y="249"/>
                      </a:lnTo>
                      <a:lnTo>
                        <a:pt x="70" y="256"/>
                      </a:lnTo>
                      <a:lnTo>
                        <a:pt x="105" y="265"/>
                      </a:lnTo>
                      <a:lnTo>
                        <a:pt x="146" y="274"/>
                      </a:lnTo>
                      <a:lnTo>
                        <a:pt x="192" y="285"/>
                      </a:lnTo>
                      <a:lnTo>
                        <a:pt x="240" y="295"/>
                      </a:lnTo>
                      <a:lnTo>
                        <a:pt x="293" y="306"/>
                      </a:lnTo>
                      <a:lnTo>
                        <a:pt x="347" y="318"/>
                      </a:lnTo>
                      <a:lnTo>
                        <a:pt x="402" y="327"/>
                      </a:lnTo>
                      <a:lnTo>
                        <a:pt x="458" y="337"/>
                      </a:lnTo>
                      <a:lnTo>
                        <a:pt x="514" y="345"/>
                      </a:lnTo>
                      <a:lnTo>
                        <a:pt x="567" y="352"/>
                      </a:lnTo>
                      <a:lnTo>
                        <a:pt x="619" y="357"/>
                      </a:lnTo>
                      <a:lnTo>
                        <a:pt x="667" y="361"/>
                      </a:lnTo>
                      <a:lnTo>
                        <a:pt x="671" y="366"/>
                      </a:lnTo>
                      <a:lnTo>
                        <a:pt x="682" y="381"/>
                      </a:lnTo>
                      <a:lnTo>
                        <a:pt x="695" y="402"/>
                      </a:lnTo>
                      <a:lnTo>
                        <a:pt x="712" y="426"/>
                      </a:lnTo>
                      <a:lnTo>
                        <a:pt x="728" y="453"/>
                      </a:lnTo>
                      <a:lnTo>
                        <a:pt x="741" y="480"/>
                      </a:lnTo>
                      <a:lnTo>
                        <a:pt x="750" y="504"/>
                      </a:lnTo>
                      <a:lnTo>
                        <a:pt x="752" y="524"/>
                      </a:lnTo>
                      <a:lnTo>
                        <a:pt x="754" y="529"/>
                      </a:lnTo>
                      <a:lnTo>
                        <a:pt x="755" y="541"/>
                      </a:lnTo>
                      <a:lnTo>
                        <a:pt x="756" y="559"/>
                      </a:lnTo>
                      <a:lnTo>
                        <a:pt x="756" y="581"/>
                      </a:lnTo>
                      <a:lnTo>
                        <a:pt x="754" y="605"/>
                      </a:lnTo>
                      <a:lnTo>
                        <a:pt x="746" y="629"/>
                      </a:lnTo>
                      <a:lnTo>
                        <a:pt x="733" y="650"/>
                      </a:lnTo>
                      <a:lnTo>
                        <a:pt x="713" y="667"/>
                      </a:lnTo>
                      <a:lnTo>
                        <a:pt x="717" y="668"/>
                      </a:lnTo>
                      <a:lnTo>
                        <a:pt x="725" y="668"/>
                      </a:lnTo>
                      <a:lnTo>
                        <a:pt x="738" y="667"/>
                      </a:lnTo>
                      <a:lnTo>
                        <a:pt x="752" y="659"/>
                      </a:lnTo>
                      <a:lnTo>
                        <a:pt x="766" y="643"/>
                      </a:lnTo>
                      <a:lnTo>
                        <a:pt x="779" y="615"/>
                      </a:lnTo>
                      <a:lnTo>
                        <a:pt x="787" y="575"/>
                      </a:lnTo>
                      <a:lnTo>
                        <a:pt x="791" y="518"/>
                      </a:lnTo>
                      <a:lnTo>
                        <a:pt x="797" y="5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4" name="Freeform 44"/>
                <p:cNvSpPr>
                  <a:spLocks/>
                </p:cNvSpPr>
                <p:nvPr/>
              </p:nvSpPr>
              <p:spPr bwMode="auto">
                <a:xfrm>
                  <a:off x="2549" y="2255"/>
                  <a:ext cx="23" cy="20"/>
                </a:xfrm>
                <a:custGeom>
                  <a:avLst/>
                  <a:gdLst>
                    <a:gd name="T0" fmla="*/ 0 w 89"/>
                    <a:gd name="T1" fmla="*/ 32 h 78"/>
                    <a:gd name="T2" fmla="*/ 1 w 89"/>
                    <a:gd name="T3" fmla="*/ 32 h 78"/>
                    <a:gd name="T4" fmla="*/ 4 w 89"/>
                    <a:gd name="T5" fmla="*/ 31 h 78"/>
                    <a:gd name="T6" fmla="*/ 8 w 89"/>
                    <a:gd name="T7" fmla="*/ 30 h 78"/>
                    <a:gd name="T8" fmla="*/ 14 w 89"/>
                    <a:gd name="T9" fmla="*/ 27 h 78"/>
                    <a:gd name="T10" fmla="*/ 21 w 89"/>
                    <a:gd name="T11" fmla="*/ 23 h 78"/>
                    <a:gd name="T12" fmla="*/ 27 w 89"/>
                    <a:gd name="T13" fmla="*/ 17 h 78"/>
                    <a:gd name="T14" fmla="*/ 35 w 89"/>
                    <a:gd name="T15" fmla="*/ 9 h 78"/>
                    <a:gd name="T16" fmla="*/ 42 w 89"/>
                    <a:gd name="T17" fmla="*/ 0 h 78"/>
                    <a:gd name="T18" fmla="*/ 42 w 89"/>
                    <a:gd name="T19" fmla="*/ 2 h 78"/>
                    <a:gd name="T20" fmla="*/ 42 w 89"/>
                    <a:gd name="T21" fmla="*/ 9 h 78"/>
                    <a:gd name="T22" fmla="*/ 37 w 89"/>
                    <a:gd name="T23" fmla="*/ 22 h 78"/>
                    <a:gd name="T24" fmla="*/ 23 w 89"/>
                    <a:gd name="T25" fmla="*/ 42 h 78"/>
                    <a:gd name="T26" fmla="*/ 25 w 89"/>
                    <a:gd name="T27" fmla="*/ 42 h 78"/>
                    <a:gd name="T28" fmla="*/ 29 w 89"/>
                    <a:gd name="T29" fmla="*/ 40 h 78"/>
                    <a:gd name="T30" fmla="*/ 34 w 89"/>
                    <a:gd name="T31" fmla="*/ 39 h 78"/>
                    <a:gd name="T32" fmla="*/ 42 w 89"/>
                    <a:gd name="T33" fmla="*/ 38 h 78"/>
                    <a:gd name="T34" fmla="*/ 50 w 89"/>
                    <a:gd name="T35" fmla="*/ 34 h 78"/>
                    <a:gd name="T36" fmla="*/ 58 w 89"/>
                    <a:gd name="T37" fmla="*/ 30 h 78"/>
                    <a:gd name="T38" fmla="*/ 64 w 89"/>
                    <a:gd name="T39" fmla="*/ 25 h 78"/>
                    <a:gd name="T40" fmla="*/ 71 w 89"/>
                    <a:gd name="T41" fmla="*/ 18 h 78"/>
                    <a:gd name="T42" fmla="*/ 69 w 89"/>
                    <a:gd name="T43" fmla="*/ 23 h 78"/>
                    <a:gd name="T44" fmla="*/ 64 w 89"/>
                    <a:gd name="T45" fmla="*/ 36 h 78"/>
                    <a:gd name="T46" fmla="*/ 54 w 89"/>
                    <a:gd name="T47" fmla="*/ 51 h 78"/>
                    <a:gd name="T48" fmla="*/ 33 w 89"/>
                    <a:gd name="T49" fmla="*/ 63 h 78"/>
                    <a:gd name="T50" fmla="*/ 34 w 89"/>
                    <a:gd name="T51" fmla="*/ 63 h 78"/>
                    <a:gd name="T52" fmla="*/ 39 w 89"/>
                    <a:gd name="T53" fmla="*/ 63 h 78"/>
                    <a:gd name="T54" fmla="*/ 46 w 89"/>
                    <a:gd name="T55" fmla="*/ 63 h 78"/>
                    <a:gd name="T56" fmla="*/ 54 w 89"/>
                    <a:gd name="T57" fmla="*/ 63 h 78"/>
                    <a:gd name="T58" fmla="*/ 63 w 89"/>
                    <a:gd name="T59" fmla="*/ 61 h 78"/>
                    <a:gd name="T60" fmla="*/ 72 w 89"/>
                    <a:gd name="T61" fmla="*/ 59 h 78"/>
                    <a:gd name="T62" fmla="*/ 81 w 89"/>
                    <a:gd name="T63" fmla="*/ 55 h 78"/>
                    <a:gd name="T64" fmla="*/ 89 w 89"/>
                    <a:gd name="T65" fmla="*/ 48 h 78"/>
                    <a:gd name="T66" fmla="*/ 88 w 89"/>
                    <a:gd name="T67" fmla="*/ 49 h 78"/>
                    <a:gd name="T68" fmla="*/ 85 w 89"/>
                    <a:gd name="T69" fmla="*/ 53 h 78"/>
                    <a:gd name="T70" fmla="*/ 80 w 89"/>
                    <a:gd name="T71" fmla="*/ 60 h 78"/>
                    <a:gd name="T72" fmla="*/ 72 w 89"/>
                    <a:gd name="T73" fmla="*/ 65 h 78"/>
                    <a:gd name="T74" fmla="*/ 63 w 89"/>
                    <a:gd name="T75" fmla="*/ 72 h 78"/>
                    <a:gd name="T76" fmla="*/ 51 w 89"/>
                    <a:gd name="T77" fmla="*/ 77 h 78"/>
                    <a:gd name="T78" fmla="*/ 38 w 89"/>
                    <a:gd name="T79" fmla="*/ 78 h 78"/>
                    <a:gd name="T80" fmla="*/ 23 w 89"/>
                    <a:gd name="T81" fmla="*/ 78 h 78"/>
                    <a:gd name="T82" fmla="*/ 23 w 89"/>
                    <a:gd name="T83" fmla="*/ 72 h 78"/>
                    <a:gd name="T84" fmla="*/ 23 w 89"/>
                    <a:gd name="T85" fmla="*/ 57 h 78"/>
                    <a:gd name="T86" fmla="*/ 17 w 89"/>
                    <a:gd name="T87" fmla="*/ 42 h 78"/>
                    <a:gd name="T88" fmla="*/ 0 w 89"/>
                    <a:gd name="T89" fmla="*/ 32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9" h="78">
                      <a:moveTo>
                        <a:pt x="0" y="32"/>
                      </a:moveTo>
                      <a:lnTo>
                        <a:pt x="1" y="32"/>
                      </a:lnTo>
                      <a:lnTo>
                        <a:pt x="4" y="31"/>
                      </a:lnTo>
                      <a:lnTo>
                        <a:pt x="8" y="30"/>
                      </a:lnTo>
                      <a:lnTo>
                        <a:pt x="14" y="27"/>
                      </a:lnTo>
                      <a:lnTo>
                        <a:pt x="21" y="23"/>
                      </a:lnTo>
                      <a:lnTo>
                        <a:pt x="27" y="17"/>
                      </a:lnTo>
                      <a:lnTo>
                        <a:pt x="35" y="9"/>
                      </a:lnTo>
                      <a:lnTo>
                        <a:pt x="42" y="0"/>
                      </a:lnTo>
                      <a:lnTo>
                        <a:pt x="42" y="2"/>
                      </a:lnTo>
                      <a:lnTo>
                        <a:pt x="42" y="9"/>
                      </a:lnTo>
                      <a:lnTo>
                        <a:pt x="37" y="22"/>
                      </a:lnTo>
                      <a:lnTo>
                        <a:pt x="23" y="42"/>
                      </a:lnTo>
                      <a:lnTo>
                        <a:pt x="25" y="42"/>
                      </a:lnTo>
                      <a:lnTo>
                        <a:pt x="29" y="40"/>
                      </a:lnTo>
                      <a:lnTo>
                        <a:pt x="34" y="39"/>
                      </a:lnTo>
                      <a:lnTo>
                        <a:pt x="42" y="38"/>
                      </a:lnTo>
                      <a:lnTo>
                        <a:pt x="50" y="34"/>
                      </a:lnTo>
                      <a:lnTo>
                        <a:pt x="58" y="30"/>
                      </a:lnTo>
                      <a:lnTo>
                        <a:pt x="64" y="25"/>
                      </a:lnTo>
                      <a:lnTo>
                        <a:pt x="71" y="18"/>
                      </a:lnTo>
                      <a:lnTo>
                        <a:pt x="69" y="23"/>
                      </a:lnTo>
                      <a:lnTo>
                        <a:pt x="64" y="36"/>
                      </a:lnTo>
                      <a:lnTo>
                        <a:pt x="54" y="51"/>
                      </a:lnTo>
                      <a:lnTo>
                        <a:pt x="33" y="63"/>
                      </a:lnTo>
                      <a:lnTo>
                        <a:pt x="34" y="63"/>
                      </a:lnTo>
                      <a:lnTo>
                        <a:pt x="39" y="63"/>
                      </a:lnTo>
                      <a:lnTo>
                        <a:pt x="46" y="63"/>
                      </a:lnTo>
                      <a:lnTo>
                        <a:pt x="54" y="63"/>
                      </a:lnTo>
                      <a:lnTo>
                        <a:pt x="63" y="61"/>
                      </a:lnTo>
                      <a:lnTo>
                        <a:pt x="72" y="59"/>
                      </a:lnTo>
                      <a:lnTo>
                        <a:pt x="81" y="55"/>
                      </a:lnTo>
                      <a:lnTo>
                        <a:pt x="89" y="48"/>
                      </a:lnTo>
                      <a:lnTo>
                        <a:pt x="88" y="49"/>
                      </a:lnTo>
                      <a:lnTo>
                        <a:pt x="85" y="53"/>
                      </a:lnTo>
                      <a:lnTo>
                        <a:pt x="80" y="60"/>
                      </a:lnTo>
                      <a:lnTo>
                        <a:pt x="72" y="65"/>
                      </a:lnTo>
                      <a:lnTo>
                        <a:pt x="63" y="72"/>
                      </a:lnTo>
                      <a:lnTo>
                        <a:pt x="51" y="77"/>
                      </a:lnTo>
                      <a:lnTo>
                        <a:pt x="38" y="78"/>
                      </a:lnTo>
                      <a:lnTo>
                        <a:pt x="23" y="78"/>
                      </a:lnTo>
                      <a:lnTo>
                        <a:pt x="23" y="72"/>
                      </a:lnTo>
                      <a:lnTo>
                        <a:pt x="23" y="57"/>
                      </a:lnTo>
                      <a:lnTo>
                        <a:pt x="17" y="42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5" name="Freeform 45"/>
                <p:cNvSpPr>
                  <a:spLocks/>
                </p:cNvSpPr>
                <p:nvPr/>
              </p:nvSpPr>
              <p:spPr bwMode="auto">
                <a:xfrm>
                  <a:off x="2464" y="2240"/>
                  <a:ext cx="21" cy="21"/>
                </a:xfrm>
                <a:custGeom>
                  <a:avLst/>
                  <a:gdLst>
                    <a:gd name="T0" fmla="*/ 81 w 81"/>
                    <a:gd name="T1" fmla="*/ 39 h 82"/>
                    <a:gd name="T2" fmla="*/ 77 w 81"/>
                    <a:gd name="T3" fmla="*/ 38 h 82"/>
                    <a:gd name="T4" fmla="*/ 69 w 81"/>
                    <a:gd name="T5" fmla="*/ 31 h 82"/>
                    <a:gd name="T6" fmla="*/ 59 w 81"/>
                    <a:gd name="T7" fmla="*/ 19 h 82"/>
                    <a:gd name="T8" fmla="*/ 48 w 81"/>
                    <a:gd name="T9" fmla="*/ 0 h 82"/>
                    <a:gd name="T10" fmla="*/ 47 w 81"/>
                    <a:gd name="T11" fmla="*/ 2 h 82"/>
                    <a:gd name="T12" fmla="*/ 47 w 81"/>
                    <a:gd name="T13" fmla="*/ 9 h 82"/>
                    <a:gd name="T14" fmla="*/ 50 w 81"/>
                    <a:gd name="T15" fmla="*/ 22 h 82"/>
                    <a:gd name="T16" fmla="*/ 59 w 81"/>
                    <a:gd name="T17" fmla="*/ 44 h 82"/>
                    <a:gd name="T18" fmla="*/ 55 w 81"/>
                    <a:gd name="T19" fmla="*/ 43 h 82"/>
                    <a:gd name="T20" fmla="*/ 44 w 81"/>
                    <a:gd name="T21" fmla="*/ 38 h 82"/>
                    <a:gd name="T22" fmla="*/ 31 w 81"/>
                    <a:gd name="T23" fmla="*/ 27 h 82"/>
                    <a:gd name="T24" fmla="*/ 21 w 81"/>
                    <a:gd name="T25" fmla="*/ 13 h 82"/>
                    <a:gd name="T26" fmla="*/ 21 w 81"/>
                    <a:gd name="T27" fmla="*/ 18 h 82"/>
                    <a:gd name="T28" fmla="*/ 23 w 81"/>
                    <a:gd name="T29" fmla="*/ 32 h 82"/>
                    <a:gd name="T30" fmla="*/ 31 w 81"/>
                    <a:gd name="T31" fmla="*/ 49 h 82"/>
                    <a:gd name="T32" fmla="*/ 47 w 81"/>
                    <a:gd name="T33" fmla="*/ 65 h 82"/>
                    <a:gd name="T34" fmla="*/ 46 w 81"/>
                    <a:gd name="T35" fmla="*/ 65 h 82"/>
                    <a:gd name="T36" fmla="*/ 42 w 81"/>
                    <a:gd name="T37" fmla="*/ 65 h 82"/>
                    <a:gd name="T38" fmla="*/ 36 w 81"/>
                    <a:gd name="T39" fmla="*/ 64 h 82"/>
                    <a:gd name="T40" fmla="*/ 29 w 81"/>
                    <a:gd name="T41" fmla="*/ 61 h 82"/>
                    <a:gd name="T42" fmla="*/ 21 w 81"/>
                    <a:gd name="T43" fmla="*/ 59 h 82"/>
                    <a:gd name="T44" fmla="*/ 13 w 81"/>
                    <a:gd name="T45" fmla="*/ 55 h 82"/>
                    <a:gd name="T46" fmla="*/ 6 w 81"/>
                    <a:gd name="T47" fmla="*/ 48 h 82"/>
                    <a:gd name="T48" fmla="*/ 0 w 81"/>
                    <a:gd name="T49" fmla="*/ 40 h 82"/>
                    <a:gd name="T50" fmla="*/ 1 w 81"/>
                    <a:gd name="T51" fmla="*/ 42 h 82"/>
                    <a:gd name="T52" fmla="*/ 2 w 81"/>
                    <a:gd name="T53" fmla="*/ 47 h 82"/>
                    <a:gd name="T54" fmla="*/ 6 w 81"/>
                    <a:gd name="T55" fmla="*/ 53 h 82"/>
                    <a:gd name="T56" fmla="*/ 13 w 81"/>
                    <a:gd name="T57" fmla="*/ 61 h 82"/>
                    <a:gd name="T58" fmla="*/ 19 w 81"/>
                    <a:gd name="T59" fmla="*/ 69 h 82"/>
                    <a:gd name="T60" fmla="*/ 29 w 81"/>
                    <a:gd name="T61" fmla="*/ 76 h 82"/>
                    <a:gd name="T62" fmla="*/ 40 w 81"/>
                    <a:gd name="T63" fmla="*/ 81 h 82"/>
                    <a:gd name="T64" fmla="*/ 54 w 81"/>
                    <a:gd name="T65" fmla="*/ 82 h 82"/>
                    <a:gd name="T66" fmla="*/ 54 w 81"/>
                    <a:gd name="T67" fmla="*/ 76 h 82"/>
                    <a:gd name="T68" fmla="*/ 57 w 81"/>
                    <a:gd name="T69" fmla="*/ 60 h 82"/>
                    <a:gd name="T70" fmla="*/ 65 w 81"/>
                    <a:gd name="T71" fmla="*/ 45 h 82"/>
                    <a:gd name="T72" fmla="*/ 81 w 81"/>
                    <a:gd name="T73" fmla="*/ 39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81" h="82">
                      <a:moveTo>
                        <a:pt x="81" y="39"/>
                      </a:moveTo>
                      <a:lnTo>
                        <a:pt x="77" y="38"/>
                      </a:lnTo>
                      <a:lnTo>
                        <a:pt x="69" y="31"/>
                      </a:lnTo>
                      <a:lnTo>
                        <a:pt x="59" y="19"/>
                      </a:lnTo>
                      <a:lnTo>
                        <a:pt x="48" y="0"/>
                      </a:lnTo>
                      <a:lnTo>
                        <a:pt x="47" y="2"/>
                      </a:lnTo>
                      <a:lnTo>
                        <a:pt x="47" y="9"/>
                      </a:lnTo>
                      <a:lnTo>
                        <a:pt x="50" y="22"/>
                      </a:lnTo>
                      <a:lnTo>
                        <a:pt x="59" y="44"/>
                      </a:lnTo>
                      <a:lnTo>
                        <a:pt x="55" y="43"/>
                      </a:lnTo>
                      <a:lnTo>
                        <a:pt x="44" y="38"/>
                      </a:lnTo>
                      <a:lnTo>
                        <a:pt x="31" y="27"/>
                      </a:lnTo>
                      <a:lnTo>
                        <a:pt x="21" y="13"/>
                      </a:lnTo>
                      <a:lnTo>
                        <a:pt x="21" y="18"/>
                      </a:lnTo>
                      <a:lnTo>
                        <a:pt x="23" y="32"/>
                      </a:lnTo>
                      <a:lnTo>
                        <a:pt x="31" y="49"/>
                      </a:lnTo>
                      <a:lnTo>
                        <a:pt x="47" y="65"/>
                      </a:lnTo>
                      <a:lnTo>
                        <a:pt x="46" y="65"/>
                      </a:lnTo>
                      <a:lnTo>
                        <a:pt x="42" y="65"/>
                      </a:lnTo>
                      <a:lnTo>
                        <a:pt x="36" y="64"/>
                      </a:lnTo>
                      <a:lnTo>
                        <a:pt x="29" y="61"/>
                      </a:lnTo>
                      <a:lnTo>
                        <a:pt x="21" y="59"/>
                      </a:lnTo>
                      <a:lnTo>
                        <a:pt x="13" y="55"/>
                      </a:lnTo>
                      <a:lnTo>
                        <a:pt x="6" y="48"/>
                      </a:lnTo>
                      <a:lnTo>
                        <a:pt x="0" y="40"/>
                      </a:lnTo>
                      <a:lnTo>
                        <a:pt x="1" y="42"/>
                      </a:lnTo>
                      <a:lnTo>
                        <a:pt x="2" y="47"/>
                      </a:lnTo>
                      <a:lnTo>
                        <a:pt x="6" y="53"/>
                      </a:lnTo>
                      <a:lnTo>
                        <a:pt x="13" y="61"/>
                      </a:lnTo>
                      <a:lnTo>
                        <a:pt x="19" y="69"/>
                      </a:lnTo>
                      <a:lnTo>
                        <a:pt x="29" y="76"/>
                      </a:lnTo>
                      <a:lnTo>
                        <a:pt x="40" y="81"/>
                      </a:lnTo>
                      <a:lnTo>
                        <a:pt x="54" y="82"/>
                      </a:lnTo>
                      <a:lnTo>
                        <a:pt x="54" y="76"/>
                      </a:lnTo>
                      <a:lnTo>
                        <a:pt x="57" y="60"/>
                      </a:lnTo>
                      <a:lnTo>
                        <a:pt x="65" y="45"/>
                      </a:lnTo>
                      <a:lnTo>
                        <a:pt x="81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6" name="Freeform 46"/>
                <p:cNvSpPr>
                  <a:spLocks/>
                </p:cNvSpPr>
                <p:nvPr/>
              </p:nvSpPr>
              <p:spPr bwMode="auto">
                <a:xfrm>
                  <a:off x="2556" y="2298"/>
                  <a:ext cx="4" cy="4"/>
                </a:xfrm>
                <a:custGeom>
                  <a:avLst/>
                  <a:gdLst>
                    <a:gd name="T0" fmla="*/ 17 w 17"/>
                    <a:gd name="T1" fmla="*/ 10 h 17"/>
                    <a:gd name="T2" fmla="*/ 16 w 17"/>
                    <a:gd name="T3" fmla="*/ 13 h 17"/>
                    <a:gd name="T4" fmla="*/ 13 w 17"/>
                    <a:gd name="T5" fmla="*/ 15 h 17"/>
                    <a:gd name="T6" fmla="*/ 11 w 17"/>
                    <a:gd name="T7" fmla="*/ 17 h 17"/>
                    <a:gd name="T8" fmla="*/ 7 w 17"/>
                    <a:gd name="T9" fmla="*/ 17 h 17"/>
                    <a:gd name="T10" fmla="*/ 4 w 17"/>
                    <a:gd name="T11" fmla="*/ 15 h 17"/>
                    <a:gd name="T12" fmla="*/ 2 w 17"/>
                    <a:gd name="T13" fmla="*/ 14 h 17"/>
                    <a:gd name="T14" fmla="*/ 0 w 17"/>
                    <a:gd name="T15" fmla="*/ 10 h 17"/>
                    <a:gd name="T16" fmla="*/ 0 w 17"/>
                    <a:gd name="T17" fmla="*/ 7 h 17"/>
                    <a:gd name="T18" fmla="*/ 2 w 17"/>
                    <a:gd name="T19" fmla="*/ 3 h 17"/>
                    <a:gd name="T20" fmla="*/ 3 w 17"/>
                    <a:gd name="T21" fmla="*/ 1 h 17"/>
                    <a:gd name="T22" fmla="*/ 7 w 17"/>
                    <a:gd name="T23" fmla="*/ 0 h 17"/>
                    <a:gd name="T24" fmla="*/ 10 w 17"/>
                    <a:gd name="T25" fmla="*/ 0 h 17"/>
                    <a:gd name="T26" fmla="*/ 13 w 17"/>
                    <a:gd name="T27" fmla="*/ 1 h 17"/>
                    <a:gd name="T28" fmla="*/ 16 w 17"/>
                    <a:gd name="T29" fmla="*/ 3 h 17"/>
                    <a:gd name="T30" fmla="*/ 17 w 17"/>
                    <a:gd name="T31" fmla="*/ 6 h 17"/>
                    <a:gd name="T32" fmla="*/ 17 w 17"/>
                    <a:gd name="T33" fmla="*/ 1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10"/>
                      </a:moveTo>
                      <a:lnTo>
                        <a:pt x="16" y="13"/>
                      </a:lnTo>
                      <a:lnTo>
                        <a:pt x="13" y="15"/>
                      </a:lnTo>
                      <a:lnTo>
                        <a:pt x="11" y="17"/>
                      </a:lnTo>
                      <a:lnTo>
                        <a:pt x="7" y="17"/>
                      </a:lnTo>
                      <a:lnTo>
                        <a:pt x="4" y="15"/>
                      </a:lnTo>
                      <a:lnTo>
                        <a:pt x="2" y="14"/>
                      </a:lnTo>
                      <a:lnTo>
                        <a:pt x="0" y="10"/>
                      </a:lnTo>
                      <a:lnTo>
                        <a:pt x="0" y="7"/>
                      </a:lnTo>
                      <a:lnTo>
                        <a:pt x="2" y="3"/>
                      </a:lnTo>
                      <a:lnTo>
                        <a:pt x="3" y="1"/>
                      </a:ln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13" y="1"/>
                      </a:lnTo>
                      <a:lnTo>
                        <a:pt x="16" y="3"/>
                      </a:lnTo>
                      <a:lnTo>
                        <a:pt x="17" y="6"/>
                      </a:lnTo>
                      <a:lnTo>
                        <a:pt x="17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7" name="Freeform 47"/>
                <p:cNvSpPr>
                  <a:spLocks/>
                </p:cNvSpPr>
                <p:nvPr/>
              </p:nvSpPr>
              <p:spPr bwMode="auto">
                <a:xfrm>
                  <a:off x="2542" y="2306"/>
                  <a:ext cx="5" cy="4"/>
                </a:xfrm>
                <a:custGeom>
                  <a:avLst/>
                  <a:gdLst>
                    <a:gd name="T0" fmla="*/ 17 w 17"/>
                    <a:gd name="T1" fmla="*/ 9 h 17"/>
                    <a:gd name="T2" fmla="*/ 16 w 17"/>
                    <a:gd name="T3" fmla="*/ 13 h 17"/>
                    <a:gd name="T4" fmla="*/ 15 w 17"/>
                    <a:gd name="T5" fmla="*/ 14 h 17"/>
                    <a:gd name="T6" fmla="*/ 12 w 17"/>
                    <a:gd name="T7" fmla="*/ 17 h 17"/>
                    <a:gd name="T8" fmla="*/ 8 w 17"/>
                    <a:gd name="T9" fmla="*/ 17 h 17"/>
                    <a:gd name="T10" fmla="*/ 4 w 17"/>
                    <a:gd name="T11" fmla="*/ 16 h 17"/>
                    <a:gd name="T12" fmla="*/ 3 w 17"/>
                    <a:gd name="T13" fmla="*/ 13 h 17"/>
                    <a:gd name="T14" fmla="*/ 0 w 17"/>
                    <a:gd name="T15" fmla="*/ 11 h 17"/>
                    <a:gd name="T16" fmla="*/ 0 w 17"/>
                    <a:gd name="T17" fmla="*/ 7 h 17"/>
                    <a:gd name="T18" fmla="*/ 2 w 17"/>
                    <a:gd name="T19" fmla="*/ 4 h 17"/>
                    <a:gd name="T20" fmla="*/ 4 w 17"/>
                    <a:gd name="T21" fmla="*/ 1 h 17"/>
                    <a:gd name="T22" fmla="*/ 7 w 17"/>
                    <a:gd name="T23" fmla="*/ 0 h 17"/>
                    <a:gd name="T24" fmla="*/ 11 w 17"/>
                    <a:gd name="T25" fmla="*/ 0 h 17"/>
                    <a:gd name="T26" fmla="*/ 13 w 17"/>
                    <a:gd name="T27" fmla="*/ 1 h 17"/>
                    <a:gd name="T28" fmla="*/ 16 w 17"/>
                    <a:gd name="T29" fmla="*/ 3 h 17"/>
                    <a:gd name="T30" fmla="*/ 17 w 17"/>
                    <a:gd name="T31" fmla="*/ 7 h 17"/>
                    <a:gd name="T32" fmla="*/ 17 w 17"/>
                    <a:gd name="T33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9"/>
                      </a:moveTo>
                      <a:lnTo>
                        <a:pt x="16" y="13"/>
                      </a:lnTo>
                      <a:lnTo>
                        <a:pt x="15" y="14"/>
                      </a:lnTo>
                      <a:lnTo>
                        <a:pt x="12" y="17"/>
                      </a:lnTo>
                      <a:lnTo>
                        <a:pt x="8" y="17"/>
                      </a:lnTo>
                      <a:lnTo>
                        <a:pt x="4" y="16"/>
                      </a:lnTo>
                      <a:lnTo>
                        <a:pt x="3" y="13"/>
                      </a:lnTo>
                      <a:lnTo>
                        <a:pt x="0" y="11"/>
                      </a:lnTo>
                      <a:lnTo>
                        <a:pt x="0" y="7"/>
                      </a:lnTo>
                      <a:lnTo>
                        <a:pt x="2" y="4"/>
                      </a:lnTo>
                      <a:lnTo>
                        <a:pt x="4" y="1"/>
                      </a:lnTo>
                      <a:lnTo>
                        <a:pt x="7" y="0"/>
                      </a:lnTo>
                      <a:lnTo>
                        <a:pt x="11" y="0"/>
                      </a:lnTo>
                      <a:lnTo>
                        <a:pt x="13" y="1"/>
                      </a:lnTo>
                      <a:lnTo>
                        <a:pt x="16" y="3"/>
                      </a:lnTo>
                      <a:lnTo>
                        <a:pt x="17" y="7"/>
                      </a:lnTo>
                      <a:lnTo>
                        <a:pt x="1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8" name="Freeform 48"/>
                <p:cNvSpPr>
                  <a:spLocks/>
                </p:cNvSpPr>
                <p:nvPr/>
              </p:nvSpPr>
              <p:spPr bwMode="auto">
                <a:xfrm>
                  <a:off x="2550" y="2324"/>
                  <a:ext cx="4" cy="4"/>
                </a:xfrm>
                <a:custGeom>
                  <a:avLst/>
                  <a:gdLst>
                    <a:gd name="T0" fmla="*/ 17 w 17"/>
                    <a:gd name="T1" fmla="*/ 9 h 17"/>
                    <a:gd name="T2" fmla="*/ 16 w 17"/>
                    <a:gd name="T3" fmla="*/ 13 h 17"/>
                    <a:gd name="T4" fmla="*/ 15 w 17"/>
                    <a:gd name="T5" fmla="*/ 14 h 17"/>
                    <a:gd name="T6" fmla="*/ 12 w 17"/>
                    <a:gd name="T7" fmla="*/ 17 h 17"/>
                    <a:gd name="T8" fmla="*/ 8 w 17"/>
                    <a:gd name="T9" fmla="*/ 17 h 17"/>
                    <a:gd name="T10" fmla="*/ 4 w 17"/>
                    <a:gd name="T11" fmla="*/ 15 h 17"/>
                    <a:gd name="T12" fmla="*/ 3 w 17"/>
                    <a:gd name="T13" fmla="*/ 13 h 17"/>
                    <a:gd name="T14" fmla="*/ 0 w 17"/>
                    <a:gd name="T15" fmla="*/ 10 h 17"/>
                    <a:gd name="T16" fmla="*/ 0 w 17"/>
                    <a:gd name="T17" fmla="*/ 6 h 17"/>
                    <a:gd name="T18" fmla="*/ 2 w 17"/>
                    <a:gd name="T19" fmla="*/ 3 h 17"/>
                    <a:gd name="T20" fmla="*/ 4 w 17"/>
                    <a:gd name="T21" fmla="*/ 1 h 17"/>
                    <a:gd name="T22" fmla="*/ 7 w 17"/>
                    <a:gd name="T23" fmla="*/ 0 h 17"/>
                    <a:gd name="T24" fmla="*/ 11 w 17"/>
                    <a:gd name="T25" fmla="*/ 0 h 17"/>
                    <a:gd name="T26" fmla="*/ 14 w 17"/>
                    <a:gd name="T27" fmla="*/ 1 h 17"/>
                    <a:gd name="T28" fmla="*/ 16 w 17"/>
                    <a:gd name="T29" fmla="*/ 2 h 17"/>
                    <a:gd name="T30" fmla="*/ 17 w 17"/>
                    <a:gd name="T31" fmla="*/ 5 h 17"/>
                    <a:gd name="T32" fmla="*/ 17 w 17"/>
                    <a:gd name="T33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9"/>
                      </a:moveTo>
                      <a:lnTo>
                        <a:pt x="16" y="13"/>
                      </a:lnTo>
                      <a:lnTo>
                        <a:pt x="15" y="14"/>
                      </a:lnTo>
                      <a:lnTo>
                        <a:pt x="12" y="17"/>
                      </a:lnTo>
                      <a:lnTo>
                        <a:pt x="8" y="17"/>
                      </a:lnTo>
                      <a:lnTo>
                        <a:pt x="4" y="15"/>
                      </a:lnTo>
                      <a:lnTo>
                        <a:pt x="3" y="13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2" y="3"/>
                      </a:lnTo>
                      <a:lnTo>
                        <a:pt x="4" y="1"/>
                      </a:lnTo>
                      <a:lnTo>
                        <a:pt x="7" y="0"/>
                      </a:lnTo>
                      <a:lnTo>
                        <a:pt x="11" y="0"/>
                      </a:lnTo>
                      <a:lnTo>
                        <a:pt x="14" y="1"/>
                      </a:lnTo>
                      <a:lnTo>
                        <a:pt x="16" y="2"/>
                      </a:lnTo>
                      <a:lnTo>
                        <a:pt x="17" y="5"/>
                      </a:lnTo>
                      <a:lnTo>
                        <a:pt x="1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9" name="Freeform 49"/>
                <p:cNvSpPr>
                  <a:spLocks/>
                </p:cNvSpPr>
                <p:nvPr/>
              </p:nvSpPr>
              <p:spPr bwMode="auto">
                <a:xfrm>
                  <a:off x="2560" y="2315"/>
                  <a:ext cx="4" cy="4"/>
                </a:xfrm>
                <a:custGeom>
                  <a:avLst/>
                  <a:gdLst>
                    <a:gd name="T0" fmla="*/ 17 w 17"/>
                    <a:gd name="T1" fmla="*/ 10 h 18"/>
                    <a:gd name="T2" fmla="*/ 16 w 17"/>
                    <a:gd name="T3" fmla="*/ 14 h 18"/>
                    <a:gd name="T4" fmla="*/ 15 w 17"/>
                    <a:gd name="T5" fmla="*/ 15 h 18"/>
                    <a:gd name="T6" fmla="*/ 11 w 17"/>
                    <a:gd name="T7" fmla="*/ 18 h 18"/>
                    <a:gd name="T8" fmla="*/ 8 w 17"/>
                    <a:gd name="T9" fmla="*/ 18 h 18"/>
                    <a:gd name="T10" fmla="*/ 4 w 17"/>
                    <a:gd name="T11" fmla="*/ 16 h 18"/>
                    <a:gd name="T12" fmla="*/ 3 w 17"/>
                    <a:gd name="T13" fmla="*/ 14 h 18"/>
                    <a:gd name="T14" fmla="*/ 0 w 17"/>
                    <a:gd name="T15" fmla="*/ 11 h 18"/>
                    <a:gd name="T16" fmla="*/ 0 w 17"/>
                    <a:gd name="T17" fmla="*/ 7 h 18"/>
                    <a:gd name="T18" fmla="*/ 1 w 17"/>
                    <a:gd name="T19" fmla="*/ 4 h 18"/>
                    <a:gd name="T20" fmla="*/ 4 w 17"/>
                    <a:gd name="T21" fmla="*/ 2 h 18"/>
                    <a:gd name="T22" fmla="*/ 7 w 17"/>
                    <a:gd name="T23" fmla="*/ 0 h 18"/>
                    <a:gd name="T24" fmla="*/ 11 w 17"/>
                    <a:gd name="T25" fmla="*/ 0 h 18"/>
                    <a:gd name="T26" fmla="*/ 13 w 17"/>
                    <a:gd name="T27" fmla="*/ 2 h 18"/>
                    <a:gd name="T28" fmla="*/ 16 w 17"/>
                    <a:gd name="T29" fmla="*/ 3 h 18"/>
                    <a:gd name="T30" fmla="*/ 17 w 17"/>
                    <a:gd name="T31" fmla="*/ 6 h 18"/>
                    <a:gd name="T32" fmla="*/ 17 w 17"/>
                    <a:gd name="T33" fmla="*/ 1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8">
                      <a:moveTo>
                        <a:pt x="17" y="10"/>
                      </a:move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1" y="18"/>
                      </a:lnTo>
                      <a:lnTo>
                        <a:pt x="8" y="18"/>
                      </a:lnTo>
                      <a:lnTo>
                        <a:pt x="4" y="16"/>
                      </a:lnTo>
                      <a:lnTo>
                        <a:pt x="3" y="14"/>
                      </a:lnTo>
                      <a:lnTo>
                        <a:pt x="0" y="11"/>
                      </a:lnTo>
                      <a:lnTo>
                        <a:pt x="0" y="7"/>
                      </a:lnTo>
                      <a:lnTo>
                        <a:pt x="1" y="4"/>
                      </a:lnTo>
                      <a:lnTo>
                        <a:pt x="4" y="2"/>
                      </a:lnTo>
                      <a:lnTo>
                        <a:pt x="7" y="0"/>
                      </a:lnTo>
                      <a:lnTo>
                        <a:pt x="11" y="0"/>
                      </a:lnTo>
                      <a:lnTo>
                        <a:pt x="13" y="2"/>
                      </a:lnTo>
                      <a:lnTo>
                        <a:pt x="16" y="3"/>
                      </a:lnTo>
                      <a:lnTo>
                        <a:pt x="17" y="6"/>
                      </a:lnTo>
                      <a:lnTo>
                        <a:pt x="17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Freeform 50"/>
                <p:cNvSpPr>
                  <a:spLocks/>
                </p:cNvSpPr>
                <p:nvPr/>
              </p:nvSpPr>
              <p:spPr bwMode="auto">
                <a:xfrm>
                  <a:off x="2575" y="2303"/>
                  <a:ext cx="4" cy="5"/>
                </a:xfrm>
                <a:custGeom>
                  <a:avLst/>
                  <a:gdLst>
                    <a:gd name="T0" fmla="*/ 17 w 17"/>
                    <a:gd name="T1" fmla="*/ 9 h 17"/>
                    <a:gd name="T2" fmla="*/ 16 w 17"/>
                    <a:gd name="T3" fmla="*/ 13 h 17"/>
                    <a:gd name="T4" fmla="*/ 13 w 17"/>
                    <a:gd name="T5" fmla="*/ 14 h 17"/>
                    <a:gd name="T6" fmla="*/ 11 w 17"/>
                    <a:gd name="T7" fmla="*/ 17 h 17"/>
                    <a:gd name="T8" fmla="*/ 7 w 17"/>
                    <a:gd name="T9" fmla="*/ 17 h 17"/>
                    <a:gd name="T10" fmla="*/ 4 w 17"/>
                    <a:gd name="T11" fmla="*/ 16 h 17"/>
                    <a:gd name="T12" fmla="*/ 1 w 17"/>
                    <a:gd name="T13" fmla="*/ 13 h 17"/>
                    <a:gd name="T14" fmla="*/ 0 w 17"/>
                    <a:gd name="T15" fmla="*/ 10 h 17"/>
                    <a:gd name="T16" fmla="*/ 0 w 17"/>
                    <a:gd name="T17" fmla="*/ 6 h 17"/>
                    <a:gd name="T18" fmla="*/ 1 w 17"/>
                    <a:gd name="T19" fmla="*/ 4 h 17"/>
                    <a:gd name="T20" fmla="*/ 3 w 17"/>
                    <a:gd name="T21" fmla="*/ 1 h 17"/>
                    <a:gd name="T22" fmla="*/ 5 w 17"/>
                    <a:gd name="T23" fmla="*/ 0 h 17"/>
                    <a:gd name="T24" fmla="*/ 9 w 17"/>
                    <a:gd name="T25" fmla="*/ 0 h 17"/>
                    <a:gd name="T26" fmla="*/ 13 w 17"/>
                    <a:gd name="T27" fmla="*/ 1 h 17"/>
                    <a:gd name="T28" fmla="*/ 16 w 17"/>
                    <a:gd name="T29" fmla="*/ 2 h 17"/>
                    <a:gd name="T30" fmla="*/ 17 w 17"/>
                    <a:gd name="T31" fmla="*/ 6 h 17"/>
                    <a:gd name="T32" fmla="*/ 17 w 17"/>
                    <a:gd name="T33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9"/>
                      </a:moveTo>
                      <a:lnTo>
                        <a:pt x="16" y="13"/>
                      </a:lnTo>
                      <a:lnTo>
                        <a:pt x="13" y="14"/>
                      </a:lnTo>
                      <a:lnTo>
                        <a:pt x="11" y="17"/>
                      </a:lnTo>
                      <a:lnTo>
                        <a:pt x="7" y="17"/>
                      </a:lnTo>
                      <a:lnTo>
                        <a:pt x="4" y="16"/>
                      </a:lnTo>
                      <a:lnTo>
                        <a:pt x="1" y="13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1" y="4"/>
                      </a:lnTo>
                      <a:lnTo>
                        <a:pt x="3" y="1"/>
                      </a:lnTo>
                      <a:lnTo>
                        <a:pt x="5" y="0"/>
                      </a:lnTo>
                      <a:lnTo>
                        <a:pt x="9" y="0"/>
                      </a:lnTo>
                      <a:lnTo>
                        <a:pt x="13" y="1"/>
                      </a:lnTo>
                      <a:lnTo>
                        <a:pt x="16" y="2"/>
                      </a:lnTo>
                      <a:lnTo>
                        <a:pt x="17" y="6"/>
                      </a:lnTo>
                      <a:lnTo>
                        <a:pt x="1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Freeform 51"/>
                <p:cNvSpPr>
                  <a:spLocks/>
                </p:cNvSpPr>
                <p:nvPr/>
              </p:nvSpPr>
              <p:spPr bwMode="auto">
                <a:xfrm>
                  <a:off x="2569" y="2322"/>
                  <a:ext cx="4" cy="4"/>
                </a:xfrm>
                <a:custGeom>
                  <a:avLst/>
                  <a:gdLst>
                    <a:gd name="T0" fmla="*/ 17 w 17"/>
                    <a:gd name="T1" fmla="*/ 10 h 17"/>
                    <a:gd name="T2" fmla="*/ 16 w 17"/>
                    <a:gd name="T3" fmla="*/ 13 h 17"/>
                    <a:gd name="T4" fmla="*/ 13 w 17"/>
                    <a:gd name="T5" fmla="*/ 15 h 17"/>
                    <a:gd name="T6" fmla="*/ 11 w 17"/>
                    <a:gd name="T7" fmla="*/ 17 h 17"/>
                    <a:gd name="T8" fmla="*/ 7 w 17"/>
                    <a:gd name="T9" fmla="*/ 17 h 17"/>
                    <a:gd name="T10" fmla="*/ 4 w 17"/>
                    <a:gd name="T11" fmla="*/ 15 h 17"/>
                    <a:gd name="T12" fmla="*/ 2 w 17"/>
                    <a:gd name="T13" fmla="*/ 14 h 17"/>
                    <a:gd name="T14" fmla="*/ 0 w 17"/>
                    <a:gd name="T15" fmla="*/ 11 h 17"/>
                    <a:gd name="T16" fmla="*/ 0 w 17"/>
                    <a:gd name="T17" fmla="*/ 8 h 17"/>
                    <a:gd name="T18" fmla="*/ 2 w 17"/>
                    <a:gd name="T19" fmla="*/ 4 h 17"/>
                    <a:gd name="T20" fmla="*/ 3 w 17"/>
                    <a:gd name="T21" fmla="*/ 1 h 17"/>
                    <a:gd name="T22" fmla="*/ 5 w 17"/>
                    <a:gd name="T23" fmla="*/ 0 h 17"/>
                    <a:gd name="T24" fmla="*/ 9 w 17"/>
                    <a:gd name="T25" fmla="*/ 0 h 17"/>
                    <a:gd name="T26" fmla="*/ 13 w 17"/>
                    <a:gd name="T27" fmla="*/ 1 h 17"/>
                    <a:gd name="T28" fmla="*/ 16 w 17"/>
                    <a:gd name="T29" fmla="*/ 4 h 17"/>
                    <a:gd name="T30" fmla="*/ 17 w 17"/>
                    <a:gd name="T31" fmla="*/ 6 h 17"/>
                    <a:gd name="T32" fmla="*/ 17 w 17"/>
                    <a:gd name="T33" fmla="*/ 1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10"/>
                      </a:moveTo>
                      <a:lnTo>
                        <a:pt x="16" y="13"/>
                      </a:lnTo>
                      <a:lnTo>
                        <a:pt x="13" y="15"/>
                      </a:lnTo>
                      <a:lnTo>
                        <a:pt x="11" y="17"/>
                      </a:lnTo>
                      <a:lnTo>
                        <a:pt x="7" y="17"/>
                      </a:lnTo>
                      <a:lnTo>
                        <a:pt x="4" y="15"/>
                      </a:lnTo>
                      <a:lnTo>
                        <a:pt x="2" y="14"/>
                      </a:lnTo>
                      <a:lnTo>
                        <a:pt x="0" y="11"/>
                      </a:lnTo>
                      <a:lnTo>
                        <a:pt x="0" y="8"/>
                      </a:lnTo>
                      <a:lnTo>
                        <a:pt x="2" y="4"/>
                      </a:lnTo>
                      <a:lnTo>
                        <a:pt x="3" y="1"/>
                      </a:lnTo>
                      <a:lnTo>
                        <a:pt x="5" y="0"/>
                      </a:lnTo>
                      <a:lnTo>
                        <a:pt x="9" y="0"/>
                      </a:lnTo>
                      <a:lnTo>
                        <a:pt x="13" y="1"/>
                      </a:lnTo>
                      <a:lnTo>
                        <a:pt x="16" y="4"/>
                      </a:lnTo>
                      <a:lnTo>
                        <a:pt x="17" y="6"/>
                      </a:lnTo>
                      <a:lnTo>
                        <a:pt x="17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Freeform 52"/>
                <p:cNvSpPr>
                  <a:spLocks/>
                </p:cNvSpPr>
                <p:nvPr/>
              </p:nvSpPr>
              <p:spPr bwMode="auto">
                <a:xfrm>
                  <a:off x="2432" y="2259"/>
                  <a:ext cx="4" cy="5"/>
                </a:xfrm>
                <a:custGeom>
                  <a:avLst/>
                  <a:gdLst>
                    <a:gd name="T0" fmla="*/ 17 w 17"/>
                    <a:gd name="T1" fmla="*/ 10 h 17"/>
                    <a:gd name="T2" fmla="*/ 15 w 17"/>
                    <a:gd name="T3" fmla="*/ 13 h 17"/>
                    <a:gd name="T4" fmla="*/ 13 w 17"/>
                    <a:gd name="T5" fmla="*/ 16 h 17"/>
                    <a:gd name="T6" fmla="*/ 10 w 17"/>
                    <a:gd name="T7" fmla="*/ 17 h 17"/>
                    <a:gd name="T8" fmla="*/ 6 w 17"/>
                    <a:gd name="T9" fmla="*/ 17 h 17"/>
                    <a:gd name="T10" fmla="*/ 4 w 17"/>
                    <a:gd name="T11" fmla="*/ 16 h 17"/>
                    <a:gd name="T12" fmla="*/ 1 w 17"/>
                    <a:gd name="T13" fmla="*/ 14 h 17"/>
                    <a:gd name="T14" fmla="*/ 0 w 17"/>
                    <a:gd name="T15" fmla="*/ 12 h 17"/>
                    <a:gd name="T16" fmla="*/ 0 w 17"/>
                    <a:gd name="T17" fmla="*/ 8 h 17"/>
                    <a:gd name="T18" fmla="*/ 1 w 17"/>
                    <a:gd name="T19" fmla="*/ 4 h 17"/>
                    <a:gd name="T20" fmla="*/ 2 w 17"/>
                    <a:gd name="T21" fmla="*/ 1 h 17"/>
                    <a:gd name="T22" fmla="*/ 5 w 17"/>
                    <a:gd name="T23" fmla="*/ 0 h 17"/>
                    <a:gd name="T24" fmla="*/ 9 w 17"/>
                    <a:gd name="T25" fmla="*/ 0 h 17"/>
                    <a:gd name="T26" fmla="*/ 13 w 17"/>
                    <a:gd name="T27" fmla="*/ 1 h 17"/>
                    <a:gd name="T28" fmla="*/ 15 w 17"/>
                    <a:gd name="T29" fmla="*/ 4 h 17"/>
                    <a:gd name="T30" fmla="*/ 17 w 17"/>
                    <a:gd name="T31" fmla="*/ 7 h 17"/>
                    <a:gd name="T32" fmla="*/ 17 w 17"/>
                    <a:gd name="T33" fmla="*/ 1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10"/>
                      </a:moveTo>
                      <a:lnTo>
                        <a:pt x="15" y="13"/>
                      </a:lnTo>
                      <a:lnTo>
                        <a:pt x="13" y="16"/>
                      </a:lnTo>
                      <a:lnTo>
                        <a:pt x="10" y="17"/>
                      </a:lnTo>
                      <a:lnTo>
                        <a:pt x="6" y="17"/>
                      </a:lnTo>
                      <a:lnTo>
                        <a:pt x="4" y="16"/>
                      </a:lnTo>
                      <a:lnTo>
                        <a:pt x="1" y="14"/>
                      </a:ln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1" y="4"/>
                      </a:lnTo>
                      <a:lnTo>
                        <a:pt x="2" y="1"/>
                      </a:lnTo>
                      <a:lnTo>
                        <a:pt x="5" y="0"/>
                      </a:lnTo>
                      <a:lnTo>
                        <a:pt x="9" y="0"/>
                      </a:lnTo>
                      <a:lnTo>
                        <a:pt x="13" y="1"/>
                      </a:lnTo>
                      <a:lnTo>
                        <a:pt x="15" y="4"/>
                      </a:lnTo>
                      <a:lnTo>
                        <a:pt x="17" y="7"/>
                      </a:lnTo>
                      <a:lnTo>
                        <a:pt x="17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Freeform 53"/>
                <p:cNvSpPr>
                  <a:spLocks/>
                </p:cNvSpPr>
                <p:nvPr/>
              </p:nvSpPr>
              <p:spPr bwMode="auto">
                <a:xfrm>
                  <a:off x="2425" y="2285"/>
                  <a:ext cx="5" cy="5"/>
                </a:xfrm>
                <a:custGeom>
                  <a:avLst/>
                  <a:gdLst>
                    <a:gd name="T0" fmla="*/ 17 w 17"/>
                    <a:gd name="T1" fmla="*/ 10 h 17"/>
                    <a:gd name="T2" fmla="*/ 16 w 17"/>
                    <a:gd name="T3" fmla="*/ 13 h 17"/>
                    <a:gd name="T4" fmla="*/ 14 w 17"/>
                    <a:gd name="T5" fmla="*/ 15 h 17"/>
                    <a:gd name="T6" fmla="*/ 10 w 17"/>
                    <a:gd name="T7" fmla="*/ 17 h 17"/>
                    <a:gd name="T8" fmla="*/ 8 w 17"/>
                    <a:gd name="T9" fmla="*/ 17 h 17"/>
                    <a:gd name="T10" fmla="*/ 4 w 17"/>
                    <a:gd name="T11" fmla="*/ 15 h 17"/>
                    <a:gd name="T12" fmla="*/ 2 w 17"/>
                    <a:gd name="T13" fmla="*/ 14 h 17"/>
                    <a:gd name="T14" fmla="*/ 0 w 17"/>
                    <a:gd name="T15" fmla="*/ 10 h 17"/>
                    <a:gd name="T16" fmla="*/ 0 w 17"/>
                    <a:gd name="T17" fmla="*/ 8 h 17"/>
                    <a:gd name="T18" fmla="*/ 1 w 17"/>
                    <a:gd name="T19" fmla="*/ 4 h 17"/>
                    <a:gd name="T20" fmla="*/ 4 w 17"/>
                    <a:gd name="T21" fmla="*/ 1 h 17"/>
                    <a:gd name="T22" fmla="*/ 6 w 17"/>
                    <a:gd name="T23" fmla="*/ 0 h 17"/>
                    <a:gd name="T24" fmla="*/ 10 w 17"/>
                    <a:gd name="T25" fmla="*/ 0 h 17"/>
                    <a:gd name="T26" fmla="*/ 13 w 17"/>
                    <a:gd name="T27" fmla="*/ 1 h 17"/>
                    <a:gd name="T28" fmla="*/ 16 w 17"/>
                    <a:gd name="T29" fmla="*/ 4 h 17"/>
                    <a:gd name="T30" fmla="*/ 17 w 17"/>
                    <a:gd name="T31" fmla="*/ 6 h 17"/>
                    <a:gd name="T32" fmla="*/ 17 w 17"/>
                    <a:gd name="T33" fmla="*/ 1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10"/>
                      </a:moveTo>
                      <a:lnTo>
                        <a:pt x="16" y="13"/>
                      </a:lnTo>
                      <a:lnTo>
                        <a:pt x="14" y="15"/>
                      </a:lnTo>
                      <a:lnTo>
                        <a:pt x="10" y="17"/>
                      </a:lnTo>
                      <a:lnTo>
                        <a:pt x="8" y="17"/>
                      </a:lnTo>
                      <a:lnTo>
                        <a:pt x="4" y="15"/>
                      </a:lnTo>
                      <a:lnTo>
                        <a:pt x="2" y="14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1" y="4"/>
                      </a:lnTo>
                      <a:lnTo>
                        <a:pt x="4" y="1"/>
                      </a:lnTo>
                      <a:lnTo>
                        <a:pt x="6" y="0"/>
                      </a:lnTo>
                      <a:lnTo>
                        <a:pt x="10" y="0"/>
                      </a:lnTo>
                      <a:lnTo>
                        <a:pt x="13" y="1"/>
                      </a:lnTo>
                      <a:lnTo>
                        <a:pt x="16" y="4"/>
                      </a:lnTo>
                      <a:lnTo>
                        <a:pt x="17" y="6"/>
                      </a:lnTo>
                      <a:lnTo>
                        <a:pt x="17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" name="Freeform 54"/>
                <p:cNvSpPr>
                  <a:spLocks/>
                </p:cNvSpPr>
                <p:nvPr/>
              </p:nvSpPr>
              <p:spPr bwMode="auto">
                <a:xfrm>
                  <a:off x="2436" y="2276"/>
                  <a:ext cx="4" cy="4"/>
                </a:xfrm>
                <a:custGeom>
                  <a:avLst/>
                  <a:gdLst>
                    <a:gd name="T0" fmla="*/ 18 w 18"/>
                    <a:gd name="T1" fmla="*/ 9 h 16"/>
                    <a:gd name="T2" fmla="*/ 16 w 18"/>
                    <a:gd name="T3" fmla="*/ 12 h 16"/>
                    <a:gd name="T4" fmla="*/ 14 w 18"/>
                    <a:gd name="T5" fmla="*/ 14 h 16"/>
                    <a:gd name="T6" fmla="*/ 11 w 18"/>
                    <a:gd name="T7" fmla="*/ 16 h 16"/>
                    <a:gd name="T8" fmla="*/ 7 w 18"/>
                    <a:gd name="T9" fmla="*/ 16 h 16"/>
                    <a:gd name="T10" fmla="*/ 4 w 18"/>
                    <a:gd name="T11" fmla="*/ 14 h 16"/>
                    <a:gd name="T12" fmla="*/ 2 w 18"/>
                    <a:gd name="T13" fmla="*/ 13 h 16"/>
                    <a:gd name="T14" fmla="*/ 0 w 18"/>
                    <a:gd name="T15" fmla="*/ 10 h 16"/>
                    <a:gd name="T16" fmla="*/ 0 w 18"/>
                    <a:gd name="T17" fmla="*/ 6 h 16"/>
                    <a:gd name="T18" fmla="*/ 2 w 18"/>
                    <a:gd name="T19" fmla="*/ 3 h 16"/>
                    <a:gd name="T20" fmla="*/ 3 w 18"/>
                    <a:gd name="T21" fmla="*/ 1 h 16"/>
                    <a:gd name="T22" fmla="*/ 7 w 18"/>
                    <a:gd name="T23" fmla="*/ 0 h 16"/>
                    <a:gd name="T24" fmla="*/ 10 w 18"/>
                    <a:gd name="T25" fmla="*/ 0 h 16"/>
                    <a:gd name="T26" fmla="*/ 14 w 18"/>
                    <a:gd name="T27" fmla="*/ 1 h 16"/>
                    <a:gd name="T28" fmla="*/ 16 w 18"/>
                    <a:gd name="T29" fmla="*/ 3 h 16"/>
                    <a:gd name="T30" fmla="*/ 18 w 18"/>
                    <a:gd name="T31" fmla="*/ 5 h 16"/>
                    <a:gd name="T32" fmla="*/ 18 w 18"/>
                    <a:gd name="T33" fmla="*/ 9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8" h="16">
                      <a:moveTo>
                        <a:pt x="18" y="9"/>
                      </a:moveTo>
                      <a:lnTo>
                        <a:pt x="16" y="12"/>
                      </a:lnTo>
                      <a:lnTo>
                        <a:pt x="14" y="14"/>
                      </a:lnTo>
                      <a:lnTo>
                        <a:pt x="11" y="16"/>
                      </a:lnTo>
                      <a:lnTo>
                        <a:pt x="7" y="16"/>
                      </a:lnTo>
                      <a:lnTo>
                        <a:pt x="4" y="14"/>
                      </a:lnTo>
                      <a:lnTo>
                        <a:pt x="2" y="13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2" y="3"/>
                      </a:lnTo>
                      <a:lnTo>
                        <a:pt x="3" y="1"/>
                      </a:ln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14" y="1"/>
                      </a:lnTo>
                      <a:lnTo>
                        <a:pt x="16" y="3"/>
                      </a:lnTo>
                      <a:lnTo>
                        <a:pt x="18" y="5"/>
                      </a:lnTo>
                      <a:lnTo>
                        <a:pt x="18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5" name="Freeform 55"/>
                <p:cNvSpPr>
                  <a:spLocks/>
                </p:cNvSpPr>
                <p:nvPr/>
              </p:nvSpPr>
              <p:spPr bwMode="auto">
                <a:xfrm>
                  <a:off x="2450" y="2265"/>
                  <a:ext cx="4" cy="4"/>
                </a:xfrm>
                <a:custGeom>
                  <a:avLst/>
                  <a:gdLst>
                    <a:gd name="T0" fmla="*/ 17 w 17"/>
                    <a:gd name="T1" fmla="*/ 9 h 17"/>
                    <a:gd name="T2" fmla="*/ 16 w 17"/>
                    <a:gd name="T3" fmla="*/ 13 h 17"/>
                    <a:gd name="T4" fmla="*/ 13 w 17"/>
                    <a:gd name="T5" fmla="*/ 15 h 17"/>
                    <a:gd name="T6" fmla="*/ 11 w 17"/>
                    <a:gd name="T7" fmla="*/ 17 h 17"/>
                    <a:gd name="T8" fmla="*/ 7 w 17"/>
                    <a:gd name="T9" fmla="*/ 17 h 17"/>
                    <a:gd name="T10" fmla="*/ 4 w 17"/>
                    <a:gd name="T11" fmla="*/ 16 h 17"/>
                    <a:gd name="T12" fmla="*/ 2 w 17"/>
                    <a:gd name="T13" fmla="*/ 13 h 17"/>
                    <a:gd name="T14" fmla="*/ 0 w 17"/>
                    <a:gd name="T15" fmla="*/ 11 h 17"/>
                    <a:gd name="T16" fmla="*/ 0 w 17"/>
                    <a:gd name="T17" fmla="*/ 7 h 17"/>
                    <a:gd name="T18" fmla="*/ 2 w 17"/>
                    <a:gd name="T19" fmla="*/ 4 h 17"/>
                    <a:gd name="T20" fmla="*/ 3 w 17"/>
                    <a:gd name="T21" fmla="*/ 2 h 17"/>
                    <a:gd name="T22" fmla="*/ 7 w 17"/>
                    <a:gd name="T23" fmla="*/ 0 h 17"/>
                    <a:gd name="T24" fmla="*/ 9 w 17"/>
                    <a:gd name="T25" fmla="*/ 0 h 17"/>
                    <a:gd name="T26" fmla="*/ 13 w 17"/>
                    <a:gd name="T27" fmla="*/ 2 h 17"/>
                    <a:gd name="T28" fmla="*/ 16 w 17"/>
                    <a:gd name="T29" fmla="*/ 3 h 17"/>
                    <a:gd name="T30" fmla="*/ 17 w 17"/>
                    <a:gd name="T31" fmla="*/ 7 h 17"/>
                    <a:gd name="T32" fmla="*/ 17 w 17"/>
                    <a:gd name="T33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9"/>
                      </a:moveTo>
                      <a:lnTo>
                        <a:pt x="16" y="13"/>
                      </a:lnTo>
                      <a:lnTo>
                        <a:pt x="13" y="15"/>
                      </a:lnTo>
                      <a:lnTo>
                        <a:pt x="11" y="17"/>
                      </a:lnTo>
                      <a:lnTo>
                        <a:pt x="7" y="17"/>
                      </a:lnTo>
                      <a:lnTo>
                        <a:pt x="4" y="16"/>
                      </a:lnTo>
                      <a:lnTo>
                        <a:pt x="2" y="13"/>
                      </a:lnTo>
                      <a:lnTo>
                        <a:pt x="0" y="11"/>
                      </a:lnTo>
                      <a:lnTo>
                        <a:pt x="0" y="7"/>
                      </a:lnTo>
                      <a:lnTo>
                        <a:pt x="2" y="4"/>
                      </a:lnTo>
                      <a:lnTo>
                        <a:pt x="3" y="2"/>
                      </a:lnTo>
                      <a:lnTo>
                        <a:pt x="7" y="0"/>
                      </a:lnTo>
                      <a:lnTo>
                        <a:pt x="9" y="0"/>
                      </a:lnTo>
                      <a:lnTo>
                        <a:pt x="13" y="2"/>
                      </a:lnTo>
                      <a:lnTo>
                        <a:pt x="16" y="3"/>
                      </a:lnTo>
                      <a:lnTo>
                        <a:pt x="17" y="7"/>
                      </a:lnTo>
                      <a:lnTo>
                        <a:pt x="17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6" name="Freeform 56"/>
                <p:cNvSpPr>
                  <a:spLocks/>
                </p:cNvSpPr>
                <p:nvPr/>
              </p:nvSpPr>
              <p:spPr bwMode="auto">
                <a:xfrm>
                  <a:off x="2444" y="2284"/>
                  <a:ext cx="4" cy="4"/>
                </a:xfrm>
                <a:custGeom>
                  <a:avLst/>
                  <a:gdLst>
                    <a:gd name="T0" fmla="*/ 17 w 17"/>
                    <a:gd name="T1" fmla="*/ 11 h 17"/>
                    <a:gd name="T2" fmla="*/ 16 w 17"/>
                    <a:gd name="T3" fmla="*/ 13 h 17"/>
                    <a:gd name="T4" fmla="*/ 13 w 17"/>
                    <a:gd name="T5" fmla="*/ 16 h 17"/>
                    <a:gd name="T6" fmla="*/ 11 w 17"/>
                    <a:gd name="T7" fmla="*/ 17 h 17"/>
                    <a:gd name="T8" fmla="*/ 8 w 17"/>
                    <a:gd name="T9" fmla="*/ 17 h 17"/>
                    <a:gd name="T10" fmla="*/ 4 w 17"/>
                    <a:gd name="T11" fmla="*/ 16 h 17"/>
                    <a:gd name="T12" fmla="*/ 3 w 17"/>
                    <a:gd name="T13" fmla="*/ 15 h 17"/>
                    <a:gd name="T14" fmla="*/ 0 w 17"/>
                    <a:gd name="T15" fmla="*/ 11 h 17"/>
                    <a:gd name="T16" fmla="*/ 0 w 17"/>
                    <a:gd name="T17" fmla="*/ 8 h 17"/>
                    <a:gd name="T18" fmla="*/ 2 w 17"/>
                    <a:gd name="T19" fmla="*/ 4 h 17"/>
                    <a:gd name="T20" fmla="*/ 4 w 17"/>
                    <a:gd name="T21" fmla="*/ 1 h 17"/>
                    <a:gd name="T22" fmla="*/ 7 w 17"/>
                    <a:gd name="T23" fmla="*/ 0 h 17"/>
                    <a:gd name="T24" fmla="*/ 9 w 17"/>
                    <a:gd name="T25" fmla="*/ 0 h 17"/>
                    <a:gd name="T26" fmla="*/ 13 w 17"/>
                    <a:gd name="T27" fmla="*/ 1 h 17"/>
                    <a:gd name="T28" fmla="*/ 16 w 17"/>
                    <a:gd name="T29" fmla="*/ 4 h 17"/>
                    <a:gd name="T30" fmla="*/ 17 w 17"/>
                    <a:gd name="T31" fmla="*/ 7 h 17"/>
                    <a:gd name="T32" fmla="*/ 17 w 17"/>
                    <a:gd name="T33" fmla="*/ 1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" h="17">
                      <a:moveTo>
                        <a:pt x="17" y="11"/>
                      </a:moveTo>
                      <a:lnTo>
                        <a:pt x="16" y="13"/>
                      </a:lnTo>
                      <a:lnTo>
                        <a:pt x="13" y="16"/>
                      </a:lnTo>
                      <a:lnTo>
                        <a:pt x="11" y="17"/>
                      </a:lnTo>
                      <a:lnTo>
                        <a:pt x="8" y="17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0" y="11"/>
                      </a:lnTo>
                      <a:lnTo>
                        <a:pt x="0" y="8"/>
                      </a:lnTo>
                      <a:lnTo>
                        <a:pt x="2" y="4"/>
                      </a:lnTo>
                      <a:lnTo>
                        <a:pt x="4" y="1"/>
                      </a:lnTo>
                      <a:lnTo>
                        <a:pt x="7" y="0"/>
                      </a:lnTo>
                      <a:lnTo>
                        <a:pt x="9" y="0"/>
                      </a:lnTo>
                      <a:lnTo>
                        <a:pt x="13" y="1"/>
                      </a:lnTo>
                      <a:lnTo>
                        <a:pt x="16" y="4"/>
                      </a:lnTo>
                      <a:lnTo>
                        <a:pt x="17" y="7"/>
                      </a:lnTo>
                      <a:lnTo>
                        <a:pt x="17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7" name="Freeform 57"/>
                <p:cNvSpPr>
                  <a:spLocks/>
                </p:cNvSpPr>
                <p:nvPr/>
              </p:nvSpPr>
              <p:spPr bwMode="auto">
                <a:xfrm>
                  <a:off x="2622" y="2283"/>
                  <a:ext cx="33" cy="43"/>
                </a:xfrm>
                <a:custGeom>
                  <a:avLst/>
                  <a:gdLst>
                    <a:gd name="T0" fmla="*/ 0 w 131"/>
                    <a:gd name="T1" fmla="*/ 26 h 172"/>
                    <a:gd name="T2" fmla="*/ 3 w 131"/>
                    <a:gd name="T3" fmla="*/ 24 h 172"/>
                    <a:gd name="T4" fmla="*/ 10 w 131"/>
                    <a:gd name="T5" fmla="*/ 20 h 172"/>
                    <a:gd name="T6" fmla="*/ 21 w 131"/>
                    <a:gd name="T7" fmla="*/ 13 h 172"/>
                    <a:gd name="T8" fmla="*/ 35 w 131"/>
                    <a:gd name="T9" fmla="*/ 7 h 172"/>
                    <a:gd name="T10" fmla="*/ 51 w 131"/>
                    <a:gd name="T11" fmla="*/ 1 h 172"/>
                    <a:gd name="T12" fmla="*/ 68 w 131"/>
                    <a:gd name="T13" fmla="*/ 0 h 172"/>
                    <a:gd name="T14" fmla="*/ 87 w 131"/>
                    <a:gd name="T15" fmla="*/ 3 h 172"/>
                    <a:gd name="T16" fmla="*/ 104 w 131"/>
                    <a:gd name="T17" fmla="*/ 11 h 172"/>
                    <a:gd name="T18" fmla="*/ 106 w 131"/>
                    <a:gd name="T19" fmla="*/ 13 h 172"/>
                    <a:gd name="T20" fmla="*/ 113 w 131"/>
                    <a:gd name="T21" fmla="*/ 20 h 172"/>
                    <a:gd name="T22" fmla="*/ 121 w 131"/>
                    <a:gd name="T23" fmla="*/ 32 h 172"/>
                    <a:gd name="T24" fmla="*/ 127 w 131"/>
                    <a:gd name="T25" fmla="*/ 46 h 172"/>
                    <a:gd name="T26" fmla="*/ 131 w 131"/>
                    <a:gd name="T27" fmla="*/ 64 h 172"/>
                    <a:gd name="T28" fmla="*/ 131 w 131"/>
                    <a:gd name="T29" fmla="*/ 85 h 172"/>
                    <a:gd name="T30" fmla="*/ 122 w 131"/>
                    <a:gd name="T31" fmla="*/ 108 h 172"/>
                    <a:gd name="T32" fmla="*/ 105 w 131"/>
                    <a:gd name="T33" fmla="*/ 133 h 172"/>
                    <a:gd name="T34" fmla="*/ 102 w 131"/>
                    <a:gd name="T35" fmla="*/ 135 h 172"/>
                    <a:gd name="T36" fmla="*/ 97 w 131"/>
                    <a:gd name="T37" fmla="*/ 141 h 172"/>
                    <a:gd name="T38" fmla="*/ 87 w 131"/>
                    <a:gd name="T39" fmla="*/ 148 h 172"/>
                    <a:gd name="T40" fmla="*/ 75 w 131"/>
                    <a:gd name="T41" fmla="*/ 158 h 172"/>
                    <a:gd name="T42" fmla="*/ 59 w 131"/>
                    <a:gd name="T43" fmla="*/ 166 h 172"/>
                    <a:gd name="T44" fmla="*/ 42 w 131"/>
                    <a:gd name="T45" fmla="*/ 171 h 172"/>
                    <a:gd name="T46" fmla="*/ 24 w 131"/>
                    <a:gd name="T47" fmla="*/ 172 h 172"/>
                    <a:gd name="T48" fmla="*/ 4 w 131"/>
                    <a:gd name="T49" fmla="*/ 168 h 172"/>
                    <a:gd name="T50" fmla="*/ 8 w 131"/>
                    <a:gd name="T51" fmla="*/ 166 h 172"/>
                    <a:gd name="T52" fmla="*/ 20 w 131"/>
                    <a:gd name="T53" fmla="*/ 158 h 172"/>
                    <a:gd name="T54" fmla="*/ 34 w 131"/>
                    <a:gd name="T55" fmla="*/ 145 h 172"/>
                    <a:gd name="T56" fmla="*/ 50 w 131"/>
                    <a:gd name="T57" fmla="*/ 127 h 172"/>
                    <a:gd name="T58" fmla="*/ 63 w 131"/>
                    <a:gd name="T59" fmla="*/ 108 h 172"/>
                    <a:gd name="T60" fmla="*/ 72 w 131"/>
                    <a:gd name="T61" fmla="*/ 85 h 172"/>
                    <a:gd name="T62" fmla="*/ 73 w 131"/>
                    <a:gd name="T63" fmla="*/ 62 h 172"/>
                    <a:gd name="T64" fmla="*/ 63 w 131"/>
                    <a:gd name="T65" fmla="*/ 37 h 172"/>
                    <a:gd name="T66" fmla="*/ 62 w 131"/>
                    <a:gd name="T67" fmla="*/ 36 h 172"/>
                    <a:gd name="T68" fmla="*/ 60 w 131"/>
                    <a:gd name="T69" fmla="*/ 33 h 172"/>
                    <a:gd name="T70" fmla="*/ 55 w 131"/>
                    <a:gd name="T71" fmla="*/ 30 h 172"/>
                    <a:gd name="T72" fmla="*/ 50 w 131"/>
                    <a:gd name="T73" fmla="*/ 28 h 172"/>
                    <a:gd name="T74" fmla="*/ 41 w 131"/>
                    <a:gd name="T75" fmla="*/ 25 h 172"/>
                    <a:gd name="T76" fmla="*/ 30 w 131"/>
                    <a:gd name="T77" fmla="*/ 22 h 172"/>
                    <a:gd name="T78" fmla="*/ 16 w 131"/>
                    <a:gd name="T79" fmla="*/ 24 h 172"/>
                    <a:gd name="T80" fmla="*/ 0 w 131"/>
                    <a:gd name="T81" fmla="*/ 26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31" h="172">
                      <a:moveTo>
                        <a:pt x="0" y="26"/>
                      </a:moveTo>
                      <a:lnTo>
                        <a:pt x="3" y="24"/>
                      </a:lnTo>
                      <a:lnTo>
                        <a:pt x="10" y="20"/>
                      </a:lnTo>
                      <a:lnTo>
                        <a:pt x="21" y="13"/>
                      </a:lnTo>
                      <a:lnTo>
                        <a:pt x="35" y="7"/>
                      </a:lnTo>
                      <a:lnTo>
                        <a:pt x="51" y="1"/>
                      </a:lnTo>
                      <a:lnTo>
                        <a:pt x="68" y="0"/>
                      </a:lnTo>
                      <a:lnTo>
                        <a:pt x="87" y="3"/>
                      </a:lnTo>
                      <a:lnTo>
                        <a:pt x="104" y="11"/>
                      </a:lnTo>
                      <a:lnTo>
                        <a:pt x="106" y="13"/>
                      </a:lnTo>
                      <a:lnTo>
                        <a:pt x="113" y="20"/>
                      </a:lnTo>
                      <a:lnTo>
                        <a:pt x="121" y="32"/>
                      </a:lnTo>
                      <a:lnTo>
                        <a:pt x="127" y="46"/>
                      </a:lnTo>
                      <a:lnTo>
                        <a:pt x="131" y="64"/>
                      </a:lnTo>
                      <a:lnTo>
                        <a:pt x="131" y="85"/>
                      </a:lnTo>
                      <a:lnTo>
                        <a:pt x="122" y="108"/>
                      </a:lnTo>
                      <a:lnTo>
                        <a:pt x="105" y="133"/>
                      </a:lnTo>
                      <a:lnTo>
                        <a:pt x="102" y="135"/>
                      </a:lnTo>
                      <a:lnTo>
                        <a:pt x="97" y="141"/>
                      </a:lnTo>
                      <a:lnTo>
                        <a:pt x="87" y="148"/>
                      </a:lnTo>
                      <a:lnTo>
                        <a:pt x="75" y="158"/>
                      </a:lnTo>
                      <a:lnTo>
                        <a:pt x="59" y="166"/>
                      </a:lnTo>
                      <a:lnTo>
                        <a:pt x="42" y="171"/>
                      </a:lnTo>
                      <a:lnTo>
                        <a:pt x="24" y="172"/>
                      </a:lnTo>
                      <a:lnTo>
                        <a:pt x="4" y="168"/>
                      </a:lnTo>
                      <a:lnTo>
                        <a:pt x="8" y="166"/>
                      </a:lnTo>
                      <a:lnTo>
                        <a:pt x="20" y="158"/>
                      </a:lnTo>
                      <a:lnTo>
                        <a:pt x="34" y="145"/>
                      </a:lnTo>
                      <a:lnTo>
                        <a:pt x="50" y="127"/>
                      </a:lnTo>
                      <a:lnTo>
                        <a:pt x="63" y="108"/>
                      </a:lnTo>
                      <a:lnTo>
                        <a:pt x="72" y="85"/>
                      </a:lnTo>
                      <a:lnTo>
                        <a:pt x="73" y="62"/>
                      </a:lnTo>
                      <a:lnTo>
                        <a:pt x="63" y="37"/>
                      </a:lnTo>
                      <a:lnTo>
                        <a:pt x="62" y="36"/>
                      </a:lnTo>
                      <a:lnTo>
                        <a:pt x="60" y="33"/>
                      </a:lnTo>
                      <a:lnTo>
                        <a:pt x="55" y="30"/>
                      </a:lnTo>
                      <a:lnTo>
                        <a:pt x="50" y="28"/>
                      </a:lnTo>
                      <a:lnTo>
                        <a:pt x="41" y="25"/>
                      </a:lnTo>
                      <a:lnTo>
                        <a:pt x="30" y="22"/>
                      </a:lnTo>
                      <a:lnTo>
                        <a:pt x="16" y="24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8" name="Freeform 58"/>
                <p:cNvSpPr>
                  <a:spLocks/>
                </p:cNvSpPr>
                <p:nvPr/>
              </p:nvSpPr>
              <p:spPr bwMode="auto">
                <a:xfrm>
                  <a:off x="2621" y="2287"/>
                  <a:ext cx="28" cy="37"/>
                </a:xfrm>
                <a:custGeom>
                  <a:avLst/>
                  <a:gdLst>
                    <a:gd name="T0" fmla="*/ 3 w 111"/>
                    <a:gd name="T1" fmla="*/ 13 h 149"/>
                    <a:gd name="T2" fmla="*/ 4 w 111"/>
                    <a:gd name="T3" fmla="*/ 12 h 149"/>
                    <a:gd name="T4" fmla="*/ 8 w 111"/>
                    <a:gd name="T5" fmla="*/ 9 h 149"/>
                    <a:gd name="T6" fmla="*/ 15 w 111"/>
                    <a:gd name="T7" fmla="*/ 7 h 149"/>
                    <a:gd name="T8" fmla="*/ 23 w 111"/>
                    <a:gd name="T9" fmla="*/ 3 h 149"/>
                    <a:gd name="T10" fmla="*/ 34 w 111"/>
                    <a:gd name="T11" fmla="*/ 2 h 149"/>
                    <a:gd name="T12" fmla="*/ 48 w 111"/>
                    <a:gd name="T13" fmla="*/ 0 h 149"/>
                    <a:gd name="T14" fmla="*/ 63 w 111"/>
                    <a:gd name="T15" fmla="*/ 3 h 149"/>
                    <a:gd name="T16" fmla="*/ 82 w 111"/>
                    <a:gd name="T17" fmla="*/ 8 h 149"/>
                    <a:gd name="T18" fmla="*/ 84 w 111"/>
                    <a:gd name="T19" fmla="*/ 11 h 149"/>
                    <a:gd name="T20" fmla="*/ 90 w 111"/>
                    <a:gd name="T21" fmla="*/ 16 h 149"/>
                    <a:gd name="T22" fmla="*/ 97 w 111"/>
                    <a:gd name="T23" fmla="*/ 25 h 149"/>
                    <a:gd name="T24" fmla="*/ 105 w 111"/>
                    <a:gd name="T25" fmla="*/ 37 h 149"/>
                    <a:gd name="T26" fmla="*/ 111 w 111"/>
                    <a:gd name="T27" fmla="*/ 51 h 149"/>
                    <a:gd name="T28" fmla="*/ 111 w 111"/>
                    <a:gd name="T29" fmla="*/ 68 h 149"/>
                    <a:gd name="T30" fmla="*/ 107 w 111"/>
                    <a:gd name="T31" fmla="*/ 88 h 149"/>
                    <a:gd name="T32" fmla="*/ 94 w 111"/>
                    <a:gd name="T33" fmla="*/ 109 h 149"/>
                    <a:gd name="T34" fmla="*/ 92 w 111"/>
                    <a:gd name="T35" fmla="*/ 110 h 149"/>
                    <a:gd name="T36" fmla="*/ 86 w 111"/>
                    <a:gd name="T37" fmla="*/ 116 h 149"/>
                    <a:gd name="T38" fmla="*/ 78 w 111"/>
                    <a:gd name="T39" fmla="*/ 124 h 149"/>
                    <a:gd name="T40" fmla="*/ 66 w 111"/>
                    <a:gd name="T41" fmla="*/ 131 h 149"/>
                    <a:gd name="T42" fmla="*/ 53 w 111"/>
                    <a:gd name="T43" fmla="*/ 139 h 149"/>
                    <a:gd name="T44" fmla="*/ 37 w 111"/>
                    <a:gd name="T45" fmla="*/ 145 h 149"/>
                    <a:gd name="T46" fmla="*/ 19 w 111"/>
                    <a:gd name="T47" fmla="*/ 149 h 149"/>
                    <a:gd name="T48" fmla="*/ 0 w 111"/>
                    <a:gd name="T49" fmla="*/ 149 h 149"/>
                    <a:gd name="T50" fmla="*/ 3 w 111"/>
                    <a:gd name="T51" fmla="*/ 13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11" h="149">
                      <a:moveTo>
                        <a:pt x="3" y="13"/>
                      </a:moveTo>
                      <a:lnTo>
                        <a:pt x="4" y="12"/>
                      </a:lnTo>
                      <a:lnTo>
                        <a:pt x="8" y="9"/>
                      </a:lnTo>
                      <a:lnTo>
                        <a:pt x="15" y="7"/>
                      </a:lnTo>
                      <a:lnTo>
                        <a:pt x="23" y="3"/>
                      </a:lnTo>
                      <a:lnTo>
                        <a:pt x="34" y="2"/>
                      </a:lnTo>
                      <a:lnTo>
                        <a:pt x="48" y="0"/>
                      </a:lnTo>
                      <a:lnTo>
                        <a:pt x="63" y="3"/>
                      </a:lnTo>
                      <a:lnTo>
                        <a:pt x="82" y="8"/>
                      </a:lnTo>
                      <a:lnTo>
                        <a:pt x="84" y="11"/>
                      </a:lnTo>
                      <a:lnTo>
                        <a:pt x="90" y="16"/>
                      </a:lnTo>
                      <a:lnTo>
                        <a:pt x="97" y="25"/>
                      </a:lnTo>
                      <a:lnTo>
                        <a:pt x="105" y="37"/>
                      </a:lnTo>
                      <a:lnTo>
                        <a:pt x="111" y="51"/>
                      </a:lnTo>
                      <a:lnTo>
                        <a:pt x="111" y="68"/>
                      </a:lnTo>
                      <a:lnTo>
                        <a:pt x="107" y="88"/>
                      </a:lnTo>
                      <a:lnTo>
                        <a:pt x="94" y="109"/>
                      </a:lnTo>
                      <a:lnTo>
                        <a:pt x="92" y="110"/>
                      </a:lnTo>
                      <a:lnTo>
                        <a:pt x="86" y="116"/>
                      </a:lnTo>
                      <a:lnTo>
                        <a:pt x="78" y="124"/>
                      </a:lnTo>
                      <a:lnTo>
                        <a:pt x="66" y="131"/>
                      </a:lnTo>
                      <a:lnTo>
                        <a:pt x="53" y="139"/>
                      </a:lnTo>
                      <a:lnTo>
                        <a:pt x="37" y="145"/>
                      </a:lnTo>
                      <a:lnTo>
                        <a:pt x="19" y="149"/>
                      </a:lnTo>
                      <a:lnTo>
                        <a:pt x="0" y="149"/>
                      </a:lnTo>
                      <a:lnTo>
                        <a:pt x="3" y="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Freeform 59"/>
                <p:cNvSpPr>
                  <a:spLocks/>
                </p:cNvSpPr>
                <p:nvPr/>
              </p:nvSpPr>
              <p:spPr bwMode="auto">
                <a:xfrm>
                  <a:off x="2628" y="2299"/>
                  <a:ext cx="10" cy="13"/>
                </a:xfrm>
                <a:custGeom>
                  <a:avLst/>
                  <a:gdLst>
                    <a:gd name="T0" fmla="*/ 0 w 43"/>
                    <a:gd name="T1" fmla="*/ 0 h 54"/>
                    <a:gd name="T2" fmla="*/ 2 w 43"/>
                    <a:gd name="T3" fmla="*/ 1 h 54"/>
                    <a:gd name="T4" fmla="*/ 6 w 43"/>
                    <a:gd name="T5" fmla="*/ 4 h 54"/>
                    <a:gd name="T6" fmla="*/ 14 w 43"/>
                    <a:gd name="T7" fmla="*/ 8 h 54"/>
                    <a:gd name="T8" fmla="*/ 21 w 43"/>
                    <a:gd name="T9" fmla="*/ 15 h 54"/>
                    <a:gd name="T10" fmla="*/ 27 w 43"/>
                    <a:gd name="T11" fmla="*/ 22 h 54"/>
                    <a:gd name="T12" fmla="*/ 30 w 43"/>
                    <a:gd name="T13" fmla="*/ 32 h 54"/>
                    <a:gd name="T14" fmla="*/ 30 w 43"/>
                    <a:gd name="T15" fmla="*/ 42 h 54"/>
                    <a:gd name="T16" fmla="*/ 23 w 43"/>
                    <a:gd name="T17" fmla="*/ 54 h 54"/>
                    <a:gd name="T18" fmla="*/ 26 w 43"/>
                    <a:gd name="T19" fmla="*/ 51 h 54"/>
                    <a:gd name="T20" fmla="*/ 31 w 43"/>
                    <a:gd name="T21" fmla="*/ 45 h 54"/>
                    <a:gd name="T22" fmla="*/ 38 w 43"/>
                    <a:gd name="T23" fmla="*/ 37 h 54"/>
                    <a:gd name="T24" fmla="*/ 43 w 43"/>
                    <a:gd name="T25" fmla="*/ 26 h 54"/>
                    <a:gd name="T26" fmla="*/ 43 w 43"/>
                    <a:gd name="T27" fmla="*/ 17 h 54"/>
                    <a:gd name="T28" fmla="*/ 38 w 43"/>
                    <a:gd name="T29" fmla="*/ 8 h 54"/>
                    <a:gd name="T30" fmla="*/ 25 w 43"/>
                    <a:gd name="T31" fmla="*/ 1 h 54"/>
                    <a:gd name="T32" fmla="*/ 0 w 43"/>
                    <a:gd name="T33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" h="54">
                      <a:moveTo>
                        <a:pt x="0" y="0"/>
                      </a:moveTo>
                      <a:lnTo>
                        <a:pt x="2" y="1"/>
                      </a:lnTo>
                      <a:lnTo>
                        <a:pt x="6" y="4"/>
                      </a:lnTo>
                      <a:lnTo>
                        <a:pt x="14" y="8"/>
                      </a:lnTo>
                      <a:lnTo>
                        <a:pt x="21" y="15"/>
                      </a:lnTo>
                      <a:lnTo>
                        <a:pt x="27" y="22"/>
                      </a:lnTo>
                      <a:lnTo>
                        <a:pt x="30" y="32"/>
                      </a:lnTo>
                      <a:lnTo>
                        <a:pt x="30" y="42"/>
                      </a:lnTo>
                      <a:lnTo>
                        <a:pt x="23" y="54"/>
                      </a:lnTo>
                      <a:lnTo>
                        <a:pt x="26" y="51"/>
                      </a:lnTo>
                      <a:lnTo>
                        <a:pt x="31" y="45"/>
                      </a:lnTo>
                      <a:lnTo>
                        <a:pt x="38" y="37"/>
                      </a:lnTo>
                      <a:lnTo>
                        <a:pt x="43" y="26"/>
                      </a:lnTo>
                      <a:lnTo>
                        <a:pt x="43" y="17"/>
                      </a:lnTo>
                      <a:lnTo>
                        <a:pt x="38" y="8"/>
                      </a:lnTo>
                      <a:lnTo>
                        <a:pt x="25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0" name="Freeform 60"/>
                <p:cNvSpPr>
                  <a:spLocks/>
                </p:cNvSpPr>
                <p:nvPr/>
              </p:nvSpPr>
              <p:spPr bwMode="auto">
                <a:xfrm>
                  <a:off x="2539" y="2171"/>
                  <a:ext cx="87" cy="94"/>
                </a:xfrm>
                <a:custGeom>
                  <a:avLst/>
                  <a:gdLst>
                    <a:gd name="T0" fmla="*/ 200 w 346"/>
                    <a:gd name="T1" fmla="*/ 34 h 378"/>
                    <a:gd name="T2" fmla="*/ 180 w 346"/>
                    <a:gd name="T3" fmla="*/ 24 h 378"/>
                    <a:gd name="T4" fmla="*/ 158 w 346"/>
                    <a:gd name="T5" fmla="*/ 16 h 378"/>
                    <a:gd name="T6" fmla="*/ 134 w 346"/>
                    <a:gd name="T7" fmla="*/ 9 h 378"/>
                    <a:gd name="T8" fmla="*/ 109 w 346"/>
                    <a:gd name="T9" fmla="*/ 4 h 378"/>
                    <a:gd name="T10" fmla="*/ 83 w 346"/>
                    <a:gd name="T11" fmla="*/ 2 h 378"/>
                    <a:gd name="T12" fmla="*/ 56 w 346"/>
                    <a:gd name="T13" fmla="*/ 0 h 378"/>
                    <a:gd name="T14" fmla="*/ 28 w 346"/>
                    <a:gd name="T15" fmla="*/ 3 h 378"/>
                    <a:gd name="T16" fmla="*/ 0 w 346"/>
                    <a:gd name="T17" fmla="*/ 7 h 378"/>
                    <a:gd name="T18" fmla="*/ 3 w 346"/>
                    <a:gd name="T19" fmla="*/ 7 h 378"/>
                    <a:gd name="T20" fmla="*/ 12 w 346"/>
                    <a:gd name="T21" fmla="*/ 8 h 378"/>
                    <a:gd name="T22" fmla="*/ 25 w 346"/>
                    <a:gd name="T23" fmla="*/ 9 h 378"/>
                    <a:gd name="T24" fmla="*/ 42 w 346"/>
                    <a:gd name="T25" fmla="*/ 13 h 378"/>
                    <a:gd name="T26" fmla="*/ 63 w 346"/>
                    <a:gd name="T27" fmla="*/ 20 h 378"/>
                    <a:gd name="T28" fmla="*/ 87 w 346"/>
                    <a:gd name="T29" fmla="*/ 29 h 378"/>
                    <a:gd name="T30" fmla="*/ 113 w 346"/>
                    <a:gd name="T31" fmla="*/ 41 h 378"/>
                    <a:gd name="T32" fmla="*/ 141 w 346"/>
                    <a:gd name="T33" fmla="*/ 57 h 378"/>
                    <a:gd name="T34" fmla="*/ 168 w 346"/>
                    <a:gd name="T35" fmla="*/ 76 h 378"/>
                    <a:gd name="T36" fmla="*/ 197 w 346"/>
                    <a:gd name="T37" fmla="*/ 101 h 378"/>
                    <a:gd name="T38" fmla="*/ 225 w 346"/>
                    <a:gd name="T39" fmla="*/ 132 h 378"/>
                    <a:gd name="T40" fmla="*/ 252 w 346"/>
                    <a:gd name="T41" fmla="*/ 167 h 378"/>
                    <a:gd name="T42" fmla="*/ 277 w 346"/>
                    <a:gd name="T43" fmla="*/ 209 h 378"/>
                    <a:gd name="T44" fmla="*/ 300 w 346"/>
                    <a:gd name="T45" fmla="*/ 258 h 378"/>
                    <a:gd name="T46" fmla="*/ 318 w 346"/>
                    <a:gd name="T47" fmla="*/ 314 h 378"/>
                    <a:gd name="T48" fmla="*/ 334 w 346"/>
                    <a:gd name="T49" fmla="*/ 378 h 378"/>
                    <a:gd name="T50" fmla="*/ 343 w 346"/>
                    <a:gd name="T51" fmla="*/ 364 h 378"/>
                    <a:gd name="T52" fmla="*/ 344 w 346"/>
                    <a:gd name="T53" fmla="*/ 353 h 378"/>
                    <a:gd name="T54" fmla="*/ 346 w 346"/>
                    <a:gd name="T55" fmla="*/ 326 h 378"/>
                    <a:gd name="T56" fmla="*/ 344 w 346"/>
                    <a:gd name="T57" fmla="*/ 285 h 378"/>
                    <a:gd name="T58" fmla="*/ 339 w 346"/>
                    <a:gd name="T59" fmla="*/ 237 h 378"/>
                    <a:gd name="T60" fmla="*/ 323 w 346"/>
                    <a:gd name="T61" fmla="*/ 181 h 378"/>
                    <a:gd name="T62" fmla="*/ 297 w 346"/>
                    <a:gd name="T63" fmla="*/ 128 h 378"/>
                    <a:gd name="T64" fmla="*/ 258 w 346"/>
                    <a:gd name="T65" fmla="*/ 76 h 378"/>
                    <a:gd name="T66" fmla="*/ 200 w 346"/>
                    <a:gd name="T67" fmla="*/ 34 h 3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46" h="378">
                      <a:moveTo>
                        <a:pt x="200" y="34"/>
                      </a:moveTo>
                      <a:lnTo>
                        <a:pt x="180" y="24"/>
                      </a:lnTo>
                      <a:lnTo>
                        <a:pt x="158" y="16"/>
                      </a:lnTo>
                      <a:lnTo>
                        <a:pt x="134" y="9"/>
                      </a:lnTo>
                      <a:lnTo>
                        <a:pt x="109" y="4"/>
                      </a:lnTo>
                      <a:lnTo>
                        <a:pt x="83" y="2"/>
                      </a:lnTo>
                      <a:lnTo>
                        <a:pt x="56" y="0"/>
                      </a:lnTo>
                      <a:lnTo>
                        <a:pt x="28" y="3"/>
                      </a:lnTo>
                      <a:lnTo>
                        <a:pt x="0" y="7"/>
                      </a:lnTo>
                      <a:lnTo>
                        <a:pt x="3" y="7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42" y="13"/>
                      </a:lnTo>
                      <a:lnTo>
                        <a:pt x="63" y="20"/>
                      </a:lnTo>
                      <a:lnTo>
                        <a:pt x="87" y="29"/>
                      </a:lnTo>
                      <a:lnTo>
                        <a:pt x="113" y="41"/>
                      </a:lnTo>
                      <a:lnTo>
                        <a:pt x="141" y="57"/>
                      </a:lnTo>
                      <a:lnTo>
                        <a:pt x="168" y="76"/>
                      </a:lnTo>
                      <a:lnTo>
                        <a:pt x="197" y="101"/>
                      </a:lnTo>
                      <a:lnTo>
                        <a:pt x="225" y="132"/>
                      </a:lnTo>
                      <a:lnTo>
                        <a:pt x="252" y="167"/>
                      </a:lnTo>
                      <a:lnTo>
                        <a:pt x="277" y="209"/>
                      </a:lnTo>
                      <a:lnTo>
                        <a:pt x="300" y="258"/>
                      </a:lnTo>
                      <a:lnTo>
                        <a:pt x="318" y="314"/>
                      </a:lnTo>
                      <a:lnTo>
                        <a:pt x="334" y="378"/>
                      </a:lnTo>
                      <a:lnTo>
                        <a:pt x="343" y="364"/>
                      </a:lnTo>
                      <a:lnTo>
                        <a:pt x="344" y="353"/>
                      </a:lnTo>
                      <a:lnTo>
                        <a:pt x="346" y="326"/>
                      </a:lnTo>
                      <a:lnTo>
                        <a:pt x="344" y="285"/>
                      </a:lnTo>
                      <a:lnTo>
                        <a:pt x="339" y="237"/>
                      </a:lnTo>
                      <a:lnTo>
                        <a:pt x="323" y="181"/>
                      </a:lnTo>
                      <a:lnTo>
                        <a:pt x="297" y="128"/>
                      </a:lnTo>
                      <a:lnTo>
                        <a:pt x="258" y="76"/>
                      </a:lnTo>
                      <a:lnTo>
                        <a:pt x="200" y="3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1" name="Freeform 61"/>
                <p:cNvSpPr>
                  <a:spLocks/>
                </p:cNvSpPr>
                <p:nvPr/>
              </p:nvSpPr>
              <p:spPr bwMode="auto">
                <a:xfrm>
                  <a:off x="2447" y="2167"/>
                  <a:ext cx="84" cy="52"/>
                </a:xfrm>
                <a:custGeom>
                  <a:avLst/>
                  <a:gdLst>
                    <a:gd name="T0" fmla="*/ 264 w 336"/>
                    <a:gd name="T1" fmla="*/ 25 h 209"/>
                    <a:gd name="T2" fmla="*/ 248 w 336"/>
                    <a:gd name="T3" fmla="*/ 19 h 209"/>
                    <a:gd name="T4" fmla="*/ 221 w 336"/>
                    <a:gd name="T5" fmla="*/ 8 h 209"/>
                    <a:gd name="T6" fmla="*/ 184 w 336"/>
                    <a:gd name="T7" fmla="*/ 1 h 209"/>
                    <a:gd name="T8" fmla="*/ 141 w 336"/>
                    <a:gd name="T9" fmla="*/ 3 h 209"/>
                    <a:gd name="T10" fmla="*/ 97 w 336"/>
                    <a:gd name="T11" fmla="*/ 16 h 209"/>
                    <a:gd name="T12" fmla="*/ 54 w 336"/>
                    <a:gd name="T13" fmla="*/ 47 h 209"/>
                    <a:gd name="T14" fmla="*/ 16 w 336"/>
                    <a:gd name="T15" fmla="*/ 103 h 209"/>
                    <a:gd name="T16" fmla="*/ 1 w 336"/>
                    <a:gd name="T17" fmla="*/ 138 h 209"/>
                    <a:gd name="T18" fmla="*/ 8 w 336"/>
                    <a:gd name="T19" fmla="*/ 125 h 209"/>
                    <a:gd name="T20" fmla="*/ 21 w 336"/>
                    <a:gd name="T21" fmla="*/ 103 h 209"/>
                    <a:gd name="T22" fmla="*/ 43 w 336"/>
                    <a:gd name="T23" fmla="*/ 78 h 209"/>
                    <a:gd name="T24" fmla="*/ 74 w 336"/>
                    <a:gd name="T25" fmla="*/ 53 h 209"/>
                    <a:gd name="T26" fmla="*/ 112 w 336"/>
                    <a:gd name="T27" fmla="*/ 32 h 209"/>
                    <a:gd name="T28" fmla="*/ 159 w 336"/>
                    <a:gd name="T29" fmla="*/ 22 h 209"/>
                    <a:gd name="T30" fmla="*/ 215 w 336"/>
                    <a:gd name="T31" fmla="*/ 26 h 209"/>
                    <a:gd name="T32" fmla="*/ 242 w 336"/>
                    <a:gd name="T33" fmla="*/ 36 h 209"/>
                    <a:gd name="T34" fmla="*/ 201 w 336"/>
                    <a:gd name="T35" fmla="*/ 41 h 209"/>
                    <a:gd name="T36" fmla="*/ 145 w 336"/>
                    <a:gd name="T37" fmla="*/ 68 h 209"/>
                    <a:gd name="T38" fmla="*/ 96 w 336"/>
                    <a:gd name="T39" fmla="*/ 135 h 209"/>
                    <a:gd name="T40" fmla="*/ 85 w 336"/>
                    <a:gd name="T41" fmla="*/ 183 h 209"/>
                    <a:gd name="T42" fmla="*/ 109 w 336"/>
                    <a:gd name="T43" fmla="*/ 143 h 209"/>
                    <a:gd name="T44" fmla="*/ 158 w 336"/>
                    <a:gd name="T45" fmla="*/ 92 h 209"/>
                    <a:gd name="T46" fmla="*/ 230 w 336"/>
                    <a:gd name="T47" fmla="*/ 58 h 209"/>
                    <a:gd name="T48" fmla="*/ 271 w 336"/>
                    <a:gd name="T49" fmla="*/ 57 h 209"/>
                    <a:gd name="T50" fmla="*/ 235 w 336"/>
                    <a:gd name="T51" fmla="*/ 71 h 209"/>
                    <a:gd name="T52" fmla="*/ 184 w 336"/>
                    <a:gd name="T53" fmla="*/ 106 h 209"/>
                    <a:gd name="T54" fmla="*/ 142 w 336"/>
                    <a:gd name="T55" fmla="*/ 167 h 209"/>
                    <a:gd name="T56" fmla="*/ 133 w 336"/>
                    <a:gd name="T57" fmla="*/ 202 h 209"/>
                    <a:gd name="T58" fmla="*/ 158 w 336"/>
                    <a:gd name="T59" fmla="*/ 159 h 209"/>
                    <a:gd name="T60" fmla="*/ 208 w 336"/>
                    <a:gd name="T61" fmla="*/ 104 h 209"/>
                    <a:gd name="T62" fmla="*/ 286 w 336"/>
                    <a:gd name="T63" fmla="*/ 67 h 209"/>
                    <a:gd name="T64" fmla="*/ 275 w 336"/>
                    <a:gd name="T65" fmla="*/ 45 h 209"/>
                    <a:gd name="T66" fmla="*/ 267 w 336"/>
                    <a:gd name="T67" fmla="*/ 26 h 2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36" h="209">
                      <a:moveTo>
                        <a:pt x="267" y="26"/>
                      </a:moveTo>
                      <a:lnTo>
                        <a:pt x="264" y="25"/>
                      </a:lnTo>
                      <a:lnTo>
                        <a:pt x="259" y="22"/>
                      </a:lnTo>
                      <a:lnTo>
                        <a:pt x="248" y="19"/>
                      </a:lnTo>
                      <a:lnTo>
                        <a:pt x="236" y="13"/>
                      </a:lnTo>
                      <a:lnTo>
                        <a:pt x="221" y="8"/>
                      </a:lnTo>
                      <a:lnTo>
                        <a:pt x="204" y="4"/>
                      </a:lnTo>
                      <a:lnTo>
                        <a:pt x="184" y="1"/>
                      </a:lnTo>
                      <a:lnTo>
                        <a:pt x="163" y="0"/>
                      </a:lnTo>
                      <a:lnTo>
                        <a:pt x="141" y="3"/>
                      </a:lnTo>
                      <a:lnTo>
                        <a:pt x="120" y="7"/>
                      </a:lnTo>
                      <a:lnTo>
                        <a:pt x="97" y="16"/>
                      </a:lnTo>
                      <a:lnTo>
                        <a:pt x="75" y="29"/>
                      </a:lnTo>
                      <a:lnTo>
                        <a:pt x="54" y="47"/>
                      </a:lnTo>
                      <a:lnTo>
                        <a:pt x="34" y="71"/>
                      </a:lnTo>
                      <a:lnTo>
                        <a:pt x="16" y="103"/>
                      </a:lnTo>
                      <a:lnTo>
                        <a:pt x="0" y="139"/>
                      </a:lnTo>
                      <a:lnTo>
                        <a:pt x="1" y="138"/>
                      </a:lnTo>
                      <a:lnTo>
                        <a:pt x="4" y="133"/>
                      </a:lnTo>
                      <a:lnTo>
                        <a:pt x="8" y="125"/>
                      </a:lnTo>
                      <a:lnTo>
                        <a:pt x="13" y="114"/>
                      </a:lnTo>
                      <a:lnTo>
                        <a:pt x="21" y="103"/>
                      </a:lnTo>
                      <a:lnTo>
                        <a:pt x="32" y="91"/>
                      </a:lnTo>
                      <a:lnTo>
                        <a:pt x="43" y="78"/>
                      </a:lnTo>
                      <a:lnTo>
                        <a:pt x="58" y="64"/>
                      </a:lnTo>
                      <a:lnTo>
                        <a:pt x="74" y="53"/>
                      </a:lnTo>
                      <a:lnTo>
                        <a:pt x="91" y="41"/>
                      </a:lnTo>
                      <a:lnTo>
                        <a:pt x="112" y="32"/>
                      </a:lnTo>
                      <a:lnTo>
                        <a:pt x="134" y="26"/>
                      </a:lnTo>
                      <a:lnTo>
                        <a:pt x="159" y="22"/>
                      </a:lnTo>
                      <a:lnTo>
                        <a:pt x="187" y="22"/>
                      </a:lnTo>
                      <a:lnTo>
                        <a:pt x="215" y="26"/>
                      </a:lnTo>
                      <a:lnTo>
                        <a:pt x="248" y="36"/>
                      </a:lnTo>
                      <a:lnTo>
                        <a:pt x="242" y="36"/>
                      </a:lnTo>
                      <a:lnTo>
                        <a:pt x="226" y="37"/>
                      </a:lnTo>
                      <a:lnTo>
                        <a:pt x="201" y="41"/>
                      </a:lnTo>
                      <a:lnTo>
                        <a:pt x="173" y="51"/>
                      </a:lnTo>
                      <a:lnTo>
                        <a:pt x="145" y="68"/>
                      </a:lnTo>
                      <a:lnTo>
                        <a:pt x="117" y="96"/>
                      </a:lnTo>
                      <a:lnTo>
                        <a:pt x="96" y="135"/>
                      </a:lnTo>
                      <a:lnTo>
                        <a:pt x="83" y="189"/>
                      </a:lnTo>
                      <a:lnTo>
                        <a:pt x="85" y="183"/>
                      </a:lnTo>
                      <a:lnTo>
                        <a:pt x="95" y="167"/>
                      </a:lnTo>
                      <a:lnTo>
                        <a:pt x="109" y="143"/>
                      </a:lnTo>
                      <a:lnTo>
                        <a:pt x="130" y="118"/>
                      </a:lnTo>
                      <a:lnTo>
                        <a:pt x="158" y="92"/>
                      </a:lnTo>
                      <a:lnTo>
                        <a:pt x="190" y="71"/>
                      </a:lnTo>
                      <a:lnTo>
                        <a:pt x="230" y="58"/>
                      </a:lnTo>
                      <a:lnTo>
                        <a:pt x="276" y="55"/>
                      </a:lnTo>
                      <a:lnTo>
                        <a:pt x="271" y="57"/>
                      </a:lnTo>
                      <a:lnTo>
                        <a:pt x="256" y="62"/>
                      </a:lnTo>
                      <a:lnTo>
                        <a:pt x="235" y="71"/>
                      </a:lnTo>
                      <a:lnTo>
                        <a:pt x="210" y="85"/>
                      </a:lnTo>
                      <a:lnTo>
                        <a:pt x="184" y="106"/>
                      </a:lnTo>
                      <a:lnTo>
                        <a:pt x="160" y="133"/>
                      </a:lnTo>
                      <a:lnTo>
                        <a:pt x="142" y="167"/>
                      </a:lnTo>
                      <a:lnTo>
                        <a:pt x="130" y="209"/>
                      </a:lnTo>
                      <a:lnTo>
                        <a:pt x="133" y="202"/>
                      </a:lnTo>
                      <a:lnTo>
                        <a:pt x="142" y="184"/>
                      </a:lnTo>
                      <a:lnTo>
                        <a:pt x="158" y="159"/>
                      </a:lnTo>
                      <a:lnTo>
                        <a:pt x="179" y="131"/>
                      </a:lnTo>
                      <a:lnTo>
                        <a:pt x="208" y="104"/>
                      </a:lnTo>
                      <a:lnTo>
                        <a:pt x="243" y="82"/>
                      </a:lnTo>
                      <a:lnTo>
                        <a:pt x="286" y="67"/>
                      </a:lnTo>
                      <a:lnTo>
                        <a:pt x="336" y="64"/>
                      </a:lnTo>
                      <a:lnTo>
                        <a:pt x="275" y="45"/>
                      </a:lnTo>
                      <a:lnTo>
                        <a:pt x="297" y="41"/>
                      </a:lnTo>
                      <a:lnTo>
                        <a:pt x="267" y="2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2" name="Freeform 62"/>
                <p:cNvSpPr>
                  <a:spLocks/>
                </p:cNvSpPr>
                <p:nvPr/>
              </p:nvSpPr>
              <p:spPr bwMode="auto">
                <a:xfrm>
                  <a:off x="2526" y="2196"/>
                  <a:ext cx="21" cy="37"/>
                </a:xfrm>
                <a:custGeom>
                  <a:avLst/>
                  <a:gdLst>
                    <a:gd name="T0" fmla="*/ 84 w 84"/>
                    <a:gd name="T1" fmla="*/ 0 h 144"/>
                    <a:gd name="T2" fmla="*/ 80 w 84"/>
                    <a:gd name="T3" fmla="*/ 1 h 144"/>
                    <a:gd name="T4" fmla="*/ 72 w 84"/>
                    <a:gd name="T5" fmla="*/ 7 h 144"/>
                    <a:gd name="T6" fmla="*/ 59 w 84"/>
                    <a:gd name="T7" fmla="*/ 16 h 144"/>
                    <a:gd name="T8" fmla="*/ 46 w 84"/>
                    <a:gd name="T9" fmla="*/ 30 h 144"/>
                    <a:gd name="T10" fmla="*/ 31 w 84"/>
                    <a:gd name="T11" fmla="*/ 49 h 144"/>
                    <a:gd name="T12" fmla="*/ 21 w 84"/>
                    <a:gd name="T13" fmla="*/ 75 h 144"/>
                    <a:gd name="T14" fmla="*/ 14 w 84"/>
                    <a:gd name="T15" fmla="*/ 106 h 144"/>
                    <a:gd name="T16" fmla="*/ 13 w 84"/>
                    <a:gd name="T17" fmla="*/ 144 h 144"/>
                    <a:gd name="T18" fmla="*/ 10 w 84"/>
                    <a:gd name="T19" fmla="*/ 138 h 144"/>
                    <a:gd name="T20" fmla="*/ 6 w 84"/>
                    <a:gd name="T21" fmla="*/ 122 h 144"/>
                    <a:gd name="T22" fmla="*/ 1 w 84"/>
                    <a:gd name="T23" fmla="*/ 100 h 144"/>
                    <a:gd name="T24" fmla="*/ 0 w 84"/>
                    <a:gd name="T25" fmla="*/ 73 h 144"/>
                    <a:gd name="T26" fmla="*/ 4 w 84"/>
                    <a:gd name="T27" fmla="*/ 49 h 144"/>
                    <a:gd name="T28" fmla="*/ 18 w 84"/>
                    <a:gd name="T29" fmla="*/ 25 h 144"/>
                    <a:gd name="T30" fmla="*/ 43 w 84"/>
                    <a:gd name="T31" fmla="*/ 8 h 144"/>
                    <a:gd name="T32" fmla="*/ 84 w 84"/>
                    <a:gd name="T33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4" h="144">
                      <a:moveTo>
                        <a:pt x="84" y="0"/>
                      </a:moveTo>
                      <a:lnTo>
                        <a:pt x="80" y="1"/>
                      </a:lnTo>
                      <a:lnTo>
                        <a:pt x="72" y="7"/>
                      </a:lnTo>
                      <a:lnTo>
                        <a:pt x="59" y="16"/>
                      </a:lnTo>
                      <a:lnTo>
                        <a:pt x="46" y="30"/>
                      </a:lnTo>
                      <a:lnTo>
                        <a:pt x="31" y="49"/>
                      </a:lnTo>
                      <a:lnTo>
                        <a:pt x="21" y="75"/>
                      </a:lnTo>
                      <a:lnTo>
                        <a:pt x="14" y="106"/>
                      </a:lnTo>
                      <a:lnTo>
                        <a:pt x="13" y="144"/>
                      </a:lnTo>
                      <a:lnTo>
                        <a:pt x="10" y="138"/>
                      </a:lnTo>
                      <a:lnTo>
                        <a:pt x="6" y="122"/>
                      </a:lnTo>
                      <a:lnTo>
                        <a:pt x="1" y="100"/>
                      </a:lnTo>
                      <a:lnTo>
                        <a:pt x="0" y="73"/>
                      </a:lnTo>
                      <a:lnTo>
                        <a:pt x="4" y="49"/>
                      </a:lnTo>
                      <a:lnTo>
                        <a:pt x="18" y="25"/>
                      </a:lnTo>
                      <a:lnTo>
                        <a:pt x="43" y="8"/>
                      </a:lnTo>
                      <a:lnTo>
                        <a:pt x="8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3" name="Freeform 63"/>
                <p:cNvSpPr>
                  <a:spLocks/>
                </p:cNvSpPr>
                <p:nvPr/>
              </p:nvSpPr>
              <p:spPr bwMode="auto">
                <a:xfrm>
                  <a:off x="2630" y="2208"/>
                  <a:ext cx="39" cy="63"/>
                </a:xfrm>
                <a:custGeom>
                  <a:avLst/>
                  <a:gdLst>
                    <a:gd name="T0" fmla="*/ 0 w 155"/>
                    <a:gd name="T1" fmla="*/ 0 h 253"/>
                    <a:gd name="T2" fmla="*/ 5 w 155"/>
                    <a:gd name="T3" fmla="*/ 0 h 253"/>
                    <a:gd name="T4" fmla="*/ 21 w 155"/>
                    <a:gd name="T5" fmla="*/ 0 h 253"/>
                    <a:gd name="T6" fmla="*/ 43 w 155"/>
                    <a:gd name="T7" fmla="*/ 6 h 253"/>
                    <a:gd name="T8" fmla="*/ 69 w 155"/>
                    <a:gd name="T9" fmla="*/ 22 h 253"/>
                    <a:gd name="T10" fmla="*/ 97 w 155"/>
                    <a:gd name="T11" fmla="*/ 51 h 253"/>
                    <a:gd name="T12" fmla="*/ 122 w 155"/>
                    <a:gd name="T13" fmla="*/ 97 h 253"/>
                    <a:gd name="T14" fmla="*/ 142 w 155"/>
                    <a:gd name="T15" fmla="*/ 162 h 253"/>
                    <a:gd name="T16" fmla="*/ 155 w 155"/>
                    <a:gd name="T17" fmla="*/ 253 h 253"/>
                    <a:gd name="T18" fmla="*/ 152 w 155"/>
                    <a:gd name="T19" fmla="*/ 245 h 253"/>
                    <a:gd name="T20" fmla="*/ 147 w 155"/>
                    <a:gd name="T21" fmla="*/ 224 h 253"/>
                    <a:gd name="T22" fmla="*/ 136 w 155"/>
                    <a:gd name="T23" fmla="*/ 195 h 253"/>
                    <a:gd name="T24" fmla="*/ 125 w 155"/>
                    <a:gd name="T25" fmla="*/ 160 h 253"/>
                    <a:gd name="T26" fmla="*/ 107 w 155"/>
                    <a:gd name="T27" fmla="*/ 124 h 253"/>
                    <a:gd name="T28" fmla="*/ 89 w 155"/>
                    <a:gd name="T29" fmla="*/ 91 h 253"/>
                    <a:gd name="T30" fmla="*/ 68 w 155"/>
                    <a:gd name="T31" fmla="*/ 67 h 253"/>
                    <a:gd name="T32" fmla="*/ 46 w 155"/>
                    <a:gd name="T33" fmla="*/ 52 h 253"/>
                    <a:gd name="T34" fmla="*/ 48 w 155"/>
                    <a:gd name="T35" fmla="*/ 53 h 253"/>
                    <a:gd name="T36" fmla="*/ 54 w 155"/>
                    <a:gd name="T37" fmla="*/ 57 h 253"/>
                    <a:gd name="T38" fmla="*/ 60 w 155"/>
                    <a:gd name="T39" fmla="*/ 67 h 253"/>
                    <a:gd name="T40" fmla="*/ 68 w 155"/>
                    <a:gd name="T41" fmla="*/ 82 h 253"/>
                    <a:gd name="T42" fmla="*/ 75 w 155"/>
                    <a:gd name="T43" fmla="*/ 106 h 253"/>
                    <a:gd name="T44" fmla="*/ 79 w 155"/>
                    <a:gd name="T45" fmla="*/ 139 h 253"/>
                    <a:gd name="T46" fmla="*/ 80 w 155"/>
                    <a:gd name="T47" fmla="*/ 182 h 253"/>
                    <a:gd name="T48" fmla="*/ 76 w 155"/>
                    <a:gd name="T49" fmla="*/ 238 h 253"/>
                    <a:gd name="T50" fmla="*/ 75 w 155"/>
                    <a:gd name="T51" fmla="*/ 229 h 253"/>
                    <a:gd name="T52" fmla="*/ 69 w 155"/>
                    <a:gd name="T53" fmla="*/ 206 h 253"/>
                    <a:gd name="T54" fmla="*/ 61 w 155"/>
                    <a:gd name="T55" fmla="*/ 172 h 253"/>
                    <a:gd name="T56" fmla="*/ 52 w 155"/>
                    <a:gd name="T57" fmla="*/ 131 h 253"/>
                    <a:gd name="T58" fmla="*/ 40 w 155"/>
                    <a:gd name="T59" fmla="*/ 89 h 253"/>
                    <a:gd name="T60" fmla="*/ 27 w 155"/>
                    <a:gd name="T61" fmla="*/ 51 h 253"/>
                    <a:gd name="T62" fmla="*/ 14 w 155"/>
                    <a:gd name="T63" fmla="*/ 19 h 253"/>
                    <a:gd name="T64" fmla="*/ 0 w 155"/>
                    <a:gd name="T65" fmla="*/ 0 h 2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5" h="253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21" y="0"/>
                      </a:lnTo>
                      <a:lnTo>
                        <a:pt x="43" y="6"/>
                      </a:lnTo>
                      <a:lnTo>
                        <a:pt x="69" y="22"/>
                      </a:lnTo>
                      <a:lnTo>
                        <a:pt x="97" y="51"/>
                      </a:lnTo>
                      <a:lnTo>
                        <a:pt x="122" y="97"/>
                      </a:lnTo>
                      <a:lnTo>
                        <a:pt x="142" y="162"/>
                      </a:lnTo>
                      <a:lnTo>
                        <a:pt x="155" y="253"/>
                      </a:lnTo>
                      <a:lnTo>
                        <a:pt x="152" y="245"/>
                      </a:lnTo>
                      <a:lnTo>
                        <a:pt x="147" y="224"/>
                      </a:lnTo>
                      <a:lnTo>
                        <a:pt x="136" y="195"/>
                      </a:lnTo>
                      <a:lnTo>
                        <a:pt x="125" y="160"/>
                      </a:lnTo>
                      <a:lnTo>
                        <a:pt x="107" y="124"/>
                      </a:lnTo>
                      <a:lnTo>
                        <a:pt x="89" y="91"/>
                      </a:lnTo>
                      <a:lnTo>
                        <a:pt x="68" y="67"/>
                      </a:lnTo>
                      <a:lnTo>
                        <a:pt x="46" y="52"/>
                      </a:lnTo>
                      <a:lnTo>
                        <a:pt x="48" y="53"/>
                      </a:lnTo>
                      <a:lnTo>
                        <a:pt x="54" y="57"/>
                      </a:lnTo>
                      <a:lnTo>
                        <a:pt x="60" y="67"/>
                      </a:lnTo>
                      <a:lnTo>
                        <a:pt x="68" y="82"/>
                      </a:lnTo>
                      <a:lnTo>
                        <a:pt x="75" y="106"/>
                      </a:lnTo>
                      <a:lnTo>
                        <a:pt x="79" y="139"/>
                      </a:lnTo>
                      <a:lnTo>
                        <a:pt x="80" y="182"/>
                      </a:lnTo>
                      <a:lnTo>
                        <a:pt x="76" y="238"/>
                      </a:lnTo>
                      <a:lnTo>
                        <a:pt x="75" y="229"/>
                      </a:lnTo>
                      <a:lnTo>
                        <a:pt x="69" y="206"/>
                      </a:lnTo>
                      <a:lnTo>
                        <a:pt x="61" y="172"/>
                      </a:lnTo>
                      <a:lnTo>
                        <a:pt x="52" y="131"/>
                      </a:lnTo>
                      <a:lnTo>
                        <a:pt x="40" y="89"/>
                      </a:lnTo>
                      <a:lnTo>
                        <a:pt x="27" y="51"/>
                      </a:lnTo>
                      <a:lnTo>
                        <a:pt x="14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4" name="Freeform 64"/>
                <p:cNvSpPr>
                  <a:spLocks/>
                </p:cNvSpPr>
                <p:nvPr/>
              </p:nvSpPr>
              <p:spPr bwMode="auto">
                <a:xfrm>
                  <a:off x="2626" y="2302"/>
                  <a:ext cx="29" cy="57"/>
                </a:xfrm>
                <a:custGeom>
                  <a:avLst/>
                  <a:gdLst>
                    <a:gd name="T0" fmla="*/ 95 w 113"/>
                    <a:gd name="T1" fmla="*/ 0 h 227"/>
                    <a:gd name="T2" fmla="*/ 96 w 113"/>
                    <a:gd name="T3" fmla="*/ 10 h 227"/>
                    <a:gd name="T4" fmla="*/ 97 w 113"/>
                    <a:gd name="T5" fmla="*/ 35 h 227"/>
                    <a:gd name="T6" fmla="*/ 99 w 113"/>
                    <a:gd name="T7" fmla="*/ 72 h 227"/>
                    <a:gd name="T8" fmla="*/ 95 w 113"/>
                    <a:gd name="T9" fmla="*/ 114 h 227"/>
                    <a:gd name="T10" fmla="*/ 86 w 113"/>
                    <a:gd name="T11" fmla="*/ 155 h 227"/>
                    <a:gd name="T12" fmla="*/ 69 w 113"/>
                    <a:gd name="T13" fmla="*/ 189 h 227"/>
                    <a:gd name="T14" fmla="*/ 41 w 113"/>
                    <a:gd name="T15" fmla="*/ 211 h 227"/>
                    <a:gd name="T16" fmla="*/ 0 w 113"/>
                    <a:gd name="T17" fmla="*/ 216 h 227"/>
                    <a:gd name="T18" fmla="*/ 4 w 113"/>
                    <a:gd name="T19" fmla="*/ 218 h 227"/>
                    <a:gd name="T20" fmla="*/ 15 w 113"/>
                    <a:gd name="T21" fmla="*/ 222 h 227"/>
                    <a:gd name="T22" fmla="*/ 31 w 113"/>
                    <a:gd name="T23" fmla="*/ 226 h 227"/>
                    <a:gd name="T24" fmla="*/ 49 w 113"/>
                    <a:gd name="T25" fmla="*/ 227 h 227"/>
                    <a:gd name="T26" fmla="*/ 69 w 113"/>
                    <a:gd name="T27" fmla="*/ 223 h 227"/>
                    <a:gd name="T28" fmla="*/ 87 w 113"/>
                    <a:gd name="T29" fmla="*/ 211 h 227"/>
                    <a:gd name="T30" fmla="*/ 101 w 113"/>
                    <a:gd name="T31" fmla="*/ 190 h 227"/>
                    <a:gd name="T32" fmla="*/ 112 w 113"/>
                    <a:gd name="T33" fmla="*/ 156 h 227"/>
                    <a:gd name="T34" fmla="*/ 113 w 113"/>
                    <a:gd name="T35" fmla="*/ 140 h 227"/>
                    <a:gd name="T36" fmla="*/ 113 w 113"/>
                    <a:gd name="T37" fmla="*/ 101 h 227"/>
                    <a:gd name="T38" fmla="*/ 109 w 113"/>
                    <a:gd name="T39" fmla="*/ 50 h 227"/>
                    <a:gd name="T40" fmla="*/ 95 w 113"/>
                    <a:gd name="T41" fmla="*/ 0 h 2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13" h="227">
                      <a:moveTo>
                        <a:pt x="95" y="0"/>
                      </a:moveTo>
                      <a:lnTo>
                        <a:pt x="96" y="10"/>
                      </a:lnTo>
                      <a:lnTo>
                        <a:pt x="97" y="35"/>
                      </a:lnTo>
                      <a:lnTo>
                        <a:pt x="99" y="72"/>
                      </a:lnTo>
                      <a:lnTo>
                        <a:pt x="95" y="114"/>
                      </a:lnTo>
                      <a:lnTo>
                        <a:pt x="86" y="155"/>
                      </a:lnTo>
                      <a:lnTo>
                        <a:pt x="69" y="189"/>
                      </a:lnTo>
                      <a:lnTo>
                        <a:pt x="41" y="211"/>
                      </a:lnTo>
                      <a:lnTo>
                        <a:pt x="0" y="216"/>
                      </a:lnTo>
                      <a:lnTo>
                        <a:pt x="4" y="218"/>
                      </a:lnTo>
                      <a:lnTo>
                        <a:pt x="15" y="222"/>
                      </a:lnTo>
                      <a:lnTo>
                        <a:pt x="31" y="226"/>
                      </a:lnTo>
                      <a:lnTo>
                        <a:pt x="49" y="227"/>
                      </a:lnTo>
                      <a:lnTo>
                        <a:pt x="69" y="223"/>
                      </a:lnTo>
                      <a:lnTo>
                        <a:pt x="87" y="211"/>
                      </a:lnTo>
                      <a:lnTo>
                        <a:pt x="101" y="190"/>
                      </a:lnTo>
                      <a:lnTo>
                        <a:pt x="112" y="156"/>
                      </a:lnTo>
                      <a:lnTo>
                        <a:pt x="113" y="140"/>
                      </a:lnTo>
                      <a:lnTo>
                        <a:pt x="113" y="101"/>
                      </a:lnTo>
                      <a:lnTo>
                        <a:pt x="109" y="50"/>
                      </a:lnTo>
                      <a:lnTo>
                        <a:pt x="9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5" name="Freeform 65"/>
                <p:cNvSpPr>
                  <a:spLocks/>
                </p:cNvSpPr>
                <p:nvPr/>
              </p:nvSpPr>
              <p:spPr bwMode="auto">
                <a:xfrm>
                  <a:off x="2633" y="2340"/>
                  <a:ext cx="32" cy="64"/>
                </a:xfrm>
                <a:custGeom>
                  <a:avLst/>
                  <a:gdLst>
                    <a:gd name="T0" fmla="*/ 130 w 130"/>
                    <a:gd name="T1" fmla="*/ 0 h 253"/>
                    <a:gd name="T2" fmla="*/ 129 w 130"/>
                    <a:gd name="T3" fmla="*/ 10 h 253"/>
                    <a:gd name="T4" fmla="*/ 126 w 130"/>
                    <a:gd name="T5" fmla="*/ 37 h 253"/>
                    <a:gd name="T6" fmla="*/ 120 w 130"/>
                    <a:gd name="T7" fmla="*/ 75 h 253"/>
                    <a:gd name="T8" fmla="*/ 108 w 130"/>
                    <a:gd name="T9" fmla="*/ 119 h 253"/>
                    <a:gd name="T10" fmla="*/ 92 w 130"/>
                    <a:gd name="T11" fmla="*/ 165 h 253"/>
                    <a:gd name="T12" fmla="*/ 69 w 130"/>
                    <a:gd name="T13" fmla="*/ 206 h 253"/>
                    <a:gd name="T14" fmla="*/ 38 w 130"/>
                    <a:gd name="T15" fmla="*/ 237 h 253"/>
                    <a:gd name="T16" fmla="*/ 0 w 130"/>
                    <a:gd name="T17" fmla="*/ 253 h 253"/>
                    <a:gd name="T18" fmla="*/ 7 w 130"/>
                    <a:gd name="T19" fmla="*/ 253 h 253"/>
                    <a:gd name="T20" fmla="*/ 21 w 130"/>
                    <a:gd name="T21" fmla="*/ 252 h 253"/>
                    <a:gd name="T22" fmla="*/ 44 w 130"/>
                    <a:gd name="T23" fmla="*/ 245 h 253"/>
                    <a:gd name="T24" fmla="*/ 69 w 130"/>
                    <a:gd name="T25" fmla="*/ 230 h 253"/>
                    <a:gd name="T26" fmla="*/ 93 w 130"/>
                    <a:gd name="T27" fmla="*/ 201 h 253"/>
                    <a:gd name="T28" fmla="*/ 113 w 130"/>
                    <a:gd name="T29" fmla="*/ 156 h 253"/>
                    <a:gd name="T30" fmla="*/ 128 w 130"/>
                    <a:gd name="T31" fmla="*/ 90 h 253"/>
                    <a:gd name="T32" fmla="*/ 130 w 130"/>
                    <a:gd name="T33" fmla="*/ 0 h 2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30" h="253">
                      <a:moveTo>
                        <a:pt x="130" y="0"/>
                      </a:moveTo>
                      <a:lnTo>
                        <a:pt x="129" y="10"/>
                      </a:lnTo>
                      <a:lnTo>
                        <a:pt x="126" y="37"/>
                      </a:lnTo>
                      <a:lnTo>
                        <a:pt x="120" y="75"/>
                      </a:lnTo>
                      <a:lnTo>
                        <a:pt x="108" y="119"/>
                      </a:lnTo>
                      <a:lnTo>
                        <a:pt x="92" y="165"/>
                      </a:lnTo>
                      <a:lnTo>
                        <a:pt x="69" y="206"/>
                      </a:lnTo>
                      <a:lnTo>
                        <a:pt x="38" y="237"/>
                      </a:lnTo>
                      <a:lnTo>
                        <a:pt x="0" y="253"/>
                      </a:lnTo>
                      <a:lnTo>
                        <a:pt x="7" y="253"/>
                      </a:lnTo>
                      <a:lnTo>
                        <a:pt x="21" y="252"/>
                      </a:lnTo>
                      <a:lnTo>
                        <a:pt x="44" y="245"/>
                      </a:lnTo>
                      <a:lnTo>
                        <a:pt x="69" y="230"/>
                      </a:lnTo>
                      <a:lnTo>
                        <a:pt x="93" y="201"/>
                      </a:lnTo>
                      <a:lnTo>
                        <a:pt x="113" y="156"/>
                      </a:lnTo>
                      <a:lnTo>
                        <a:pt x="128" y="90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6" name="Freeform 66"/>
                <p:cNvSpPr>
                  <a:spLocks/>
                </p:cNvSpPr>
                <p:nvPr/>
              </p:nvSpPr>
              <p:spPr bwMode="auto">
                <a:xfrm>
                  <a:off x="2572" y="2327"/>
                  <a:ext cx="69" cy="30"/>
                </a:xfrm>
                <a:custGeom>
                  <a:avLst/>
                  <a:gdLst>
                    <a:gd name="T0" fmla="*/ 239 w 276"/>
                    <a:gd name="T1" fmla="*/ 14 h 121"/>
                    <a:gd name="T2" fmla="*/ 238 w 276"/>
                    <a:gd name="T3" fmla="*/ 16 h 121"/>
                    <a:gd name="T4" fmla="*/ 235 w 276"/>
                    <a:gd name="T5" fmla="*/ 18 h 121"/>
                    <a:gd name="T6" fmla="*/ 230 w 276"/>
                    <a:gd name="T7" fmla="*/ 22 h 121"/>
                    <a:gd name="T8" fmla="*/ 224 w 276"/>
                    <a:gd name="T9" fmla="*/ 29 h 121"/>
                    <a:gd name="T10" fmla="*/ 214 w 276"/>
                    <a:gd name="T11" fmla="*/ 35 h 121"/>
                    <a:gd name="T12" fmla="*/ 204 w 276"/>
                    <a:gd name="T13" fmla="*/ 43 h 121"/>
                    <a:gd name="T14" fmla="*/ 191 w 276"/>
                    <a:gd name="T15" fmla="*/ 53 h 121"/>
                    <a:gd name="T16" fmla="*/ 178 w 276"/>
                    <a:gd name="T17" fmla="*/ 62 h 121"/>
                    <a:gd name="T18" fmla="*/ 161 w 276"/>
                    <a:gd name="T19" fmla="*/ 71 h 121"/>
                    <a:gd name="T20" fmla="*/ 143 w 276"/>
                    <a:gd name="T21" fmla="*/ 79 h 121"/>
                    <a:gd name="T22" fmla="*/ 124 w 276"/>
                    <a:gd name="T23" fmla="*/ 88 h 121"/>
                    <a:gd name="T24" fmla="*/ 101 w 276"/>
                    <a:gd name="T25" fmla="*/ 96 h 121"/>
                    <a:gd name="T26" fmla="*/ 79 w 276"/>
                    <a:gd name="T27" fmla="*/ 102 h 121"/>
                    <a:gd name="T28" fmla="*/ 54 w 276"/>
                    <a:gd name="T29" fmla="*/ 109 h 121"/>
                    <a:gd name="T30" fmla="*/ 28 w 276"/>
                    <a:gd name="T31" fmla="*/ 114 h 121"/>
                    <a:gd name="T32" fmla="*/ 0 w 276"/>
                    <a:gd name="T33" fmla="*/ 117 h 121"/>
                    <a:gd name="T34" fmla="*/ 2 w 276"/>
                    <a:gd name="T35" fmla="*/ 117 h 121"/>
                    <a:gd name="T36" fmla="*/ 6 w 276"/>
                    <a:gd name="T37" fmla="*/ 118 h 121"/>
                    <a:gd name="T38" fmla="*/ 12 w 276"/>
                    <a:gd name="T39" fmla="*/ 119 h 121"/>
                    <a:gd name="T40" fmla="*/ 20 w 276"/>
                    <a:gd name="T41" fmla="*/ 121 h 121"/>
                    <a:gd name="T42" fmla="*/ 31 w 276"/>
                    <a:gd name="T43" fmla="*/ 121 h 121"/>
                    <a:gd name="T44" fmla="*/ 44 w 276"/>
                    <a:gd name="T45" fmla="*/ 121 h 121"/>
                    <a:gd name="T46" fmla="*/ 59 w 276"/>
                    <a:gd name="T47" fmla="*/ 119 h 121"/>
                    <a:gd name="T48" fmla="*/ 77 w 276"/>
                    <a:gd name="T49" fmla="*/ 117 h 121"/>
                    <a:gd name="T50" fmla="*/ 95 w 276"/>
                    <a:gd name="T51" fmla="*/ 113 h 121"/>
                    <a:gd name="T52" fmla="*/ 116 w 276"/>
                    <a:gd name="T53" fmla="*/ 108 h 121"/>
                    <a:gd name="T54" fmla="*/ 138 w 276"/>
                    <a:gd name="T55" fmla="*/ 98 h 121"/>
                    <a:gd name="T56" fmla="*/ 163 w 276"/>
                    <a:gd name="T57" fmla="*/ 88 h 121"/>
                    <a:gd name="T58" fmla="*/ 188 w 276"/>
                    <a:gd name="T59" fmla="*/ 75 h 121"/>
                    <a:gd name="T60" fmla="*/ 216 w 276"/>
                    <a:gd name="T61" fmla="*/ 58 h 121"/>
                    <a:gd name="T62" fmla="*/ 243 w 276"/>
                    <a:gd name="T63" fmla="*/ 37 h 121"/>
                    <a:gd name="T64" fmla="*/ 273 w 276"/>
                    <a:gd name="T65" fmla="*/ 13 h 121"/>
                    <a:gd name="T66" fmla="*/ 276 w 276"/>
                    <a:gd name="T67" fmla="*/ 0 h 121"/>
                    <a:gd name="T68" fmla="*/ 239 w 276"/>
                    <a:gd name="T69" fmla="*/ 14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76" h="121">
                      <a:moveTo>
                        <a:pt x="239" y="14"/>
                      </a:moveTo>
                      <a:lnTo>
                        <a:pt x="238" y="16"/>
                      </a:lnTo>
                      <a:lnTo>
                        <a:pt x="235" y="18"/>
                      </a:lnTo>
                      <a:lnTo>
                        <a:pt x="230" y="22"/>
                      </a:lnTo>
                      <a:lnTo>
                        <a:pt x="224" y="29"/>
                      </a:lnTo>
                      <a:lnTo>
                        <a:pt x="214" y="35"/>
                      </a:lnTo>
                      <a:lnTo>
                        <a:pt x="204" y="43"/>
                      </a:lnTo>
                      <a:lnTo>
                        <a:pt x="191" y="53"/>
                      </a:lnTo>
                      <a:lnTo>
                        <a:pt x="178" y="62"/>
                      </a:lnTo>
                      <a:lnTo>
                        <a:pt x="161" y="71"/>
                      </a:lnTo>
                      <a:lnTo>
                        <a:pt x="143" y="79"/>
                      </a:lnTo>
                      <a:lnTo>
                        <a:pt x="124" y="88"/>
                      </a:lnTo>
                      <a:lnTo>
                        <a:pt x="101" y="96"/>
                      </a:lnTo>
                      <a:lnTo>
                        <a:pt x="79" y="102"/>
                      </a:lnTo>
                      <a:lnTo>
                        <a:pt x="54" y="109"/>
                      </a:lnTo>
                      <a:lnTo>
                        <a:pt x="28" y="114"/>
                      </a:lnTo>
                      <a:lnTo>
                        <a:pt x="0" y="117"/>
                      </a:lnTo>
                      <a:lnTo>
                        <a:pt x="2" y="117"/>
                      </a:lnTo>
                      <a:lnTo>
                        <a:pt x="6" y="118"/>
                      </a:lnTo>
                      <a:lnTo>
                        <a:pt x="12" y="119"/>
                      </a:lnTo>
                      <a:lnTo>
                        <a:pt x="20" y="121"/>
                      </a:lnTo>
                      <a:lnTo>
                        <a:pt x="31" y="121"/>
                      </a:lnTo>
                      <a:lnTo>
                        <a:pt x="44" y="121"/>
                      </a:lnTo>
                      <a:lnTo>
                        <a:pt x="59" y="119"/>
                      </a:lnTo>
                      <a:lnTo>
                        <a:pt x="77" y="117"/>
                      </a:lnTo>
                      <a:lnTo>
                        <a:pt x="95" y="113"/>
                      </a:lnTo>
                      <a:lnTo>
                        <a:pt x="116" y="108"/>
                      </a:lnTo>
                      <a:lnTo>
                        <a:pt x="138" y="98"/>
                      </a:lnTo>
                      <a:lnTo>
                        <a:pt x="163" y="88"/>
                      </a:lnTo>
                      <a:lnTo>
                        <a:pt x="188" y="75"/>
                      </a:lnTo>
                      <a:lnTo>
                        <a:pt x="216" y="58"/>
                      </a:lnTo>
                      <a:lnTo>
                        <a:pt x="243" y="37"/>
                      </a:lnTo>
                      <a:lnTo>
                        <a:pt x="273" y="13"/>
                      </a:lnTo>
                      <a:lnTo>
                        <a:pt x="276" y="0"/>
                      </a:lnTo>
                      <a:lnTo>
                        <a:pt x="239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7" name="Freeform 67"/>
                <p:cNvSpPr>
                  <a:spLocks/>
                </p:cNvSpPr>
                <p:nvPr/>
              </p:nvSpPr>
              <p:spPr bwMode="auto">
                <a:xfrm>
                  <a:off x="2539" y="2246"/>
                  <a:ext cx="55" cy="18"/>
                </a:xfrm>
                <a:custGeom>
                  <a:avLst/>
                  <a:gdLst>
                    <a:gd name="T0" fmla="*/ 7 w 222"/>
                    <a:gd name="T1" fmla="*/ 73 h 73"/>
                    <a:gd name="T2" fmla="*/ 8 w 222"/>
                    <a:gd name="T3" fmla="*/ 71 h 73"/>
                    <a:gd name="T4" fmla="*/ 12 w 222"/>
                    <a:gd name="T5" fmla="*/ 69 h 73"/>
                    <a:gd name="T6" fmla="*/ 18 w 222"/>
                    <a:gd name="T7" fmla="*/ 63 h 73"/>
                    <a:gd name="T8" fmla="*/ 26 w 222"/>
                    <a:gd name="T9" fmla="*/ 58 h 73"/>
                    <a:gd name="T10" fmla="*/ 37 w 222"/>
                    <a:gd name="T11" fmla="*/ 52 h 73"/>
                    <a:gd name="T12" fmla="*/ 49 w 222"/>
                    <a:gd name="T13" fmla="*/ 44 h 73"/>
                    <a:gd name="T14" fmla="*/ 63 w 222"/>
                    <a:gd name="T15" fmla="*/ 37 h 73"/>
                    <a:gd name="T16" fmla="*/ 78 w 222"/>
                    <a:gd name="T17" fmla="*/ 31 h 73"/>
                    <a:gd name="T18" fmla="*/ 95 w 222"/>
                    <a:gd name="T19" fmla="*/ 24 h 73"/>
                    <a:gd name="T20" fmla="*/ 112 w 222"/>
                    <a:gd name="T21" fmla="*/ 19 h 73"/>
                    <a:gd name="T22" fmla="*/ 129 w 222"/>
                    <a:gd name="T23" fmla="*/ 16 h 73"/>
                    <a:gd name="T24" fmla="*/ 147 w 222"/>
                    <a:gd name="T25" fmla="*/ 15 h 73"/>
                    <a:gd name="T26" fmla="*/ 166 w 222"/>
                    <a:gd name="T27" fmla="*/ 15 h 73"/>
                    <a:gd name="T28" fmla="*/ 185 w 222"/>
                    <a:gd name="T29" fmla="*/ 19 h 73"/>
                    <a:gd name="T30" fmla="*/ 204 w 222"/>
                    <a:gd name="T31" fmla="*/ 25 h 73"/>
                    <a:gd name="T32" fmla="*/ 222 w 222"/>
                    <a:gd name="T33" fmla="*/ 36 h 73"/>
                    <a:gd name="T34" fmla="*/ 221 w 222"/>
                    <a:gd name="T35" fmla="*/ 35 h 73"/>
                    <a:gd name="T36" fmla="*/ 218 w 222"/>
                    <a:gd name="T37" fmla="*/ 32 h 73"/>
                    <a:gd name="T38" fmla="*/ 214 w 222"/>
                    <a:gd name="T39" fmla="*/ 28 h 73"/>
                    <a:gd name="T40" fmla="*/ 208 w 222"/>
                    <a:gd name="T41" fmla="*/ 23 h 73"/>
                    <a:gd name="T42" fmla="*/ 200 w 222"/>
                    <a:gd name="T43" fmla="*/ 18 h 73"/>
                    <a:gd name="T44" fmla="*/ 190 w 222"/>
                    <a:gd name="T45" fmla="*/ 12 h 73"/>
                    <a:gd name="T46" fmla="*/ 179 w 222"/>
                    <a:gd name="T47" fmla="*/ 8 h 73"/>
                    <a:gd name="T48" fmla="*/ 166 w 222"/>
                    <a:gd name="T49" fmla="*/ 4 h 73"/>
                    <a:gd name="T50" fmla="*/ 151 w 222"/>
                    <a:gd name="T51" fmla="*/ 2 h 73"/>
                    <a:gd name="T52" fmla="*/ 135 w 222"/>
                    <a:gd name="T53" fmla="*/ 0 h 73"/>
                    <a:gd name="T54" fmla="*/ 118 w 222"/>
                    <a:gd name="T55" fmla="*/ 3 h 73"/>
                    <a:gd name="T56" fmla="*/ 99 w 222"/>
                    <a:gd name="T57" fmla="*/ 7 h 73"/>
                    <a:gd name="T58" fmla="*/ 78 w 222"/>
                    <a:gd name="T59" fmla="*/ 14 h 73"/>
                    <a:gd name="T60" fmla="*/ 55 w 222"/>
                    <a:gd name="T61" fmla="*/ 24 h 73"/>
                    <a:gd name="T62" fmla="*/ 32 w 222"/>
                    <a:gd name="T63" fmla="*/ 39 h 73"/>
                    <a:gd name="T64" fmla="*/ 7 w 222"/>
                    <a:gd name="T65" fmla="*/ 58 h 73"/>
                    <a:gd name="T66" fmla="*/ 4 w 222"/>
                    <a:gd name="T67" fmla="*/ 61 h 73"/>
                    <a:gd name="T68" fmla="*/ 0 w 222"/>
                    <a:gd name="T69" fmla="*/ 66 h 73"/>
                    <a:gd name="T70" fmla="*/ 0 w 222"/>
                    <a:gd name="T71" fmla="*/ 71 h 73"/>
                    <a:gd name="T72" fmla="*/ 7 w 222"/>
                    <a:gd name="T73" fmla="*/ 73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22" h="73">
                      <a:moveTo>
                        <a:pt x="7" y="73"/>
                      </a:moveTo>
                      <a:lnTo>
                        <a:pt x="8" y="71"/>
                      </a:lnTo>
                      <a:lnTo>
                        <a:pt x="12" y="69"/>
                      </a:lnTo>
                      <a:lnTo>
                        <a:pt x="18" y="63"/>
                      </a:lnTo>
                      <a:lnTo>
                        <a:pt x="26" y="58"/>
                      </a:lnTo>
                      <a:lnTo>
                        <a:pt x="37" y="52"/>
                      </a:lnTo>
                      <a:lnTo>
                        <a:pt x="49" y="44"/>
                      </a:lnTo>
                      <a:lnTo>
                        <a:pt x="63" y="37"/>
                      </a:lnTo>
                      <a:lnTo>
                        <a:pt x="78" y="31"/>
                      </a:lnTo>
                      <a:lnTo>
                        <a:pt x="95" y="24"/>
                      </a:lnTo>
                      <a:lnTo>
                        <a:pt x="112" y="19"/>
                      </a:lnTo>
                      <a:lnTo>
                        <a:pt x="129" y="16"/>
                      </a:lnTo>
                      <a:lnTo>
                        <a:pt x="147" y="15"/>
                      </a:lnTo>
                      <a:lnTo>
                        <a:pt x="166" y="15"/>
                      </a:lnTo>
                      <a:lnTo>
                        <a:pt x="185" y="19"/>
                      </a:lnTo>
                      <a:lnTo>
                        <a:pt x="204" y="25"/>
                      </a:lnTo>
                      <a:lnTo>
                        <a:pt x="222" y="36"/>
                      </a:lnTo>
                      <a:lnTo>
                        <a:pt x="221" y="35"/>
                      </a:lnTo>
                      <a:lnTo>
                        <a:pt x="218" y="32"/>
                      </a:lnTo>
                      <a:lnTo>
                        <a:pt x="214" y="28"/>
                      </a:lnTo>
                      <a:lnTo>
                        <a:pt x="208" y="23"/>
                      </a:lnTo>
                      <a:lnTo>
                        <a:pt x="200" y="18"/>
                      </a:lnTo>
                      <a:lnTo>
                        <a:pt x="190" y="12"/>
                      </a:lnTo>
                      <a:lnTo>
                        <a:pt x="179" y="8"/>
                      </a:lnTo>
                      <a:lnTo>
                        <a:pt x="166" y="4"/>
                      </a:lnTo>
                      <a:lnTo>
                        <a:pt x="151" y="2"/>
                      </a:lnTo>
                      <a:lnTo>
                        <a:pt x="135" y="0"/>
                      </a:lnTo>
                      <a:lnTo>
                        <a:pt x="118" y="3"/>
                      </a:lnTo>
                      <a:lnTo>
                        <a:pt x="99" y="7"/>
                      </a:lnTo>
                      <a:lnTo>
                        <a:pt x="78" y="14"/>
                      </a:lnTo>
                      <a:lnTo>
                        <a:pt x="55" y="24"/>
                      </a:lnTo>
                      <a:lnTo>
                        <a:pt x="32" y="39"/>
                      </a:lnTo>
                      <a:lnTo>
                        <a:pt x="7" y="58"/>
                      </a:lnTo>
                      <a:lnTo>
                        <a:pt x="4" y="61"/>
                      </a:lnTo>
                      <a:lnTo>
                        <a:pt x="0" y="66"/>
                      </a:lnTo>
                      <a:lnTo>
                        <a:pt x="0" y="71"/>
                      </a:lnTo>
                      <a:lnTo>
                        <a:pt x="7" y="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8" name="Freeform 68"/>
                <p:cNvSpPr>
                  <a:spLocks/>
                </p:cNvSpPr>
                <p:nvPr/>
              </p:nvSpPr>
              <p:spPr bwMode="auto">
                <a:xfrm>
                  <a:off x="2465" y="2229"/>
                  <a:ext cx="28" cy="25"/>
                </a:xfrm>
                <a:custGeom>
                  <a:avLst/>
                  <a:gdLst>
                    <a:gd name="T0" fmla="*/ 0 w 113"/>
                    <a:gd name="T1" fmla="*/ 0 h 98"/>
                    <a:gd name="T2" fmla="*/ 4 w 113"/>
                    <a:gd name="T3" fmla="*/ 1 h 98"/>
                    <a:gd name="T4" fmla="*/ 13 w 113"/>
                    <a:gd name="T5" fmla="*/ 3 h 98"/>
                    <a:gd name="T6" fmla="*/ 28 w 113"/>
                    <a:gd name="T7" fmla="*/ 8 h 98"/>
                    <a:gd name="T8" fmla="*/ 45 w 113"/>
                    <a:gd name="T9" fmla="*/ 16 h 98"/>
                    <a:gd name="T10" fmla="*/ 63 w 113"/>
                    <a:gd name="T11" fmla="*/ 29 h 98"/>
                    <a:gd name="T12" fmla="*/ 80 w 113"/>
                    <a:gd name="T13" fmla="*/ 46 h 98"/>
                    <a:gd name="T14" fmla="*/ 95 w 113"/>
                    <a:gd name="T15" fmla="*/ 67 h 98"/>
                    <a:gd name="T16" fmla="*/ 104 w 113"/>
                    <a:gd name="T17" fmla="*/ 96 h 98"/>
                    <a:gd name="T18" fmla="*/ 107 w 113"/>
                    <a:gd name="T19" fmla="*/ 97 h 98"/>
                    <a:gd name="T20" fmla="*/ 111 w 113"/>
                    <a:gd name="T21" fmla="*/ 98 h 98"/>
                    <a:gd name="T22" fmla="*/ 113 w 113"/>
                    <a:gd name="T23" fmla="*/ 97 h 98"/>
                    <a:gd name="T24" fmla="*/ 113 w 113"/>
                    <a:gd name="T25" fmla="*/ 89 h 98"/>
                    <a:gd name="T26" fmla="*/ 112 w 113"/>
                    <a:gd name="T27" fmla="*/ 85 h 98"/>
                    <a:gd name="T28" fmla="*/ 108 w 113"/>
                    <a:gd name="T29" fmla="*/ 75 h 98"/>
                    <a:gd name="T30" fmla="*/ 101 w 113"/>
                    <a:gd name="T31" fmla="*/ 60 h 98"/>
                    <a:gd name="T32" fmla="*/ 91 w 113"/>
                    <a:gd name="T33" fmla="*/ 45 h 98"/>
                    <a:gd name="T34" fmla="*/ 76 w 113"/>
                    <a:gd name="T35" fmla="*/ 27 h 98"/>
                    <a:gd name="T36" fmla="*/ 57 w 113"/>
                    <a:gd name="T37" fmla="*/ 13 h 98"/>
                    <a:gd name="T38" fmla="*/ 32 w 113"/>
                    <a:gd name="T39" fmla="*/ 4 h 98"/>
                    <a:gd name="T40" fmla="*/ 0 w 113"/>
                    <a:gd name="T41" fmla="*/ 0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13" h="98">
                      <a:moveTo>
                        <a:pt x="0" y="0"/>
                      </a:moveTo>
                      <a:lnTo>
                        <a:pt x="4" y="1"/>
                      </a:lnTo>
                      <a:lnTo>
                        <a:pt x="13" y="3"/>
                      </a:lnTo>
                      <a:lnTo>
                        <a:pt x="28" y="8"/>
                      </a:lnTo>
                      <a:lnTo>
                        <a:pt x="45" y="16"/>
                      </a:lnTo>
                      <a:lnTo>
                        <a:pt x="63" y="29"/>
                      </a:lnTo>
                      <a:lnTo>
                        <a:pt x="80" y="46"/>
                      </a:lnTo>
                      <a:lnTo>
                        <a:pt x="95" y="67"/>
                      </a:lnTo>
                      <a:lnTo>
                        <a:pt x="104" y="96"/>
                      </a:lnTo>
                      <a:lnTo>
                        <a:pt x="107" y="97"/>
                      </a:lnTo>
                      <a:lnTo>
                        <a:pt x="111" y="98"/>
                      </a:lnTo>
                      <a:lnTo>
                        <a:pt x="113" y="97"/>
                      </a:lnTo>
                      <a:lnTo>
                        <a:pt x="113" y="89"/>
                      </a:lnTo>
                      <a:lnTo>
                        <a:pt x="112" y="85"/>
                      </a:lnTo>
                      <a:lnTo>
                        <a:pt x="108" y="75"/>
                      </a:lnTo>
                      <a:lnTo>
                        <a:pt x="101" y="60"/>
                      </a:lnTo>
                      <a:lnTo>
                        <a:pt x="91" y="45"/>
                      </a:lnTo>
                      <a:lnTo>
                        <a:pt x="76" y="27"/>
                      </a:lnTo>
                      <a:lnTo>
                        <a:pt x="57" y="13"/>
                      </a:lnTo>
                      <a:lnTo>
                        <a:pt x="32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9" name="Freeform 69"/>
                <p:cNvSpPr>
                  <a:spLocks/>
                </p:cNvSpPr>
                <p:nvPr/>
              </p:nvSpPr>
              <p:spPr bwMode="auto">
                <a:xfrm>
                  <a:off x="2473" y="2340"/>
                  <a:ext cx="28" cy="8"/>
                </a:xfrm>
                <a:custGeom>
                  <a:avLst/>
                  <a:gdLst>
                    <a:gd name="T0" fmla="*/ 100 w 109"/>
                    <a:gd name="T1" fmla="*/ 17 h 34"/>
                    <a:gd name="T2" fmla="*/ 91 w 109"/>
                    <a:gd name="T3" fmla="*/ 18 h 34"/>
                    <a:gd name="T4" fmla="*/ 79 w 109"/>
                    <a:gd name="T5" fmla="*/ 18 h 34"/>
                    <a:gd name="T6" fmla="*/ 65 w 109"/>
                    <a:gd name="T7" fmla="*/ 18 h 34"/>
                    <a:gd name="T8" fmla="*/ 50 w 109"/>
                    <a:gd name="T9" fmla="*/ 17 h 34"/>
                    <a:gd name="T10" fmla="*/ 36 w 109"/>
                    <a:gd name="T11" fmla="*/ 15 h 34"/>
                    <a:gd name="T12" fmla="*/ 23 w 109"/>
                    <a:gd name="T13" fmla="*/ 11 h 34"/>
                    <a:gd name="T14" fmla="*/ 10 w 109"/>
                    <a:gd name="T15" fmla="*/ 6 h 34"/>
                    <a:gd name="T16" fmla="*/ 0 w 109"/>
                    <a:gd name="T17" fmla="*/ 0 h 34"/>
                    <a:gd name="T18" fmla="*/ 2 w 109"/>
                    <a:gd name="T19" fmla="*/ 3 h 34"/>
                    <a:gd name="T20" fmla="*/ 2 w 109"/>
                    <a:gd name="T21" fmla="*/ 6 h 34"/>
                    <a:gd name="T22" fmla="*/ 2 w 109"/>
                    <a:gd name="T23" fmla="*/ 9 h 34"/>
                    <a:gd name="T24" fmla="*/ 2 w 109"/>
                    <a:gd name="T25" fmla="*/ 11 h 34"/>
                    <a:gd name="T26" fmla="*/ 3 w 109"/>
                    <a:gd name="T27" fmla="*/ 14 h 34"/>
                    <a:gd name="T28" fmla="*/ 7 w 109"/>
                    <a:gd name="T29" fmla="*/ 17 h 34"/>
                    <a:gd name="T30" fmla="*/ 12 w 109"/>
                    <a:gd name="T31" fmla="*/ 21 h 34"/>
                    <a:gd name="T32" fmla="*/ 20 w 109"/>
                    <a:gd name="T33" fmla="*/ 23 h 34"/>
                    <a:gd name="T34" fmla="*/ 28 w 109"/>
                    <a:gd name="T35" fmla="*/ 27 h 34"/>
                    <a:gd name="T36" fmla="*/ 36 w 109"/>
                    <a:gd name="T37" fmla="*/ 30 h 34"/>
                    <a:gd name="T38" fmla="*/ 42 w 109"/>
                    <a:gd name="T39" fmla="*/ 31 h 34"/>
                    <a:gd name="T40" fmla="*/ 49 w 109"/>
                    <a:gd name="T41" fmla="*/ 32 h 34"/>
                    <a:gd name="T42" fmla="*/ 50 w 109"/>
                    <a:gd name="T43" fmla="*/ 32 h 34"/>
                    <a:gd name="T44" fmla="*/ 56 w 109"/>
                    <a:gd name="T45" fmla="*/ 32 h 34"/>
                    <a:gd name="T46" fmla="*/ 62 w 109"/>
                    <a:gd name="T47" fmla="*/ 34 h 34"/>
                    <a:gd name="T48" fmla="*/ 70 w 109"/>
                    <a:gd name="T49" fmla="*/ 34 h 34"/>
                    <a:gd name="T50" fmla="*/ 79 w 109"/>
                    <a:gd name="T51" fmla="*/ 34 h 34"/>
                    <a:gd name="T52" fmla="*/ 90 w 109"/>
                    <a:gd name="T53" fmla="*/ 32 h 34"/>
                    <a:gd name="T54" fmla="*/ 100 w 109"/>
                    <a:gd name="T55" fmla="*/ 30 h 34"/>
                    <a:gd name="T56" fmla="*/ 109 w 109"/>
                    <a:gd name="T57" fmla="*/ 26 h 34"/>
                    <a:gd name="T58" fmla="*/ 108 w 109"/>
                    <a:gd name="T59" fmla="*/ 24 h 34"/>
                    <a:gd name="T60" fmla="*/ 107 w 109"/>
                    <a:gd name="T61" fmla="*/ 23 h 34"/>
                    <a:gd name="T62" fmla="*/ 104 w 109"/>
                    <a:gd name="T63" fmla="*/ 21 h 34"/>
                    <a:gd name="T64" fmla="*/ 100 w 109"/>
                    <a:gd name="T65" fmla="*/ 17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9" h="34">
                      <a:moveTo>
                        <a:pt x="100" y="17"/>
                      </a:moveTo>
                      <a:lnTo>
                        <a:pt x="91" y="18"/>
                      </a:lnTo>
                      <a:lnTo>
                        <a:pt x="79" y="18"/>
                      </a:lnTo>
                      <a:lnTo>
                        <a:pt x="65" y="18"/>
                      </a:lnTo>
                      <a:lnTo>
                        <a:pt x="50" y="17"/>
                      </a:lnTo>
                      <a:lnTo>
                        <a:pt x="36" y="15"/>
                      </a:lnTo>
                      <a:lnTo>
                        <a:pt x="23" y="11"/>
                      </a:lnTo>
                      <a:lnTo>
                        <a:pt x="10" y="6"/>
                      </a:lnTo>
                      <a:lnTo>
                        <a:pt x="0" y="0"/>
                      </a:lnTo>
                      <a:lnTo>
                        <a:pt x="2" y="3"/>
                      </a:lnTo>
                      <a:lnTo>
                        <a:pt x="2" y="6"/>
                      </a:lnTo>
                      <a:lnTo>
                        <a:pt x="2" y="9"/>
                      </a:lnTo>
                      <a:lnTo>
                        <a:pt x="2" y="11"/>
                      </a:lnTo>
                      <a:lnTo>
                        <a:pt x="3" y="14"/>
                      </a:lnTo>
                      <a:lnTo>
                        <a:pt x="7" y="17"/>
                      </a:lnTo>
                      <a:lnTo>
                        <a:pt x="12" y="21"/>
                      </a:lnTo>
                      <a:lnTo>
                        <a:pt x="20" y="23"/>
                      </a:lnTo>
                      <a:lnTo>
                        <a:pt x="28" y="27"/>
                      </a:lnTo>
                      <a:lnTo>
                        <a:pt x="36" y="30"/>
                      </a:lnTo>
                      <a:lnTo>
                        <a:pt x="42" y="31"/>
                      </a:lnTo>
                      <a:lnTo>
                        <a:pt x="49" y="32"/>
                      </a:lnTo>
                      <a:lnTo>
                        <a:pt x="50" y="32"/>
                      </a:lnTo>
                      <a:lnTo>
                        <a:pt x="56" y="32"/>
                      </a:lnTo>
                      <a:lnTo>
                        <a:pt x="62" y="34"/>
                      </a:lnTo>
                      <a:lnTo>
                        <a:pt x="70" y="34"/>
                      </a:lnTo>
                      <a:lnTo>
                        <a:pt x="79" y="34"/>
                      </a:lnTo>
                      <a:lnTo>
                        <a:pt x="90" y="32"/>
                      </a:lnTo>
                      <a:lnTo>
                        <a:pt x="100" y="30"/>
                      </a:lnTo>
                      <a:lnTo>
                        <a:pt x="109" y="26"/>
                      </a:lnTo>
                      <a:lnTo>
                        <a:pt x="108" y="24"/>
                      </a:lnTo>
                      <a:lnTo>
                        <a:pt x="107" y="23"/>
                      </a:lnTo>
                      <a:lnTo>
                        <a:pt x="104" y="21"/>
                      </a:lnTo>
                      <a:lnTo>
                        <a:pt x="100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0" name="Freeform 70"/>
                <p:cNvSpPr>
                  <a:spLocks/>
                </p:cNvSpPr>
                <p:nvPr/>
              </p:nvSpPr>
              <p:spPr bwMode="auto">
                <a:xfrm>
                  <a:off x="2647" y="2355"/>
                  <a:ext cx="44" cy="42"/>
                </a:xfrm>
                <a:custGeom>
                  <a:avLst/>
                  <a:gdLst>
                    <a:gd name="T0" fmla="*/ 153 w 174"/>
                    <a:gd name="T1" fmla="*/ 108 h 167"/>
                    <a:gd name="T2" fmla="*/ 151 w 174"/>
                    <a:gd name="T3" fmla="*/ 104 h 167"/>
                    <a:gd name="T4" fmla="*/ 147 w 174"/>
                    <a:gd name="T5" fmla="*/ 93 h 167"/>
                    <a:gd name="T6" fmla="*/ 142 w 174"/>
                    <a:gd name="T7" fmla="*/ 78 h 167"/>
                    <a:gd name="T8" fmla="*/ 136 w 174"/>
                    <a:gd name="T9" fmla="*/ 59 h 167"/>
                    <a:gd name="T10" fmla="*/ 126 w 174"/>
                    <a:gd name="T11" fmla="*/ 41 h 167"/>
                    <a:gd name="T12" fmla="*/ 116 w 174"/>
                    <a:gd name="T13" fmla="*/ 24 h 167"/>
                    <a:gd name="T14" fmla="*/ 104 w 174"/>
                    <a:gd name="T15" fmla="*/ 11 h 167"/>
                    <a:gd name="T16" fmla="*/ 91 w 174"/>
                    <a:gd name="T17" fmla="*/ 3 h 167"/>
                    <a:gd name="T18" fmla="*/ 82 w 174"/>
                    <a:gd name="T19" fmla="*/ 2 h 167"/>
                    <a:gd name="T20" fmla="*/ 73 w 174"/>
                    <a:gd name="T21" fmla="*/ 0 h 167"/>
                    <a:gd name="T22" fmla="*/ 63 w 174"/>
                    <a:gd name="T23" fmla="*/ 2 h 167"/>
                    <a:gd name="T24" fmla="*/ 54 w 174"/>
                    <a:gd name="T25" fmla="*/ 4 h 167"/>
                    <a:gd name="T26" fmla="*/ 46 w 174"/>
                    <a:gd name="T27" fmla="*/ 7 h 167"/>
                    <a:gd name="T28" fmla="*/ 40 w 174"/>
                    <a:gd name="T29" fmla="*/ 8 h 167"/>
                    <a:gd name="T30" fmla="*/ 36 w 174"/>
                    <a:gd name="T31" fmla="*/ 9 h 167"/>
                    <a:gd name="T32" fmla="*/ 34 w 174"/>
                    <a:gd name="T33" fmla="*/ 11 h 167"/>
                    <a:gd name="T34" fmla="*/ 11 w 174"/>
                    <a:gd name="T35" fmla="*/ 32 h 167"/>
                    <a:gd name="T36" fmla="*/ 0 w 174"/>
                    <a:gd name="T37" fmla="*/ 89 h 167"/>
                    <a:gd name="T38" fmla="*/ 27 w 174"/>
                    <a:gd name="T39" fmla="*/ 117 h 167"/>
                    <a:gd name="T40" fmla="*/ 45 w 174"/>
                    <a:gd name="T41" fmla="*/ 124 h 167"/>
                    <a:gd name="T42" fmla="*/ 63 w 174"/>
                    <a:gd name="T43" fmla="*/ 151 h 167"/>
                    <a:gd name="T44" fmla="*/ 119 w 174"/>
                    <a:gd name="T45" fmla="*/ 166 h 167"/>
                    <a:gd name="T46" fmla="*/ 122 w 174"/>
                    <a:gd name="T47" fmla="*/ 166 h 167"/>
                    <a:gd name="T48" fmla="*/ 133 w 174"/>
                    <a:gd name="T49" fmla="*/ 167 h 167"/>
                    <a:gd name="T50" fmla="*/ 146 w 174"/>
                    <a:gd name="T51" fmla="*/ 167 h 167"/>
                    <a:gd name="T52" fmla="*/ 159 w 174"/>
                    <a:gd name="T53" fmla="*/ 164 h 167"/>
                    <a:gd name="T54" fmla="*/ 170 w 174"/>
                    <a:gd name="T55" fmla="*/ 159 h 167"/>
                    <a:gd name="T56" fmla="*/ 174 w 174"/>
                    <a:gd name="T57" fmla="*/ 149 h 167"/>
                    <a:gd name="T58" fmla="*/ 170 w 174"/>
                    <a:gd name="T59" fmla="*/ 131 h 167"/>
                    <a:gd name="T60" fmla="*/ 153 w 174"/>
                    <a:gd name="T61" fmla="*/ 108 h 1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74" h="167">
                      <a:moveTo>
                        <a:pt x="153" y="108"/>
                      </a:moveTo>
                      <a:lnTo>
                        <a:pt x="151" y="104"/>
                      </a:lnTo>
                      <a:lnTo>
                        <a:pt x="147" y="93"/>
                      </a:lnTo>
                      <a:lnTo>
                        <a:pt x="142" y="78"/>
                      </a:lnTo>
                      <a:lnTo>
                        <a:pt x="136" y="59"/>
                      </a:lnTo>
                      <a:lnTo>
                        <a:pt x="126" y="41"/>
                      </a:lnTo>
                      <a:lnTo>
                        <a:pt x="116" y="24"/>
                      </a:lnTo>
                      <a:lnTo>
                        <a:pt x="104" y="11"/>
                      </a:lnTo>
                      <a:lnTo>
                        <a:pt x="91" y="3"/>
                      </a:lnTo>
                      <a:lnTo>
                        <a:pt x="82" y="2"/>
                      </a:lnTo>
                      <a:lnTo>
                        <a:pt x="73" y="0"/>
                      </a:lnTo>
                      <a:lnTo>
                        <a:pt x="63" y="2"/>
                      </a:lnTo>
                      <a:lnTo>
                        <a:pt x="54" y="4"/>
                      </a:lnTo>
                      <a:lnTo>
                        <a:pt x="46" y="7"/>
                      </a:lnTo>
                      <a:lnTo>
                        <a:pt x="40" y="8"/>
                      </a:lnTo>
                      <a:lnTo>
                        <a:pt x="36" y="9"/>
                      </a:lnTo>
                      <a:lnTo>
                        <a:pt x="34" y="11"/>
                      </a:lnTo>
                      <a:lnTo>
                        <a:pt x="11" y="32"/>
                      </a:lnTo>
                      <a:lnTo>
                        <a:pt x="0" y="89"/>
                      </a:lnTo>
                      <a:lnTo>
                        <a:pt x="27" y="117"/>
                      </a:lnTo>
                      <a:lnTo>
                        <a:pt x="45" y="124"/>
                      </a:lnTo>
                      <a:lnTo>
                        <a:pt x="63" y="151"/>
                      </a:lnTo>
                      <a:lnTo>
                        <a:pt x="119" y="166"/>
                      </a:lnTo>
                      <a:lnTo>
                        <a:pt x="122" y="166"/>
                      </a:lnTo>
                      <a:lnTo>
                        <a:pt x="133" y="167"/>
                      </a:lnTo>
                      <a:lnTo>
                        <a:pt x="146" y="167"/>
                      </a:lnTo>
                      <a:lnTo>
                        <a:pt x="159" y="164"/>
                      </a:lnTo>
                      <a:lnTo>
                        <a:pt x="170" y="159"/>
                      </a:lnTo>
                      <a:lnTo>
                        <a:pt x="174" y="149"/>
                      </a:lnTo>
                      <a:lnTo>
                        <a:pt x="170" y="131"/>
                      </a:lnTo>
                      <a:lnTo>
                        <a:pt x="153" y="1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1" name="Freeform 71"/>
                <p:cNvSpPr>
                  <a:spLocks/>
                </p:cNvSpPr>
                <p:nvPr/>
              </p:nvSpPr>
              <p:spPr bwMode="auto">
                <a:xfrm>
                  <a:off x="2664" y="2359"/>
                  <a:ext cx="15" cy="27"/>
                </a:xfrm>
                <a:custGeom>
                  <a:avLst/>
                  <a:gdLst>
                    <a:gd name="T0" fmla="*/ 20 w 61"/>
                    <a:gd name="T1" fmla="*/ 0 h 109"/>
                    <a:gd name="T2" fmla="*/ 19 w 61"/>
                    <a:gd name="T3" fmla="*/ 1 h 109"/>
                    <a:gd name="T4" fmla="*/ 17 w 61"/>
                    <a:gd name="T5" fmla="*/ 2 h 109"/>
                    <a:gd name="T6" fmla="*/ 16 w 61"/>
                    <a:gd name="T7" fmla="*/ 6 h 109"/>
                    <a:gd name="T8" fmla="*/ 19 w 61"/>
                    <a:gd name="T9" fmla="*/ 13 h 109"/>
                    <a:gd name="T10" fmla="*/ 21 w 61"/>
                    <a:gd name="T11" fmla="*/ 19 h 109"/>
                    <a:gd name="T12" fmla="*/ 19 w 61"/>
                    <a:gd name="T13" fmla="*/ 25 h 109"/>
                    <a:gd name="T14" fmla="*/ 16 w 61"/>
                    <a:gd name="T15" fmla="*/ 27 h 109"/>
                    <a:gd name="T16" fmla="*/ 15 w 61"/>
                    <a:gd name="T17" fmla="*/ 29 h 109"/>
                    <a:gd name="T18" fmla="*/ 8 w 61"/>
                    <a:gd name="T19" fmla="*/ 36 h 109"/>
                    <a:gd name="T20" fmla="*/ 8 w 61"/>
                    <a:gd name="T21" fmla="*/ 36 h 109"/>
                    <a:gd name="T22" fmla="*/ 11 w 61"/>
                    <a:gd name="T23" fmla="*/ 38 h 109"/>
                    <a:gd name="T24" fmla="*/ 12 w 61"/>
                    <a:gd name="T25" fmla="*/ 42 h 109"/>
                    <a:gd name="T26" fmla="*/ 12 w 61"/>
                    <a:gd name="T27" fmla="*/ 47 h 109"/>
                    <a:gd name="T28" fmla="*/ 11 w 61"/>
                    <a:gd name="T29" fmla="*/ 53 h 109"/>
                    <a:gd name="T30" fmla="*/ 8 w 61"/>
                    <a:gd name="T31" fmla="*/ 59 h 109"/>
                    <a:gd name="T32" fmla="*/ 6 w 61"/>
                    <a:gd name="T33" fmla="*/ 63 h 109"/>
                    <a:gd name="T34" fmla="*/ 4 w 61"/>
                    <a:gd name="T35" fmla="*/ 64 h 109"/>
                    <a:gd name="T36" fmla="*/ 3 w 61"/>
                    <a:gd name="T37" fmla="*/ 65 h 109"/>
                    <a:gd name="T38" fmla="*/ 2 w 61"/>
                    <a:gd name="T39" fmla="*/ 71 h 109"/>
                    <a:gd name="T40" fmla="*/ 0 w 61"/>
                    <a:gd name="T41" fmla="*/ 76 h 109"/>
                    <a:gd name="T42" fmla="*/ 2 w 61"/>
                    <a:gd name="T43" fmla="*/ 81 h 109"/>
                    <a:gd name="T44" fmla="*/ 8 w 61"/>
                    <a:gd name="T45" fmla="*/ 88 h 109"/>
                    <a:gd name="T46" fmla="*/ 21 w 61"/>
                    <a:gd name="T47" fmla="*/ 97 h 109"/>
                    <a:gd name="T48" fmla="*/ 34 w 61"/>
                    <a:gd name="T49" fmla="*/ 105 h 109"/>
                    <a:gd name="T50" fmla="*/ 40 w 61"/>
                    <a:gd name="T51" fmla="*/ 109 h 109"/>
                    <a:gd name="T52" fmla="*/ 42 w 61"/>
                    <a:gd name="T53" fmla="*/ 109 h 109"/>
                    <a:gd name="T54" fmla="*/ 49 w 61"/>
                    <a:gd name="T55" fmla="*/ 105 h 109"/>
                    <a:gd name="T56" fmla="*/ 57 w 61"/>
                    <a:gd name="T57" fmla="*/ 98 h 109"/>
                    <a:gd name="T58" fmla="*/ 61 w 61"/>
                    <a:gd name="T59" fmla="*/ 84 h 109"/>
                    <a:gd name="T60" fmla="*/ 61 w 61"/>
                    <a:gd name="T61" fmla="*/ 73 h 109"/>
                    <a:gd name="T62" fmla="*/ 58 w 61"/>
                    <a:gd name="T63" fmla="*/ 63 h 109"/>
                    <a:gd name="T64" fmla="*/ 55 w 61"/>
                    <a:gd name="T65" fmla="*/ 50 h 109"/>
                    <a:gd name="T66" fmla="*/ 50 w 61"/>
                    <a:gd name="T67" fmla="*/ 38 h 109"/>
                    <a:gd name="T68" fmla="*/ 44 w 61"/>
                    <a:gd name="T69" fmla="*/ 26 h 109"/>
                    <a:gd name="T70" fmla="*/ 36 w 61"/>
                    <a:gd name="T71" fmla="*/ 15 h 109"/>
                    <a:gd name="T72" fmla="*/ 28 w 61"/>
                    <a:gd name="T73" fmla="*/ 6 h 109"/>
                    <a:gd name="T74" fmla="*/ 20 w 61"/>
                    <a:gd name="T75" fmla="*/ 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61" h="109">
                      <a:moveTo>
                        <a:pt x="20" y="0"/>
                      </a:moveTo>
                      <a:lnTo>
                        <a:pt x="19" y="1"/>
                      </a:lnTo>
                      <a:lnTo>
                        <a:pt x="17" y="2"/>
                      </a:lnTo>
                      <a:lnTo>
                        <a:pt x="16" y="6"/>
                      </a:lnTo>
                      <a:lnTo>
                        <a:pt x="19" y="13"/>
                      </a:lnTo>
                      <a:lnTo>
                        <a:pt x="21" y="19"/>
                      </a:lnTo>
                      <a:lnTo>
                        <a:pt x="19" y="25"/>
                      </a:lnTo>
                      <a:lnTo>
                        <a:pt x="16" y="27"/>
                      </a:lnTo>
                      <a:lnTo>
                        <a:pt x="15" y="29"/>
                      </a:lnTo>
                      <a:lnTo>
                        <a:pt x="8" y="36"/>
                      </a:lnTo>
                      <a:lnTo>
                        <a:pt x="8" y="36"/>
                      </a:lnTo>
                      <a:lnTo>
                        <a:pt x="11" y="38"/>
                      </a:lnTo>
                      <a:lnTo>
                        <a:pt x="12" y="42"/>
                      </a:lnTo>
                      <a:lnTo>
                        <a:pt x="12" y="47"/>
                      </a:lnTo>
                      <a:lnTo>
                        <a:pt x="11" y="53"/>
                      </a:lnTo>
                      <a:lnTo>
                        <a:pt x="8" y="59"/>
                      </a:lnTo>
                      <a:lnTo>
                        <a:pt x="6" y="63"/>
                      </a:lnTo>
                      <a:lnTo>
                        <a:pt x="4" y="64"/>
                      </a:lnTo>
                      <a:lnTo>
                        <a:pt x="3" y="65"/>
                      </a:lnTo>
                      <a:lnTo>
                        <a:pt x="2" y="71"/>
                      </a:lnTo>
                      <a:lnTo>
                        <a:pt x="0" y="76"/>
                      </a:lnTo>
                      <a:lnTo>
                        <a:pt x="2" y="81"/>
                      </a:lnTo>
                      <a:lnTo>
                        <a:pt x="8" y="88"/>
                      </a:lnTo>
                      <a:lnTo>
                        <a:pt x="21" y="97"/>
                      </a:lnTo>
                      <a:lnTo>
                        <a:pt x="34" y="105"/>
                      </a:lnTo>
                      <a:lnTo>
                        <a:pt x="40" y="109"/>
                      </a:lnTo>
                      <a:lnTo>
                        <a:pt x="42" y="109"/>
                      </a:lnTo>
                      <a:lnTo>
                        <a:pt x="49" y="105"/>
                      </a:lnTo>
                      <a:lnTo>
                        <a:pt x="57" y="98"/>
                      </a:lnTo>
                      <a:lnTo>
                        <a:pt x="61" y="84"/>
                      </a:lnTo>
                      <a:lnTo>
                        <a:pt x="61" y="73"/>
                      </a:lnTo>
                      <a:lnTo>
                        <a:pt x="58" y="63"/>
                      </a:lnTo>
                      <a:lnTo>
                        <a:pt x="55" y="50"/>
                      </a:lnTo>
                      <a:lnTo>
                        <a:pt x="50" y="38"/>
                      </a:lnTo>
                      <a:lnTo>
                        <a:pt x="44" y="26"/>
                      </a:lnTo>
                      <a:lnTo>
                        <a:pt x="36" y="15"/>
                      </a:lnTo>
                      <a:lnTo>
                        <a:pt x="28" y="6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2" name="Freeform 72"/>
                <p:cNvSpPr>
                  <a:spLocks/>
                </p:cNvSpPr>
                <p:nvPr/>
              </p:nvSpPr>
              <p:spPr bwMode="auto">
                <a:xfrm>
                  <a:off x="2653" y="2377"/>
                  <a:ext cx="25" cy="14"/>
                </a:xfrm>
                <a:custGeom>
                  <a:avLst/>
                  <a:gdLst>
                    <a:gd name="T0" fmla="*/ 42 w 100"/>
                    <a:gd name="T1" fmla="*/ 0 h 56"/>
                    <a:gd name="T2" fmla="*/ 41 w 100"/>
                    <a:gd name="T3" fmla="*/ 0 h 56"/>
                    <a:gd name="T4" fmla="*/ 35 w 100"/>
                    <a:gd name="T5" fmla="*/ 0 h 56"/>
                    <a:gd name="T6" fmla="*/ 29 w 100"/>
                    <a:gd name="T7" fmla="*/ 0 h 56"/>
                    <a:gd name="T8" fmla="*/ 22 w 100"/>
                    <a:gd name="T9" fmla="*/ 1 h 56"/>
                    <a:gd name="T10" fmla="*/ 14 w 100"/>
                    <a:gd name="T11" fmla="*/ 2 h 56"/>
                    <a:gd name="T12" fmla="*/ 8 w 100"/>
                    <a:gd name="T13" fmla="*/ 5 h 56"/>
                    <a:gd name="T14" fmla="*/ 3 w 100"/>
                    <a:gd name="T15" fmla="*/ 7 h 56"/>
                    <a:gd name="T16" fmla="*/ 0 w 100"/>
                    <a:gd name="T17" fmla="*/ 11 h 56"/>
                    <a:gd name="T18" fmla="*/ 0 w 100"/>
                    <a:gd name="T19" fmla="*/ 18 h 56"/>
                    <a:gd name="T20" fmla="*/ 3 w 100"/>
                    <a:gd name="T21" fmla="*/ 21 h 56"/>
                    <a:gd name="T22" fmla="*/ 8 w 100"/>
                    <a:gd name="T23" fmla="*/ 21 h 56"/>
                    <a:gd name="T24" fmla="*/ 12 w 100"/>
                    <a:gd name="T25" fmla="*/ 22 h 56"/>
                    <a:gd name="T26" fmla="*/ 14 w 100"/>
                    <a:gd name="T27" fmla="*/ 24 h 56"/>
                    <a:gd name="T28" fmla="*/ 18 w 100"/>
                    <a:gd name="T29" fmla="*/ 28 h 56"/>
                    <a:gd name="T30" fmla="*/ 20 w 100"/>
                    <a:gd name="T31" fmla="*/ 30 h 56"/>
                    <a:gd name="T32" fmla="*/ 21 w 100"/>
                    <a:gd name="T33" fmla="*/ 31 h 56"/>
                    <a:gd name="T34" fmla="*/ 25 w 100"/>
                    <a:gd name="T35" fmla="*/ 23 h 56"/>
                    <a:gd name="T36" fmla="*/ 26 w 100"/>
                    <a:gd name="T37" fmla="*/ 14 h 56"/>
                    <a:gd name="T38" fmla="*/ 38 w 100"/>
                    <a:gd name="T39" fmla="*/ 14 h 56"/>
                    <a:gd name="T40" fmla="*/ 38 w 100"/>
                    <a:gd name="T41" fmla="*/ 15 h 56"/>
                    <a:gd name="T42" fmla="*/ 39 w 100"/>
                    <a:gd name="T43" fmla="*/ 19 h 56"/>
                    <a:gd name="T44" fmla="*/ 41 w 100"/>
                    <a:gd name="T45" fmla="*/ 24 h 56"/>
                    <a:gd name="T46" fmla="*/ 43 w 100"/>
                    <a:gd name="T47" fmla="*/ 28 h 56"/>
                    <a:gd name="T48" fmla="*/ 43 w 100"/>
                    <a:gd name="T49" fmla="*/ 32 h 56"/>
                    <a:gd name="T50" fmla="*/ 42 w 100"/>
                    <a:gd name="T51" fmla="*/ 36 h 56"/>
                    <a:gd name="T52" fmla="*/ 39 w 100"/>
                    <a:gd name="T53" fmla="*/ 42 h 56"/>
                    <a:gd name="T54" fmla="*/ 41 w 100"/>
                    <a:gd name="T55" fmla="*/ 45 h 56"/>
                    <a:gd name="T56" fmla="*/ 46 w 100"/>
                    <a:gd name="T57" fmla="*/ 51 h 56"/>
                    <a:gd name="T58" fmla="*/ 53 w 100"/>
                    <a:gd name="T59" fmla="*/ 53 h 56"/>
                    <a:gd name="T60" fmla="*/ 59 w 100"/>
                    <a:gd name="T61" fmla="*/ 56 h 56"/>
                    <a:gd name="T62" fmla="*/ 66 w 100"/>
                    <a:gd name="T63" fmla="*/ 55 h 56"/>
                    <a:gd name="T64" fmla="*/ 74 w 100"/>
                    <a:gd name="T65" fmla="*/ 49 h 56"/>
                    <a:gd name="T66" fmla="*/ 85 w 100"/>
                    <a:gd name="T67" fmla="*/ 42 h 56"/>
                    <a:gd name="T68" fmla="*/ 95 w 100"/>
                    <a:gd name="T69" fmla="*/ 32 h 56"/>
                    <a:gd name="T70" fmla="*/ 100 w 100"/>
                    <a:gd name="T71" fmla="*/ 23 h 56"/>
                    <a:gd name="T72" fmla="*/ 97 w 100"/>
                    <a:gd name="T73" fmla="*/ 19 h 56"/>
                    <a:gd name="T74" fmla="*/ 91 w 100"/>
                    <a:gd name="T75" fmla="*/ 14 h 56"/>
                    <a:gd name="T76" fmla="*/ 81 w 100"/>
                    <a:gd name="T77" fmla="*/ 10 h 56"/>
                    <a:gd name="T78" fmla="*/ 71 w 100"/>
                    <a:gd name="T79" fmla="*/ 7 h 56"/>
                    <a:gd name="T80" fmla="*/ 60 w 100"/>
                    <a:gd name="T81" fmla="*/ 3 h 56"/>
                    <a:gd name="T82" fmla="*/ 51 w 100"/>
                    <a:gd name="T83" fmla="*/ 2 h 56"/>
                    <a:gd name="T84" fmla="*/ 45 w 100"/>
                    <a:gd name="T85" fmla="*/ 0 h 56"/>
                    <a:gd name="T86" fmla="*/ 42 w 100"/>
                    <a:gd name="T87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00" h="56">
                      <a:moveTo>
                        <a:pt x="42" y="0"/>
                      </a:moveTo>
                      <a:lnTo>
                        <a:pt x="41" y="0"/>
                      </a:lnTo>
                      <a:lnTo>
                        <a:pt x="35" y="0"/>
                      </a:lnTo>
                      <a:lnTo>
                        <a:pt x="29" y="0"/>
                      </a:lnTo>
                      <a:lnTo>
                        <a:pt x="22" y="1"/>
                      </a:lnTo>
                      <a:lnTo>
                        <a:pt x="14" y="2"/>
                      </a:lnTo>
                      <a:lnTo>
                        <a:pt x="8" y="5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0" y="18"/>
                      </a:lnTo>
                      <a:lnTo>
                        <a:pt x="3" y="21"/>
                      </a:lnTo>
                      <a:lnTo>
                        <a:pt x="8" y="21"/>
                      </a:lnTo>
                      <a:lnTo>
                        <a:pt x="12" y="22"/>
                      </a:lnTo>
                      <a:lnTo>
                        <a:pt x="14" y="24"/>
                      </a:lnTo>
                      <a:lnTo>
                        <a:pt x="18" y="28"/>
                      </a:lnTo>
                      <a:lnTo>
                        <a:pt x="20" y="30"/>
                      </a:lnTo>
                      <a:lnTo>
                        <a:pt x="21" y="31"/>
                      </a:lnTo>
                      <a:lnTo>
                        <a:pt x="25" y="23"/>
                      </a:lnTo>
                      <a:lnTo>
                        <a:pt x="26" y="14"/>
                      </a:lnTo>
                      <a:lnTo>
                        <a:pt x="38" y="14"/>
                      </a:lnTo>
                      <a:lnTo>
                        <a:pt x="38" y="15"/>
                      </a:lnTo>
                      <a:lnTo>
                        <a:pt x="39" y="19"/>
                      </a:lnTo>
                      <a:lnTo>
                        <a:pt x="41" y="24"/>
                      </a:lnTo>
                      <a:lnTo>
                        <a:pt x="43" y="28"/>
                      </a:lnTo>
                      <a:lnTo>
                        <a:pt x="43" y="32"/>
                      </a:lnTo>
                      <a:lnTo>
                        <a:pt x="42" y="36"/>
                      </a:lnTo>
                      <a:lnTo>
                        <a:pt x="39" y="42"/>
                      </a:lnTo>
                      <a:lnTo>
                        <a:pt x="41" y="45"/>
                      </a:lnTo>
                      <a:lnTo>
                        <a:pt x="46" y="51"/>
                      </a:lnTo>
                      <a:lnTo>
                        <a:pt x="53" y="53"/>
                      </a:lnTo>
                      <a:lnTo>
                        <a:pt x="59" y="56"/>
                      </a:lnTo>
                      <a:lnTo>
                        <a:pt x="66" y="55"/>
                      </a:lnTo>
                      <a:lnTo>
                        <a:pt x="74" y="49"/>
                      </a:lnTo>
                      <a:lnTo>
                        <a:pt x="85" y="42"/>
                      </a:lnTo>
                      <a:lnTo>
                        <a:pt x="95" y="32"/>
                      </a:lnTo>
                      <a:lnTo>
                        <a:pt x="100" y="23"/>
                      </a:lnTo>
                      <a:lnTo>
                        <a:pt x="97" y="19"/>
                      </a:lnTo>
                      <a:lnTo>
                        <a:pt x="91" y="14"/>
                      </a:lnTo>
                      <a:lnTo>
                        <a:pt x="81" y="10"/>
                      </a:lnTo>
                      <a:lnTo>
                        <a:pt x="71" y="7"/>
                      </a:lnTo>
                      <a:lnTo>
                        <a:pt x="60" y="3"/>
                      </a:lnTo>
                      <a:lnTo>
                        <a:pt x="51" y="2"/>
                      </a:lnTo>
                      <a:lnTo>
                        <a:pt x="45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3" name="Freeform 73"/>
                <p:cNvSpPr>
                  <a:spLocks/>
                </p:cNvSpPr>
                <p:nvPr/>
              </p:nvSpPr>
              <p:spPr bwMode="auto">
                <a:xfrm>
                  <a:off x="2655" y="2359"/>
                  <a:ext cx="15" cy="3"/>
                </a:xfrm>
                <a:custGeom>
                  <a:avLst/>
                  <a:gdLst>
                    <a:gd name="T0" fmla="*/ 56 w 59"/>
                    <a:gd name="T1" fmla="*/ 2 h 13"/>
                    <a:gd name="T2" fmla="*/ 55 w 59"/>
                    <a:gd name="T3" fmla="*/ 2 h 13"/>
                    <a:gd name="T4" fmla="*/ 51 w 59"/>
                    <a:gd name="T5" fmla="*/ 2 h 13"/>
                    <a:gd name="T6" fmla="*/ 44 w 59"/>
                    <a:gd name="T7" fmla="*/ 0 h 13"/>
                    <a:gd name="T8" fmla="*/ 36 w 59"/>
                    <a:gd name="T9" fmla="*/ 2 h 13"/>
                    <a:gd name="T10" fmla="*/ 27 w 59"/>
                    <a:gd name="T11" fmla="*/ 2 h 13"/>
                    <a:gd name="T12" fmla="*/ 18 w 59"/>
                    <a:gd name="T13" fmla="*/ 4 h 13"/>
                    <a:gd name="T14" fmla="*/ 9 w 59"/>
                    <a:gd name="T15" fmla="*/ 8 h 13"/>
                    <a:gd name="T16" fmla="*/ 0 w 59"/>
                    <a:gd name="T17" fmla="*/ 13 h 13"/>
                    <a:gd name="T18" fmla="*/ 1 w 59"/>
                    <a:gd name="T19" fmla="*/ 13 h 13"/>
                    <a:gd name="T20" fmla="*/ 5 w 59"/>
                    <a:gd name="T21" fmla="*/ 12 h 13"/>
                    <a:gd name="T22" fmla="*/ 11 w 59"/>
                    <a:gd name="T23" fmla="*/ 11 h 13"/>
                    <a:gd name="T24" fmla="*/ 19 w 59"/>
                    <a:gd name="T25" fmla="*/ 8 h 13"/>
                    <a:gd name="T26" fmla="*/ 28 w 59"/>
                    <a:gd name="T27" fmla="*/ 8 h 13"/>
                    <a:gd name="T28" fmla="*/ 39 w 59"/>
                    <a:gd name="T29" fmla="*/ 7 h 13"/>
                    <a:gd name="T30" fmla="*/ 49 w 59"/>
                    <a:gd name="T31" fmla="*/ 8 h 13"/>
                    <a:gd name="T32" fmla="*/ 59 w 59"/>
                    <a:gd name="T33" fmla="*/ 11 h 13"/>
                    <a:gd name="T34" fmla="*/ 56 w 59"/>
                    <a:gd name="T35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9" h="13">
                      <a:moveTo>
                        <a:pt x="56" y="2"/>
                      </a:moveTo>
                      <a:lnTo>
                        <a:pt x="55" y="2"/>
                      </a:lnTo>
                      <a:lnTo>
                        <a:pt x="51" y="2"/>
                      </a:lnTo>
                      <a:lnTo>
                        <a:pt x="44" y="0"/>
                      </a:lnTo>
                      <a:lnTo>
                        <a:pt x="36" y="2"/>
                      </a:lnTo>
                      <a:lnTo>
                        <a:pt x="27" y="2"/>
                      </a:lnTo>
                      <a:lnTo>
                        <a:pt x="18" y="4"/>
                      </a:lnTo>
                      <a:lnTo>
                        <a:pt x="9" y="8"/>
                      </a:lnTo>
                      <a:lnTo>
                        <a:pt x="0" y="13"/>
                      </a:lnTo>
                      <a:lnTo>
                        <a:pt x="1" y="13"/>
                      </a:lnTo>
                      <a:lnTo>
                        <a:pt x="5" y="12"/>
                      </a:lnTo>
                      <a:lnTo>
                        <a:pt x="11" y="11"/>
                      </a:lnTo>
                      <a:lnTo>
                        <a:pt x="19" y="8"/>
                      </a:lnTo>
                      <a:lnTo>
                        <a:pt x="28" y="8"/>
                      </a:lnTo>
                      <a:lnTo>
                        <a:pt x="39" y="7"/>
                      </a:lnTo>
                      <a:lnTo>
                        <a:pt x="49" y="8"/>
                      </a:lnTo>
                      <a:lnTo>
                        <a:pt x="59" y="11"/>
                      </a:lnTo>
                      <a:lnTo>
                        <a:pt x="56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4" name="Freeform 74"/>
                <p:cNvSpPr>
                  <a:spLocks/>
                </p:cNvSpPr>
                <p:nvPr/>
              </p:nvSpPr>
              <p:spPr bwMode="auto">
                <a:xfrm>
                  <a:off x="2651" y="2363"/>
                  <a:ext cx="20" cy="12"/>
                </a:xfrm>
                <a:custGeom>
                  <a:avLst/>
                  <a:gdLst>
                    <a:gd name="T0" fmla="*/ 77 w 83"/>
                    <a:gd name="T1" fmla="*/ 2 h 47"/>
                    <a:gd name="T2" fmla="*/ 74 w 83"/>
                    <a:gd name="T3" fmla="*/ 2 h 47"/>
                    <a:gd name="T4" fmla="*/ 69 w 83"/>
                    <a:gd name="T5" fmla="*/ 1 h 47"/>
                    <a:gd name="T6" fmla="*/ 61 w 83"/>
                    <a:gd name="T7" fmla="*/ 1 h 47"/>
                    <a:gd name="T8" fmla="*/ 50 w 83"/>
                    <a:gd name="T9" fmla="*/ 0 h 47"/>
                    <a:gd name="T10" fmla="*/ 40 w 83"/>
                    <a:gd name="T11" fmla="*/ 0 h 47"/>
                    <a:gd name="T12" fmla="*/ 29 w 83"/>
                    <a:gd name="T13" fmla="*/ 1 h 47"/>
                    <a:gd name="T14" fmla="*/ 20 w 83"/>
                    <a:gd name="T15" fmla="*/ 2 h 47"/>
                    <a:gd name="T16" fmla="*/ 14 w 83"/>
                    <a:gd name="T17" fmla="*/ 5 h 47"/>
                    <a:gd name="T18" fmla="*/ 14 w 83"/>
                    <a:gd name="T19" fmla="*/ 6 h 47"/>
                    <a:gd name="T20" fmla="*/ 12 w 83"/>
                    <a:gd name="T21" fmla="*/ 8 h 47"/>
                    <a:gd name="T22" fmla="*/ 12 w 83"/>
                    <a:gd name="T23" fmla="*/ 10 h 47"/>
                    <a:gd name="T24" fmla="*/ 15 w 83"/>
                    <a:gd name="T25" fmla="*/ 14 h 47"/>
                    <a:gd name="T26" fmla="*/ 16 w 83"/>
                    <a:gd name="T27" fmla="*/ 14 h 47"/>
                    <a:gd name="T28" fmla="*/ 21 w 83"/>
                    <a:gd name="T29" fmla="*/ 14 h 47"/>
                    <a:gd name="T30" fmla="*/ 29 w 83"/>
                    <a:gd name="T31" fmla="*/ 14 h 47"/>
                    <a:gd name="T32" fmla="*/ 39 w 83"/>
                    <a:gd name="T33" fmla="*/ 14 h 47"/>
                    <a:gd name="T34" fmla="*/ 48 w 83"/>
                    <a:gd name="T35" fmla="*/ 15 h 47"/>
                    <a:gd name="T36" fmla="*/ 57 w 83"/>
                    <a:gd name="T37" fmla="*/ 17 h 47"/>
                    <a:gd name="T38" fmla="*/ 65 w 83"/>
                    <a:gd name="T39" fmla="*/ 18 h 47"/>
                    <a:gd name="T40" fmla="*/ 70 w 83"/>
                    <a:gd name="T41" fmla="*/ 22 h 47"/>
                    <a:gd name="T42" fmla="*/ 66 w 83"/>
                    <a:gd name="T43" fmla="*/ 30 h 47"/>
                    <a:gd name="T44" fmla="*/ 64 w 83"/>
                    <a:gd name="T45" fmla="*/ 30 h 47"/>
                    <a:gd name="T46" fmla="*/ 58 w 83"/>
                    <a:gd name="T47" fmla="*/ 29 h 47"/>
                    <a:gd name="T48" fmla="*/ 50 w 83"/>
                    <a:gd name="T49" fmla="*/ 27 h 47"/>
                    <a:gd name="T50" fmla="*/ 41 w 83"/>
                    <a:gd name="T51" fmla="*/ 26 h 47"/>
                    <a:gd name="T52" fmla="*/ 31 w 83"/>
                    <a:gd name="T53" fmla="*/ 26 h 47"/>
                    <a:gd name="T54" fmla="*/ 21 w 83"/>
                    <a:gd name="T55" fmla="*/ 26 h 47"/>
                    <a:gd name="T56" fmla="*/ 14 w 83"/>
                    <a:gd name="T57" fmla="*/ 26 h 47"/>
                    <a:gd name="T58" fmla="*/ 8 w 83"/>
                    <a:gd name="T59" fmla="*/ 27 h 47"/>
                    <a:gd name="T60" fmla="*/ 7 w 83"/>
                    <a:gd name="T61" fmla="*/ 29 h 47"/>
                    <a:gd name="T62" fmla="*/ 3 w 83"/>
                    <a:gd name="T63" fmla="*/ 33 h 47"/>
                    <a:gd name="T64" fmla="*/ 0 w 83"/>
                    <a:gd name="T65" fmla="*/ 38 h 47"/>
                    <a:gd name="T66" fmla="*/ 3 w 83"/>
                    <a:gd name="T67" fmla="*/ 46 h 47"/>
                    <a:gd name="T68" fmla="*/ 4 w 83"/>
                    <a:gd name="T69" fmla="*/ 46 h 47"/>
                    <a:gd name="T70" fmla="*/ 10 w 83"/>
                    <a:gd name="T71" fmla="*/ 44 h 47"/>
                    <a:gd name="T72" fmla="*/ 18 w 83"/>
                    <a:gd name="T73" fmla="*/ 43 h 47"/>
                    <a:gd name="T74" fmla="*/ 25 w 83"/>
                    <a:gd name="T75" fmla="*/ 42 h 47"/>
                    <a:gd name="T76" fmla="*/ 35 w 83"/>
                    <a:gd name="T77" fmla="*/ 42 h 47"/>
                    <a:gd name="T78" fmla="*/ 43 w 83"/>
                    <a:gd name="T79" fmla="*/ 42 h 47"/>
                    <a:gd name="T80" fmla="*/ 49 w 83"/>
                    <a:gd name="T81" fmla="*/ 42 h 47"/>
                    <a:gd name="T82" fmla="*/ 53 w 83"/>
                    <a:gd name="T83" fmla="*/ 43 h 47"/>
                    <a:gd name="T84" fmla="*/ 58 w 83"/>
                    <a:gd name="T85" fmla="*/ 47 h 47"/>
                    <a:gd name="T86" fmla="*/ 83 w 83"/>
                    <a:gd name="T87" fmla="*/ 27 h 47"/>
                    <a:gd name="T88" fmla="*/ 77 w 83"/>
                    <a:gd name="T89" fmla="*/ 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3" h="47">
                      <a:moveTo>
                        <a:pt x="77" y="2"/>
                      </a:moveTo>
                      <a:lnTo>
                        <a:pt x="74" y="2"/>
                      </a:lnTo>
                      <a:lnTo>
                        <a:pt x="69" y="1"/>
                      </a:lnTo>
                      <a:lnTo>
                        <a:pt x="61" y="1"/>
                      </a:lnTo>
                      <a:lnTo>
                        <a:pt x="50" y="0"/>
                      </a:lnTo>
                      <a:lnTo>
                        <a:pt x="40" y="0"/>
                      </a:lnTo>
                      <a:lnTo>
                        <a:pt x="29" y="1"/>
                      </a:lnTo>
                      <a:lnTo>
                        <a:pt x="20" y="2"/>
                      </a:lnTo>
                      <a:lnTo>
                        <a:pt x="14" y="5"/>
                      </a:lnTo>
                      <a:lnTo>
                        <a:pt x="14" y="6"/>
                      </a:lnTo>
                      <a:lnTo>
                        <a:pt x="12" y="8"/>
                      </a:lnTo>
                      <a:lnTo>
                        <a:pt x="12" y="10"/>
                      </a:lnTo>
                      <a:lnTo>
                        <a:pt x="15" y="14"/>
                      </a:lnTo>
                      <a:lnTo>
                        <a:pt x="16" y="14"/>
                      </a:lnTo>
                      <a:lnTo>
                        <a:pt x="21" y="14"/>
                      </a:lnTo>
                      <a:lnTo>
                        <a:pt x="29" y="14"/>
                      </a:lnTo>
                      <a:lnTo>
                        <a:pt x="39" y="14"/>
                      </a:lnTo>
                      <a:lnTo>
                        <a:pt x="48" y="15"/>
                      </a:lnTo>
                      <a:lnTo>
                        <a:pt x="57" y="17"/>
                      </a:lnTo>
                      <a:lnTo>
                        <a:pt x="65" y="18"/>
                      </a:lnTo>
                      <a:lnTo>
                        <a:pt x="70" y="22"/>
                      </a:lnTo>
                      <a:lnTo>
                        <a:pt x="66" y="30"/>
                      </a:lnTo>
                      <a:lnTo>
                        <a:pt x="64" y="30"/>
                      </a:lnTo>
                      <a:lnTo>
                        <a:pt x="58" y="29"/>
                      </a:lnTo>
                      <a:lnTo>
                        <a:pt x="50" y="27"/>
                      </a:lnTo>
                      <a:lnTo>
                        <a:pt x="41" y="26"/>
                      </a:lnTo>
                      <a:lnTo>
                        <a:pt x="31" y="26"/>
                      </a:lnTo>
                      <a:lnTo>
                        <a:pt x="21" y="26"/>
                      </a:lnTo>
                      <a:lnTo>
                        <a:pt x="14" y="26"/>
                      </a:lnTo>
                      <a:lnTo>
                        <a:pt x="8" y="27"/>
                      </a:lnTo>
                      <a:lnTo>
                        <a:pt x="7" y="29"/>
                      </a:lnTo>
                      <a:lnTo>
                        <a:pt x="3" y="33"/>
                      </a:lnTo>
                      <a:lnTo>
                        <a:pt x="0" y="38"/>
                      </a:lnTo>
                      <a:lnTo>
                        <a:pt x="3" y="46"/>
                      </a:lnTo>
                      <a:lnTo>
                        <a:pt x="4" y="46"/>
                      </a:lnTo>
                      <a:lnTo>
                        <a:pt x="10" y="44"/>
                      </a:lnTo>
                      <a:lnTo>
                        <a:pt x="18" y="43"/>
                      </a:lnTo>
                      <a:lnTo>
                        <a:pt x="25" y="42"/>
                      </a:lnTo>
                      <a:lnTo>
                        <a:pt x="35" y="42"/>
                      </a:lnTo>
                      <a:lnTo>
                        <a:pt x="43" y="42"/>
                      </a:lnTo>
                      <a:lnTo>
                        <a:pt x="49" y="42"/>
                      </a:lnTo>
                      <a:lnTo>
                        <a:pt x="53" y="43"/>
                      </a:lnTo>
                      <a:lnTo>
                        <a:pt x="58" y="47"/>
                      </a:lnTo>
                      <a:lnTo>
                        <a:pt x="83" y="27"/>
                      </a:lnTo>
                      <a:lnTo>
                        <a:pt x="77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5" name="Freeform 75"/>
                <p:cNvSpPr>
                  <a:spLocks/>
                </p:cNvSpPr>
                <p:nvPr/>
              </p:nvSpPr>
              <p:spPr bwMode="auto">
                <a:xfrm>
                  <a:off x="2662" y="2387"/>
                  <a:ext cx="24" cy="13"/>
                </a:xfrm>
                <a:custGeom>
                  <a:avLst/>
                  <a:gdLst>
                    <a:gd name="T0" fmla="*/ 86 w 96"/>
                    <a:gd name="T1" fmla="*/ 0 h 54"/>
                    <a:gd name="T2" fmla="*/ 84 w 96"/>
                    <a:gd name="T3" fmla="*/ 3 h 54"/>
                    <a:gd name="T4" fmla="*/ 78 w 96"/>
                    <a:gd name="T5" fmla="*/ 7 h 54"/>
                    <a:gd name="T6" fmla="*/ 70 w 96"/>
                    <a:gd name="T7" fmla="*/ 15 h 54"/>
                    <a:gd name="T8" fmla="*/ 60 w 96"/>
                    <a:gd name="T9" fmla="*/ 21 h 54"/>
                    <a:gd name="T10" fmla="*/ 46 w 96"/>
                    <a:gd name="T11" fmla="*/ 28 h 54"/>
                    <a:gd name="T12" fmla="*/ 32 w 96"/>
                    <a:gd name="T13" fmla="*/ 33 h 54"/>
                    <a:gd name="T14" fmla="*/ 16 w 96"/>
                    <a:gd name="T15" fmla="*/ 34 h 54"/>
                    <a:gd name="T16" fmla="*/ 0 w 96"/>
                    <a:gd name="T17" fmla="*/ 30 h 54"/>
                    <a:gd name="T18" fmla="*/ 18 w 96"/>
                    <a:gd name="T19" fmla="*/ 50 h 54"/>
                    <a:gd name="T20" fmla="*/ 20 w 96"/>
                    <a:gd name="T21" fmla="*/ 51 h 54"/>
                    <a:gd name="T22" fmla="*/ 27 w 96"/>
                    <a:gd name="T23" fmla="*/ 53 h 54"/>
                    <a:gd name="T24" fmla="*/ 37 w 96"/>
                    <a:gd name="T25" fmla="*/ 54 h 54"/>
                    <a:gd name="T26" fmla="*/ 49 w 96"/>
                    <a:gd name="T27" fmla="*/ 53 h 54"/>
                    <a:gd name="T28" fmla="*/ 62 w 96"/>
                    <a:gd name="T29" fmla="*/ 50 h 54"/>
                    <a:gd name="T30" fmla="*/ 74 w 96"/>
                    <a:gd name="T31" fmla="*/ 44 h 54"/>
                    <a:gd name="T32" fmla="*/ 87 w 96"/>
                    <a:gd name="T33" fmla="*/ 32 h 54"/>
                    <a:gd name="T34" fmla="*/ 96 w 96"/>
                    <a:gd name="T35" fmla="*/ 15 h 54"/>
                    <a:gd name="T36" fmla="*/ 86 w 96"/>
                    <a:gd name="T37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6" h="54">
                      <a:moveTo>
                        <a:pt x="86" y="0"/>
                      </a:moveTo>
                      <a:lnTo>
                        <a:pt x="84" y="3"/>
                      </a:lnTo>
                      <a:lnTo>
                        <a:pt x="78" y="7"/>
                      </a:lnTo>
                      <a:lnTo>
                        <a:pt x="70" y="15"/>
                      </a:lnTo>
                      <a:lnTo>
                        <a:pt x="60" y="21"/>
                      </a:lnTo>
                      <a:lnTo>
                        <a:pt x="46" y="28"/>
                      </a:lnTo>
                      <a:lnTo>
                        <a:pt x="32" y="33"/>
                      </a:lnTo>
                      <a:lnTo>
                        <a:pt x="16" y="34"/>
                      </a:lnTo>
                      <a:lnTo>
                        <a:pt x="0" y="30"/>
                      </a:lnTo>
                      <a:lnTo>
                        <a:pt x="18" y="50"/>
                      </a:lnTo>
                      <a:lnTo>
                        <a:pt x="20" y="51"/>
                      </a:lnTo>
                      <a:lnTo>
                        <a:pt x="27" y="53"/>
                      </a:lnTo>
                      <a:lnTo>
                        <a:pt x="37" y="54"/>
                      </a:lnTo>
                      <a:lnTo>
                        <a:pt x="49" y="53"/>
                      </a:lnTo>
                      <a:lnTo>
                        <a:pt x="62" y="50"/>
                      </a:lnTo>
                      <a:lnTo>
                        <a:pt x="74" y="44"/>
                      </a:lnTo>
                      <a:lnTo>
                        <a:pt x="87" y="32"/>
                      </a:lnTo>
                      <a:lnTo>
                        <a:pt x="96" y="15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6" name="Freeform 76"/>
                <p:cNvSpPr>
                  <a:spLocks/>
                </p:cNvSpPr>
                <p:nvPr/>
              </p:nvSpPr>
              <p:spPr bwMode="auto">
                <a:xfrm>
                  <a:off x="2590" y="2429"/>
                  <a:ext cx="18" cy="35"/>
                </a:xfrm>
                <a:custGeom>
                  <a:avLst/>
                  <a:gdLst>
                    <a:gd name="T0" fmla="*/ 56 w 70"/>
                    <a:gd name="T1" fmla="*/ 3 h 140"/>
                    <a:gd name="T2" fmla="*/ 59 w 70"/>
                    <a:gd name="T3" fmla="*/ 9 h 140"/>
                    <a:gd name="T4" fmla="*/ 63 w 70"/>
                    <a:gd name="T5" fmla="*/ 22 h 140"/>
                    <a:gd name="T6" fmla="*/ 67 w 70"/>
                    <a:gd name="T7" fmla="*/ 38 h 140"/>
                    <a:gd name="T8" fmla="*/ 65 w 70"/>
                    <a:gd name="T9" fmla="*/ 52 h 140"/>
                    <a:gd name="T10" fmla="*/ 63 w 70"/>
                    <a:gd name="T11" fmla="*/ 69 h 140"/>
                    <a:gd name="T12" fmla="*/ 61 w 70"/>
                    <a:gd name="T13" fmla="*/ 87 h 140"/>
                    <a:gd name="T14" fmla="*/ 60 w 70"/>
                    <a:gd name="T15" fmla="*/ 105 h 140"/>
                    <a:gd name="T16" fmla="*/ 60 w 70"/>
                    <a:gd name="T17" fmla="*/ 111 h 140"/>
                    <a:gd name="T18" fmla="*/ 70 w 70"/>
                    <a:gd name="T19" fmla="*/ 140 h 140"/>
                    <a:gd name="T20" fmla="*/ 69 w 70"/>
                    <a:gd name="T21" fmla="*/ 140 h 140"/>
                    <a:gd name="T22" fmla="*/ 64 w 70"/>
                    <a:gd name="T23" fmla="*/ 137 h 140"/>
                    <a:gd name="T24" fmla="*/ 57 w 70"/>
                    <a:gd name="T25" fmla="*/ 135 h 140"/>
                    <a:gd name="T26" fmla="*/ 49 w 70"/>
                    <a:gd name="T27" fmla="*/ 131 h 140"/>
                    <a:gd name="T28" fmla="*/ 40 w 70"/>
                    <a:gd name="T29" fmla="*/ 126 h 140"/>
                    <a:gd name="T30" fmla="*/ 31 w 70"/>
                    <a:gd name="T31" fmla="*/ 119 h 140"/>
                    <a:gd name="T32" fmla="*/ 22 w 70"/>
                    <a:gd name="T33" fmla="*/ 111 h 140"/>
                    <a:gd name="T34" fmla="*/ 15 w 70"/>
                    <a:gd name="T35" fmla="*/ 101 h 140"/>
                    <a:gd name="T36" fmla="*/ 6 w 70"/>
                    <a:gd name="T37" fmla="*/ 84 h 140"/>
                    <a:gd name="T38" fmla="*/ 2 w 70"/>
                    <a:gd name="T39" fmla="*/ 76 h 140"/>
                    <a:gd name="T40" fmla="*/ 0 w 70"/>
                    <a:gd name="T41" fmla="*/ 72 h 140"/>
                    <a:gd name="T42" fmla="*/ 0 w 70"/>
                    <a:gd name="T43" fmla="*/ 72 h 140"/>
                    <a:gd name="T44" fmla="*/ 1 w 70"/>
                    <a:gd name="T45" fmla="*/ 69 h 140"/>
                    <a:gd name="T46" fmla="*/ 6 w 70"/>
                    <a:gd name="T47" fmla="*/ 64 h 140"/>
                    <a:gd name="T48" fmla="*/ 13 w 70"/>
                    <a:gd name="T49" fmla="*/ 56 h 140"/>
                    <a:gd name="T50" fmla="*/ 21 w 70"/>
                    <a:gd name="T51" fmla="*/ 45 h 140"/>
                    <a:gd name="T52" fmla="*/ 28 w 70"/>
                    <a:gd name="T53" fmla="*/ 35 h 140"/>
                    <a:gd name="T54" fmla="*/ 35 w 70"/>
                    <a:gd name="T55" fmla="*/ 23 h 140"/>
                    <a:gd name="T56" fmla="*/ 39 w 70"/>
                    <a:gd name="T57" fmla="*/ 11 h 140"/>
                    <a:gd name="T58" fmla="*/ 40 w 70"/>
                    <a:gd name="T59" fmla="*/ 2 h 140"/>
                    <a:gd name="T60" fmla="*/ 43 w 70"/>
                    <a:gd name="T61" fmla="*/ 1 h 140"/>
                    <a:gd name="T62" fmla="*/ 47 w 70"/>
                    <a:gd name="T63" fmla="*/ 0 h 140"/>
                    <a:gd name="T64" fmla="*/ 52 w 70"/>
                    <a:gd name="T65" fmla="*/ 0 h 140"/>
                    <a:gd name="T66" fmla="*/ 56 w 70"/>
                    <a:gd name="T67" fmla="*/ 3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70" h="140">
                      <a:moveTo>
                        <a:pt x="56" y="3"/>
                      </a:moveTo>
                      <a:lnTo>
                        <a:pt x="59" y="9"/>
                      </a:lnTo>
                      <a:lnTo>
                        <a:pt x="63" y="22"/>
                      </a:lnTo>
                      <a:lnTo>
                        <a:pt x="67" y="38"/>
                      </a:lnTo>
                      <a:lnTo>
                        <a:pt x="65" y="52"/>
                      </a:lnTo>
                      <a:lnTo>
                        <a:pt x="63" y="69"/>
                      </a:lnTo>
                      <a:lnTo>
                        <a:pt x="61" y="87"/>
                      </a:lnTo>
                      <a:lnTo>
                        <a:pt x="60" y="105"/>
                      </a:lnTo>
                      <a:lnTo>
                        <a:pt x="60" y="111"/>
                      </a:lnTo>
                      <a:lnTo>
                        <a:pt x="70" y="140"/>
                      </a:lnTo>
                      <a:lnTo>
                        <a:pt x="69" y="140"/>
                      </a:lnTo>
                      <a:lnTo>
                        <a:pt x="64" y="137"/>
                      </a:lnTo>
                      <a:lnTo>
                        <a:pt x="57" y="135"/>
                      </a:lnTo>
                      <a:lnTo>
                        <a:pt x="49" y="131"/>
                      </a:lnTo>
                      <a:lnTo>
                        <a:pt x="40" y="126"/>
                      </a:lnTo>
                      <a:lnTo>
                        <a:pt x="31" y="119"/>
                      </a:lnTo>
                      <a:lnTo>
                        <a:pt x="22" y="111"/>
                      </a:lnTo>
                      <a:lnTo>
                        <a:pt x="15" y="101"/>
                      </a:lnTo>
                      <a:lnTo>
                        <a:pt x="6" y="84"/>
                      </a:lnTo>
                      <a:lnTo>
                        <a:pt x="2" y="76"/>
                      </a:lnTo>
                      <a:lnTo>
                        <a:pt x="0" y="72"/>
                      </a:lnTo>
                      <a:lnTo>
                        <a:pt x="0" y="72"/>
                      </a:lnTo>
                      <a:lnTo>
                        <a:pt x="1" y="69"/>
                      </a:lnTo>
                      <a:lnTo>
                        <a:pt x="6" y="64"/>
                      </a:lnTo>
                      <a:lnTo>
                        <a:pt x="13" y="56"/>
                      </a:lnTo>
                      <a:lnTo>
                        <a:pt x="21" y="45"/>
                      </a:lnTo>
                      <a:lnTo>
                        <a:pt x="28" y="35"/>
                      </a:lnTo>
                      <a:lnTo>
                        <a:pt x="35" y="23"/>
                      </a:lnTo>
                      <a:lnTo>
                        <a:pt x="39" y="11"/>
                      </a:lnTo>
                      <a:lnTo>
                        <a:pt x="40" y="2"/>
                      </a:lnTo>
                      <a:lnTo>
                        <a:pt x="43" y="1"/>
                      </a:lnTo>
                      <a:lnTo>
                        <a:pt x="47" y="0"/>
                      </a:lnTo>
                      <a:lnTo>
                        <a:pt x="52" y="0"/>
                      </a:ln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7" name="Freeform 77"/>
                <p:cNvSpPr>
                  <a:spLocks/>
                </p:cNvSpPr>
                <p:nvPr/>
              </p:nvSpPr>
              <p:spPr bwMode="auto">
                <a:xfrm>
                  <a:off x="2571" y="2437"/>
                  <a:ext cx="8" cy="29"/>
                </a:xfrm>
                <a:custGeom>
                  <a:avLst/>
                  <a:gdLst>
                    <a:gd name="T0" fmla="*/ 4 w 31"/>
                    <a:gd name="T1" fmla="*/ 0 h 114"/>
                    <a:gd name="T2" fmla="*/ 6 w 31"/>
                    <a:gd name="T3" fmla="*/ 5 h 114"/>
                    <a:gd name="T4" fmla="*/ 13 w 31"/>
                    <a:gd name="T5" fmla="*/ 16 h 114"/>
                    <a:gd name="T6" fmla="*/ 22 w 31"/>
                    <a:gd name="T7" fmla="*/ 29 h 114"/>
                    <a:gd name="T8" fmla="*/ 31 w 31"/>
                    <a:gd name="T9" fmla="*/ 39 h 114"/>
                    <a:gd name="T10" fmla="*/ 31 w 31"/>
                    <a:gd name="T11" fmla="*/ 42 h 114"/>
                    <a:gd name="T12" fmla="*/ 31 w 31"/>
                    <a:gd name="T13" fmla="*/ 50 h 114"/>
                    <a:gd name="T14" fmla="*/ 31 w 31"/>
                    <a:gd name="T15" fmla="*/ 60 h 114"/>
                    <a:gd name="T16" fmla="*/ 31 w 31"/>
                    <a:gd name="T17" fmla="*/ 74 h 114"/>
                    <a:gd name="T18" fmla="*/ 29 w 31"/>
                    <a:gd name="T19" fmla="*/ 87 h 114"/>
                    <a:gd name="T20" fmla="*/ 22 w 31"/>
                    <a:gd name="T21" fmla="*/ 100 h 114"/>
                    <a:gd name="T22" fmla="*/ 15 w 31"/>
                    <a:gd name="T23" fmla="*/ 110 h 114"/>
                    <a:gd name="T24" fmla="*/ 13 w 31"/>
                    <a:gd name="T25" fmla="*/ 114 h 114"/>
                    <a:gd name="T26" fmla="*/ 13 w 31"/>
                    <a:gd name="T27" fmla="*/ 106 h 114"/>
                    <a:gd name="T28" fmla="*/ 10 w 31"/>
                    <a:gd name="T29" fmla="*/ 89 h 114"/>
                    <a:gd name="T30" fmla="*/ 8 w 31"/>
                    <a:gd name="T31" fmla="*/ 70 h 114"/>
                    <a:gd name="T32" fmla="*/ 4 w 31"/>
                    <a:gd name="T33" fmla="*/ 55 h 114"/>
                    <a:gd name="T34" fmla="*/ 1 w 31"/>
                    <a:gd name="T35" fmla="*/ 45 h 114"/>
                    <a:gd name="T36" fmla="*/ 0 w 31"/>
                    <a:gd name="T37" fmla="*/ 30 h 114"/>
                    <a:gd name="T38" fmla="*/ 0 w 31"/>
                    <a:gd name="T39" fmla="*/ 16 h 114"/>
                    <a:gd name="T40" fmla="*/ 4 w 31"/>
                    <a:gd name="T41" fmla="*/ 0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1" h="114">
                      <a:moveTo>
                        <a:pt x="4" y="0"/>
                      </a:moveTo>
                      <a:lnTo>
                        <a:pt x="6" y="5"/>
                      </a:lnTo>
                      <a:lnTo>
                        <a:pt x="13" y="16"/>
                      </a:lnTo>
                      <a:lnTo>
                        <a:pt x="22" y="29"/>
                      </a:lnTo>
                      <a:lnTo>
                        <a:pt x="31" y="39"/>
                      </a:lnTo>
                      <a:lnTo>
                        <a:pt x="31" y="42"/>
                      </a:lnTo>
                      <a:lnTo>
                        <a:pt x="31" y="50"/>
                      </a:lnTo>
                      <a:lnTo>
                        <a:pt x="31" y="60"/>
                      </a:lnTo>
                      <a:lnTo>
                        <a:pt x="31" y="74"/>
                      </a:lnTo>
                      <a:lnTo>
                        <a:pt x="29" y="87"/>
                      </a:lnTo>
                      <a:lnTo>
                        <a:pt x="22" y="100"/>
                      </a:lnTo>
                      <a:lnTo>
                        <a:pt x="15" y="110"/>
                      </a:lnTo>
                      <a:lnTo>
                        <a:pt x="13" y="114"/>
                      </a:lnTo>
                      <a:lnTo>
                        <a:pt x="13" y="106"/>
                      </a:lnTo>
                      <a:lnTo>
                        <a:pt x="10" y="89"/>
                      </a:lnTo>
                      <a:lnTo>
                        <a:pt x="8" y="70"/>
                      </a:lnTo>
                      <a:lnTo>
                        <a:pt x="4" y="55"/>
                      </a:lnTo>
                      <a:lnTo>
                        <a:pt x="1" y="45"/>
                      </a:lnTo>
                      <a:lnTo>
                        <a:pt x="0" y="30"/>
                      </a:lnTo>
                      <a:lnTo>
                        <a:pt x="0" y="16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8" name="Freeform 78"/>
                <p:cNvSpPr>
                  <a:spLocks/>
                </p:cNvSpPr>
                <p:nvPr/>
              </p:nvSpPr>
              <p:spPr bwMode="auto">
                <a:xfrm>
                  <a:off x="2588" y="2453"/>
                  <a:ext cx="11" cy="32"/>
                </a:xfrm>
                <a:custGeom>
                  <a:avLst/>
                  <a:gdLst>
                    <a:gd name="T0" fmla="*/ 5 w 44"/>
                    <a:gd name="T1" fmla="*/ 0 h 127"/>
                    <a:gd name="T2" fmla="*/ 0 w 44"/>
                    <a:gd name="T3" fmla="*/ 43 h 127"/>
                    <a:gd name="T4" fmla="*/ 2 w 44"/>
                    <a:gd name="T5" fmla="*/ 127 h 127"/>
                    <a:gd name="T6" fmla="*/ 6 w 44"/>
                    <a:gd name="T7" fmla="*/ 120 h 127"/>
                    <a:gd name="T8" fmla="*/ 17 w 44"/>
                    <a:gd name="T9" fmla="*/ 106 h 127"/>
                    <a:gd name="T10" fmla="*/ 29 w 44"/>
                    <a:gd name="T11" fmla="*/ 88 h 127"/>
                    <a:gd name="T12" fmla="*/ 35 w 44"/>
                    <a:gd name="T13" fmla="*/ 71 h 127"/>
                    <a:gd name="T14" fmla="*/ 39 w 44"/>
                    <a:gd name="T15" fmla="*/ 57 h 127"/>
                    <a:gd name="T16" fmla="*/ 42 w 44"/>
                    <a:gd name="T17" fmla="*/ 48 h 127"/>
                    <a:gd name="T18" fmla="*/ 44 w 44"/>
                    <a:gd name="T19" fmla="*/ 44 h 127"/>
                    <a:gd name="T20" fmla="*/ 44 w 44"/>
                    <a:gd name="T21" fmla="*/ 43 h 127"/>
                    <a:gd name="T22" fmla="*/ 40 w 44"/>
                    <a:gd name="T23" fmla="*/ 42 h 127"/>
                    <a:gd name="T24" fmla="*/ 33 w 44"/>
                    <a:gd name="T25" fmla="*/ 39 h 127"/>
                    <a:gd name="T26" fmla="*/ 23 w 44"/>
                    <a:gd name="T27" fmla="*/ 31 h 127"/>
                    <a:gd name="T28" fmla="*/ 14 w 44"/>
                    <a:gd name="T29" fmla="*/ 19 h 127"/>
                    <a:gd name="T30" fmla="*/ 5 w 44"/>
                    <a:gd name="T31" fmla="*/ 0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4" h="127">
                      <a:moveTo>
                        <a:pt x="5" y="0"/>
                      </a:moveTo>
                      <a:lnTo>
                        <a:pt x="0" y="43"/>
                      </a:lnTo>
                      <a:lnTo>
                        <a:pt x="2" y="127"/>
                      </a:lnTo>
                      <a:lnTo>
                        <a:pt x="6" y="120"/>
                      </a:lnTo>
                      <a:lnTo>
                        <a:pt x="17" y="106"/>
                      </a:lnTo>
                      <a:lnTo>
                        <a:pt x="29" y="88"/>
                      </a:lnTo>
                      <a:lnTo>
                        <a:pt x="35" y="71"/>
                      </a:lnTo>
                      <a:lnTo>
                        <a:pt x="39" y="57"/>
                      </a:lnTo>
                      <a:lnTo>
                        <a:pt x="42" y="48"/>
                      </a:lnTo>
                      <a:lnTo>
                        <a:pt x="44" y="44"/>
                      </a:lnTo>
                      <a:lnTo>
                        <a:pt x="44" y="43"/>
                      </a:lnTo>
                      <a:lnTo>
                        <a:pt x="40" y="42"/>
                      </a:lnTo>
                      <a:lnTo>
                        <a:pt x="33" y="39"/>
                      </a:lnTo>
                      <a:lnTo>
                        <a:pt x="23" y="31"/>
                      </a:lnTo>
                      <a:lnTo>
                        <a:pt x="14" y="19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9" name="Freeform 79"/>
                <p:cNvSpPr>
                  <a:spLocks/>
                </p:cNvSpPr>
                <p:nvPr/>
              </p:nvSpPr>
              <p:spPr bwMode="auto">
                <a:xfrm>
                  <a:off x="2579" y="2455"/>
                  <a:ext cx="7" cy="28"/>
                </a:xfrm>
                <a:custGeom>
                  <a:avLst/>
                  <a:gdLst>
                    <a:gd name="T0" fmla="*/ 20 w 30"/>
                    <a:gd name="T1" fmla="*/ 0 h 111"/>
                    <a:gd name="T2" fmla="*/ 26 w 30"/>
                    <a:gd name="T3" fmla="*/ 34 h 111"/>
                    <a:gd name="T4" fmla="*/ 30 w 30"/>
                    <a:gd name="T5" fmla="*/ 111 h 111"/>
                    <a:gd name="T6" fmla="*/ 26 w 30"/>
                    <a:gd name="T7" fmla="*/ 105 h 111"/>
                    <a:gd name="T8" fmla="*/ 17 w 30"/>
                    <a:gd name="T9" fmla="*/ 87 h 111"/>
                    <a:gd name="T10" fmla="*/ 7 w 30"/>
                    <a:gd name="T11" fmla="*/ 66 h 111"/>
                    <a:gd name="T12" fmla="*/ 0 w 30"/>
                    <a:gd name="T13" fmla="*/ 47 h 111"/>
                    <a:gd name="T14" fmla="*/ 1 w 30"/>
                    <a:gd name="T15" fmla="*/ 45 h 111"/>
                    <a:gd name="T16" fmla="*/ 5 w 30"/>
                    <a:gd name="T17" fmla="*/ 39 h 111"/>
                    <a:gd name="T18" fmla="*/ 9 w 30"/>
                    <a:gd name="T19" fmla="*/ 33 h 111"/>
                    <a:gd name="T20" fmla="*/ 10 w 30"/>
                    <a:gd name="T21" fmla="*/ 26 h 111"/>
                    <a:gd name="T22" fmla="*/ 10 w 30"/>
                    <a:gd name="T23" fmla="*/ 18 h 111"/>
                    <a:gd name="T24" fmla="*/ 12 w 30"/>
                    <a:gd name="T25" fmla="*/ 10 h 111"/>
                    <a:gd name="T26" fmla="*/ 12 w 30"/>
                    <a:gd name="T27" fmla="*/ 3 h 111"/>
                    <a:gd name="T28" fmla="*/ 12 w 30"/>
                    <a:gd name="T29" fmla="*/ 0 h 111"/>
                    <a:gd name="T30" fmla="*/ 20 w 30"/>
                    <a:gd name="T31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0" h="111">
                      <a:moveTo>
                        <a:pt x="20" y="0"/>
                      </a:moveTo>
                      <a:lnTo>
                        <a:pt x="26" y="34"/>
                      </a:lnTo>
                      <a:lnTo>
                        <a:pt x="30" y="111"/>
                      </a:lnTo>
                      <a:lnTo>
                        <a:pt x="26" y="105"/>
                      </a:lnTo>
                      <a:lnTo>
                        <a:pt x="17" y="87"/>
                      </a:lnTo>
                      <a:lnTo>
                        <a:pt x="7" y="66"/>
                      </a:lnTo>
                      <a:lnTo>
                        <a:pt x="0" y="47"/>
                      </a:lnTo>
                      <a:lnTo>
                        <a:pt x="1" y="45"/>
                      </a:lnTo>
                      <a:lnTo>
                        <a:pt x="5" y="39"/>
                      </a:lnTo>
                      <a:lnTo>
                        <a:pt x="9" y="33"/>
                      </a:lnTo>
                      <a:lnTo>
                        <a:pt x="10" y="26"/>
                      </a:lnTo>
                      <a:lnTo>
                        <a:pt x="10" y="18"/>
                      </a:lnTo>
                      <a:lnTo>
                        <a:pt x="12" y="10"/>
                      </a:lnTo>
                      <a:lnTo>
                        <a:pt x="12" y="3"/>
                      </a:lnTo>
                      <a:lnTo>
                        <a:pt x="12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0" name="Freeform 80"/>
                <p:cNvSpPr>
                  <a:spLocks/>
                </p:cNvSpPr>
                <p:nvPr/>
              </p:nvSpPr>
              <p:spPr bwMode="auto">
                <a:xfrm>
                  <a:off x="2589" y="2430"/>
                  <a:ext cx="35" cy="72"/>
                </a:xfrm>
                <a:custGeom>
                  <a:avLst/>
                  <a:gdLst>
                    <a:gd name="T0" fmla="*/ 89 w 138"/>
                    <a:gd name="T1" fmla="*/ 0 h 289"/>
                    <a:gd name="T2" fmla="*/ 94 w 138"/>
                    <a:gd name="T3" fmla="*/ 14 h 289"/>
                    <a:gd name="T4" fmla="*/ 105 w 138"/>
                    <a:gd name="T5" fmla="*/ 45 h 289"/>
                    <a:gd name="T6" fmla="*/ 117 w 138"/>
                    <a:gd name="T7" fmla="*/ 84 h 289"/>
                    <a:gd name="T8" fmla="*/ 121 w 138"/>
                    <a:gd name="T9" fmla="*/ 123 h 289"/>
                    <a:gd name="T10" fmla="*/ 96 w 138"/>
                    <a:gd name="T11" fmla="*/ 137 h 289"/>
                    <a:gd name="T12" fmla="*/ 122 w 138"/>
                    <a:gd name="T13" fmla="*/ 167 h 289"/>
                    <a:gd name="T14" fmla="*/ 118 w 138"/>
                    <a:gd name="T15" fmla="*/ 171 h 289"/>
                    <a:gd name="T16" fmla="*/ 109 w 138"/>
                    <a:gd name="T17" fmla="*/ 182 h 289"/>
                    <a:gd name="T18" fmla="*/ 96 w 138"/>
                    <a:gd name="T19" fmla="*/ 197 h 289"/>
                    <a:gd name="T20" fmla="*/ 77 w 138"/>
                    <a:gd name="T21" fmla="*/ 216 h 289"/>
                    <a:gd name="T22" fmla="*/ 58 w 138"/>
                    <a:gd name="T23" fmla="*/ 235 h 289"/>
                    <a:gd name="T24" fmla="*/ 38 w 138"/>
                    <a:gd name="T25" fmla="*/ 255 h 289"/>
                    <a:gd name="T26" fmla="*/ 18 w 138"/>
                    <a:gd name="T27" fmla="*/ 275 h 289"/>
                    <a:gd name="T28" fmla="*/ 0 w 138"/>
                    <a:gd name="T29" fmla="*/ 289 h 289"/>
                    <a:gd name="T30" fmla="*/ 5 w 138"/>
                    <a:gd name="T31" fmla="*/ 285 h 289"/>
                    <a:gd name="T32" fmla="*/ 18 w 138"/>
                    <a:gd name="T33" fmla="*/ 276 h 289"/>
                    <a:gd name="T34" fmla="*/ 38 w 138"/>
                    <a:gd name="T35" fmla="*/ 263 h 289"/>
                    <a:gd name="T36" fmla="*/ 60 w 138"/>
                    <a:gd name="T37" fmla="*/ 245 h 289"/>
                    <a:gd name="T38" fmla="*/ 84 w 138"/>
                    <a:gd name="T39" fmla="*/ 225 h 289"/>
                    <a:gd name="T40" fmla="*/ 106 w 138"/>
                    <a:gd name="T41" fmla="*/ 204 h 289"/>
                    <a:gd name="T42" fmla="*/ 126 w 138"/>
                    <a:gd name="T43" fmla="*/ 182 h 289"/>
                    <a:gd name="T44" fmla="*/ 138 w 138"/>
                    <a:gd name="T45" fmla="*/ 161 h 289"/>
                    <a:gd name="T46" fmla="*/ 112 w 138"/>
                    <a:gd name="T47" fmla="*/ 138 h 289"/>
                    <a:gd name="T48" fmla="*/ 135 w 138"/>
                    <a:gd name="T49" fmla="*/ 126 h 289"/>
                    <a:gd name="T50" fmla="*/ 135 w 138"/>
                    <a:gd name="T51" fmla="*/ 123 h 289"/>
                    <a:gd name="T52" fmla="*/ 134 w 138"/>
                    <a:gd name="T53" fmla="*/ 113 h 289"/>
                    <a:gd name="T54" fmla="*/ 131 w 138"/>
                    <a:gd name="T55" fmla="*/ 99 h 289"/>
                    <a:gd name="T56" fmla="*/ 129 w 138"/>
                    <a:gd name="T57" fmla="*/ 81 h 289"/>
                    <a:gd name="T58" fmla="*/ 122 w 138"/>
                    <a:gd name="T59" fmla="*/ 61 h 289"/>
                    <a:gd name="T60" fmla="*/ 114 w 138"/>
                    <a:gd name="T61" fmla="*/ 40 h 289"/>
                    <a:gd name="T62" fmla="*/ 104 w 138"/>
                    <a:gd name="T63" fmla="*/ 19 h 289"/>
                    <a:gd name="T64" fmla="*/ 89 w 138"/>
                    <a:gd name="T65" fmla="*/ 0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38" h="289">
                      <a:moveTo>
                        <a:pt x="89" y="0"/>
                      </a:moveTo>
                      <a:lnTo>
                        <a:pt x="94" y="14"/>
                      </a:lnTo>
                      <a:lnTo>
                        <a:pt x="105" y="45"/>
                      </a:lnTo>
                      <a:lnTo>
                        <a:pt x="117" y="84"/>
                      </a:lnTo>
                      <a:lnTo>
                        <a:pt x="121" y="123"/>
                      </a:lnTo>
                      <a:lnTo>
                        <a:pt x="96" y="137"/>
                      </a:lnTo>
                      <a:lnTo>
                        <a:pt x="122" y="167"/>
                      </a:lnTo>
                      <a:lnTo>
                        <a:pt x="118" y="171"/>
                      </a:lnTo>
                      <a:lnTo>
                        <a:pt x="109" y="182"/>
                      </a:lnTo>
                      <a:lnTo>
                        <a:pt x="96" y="197"/>
                      </a:lnTo>
                      <a:lnTo>
                        <a:pt x="77" y="216"/>
                      </a:lnTo>
                      <a:lnTo>
                        <a:pt x="58" y="235"/>
                      </a:lnTo>
                      <a:lnTo>
                        <a:pt x="38" y="255"/>
                      </a:lnTo>
                      <a:lnTo>
                        <a:pt x="18" y="275"/>
                      </a:lnTo>
                      <a:lnTo>
                        <a:pt x="0" y="289"/>
                      </a:lnTo>
                      <a:lnTo>
                        <a:pt x="5" y="285"/>
                      </a:lnTo>
                      <a:lnTo>
                        <a:pt x="18" y="276"/>
                      </a:lnTo>
                      <a:lnTo>
                        <a:pt x="38" y="263"/>
                      </a:lnTo>
                      <a:lnTo>
                        <a:pt x="60" y="245"/>
                      </a:lnTo>
                      <a:lnTo>
                        <a:pt x="84" y="225"/>
                      </a:lnTo>
                      <a:lnTo>
                        <a:pt x="106" y="204"/>
                      </a:lnTo>
                      <a:lnTo>
                        <a:pt x="126" y="182"/>
                      </a:lnTo>
                      <a:lnTo>
                        <a:pt x="138" y="161"/>
                      </a:lnTo>
                      <a:lnTo>
                        <a:pt x="112" y="138"/>
                      </a:lnTo>
                      <a:lnTo>
                        <a:pt x="135" y="126"/>
                      </a:lnTo>
                      <a:lnTo>
                        <a:pt x="135" y="123"/>
                      </a:lnTo>
                      <a:lnTo>
                        <a:pt x="134" y="113"/>
                      </a:lnTo>
                      <a:lnTo>
                        <a:pt x="131" y="99"/>
                      </a:lnTo>
                      <a:lnTo>
                        <a:pt x="129" y="81"/>
                      </a:lnTo>
                      <a:lnTo>
                        <a:pt x="122" y="61"/>
                      </a:lnTo>
                      <a:lnTo>
                        <a:pt x="114" y="40"/>
                      </a:lnTo>
                      <a:lnTo>
                        <a:pt x="104" y="19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1" name="Freeform 81"/>
                <p:cNvSpPr>
                  <a:spLocks/>
                </p:cNvSpPr>
                <p:nvPr/>
              </p:nvSpPr>
              <p:spPr bwMode="auto">
                <a:xfrm>
                  <a:off x="2565" y="2461"/>
                  <a:ext cx="19" cy="37"/>
                </a:xfrm>
                <a:custGeom>
                  <a:avLst/>
                  <a:gdLst>
                    <a:gd name="T0" fmla="*/ 79 w 79"/>
                    <a:gd name="T1" fmla="*/ 148 h 148"/>
                    <a:gd name="T2" fmla="*/ 75 w 79"/>
                    <a:gd name="T3" fmla="*/ 144 h 148"/>
                    <a:gd name="T4" fmla="*/ 66 w 79"/>
                    <a:gd name="T5" fmla="*/ 133 h 148"/>
                    <a:gd name="T6" fmla="*/ 52 w 79"/>
                    <a:gd name="T7" fmla="*/ 118 h 148"/>
                    <a:gd name="T8" fmla="*/ 37 w 79"/>
                    <a:gd name="T9" fmla="*/ 97 h 148"/>
                    <a:gd name="T10" fmla="*/ 21 w 79"/>
                    <a:gd name="T11" fmla="*/ 74 h 148"/>
                    <a:gd name="T12" fmla="*/ 10 w 79"/>
                    <a:gd name="T13" fmla="*/ 49 h 148"/>
                    <a:gd name="T14" fmla="*/ 3 w 79"/>
                    <a:gd name="T15" fmla="*/ 24 h 148"/>
                    <a:gd name="T16" fmla="*/ 3 w 79"/>
                    <a:gd name="T17" fmla="*/ 0 h 148"/>
                    <a:gd name="T18" fmla="*/ 2 w 79"/>
                    <a:gd name="T19" fmla="*/ 3 h 148"/>
                    <a:gd name="T20" fmla="*/ 0 w 79"/>
                    <a:gd name="T21" fmla="*/ 15 h 148"/>
                    <a:gd name="T22" fmla="*/ 0 w 79"/>
                    <a:gd name="T23" fmla="*/ 34 h 148"/>
                    <a:gd name="T24" fmla="*/ 4 w 79"/>
                    <a:gd name="T25" fmla="*/ 55 h 148"/>
                    <a:gd name="T26" fmla="*/ 11 w 79"/>
                    <a:gd name="T27" fmla="*/ 80 h 148"/>
                    <a:gd name="T28" fmla="*/ 25 w 79"/>
                    <a:gd name="T29" fmla="*/ 103 h 148"/>
                    <a:gd name="T30" fmla="*/ 48 w 79"/>
                    <a:gd name="T31" fmla="*/ 127 h 148"/>
                    <a:gd name="T32" fmla="*/ 79 w 79"/>
                    <a:gd name="T33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9" h="148">
                      <a:moveTo>
                        <a:pt x="79" y="148"/>
                      </a:moveTo>
                      <a:lnTo>
                        <a:pt x="75" y="144"/>
                      </a:lnTo>
                      <a:lnTo>
                        <a:pt x="66" y="133"/>
                      </a:lnTo>
                      <a:lnTo>
                        <a:pt x="52" y="118"/>
                      </a:lnTo>
                      <a:lnTo>
                        <a:pt x="37" y="97"/>
                      </a:lnTo>
                      <a:lnTo>
                        <a:pt x="21" y="74"/>
                      </a:lnTo>
                      <a:lnTo>
                        <a:pt x="10" y="49"/>
                      </a:lnTo>
                      <a:lnTo>
                        <a:pt x="3" y="24"/>
                      </a:lnTo>
                      <a:lnTo>
                        <a:pt x="3" y="0"/>
                      </a:lnTo>
                      <a:lnTo>
                        <a:pt x="2" y="3"/>
                      </a:lnTo>
                      <a:lnTo>
                        <a:pt x="0" y="15"/>
                      </a:lnTo>
                      <a:lnTo>
                        <a:pt x="0" y="34"/>
                      </a:lnTo>
                      <a:lnTo>
                        <a:pt x="4" y="55"/>
                      </a:lnTo>
                      <a:lnTo>
                        <a:pt x="11" y="80"/>
                      </a:lnTo>
                      <a:lnTo>
                        <a:pt x="25" y="103"/>
                      </a:lnTo>
                      <a:lnTo>
                        <a:pt x="48" y="127"/>
                      </a:lnTo>
                      <a:lnTo>
                        <a:pt x="79" y="14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2" name="Freeform 82"/>
                <p:cNvSpPr>
                  <a:spLocks/>
                </p:cNvSpPr>
                <p:nvPr/>
              </p:nvSpPr>
              <p:spPr bwMode="auto">
                <a:xfrm>
                  <a:off x="2589" y="2514"/>
                  <a:ext cx="23" cy="70"/>
                </a:xfrm>
                <a:custGeom>
                  <a:avLst/>
                  <a:gdLst>
                    <a:gd name="T0" fmla="*/ 11 w 95"/>
                    <a:gd name="T1" fmla="*/ 0 h 277"/>
                    <a:gd name="T2" fmla="*/ 7 w 95"/>
                    <a:gd name="T3" fmla="*/ 12 h 277"/>
                    <a:gd name="T4" fmla="*/ 0 w 95"/>
                    <a:gd name="T5" fmla="*/ 42 h 277"/>
                    <a:gd name="T6" fmla="*/ 0 w 95"/>
                    <a:gd name="T7" fmla="*/ 81 h 277"/>
                    <a:gd name="T8" fmla="*/ 13 w 95"/>
                    <a:gd name="T9" fmla="*/ 119 h 277"/>
                    <a:gd name="T10" fmla="*/ 25 w 95"/>
                    <a:gd name="T11" fmla="*/ 139 h 277"/>
                    <a:gd name="T12" fmla="*/ 37 w 95"/>
                    <a:gd name="T13" fmla="*/ 164 h 277"/>
                    <a:gd name="T14" fmla="*/ 49 w 95"/>
                    <a:gd name="T15" fmla="*/ 190 h 277"/>
                    <a:gd name="T16" fmla="*/ 59 w 95"/>
                    <a:gd name="T17" fmla="*/ 215 h 277"/>
                    <a:gd name="T18" fmla="*/ 67 w 95"/>
                    <a:gd name="T19" fmla="*/ 240 h 277"/>
                    <a:gd name="T20" fmla="*/ 74 w 95"/>
                    <a:gd name="T21" fmla="*/ 258 h 277"/>
                    <a:gd name="T22" fmla="*/ 79 w 95"/>
                    <a:gd name="T23" fmla="*/ 271 h 277"/>
                    <a:gd name="T24" fmla="*/ 80 w 95"/>
                    <a:gd name="T25" fmla="*/ 277 h 277"/>
                    <a:gd name="T26" fmla="*/ 95 w 95"/>
                    <a:gd name="T27" fmla="*/ 277 h 277"/>
                    <a:gd name="T28" fmla="*/ 94 w 95"/>
                    <a:gd name="T29" fmla="*/ 271 h 277"/>
                    <a:gd name="T30" fmla="*/ 87 w 95"/>
                    <a:gd name="T31" fmla="*/ 256 h 277"/>
                    <a:gd name="T32" fmla="*/ 79 w 95"/>
                    <a:gd name="T33" fmla="*/ 232 h 277"/>
                    <a:gd name="T34" fmla="*/ 69 w 95"/>
                    <a:gd name="T35" fmla="*/ 206 h 277"/>
                    <a:gd name="T36" fmla="*/ 57 w 95"/>
                    <a:gd name="T37" fmla="*/ 177 h 277"/>
                    <a:gd name="T38" fmla="*/ 44 w 95"/>
                    <a:gd name="T39" fmla="*/ 151 h 277"/>
                    <a:gd name="T40" fmla="*/ 31 w 95"/>
                    <a:gd name="T41" fmla="*/ 128 h 277"/>
                    <a:gd name="T42" fmla="*/ 17 w 95"/>
                    <a:gd name="T43" fmla="*/ 114 h 277"/>
                    <a:gd name="T44" fmla="*/ 15 w 95"/>
                    <a:gd name="T45" fmla="*/ 106 h 277"/>
                    <a:gd name="T46" fmla="*/ 8 w 95"/>
                    <a:gd name="T47" fmla="*/ 84 h 277"/>
                    <a:gd name="T48" fmla="*/ 6 w 95"/>
                    <a:gd name="T49" fmla="*/ 48 h 277"/>
                    <a:gd name="T50" fmla="*/ 11 w 95"/>
                    <a:gd name="T51" fmla="*/ 0 h 2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95" h="277">
                      <a:moveTo>
                        <a:pt x="11" y="0"/>
                      </a:moveTo>
                      <a:lnTo>
                        <a:pt x="7" y="12"/>
                      </a:lnTo>
                      <a:lnTo>
                        <a:pt x="0" y="42"/>
                      </a:lnTo>
                      <a:lnTo>
                        <a:pt x="0" y="81"/>
                      </a:lnTo>
                      <a:lnTo>
                        <a:pt x="13" y="119"/>
                      </a:lnTo>
                      <a:lnTo>
                        <a:pt x="25" y="139"/>
                      </a:lnTo>
                      <a:lnTo>
                        <a:pt x="37" y="164"/>
                      </a:lnTo>
                      <a:lnTo>
                        <a:pt x="49" y="190"/>
                      </a:lnTo>
                      <a:lnTo>
                        <a:pt x="59" y="215"/>
                      </a:lnTo>
                      <a:lnTo>
                        <a:pt x="67" y="240"/>
                      </a:lnTo>
                      <a:lnTo>
                        <a:pt x="74" y="258"/>
                      </a:lnTo>
                      <a:lnTo>
                        <a:pt x="79" y="271"/>
                      </a:lnTo>
                      <a:lnTo>
                        <a:pt x="80" y="277"/>
                      </a:lnTo>
                      <a:lnTo>
                        <a:pt x="95" y="277"/>
                      </a:lnTo>
                      <a:lnTo>
                        <a:pt x="94" y="271"/>
                      </a:lnTo>
                      <a:lnTo>
                        <a:pt x="87" y="256"/>
                      </a:lnTo>
                      <a:lnTo>
                        <a:pt x="79" y="232"/>
                      </a:lnTo>
                      <a:lnTo>
                        <a:pt x="69" y="206"/>
                      </a:lnTo>
                      <a:lnTo>
                        <a:pt x="57" y="177"/>
                      </a:lnTo>
                      <a:lnTo>
                        <a:pt x="44" y="151"/>
                      </a:lnTo>
                      <a:lnTo>
                        <a:pt x="31" y="128"/>
                      </a:lnTo>
                      <a:lnTo>
                        <a:pt x="17" y="114"/>
                      </a:lnTo>
                      <a:lnTo>
                        <a:pt x="15" y="106"/>
                      </a:lnTo>
                      <a:lnTo>
                        <a:pt x="8" y="84"/>
                      </a:lnTo>
                      <a:lnTo>
                        <a:pt x="6" y="48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3" name="Freeform 83"/>
                <p:cNvSpPr>
                  <a:spLocks/>
                </p:cNvSpPr>
                <p:nvPr/>
              </p:nvSpPr>
              <p:spPr bwMode="auto">
                <a:xfrm>
                  <a:off x="2440" y="2448"/>
                  <a:ext cx="68" cy="18"/>
                </a:xfrm>
                <a:custGeom>
                  <a:avLst/>
                  <a:gdLst>
                    <a:gd name="T0" fmla="*/ 0 w 274"/>
                    <a:gd name="T1" fmla="*/ 0 h 71"/>
                    <a:gd name="T2" fmla="*/ 2 w 274"/>
                    <a:gd name="T3" fmla="*/ 0 h 71"/>
                    <a:gd name="T4" fmla="*/ 10 w 274"/>
                    <a:gd name="T5" fmla="*/ 1 h 71"/>
                    <a:gd name="T6" fmla="*/ 21 w 274"/>
                    <a:gd name="T7" fmla="*/ 3 h 71"/>
                    <a:gd name="T8" fmla="*/ 36 w 274"/>
                    <a:gd name="T9" fmla="*/ 4 h 71"/>
                    <a:gd name="T10" fmla="*/ 53 w 274"/>
                    <a:gd name="T11" fmla="*/ 7 h 71"/>
                    <a:gd name="T12" fmla="*/ 73 w 274"/>
                    <a:gd name="T13" fmla="*/ 8 h 71"/>
                    <a:gd name="T14" fmla="*/ 95 w 274"/>
                    <a:gd name="T15" fmla="*/ 10 h 71"/>
                    <a:gd name="T16" fmla="*/ 118 w 274"/>
                    <a:gd name="T17" fmla="*/ 13 h 71"/>
                    <a:gd name="T18" fmla="*/ 140 w 274"/>
                    <a:gd name="T19" fmla="*/ 16 h 71"/>
                    <a:gd name="T20" fmla="*/ 162 w 274"/>
                    <a:gd name="T21" fmla="*/ 18 h 71"/>
                    <a:gd name="T22" fmla="*/ 183 w 274"/>
                    <a:gd name="T23" fmla="*/ 21 h 71"/>
                    <a:gd name="T24" fmla="*/ 204 w 274"/>
                    <a:gd name="T25" fmla="*/ 24 h 71"/>
                    <a:gd name="T26" fmla="*/ 221 w 274"/>
                    <a:gd name="T27" fmla="*/ 26 h 71"/>
                    <a:gd name="T28" fmla="*/ 237 w 274"/>
                    <a:gd name="T29" fmla="*/ 29 h 71"/>
                    <a:gd name="T30" fmla="*/ 248 w 274"/>
                    <a:gd name="T31" fmla="*/ 30 h 71"/>
                    <a:gd name="T32" fmla="*/ 256 w 274"/>
                    <a:gd name="T33" fmla="*/ 31 h 71"/>
                    <a:gd name="T34" fmla="*/ 258 w 274"/>
                    <a:gd name="T35" fmla="*/ 34 h 71"/>
                    <a:gd name="T36" fmla="*/ 263 w 274"/>
                    <a:gd name="T37" fmla="*/ 41 h 71"/>
                    <a:gd name="T38" fmla="*/ 270 w 274"/>
                    <a:gd name="T39" fmla="*/ 52 h 71"/>
                    <a:gd name="T40" fmla="*/ 274 w 274"/>
                    <a:gd name="T41" fmla="*/ 71 h 71"/>
                    <a:gd name="T42" fmla="*/ 271 w 274"/>
                    <a:gd name="T43" fmla="*/ 67 h 71"/>
                    <a:gd name="T44" fmla="*/ 265 w 274"/>
                    <a:gd name="T45" fmla="*/ 56 h 71"/>
                    <a:gd name="T46" fmla="*/ 257 w 274"/>
                    <a:gd name="T47" fmla="*/ 47 h 71"/>
                    <a:gd name="T48" fmla="*/ 250 w 274"/>
                    <a:gd name="T49" fmla="*/ 42 h 71"/>
                    <a:gd name="T50" fmla="*/ 6 w 274"/>
                    <a:gd name="T51" fmla="*/ 14 h 71"/>
                    <a:gd name="T52" fmla="*/ 0 w 274"/>
                    <a:gd name="T53" fmla="*/ 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74" h="71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10" y="1"/>
                      </a:lnTo>
                      <a:lnTo>
                        <a:pt x="21" y="3"/>
                      </a:lnTo>
                      <a:lnTo>
                        <a:pt x="36" y="4"/>
                      </a:lnTo>
                      <a:lnTo>
                        <a:pt x="53" y="7"/>
                      </a:lnTo>
                      <a:lnTo>
                        <a:pt x="73" y="8"/>
                      </a:lnTo>
                      <a:lnTo>
                        <a:pt x="95" y="10"/>
                      </a:lnTo>
                      <a:lnTo>
                        <a:pt x="118" y="13"/>
                      </a:lnTo>
                      <a:lnTo>
                        <a:pt x="140" y="16"/>
                      </a:lnTo>
                      <a:lnTo>
                        <a:pt x="162" y="18"/>
                      </a:lnTo>
                      <a:lnTo>
                        <a:pt x="183" y="21"/>
                      </a:lnTo>
                      <a:lnTo>
                        <a:pt x="204" y="24"/>
                      </a:lnTo>
                      <a:lnTo>
                        <a:pt x="221" y="26"/>
                      </a:lnTo>
                      <a:lnTo>
                        <a:pt x="237" y="29"/>
                      </a:lnTo>
                      <a:lnTo>
                        <a:pt x="248" y="30"/>
                      </a:lnTo>
                      <a:lnTo>
                        <a:pt x="256" y="31"/>
                      </a:lnTo>
                      <a:lnTo>
                        <a:pt x="258" y="34"/>
                      </a:lnTo>
                      <a:lnTo>
                        <a:pt x="263" y="41"/>
                      </a:lnTo>
                      <a:lnTo>
                        <a:pt x="270" y="52"/>
                      </a:lnTo>
                      <a:lnTo>
                        <a:pt x="274" y="71"/>
                      </a:lnTo>
                      <a:lnTo>
                        <a:pt x="271" y="67"/>
                      </a:lnTo>
                      <a:lnTo>
                        <a:pt x="265" y="56"/>
                      </a:lnTo>
                      <a:lnTo>
                        <a:pt x="257" y="47"/>
                      </a:lnTo>
                      <a:lnTo>
                        <a:pt x="250" y="42"/>
                      </a:lnTo>
                      <a:lnTo>
                        <a:pt x="6" y="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4" name="Freeform 84"/>
                <p:cNvSpPr>
                  <a:spLocks/>
                </p:cNvSpPr>
                <p:nvPr/>
              </p:nvSpPr>
              <p:spPr bwMode="auto">
                <a:xfrm>
                  <a:off x="2630" y="2435"/>
                  <a:ext cx="50" cy="32"/>
                </a:xfrm>
                <a:custGeom>
                  <a:avLst/>
                  <a:gdLst>
                    <a:gd name="T0" fmla="*/ 192 w 203"/>
                    <a:gd name="T1" fmla="*/ 57 h 126"/>
                    <a:gd name="T2" fmla="*/ 186 w 203"/>
                    <a:gd name="T3" fmla="*/ 54 h 126"/>
                    <a:gd name="T4" fmla="*/ 169 w 203"/>
                    <a:gd name="T5" fmla="*/ 49 h 126"/>
                    <a:gd name="T6" fmla="*/ 144 w 203"/>
                    <a:gd name="T7" fmla="*/ 40 h 126"/>
                    <a:gd name="T8" fmla="*/ 113 w 203"/>
                    <a:gd name="T9" fmla="*/ 29 h 126"/>
                    <a:gd name="T10" fmla="*/ 83 w 203"/>
                    <a:gd name="T11" fmla="*/ 19 h 126"/>
                    <a:gd name="T12" fmla="*/ 54 w 203"/>
                    <a:gd name="T13" fmla="*/ 11 h 126"/>
                    <a:gd name="T14" fmla="*/ 31 w 203"/>
                    <a:gd name="T15" fmla="*/ 3 h 126"/>
                    <a:gd name="T16" fmla="*/ 16 w 203"/>
                    <a:gd name="T17" fmla="*/ 0 h 126"/>
                    <a:gd name="T18" fmla="*/ 12 w 203"/>
                    <a:gd name="T19" fmla="*/ 12 h 126"/>
                    <a:gd name="T20" fmla="*/ 6 w 203"/>
                    <a:gd name="T21" fmla="*/ 41 h 126"/>
                    <a:gd name="T22" fmla="*/ 0 w 203"/>
                    <a:gd name="T23" fmla="*/ 82 h 126"/>
                    <a:gd name="T24" fmla="*/ 6 w 203"/>
                    <a:gd name="T25" fmla="*/ 126 h 126"/>
                    <a:gd name="T26" fmla="*/ 6 w 203"/>
                    <a:gd name="T27" fmla="*/ 115 h 126"/>
                    <a:gd name="T28" fmla="*/ 7 w 203"/>
                    <a:gd name="T29" fmla="*/ 84 h 126"/>
                    <a:gd name="T30" fmla="*/ 12 w 203"/>
                    <a:gd name="T31" fmla="*/ 49 h 126"/>
                    <a:gd name="T32" fmla="*/ 24 w 203"/>
                    <a:gd name="T33" fmla="*/ 18 h 126"/>
                    <a:gd name="T34" fmla="*/ 193 w 203"/>
                    <a:gd name="T35" fmla="*/ 70 h 126"/>
                    <a:gd name="T36" fmla="*/ 197 w 203"/>
                    <a:gd name="T37" fmla="*/ 70 h 126"/>
                    <a:gd name="T38" fmla="*/ 203 w 203"/>
                    <a:gd name="T39" fmla="*/ 69 h 126"/>
                    <a:gd name="T40" fmla="*/ 203 w 203"/>
                    <a:gd name="T41" fmla="*/ 65 h 126"/>
                    <a:gd name="T42" fmla="*/ 192 w 203"/>
                    <a:gd name="T43" fmla="*/ 57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03" h="126">
                      <a:moveTo>
                        <a:pt x="192" y="57"/>
                      </a:moveTo>
                      <a:lnTo>
                        <a:pt x="186" y="54"/>
                      </a:lnTo>
                      <a:lnTo>
                        <a:pt x="169" y="49"/>
                      </a:lnTo>
                      <a:lnTo>
                        <a:pt x="144" y="40"/>
                      </a:lnTo>
                      <a:lnTo>
                        <a:pt x="113" y="29"/>
                      </a:lnTo>
                      <a:lnTo>
                        <a:pt x="83" y="19"/>
                      </a:lnTo>
                      <a:lnTo>
                        <a:pt x="54" y="11"/>
                      </a:lnTo>
                      <a:lnTo>
                        <a:pt x="31" y="3"/>
                      </a:lnTo>
                      <a:lnTo>
                        <a:pt x="16" y="0"/>
                      </a:lnTo>
                      <a:lnTo>
                        <a:pt x="12" y="12"/>
                      </a:lnTo>
                      <a:lnTo>
                        <a:pt x="6" y="41"/>
                      </a:lnTo>
                      <a:lnTo>
                        <a:pt x="0" y="82"/>
                      </a:lnTo>
                      <a:lnTo>
                        <a:pt x="6" y="126"/>
                      </a:lnTo>
                      <a:lnTo>
                        <a:pt x="6" y="115"/>
                      </a:lnTo>
                      <a:lnTo>
                        <a:pt x="7" y="84"/>
                      </a:lnTo>
                      <a:lnTo>
                        <a:pt x="12" y="49"/>
                      </a:lnTo>
                      <a:lnTo>
                        <a:pt x="24" y="18"/>
                      </a:lnTo>
                      <a:lnTo>
                        <a:pt x="193" y="70"/>
                      </a:lnTo>
                      <a:lnTo>
                        <a:pt x="197" y="70"/>
                      </a:lnTo>
                      <a:lnTo>
                        <a:pt x="203" y="69"/>
                      </a:lnTo>
                      <a:lnTo>
                        <a:pt x="203" y="65"/>
                      </a:lnTo>
                      <a:lnTo>
                        <a:pt x="192" y="5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5" name="Freeform 85"/>
                <p:cNvSpPr>
                  <a:spLocks/>
                </p:cNvSpPr>
                <p:nvPr/>
              </p:nvSpPr>
              <p:spPr bwMode="auto">
                <a:xfrm>
                  <a:off x="2717" y="2620"/>
                  <a:ext cx="17" cy="46"/>
                </a:xfrm>
                <a:custGeom>
                  <a:avLst/>
                  <a:gdLst>
                    <a:gd name="T0" fmla="*/ 69 w 69"/>
                    <a:gd name="T1" fmla="*/ 15 h 185"/>
                    <a:gd name="T2" fmla="*/ 44 w 69"/>
                    <a:gd name="T3" fmla="*/ 185 h 185"/>
                    <a:gd name="T4" fmla="*/ 0 w 69"/>
                    <a:gd name="T5" fmla="*/ 185 h 185"/>
                    <a:gd name="T6" fmla="*/ 29 w 69"/>
                    <a:gd name="T7" fmla="*/ 0 h 185"/>
                    <a:gd name="T8" fmla="*/ 69 w 69"/>
                    <a:gd name="T9" fmla="*/ 15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85">
                      <a:moveTo>
                        <a:pt x="69" y="15"/>
                      </a:moveTo>
                      <a:lnTo>
                        <a:pt x="44" y="185"/>
                      </a:lnTo>
                      <a:lnTo>
                        <a:pt x="0" y="185"/>
                      </a:lnTo>
                      <a:lnTo>
                        <a:pt x="29" y="0"/>
                      </a:lnTo>
                      <a:lnTo>
                        <a:pt x="69" y="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6" name="Freeform 86"/>
                <p:cNvSpPr>
                  <a:spLocks/>
                </p:cNvSpPr>
                <p:nvPr/>
              </p:nvSpPr>
              <p:spPr bwMode="auto">
                <a:xfrm>
                  <a:off x="2686" y="2614"/>
                  <a:ext cx="17" cy="46"/>
                </a:xfrm>
                <a:custGeom>
                  <a:avLst/>
                  <a:gdLst>
                    <a:gd name="T0" fmla="*/ 68 w 68"/>
                    <a:gd name="T1" fmla="*/ 15 h 184"/>
                    <a:gd name="T2" fmla="*/ 43 w 68"/>
                    <a:gd name="T3" fmla="*/ 184 h 184"/>
                    <a:gd name="T4" fmla="*/ 0 w 68"/>
                    <a:gd name="T5" fmla="*/ 184 h 184"/>
                    <a:gd name="T6" fmla="*/ 28 w 68"/>
                    <a:gd name="T7" fmla="*/ 0 h 184"/>
                    <a:gd name="T8" fmla="*/ 68 w 68"/>
                    <a:gd name="T9" fmla="*/ 15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8" h="184">
                      <a:moveTo>
                        <a:pt x="68" y="15"/>
                      </a:moveTo>
                      <a:lnTo>
                        <a:pt x="43" y="184"/>
                      </a:lnTo>
                      <a:lnTo>
                        <a:pt x="0" y="184"/>
                      </a:lnTo>
                      <a:lnTo>
                        <a:pt x="28" y="0"/>
                      </a:lnTo>
                      <a:lnTo>
                        <a:pt x="68" y="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7" name="Freeform 87"/>
                <p:cNvSpPr>
                  <a:spLocks/>
                </p:cNvSpPr>
                <p:nvPr/>
              </p:nvSpPr>
              <p:spPr bwMode="auto">
                <a:xfrm>
                  <a:off x="2610" y="2657"/>
                  <a:ext cx="138" cy="48"/>
                </a:xfrm>
                <a:custGeom>
                  <a:avLst/>
                  <a:gdLst>
                    <a:gd name="T0" fmla="*/ 251 w 554"/>
                    <a:gd name="T1" fmla="*/ 0 h 194"/>
                    <a:gd name="T2" fmla="*/ 254 w 554"/>
                    <a:gd name="T3" fmla="*/ 0 h 194"/>
                    <a:gd name="T4" fmla="*/ 262 w 554"/>
                    <a:gd name="T5" fmla="*/ 1 h 194"/>
                    <a:gd name="T6" fmla="*/ 275 w 554"/>
                    <a:gd name="T7" fmla="*/ 3 h 194"/>
                    <a:gd name="T8" fmla="*/ 292 w 554"/>
                    <a:gd name="T9" fmla="*/ 5 h 194"/>
                    <a:gd name="T10" fmla="*/ 312 w 554"/>
                    <a:gd name="T11" fmla="*/ 8 h 194"/>
                    <a:gd name="T12" fmla="*/ 334 w 554"/>
                    <a:gd name="T13" fmla="*/ 11 h 194"/>
                    <a:gd name="T14" fmla="*/ 359 w 554"/>
                    <a:gd name="T15" fmla="*/ 15 h 194"/>
                    <a:gd name="T16" fmla="*/ 385 w 554"/>
                    <a:gd name="T17" fmla="*/ 17 h 194"/>
                    <a:gd name="T18" fmla="*/ 411 w 554"/>
                    <a:gd name="T19" fmla="*/ 21 h 194"/>
                    <a:gd name="T20" fmla="*/ 438 w 554"/>
                    <a:gd name="T21" fmla="*/ 26 h 194"/>
                    <a:gd name="T22" fmla="*/ 463 w 554"/>
                    <a:gd name="T23" fmla="*/ 30 h 194"/>
                    <a:gd name="T24" fmla="*/ 486 w 554"/>
                    <a:gd name="T25" fmla="*/ 36 h 194"/>
                    <a:gd name="T26" fmla="*/ 508 w 554"/>
                    <a:gd name="T27" fmla="*/ 39 h 194"/>
                    <a:gd name="T28" fmla="*/ 527 w 554"/>
                    <a:gd name="T29" fmla="*/ 45 h 194"/>
                    <a:gd name="T30" fmla="*/ 543 w 554"/>
                    <a:gd name="T31" fmla="*/ 49 h 194"/>
                    <a:gd name="T32" fmla="*/ 554 w 554"/>
                    <a:gd name="T33" fmla="*/ 54 h 194"/>
                    <a:gd name="T34" fmla="*/ 552 w 554"/>
                    <a:gd name="T35" fmla="*/ 64 h 194"/>
                    <a:gd name="T36" fmla="*/ 544 w 554"/>
                    <a:gd name="T37" fmla="*/ 87 h 194"/>
                    <a:gd name="T38" fmla="*/ 535 w 554"/>
                    <a:gd name="T39" fmla="*/ 113 h 194"/>
                    <a:gd name="T40" fmla="*/ 526 w 554"/>
                    <a:gd name="T41" fmla="*/ 131 h 194"/>
                    <a:gd name="T42" fmla="*/ 522 w 554"/>
                    <a:gd name="T43" fmla="*/ 133 h 194"/>
                    <a:gd name="T44" fmla="*/ 512 w 554"/>
                    <a:gd name="T45" fmla="*/ 134 h 194"/>
                    <a:gd name="T46" fmla="*/ 497 w 554"/>
                    <a:gd name="T47" fmla="*/ 137 h 194"/>
                    <a:gd name="T48" fmla="*/ 477 w 554"/>
                    <a:gd name="T49" fmla="*/ 141 h 194"/>
                    <a:gd name="T50" fmla="*/ 455 w 554"/>
                    <a:gd name="T51" fmla="*/ 146 h 194"/>
                    <a:gd name="T52" fmla="*/ 427 w 554"/>
                    <a:gd name="T53" fmla="*/ 151 h 194"/>
                    <a:gd name="T54" fmla="*/ 400 w 554"/>
                    <a:gd name="T55" fmla="*/ 158 h 194"/>
                    <a:gd name="T56" fmla="*/ 371 w 554"/>
                    <a:gd name="T57" fmla="*/ 163 h 194"/>
                    <a:gd name="T58" fmla="*/ 340 w 554"/>
                    <a:gd name="T59" fmla="*/ 168 h 194"/>
                    <a:gd name="T60" fmla="*/ 312 w 554"/>
                    <a:gd name="T61" fmla="*/ 175 h 194"/>
                    <a:gd name="T62" fmla="*/ 284 w 554"/>
                    <a:gd name="T63" fmla="*/ 180 h 194"/>
                    <a:gd name="T64" fmla="*/ 259 w 554"/>
                    <a:gd name="T65" fmla="*/ 184 h 194"/>
                    <a:gd name="T66" fmla="*/ 237 w 554"/>
                    <a:gd name="T67" fmla="*/ 189 h 194"/>
                    <a:gd name="T68" fmla="*/ 220 w 554"/>
                    <a:gd name="T69" fmla="*/ 192 h 194"/>
                    <a:gd name="T70" fmla="*/ 207 w 554"/>
                    <a:gd name="T71" fmla="*/ 193 h 194"/>
                    <a:gd name="T72" fmla="*/ 200 w 554"/>
                    <a:gd name="T73" fmla="*/ 194 h 194"/>
                    <a:gd name="T74" fmla="*/ 185 w 554"/>
                    <a:gd name="T75" fmla="*/ 194 h 194"/>
                    <a:gd name="T76" fmla="*/ 161 w 554"/>
                    <a:gd name="T77" fmla="*/ 193 h 194"/>
                    <a:gd name="T78" fmla="*/ 128 w 554"/>
                    <a:gd name="T79" fmla="*/ 192 h 194"/>
                    <a:gd name="T80" fmla="*/ 92 w 554"/>
                    <a:gd name="T81" fmla="*/ 189 h 194"/>
                    <a:gd name="T82" fmla="*/ 58 w 554"/>
                    <a:gd name="T83" fmla="*/ 188 h 194"/>
                    <a:gd name="T84" fmla="*/ 29 w 554"/>
                    <a:gd name="T85" fmla="*/ 186 h 194"/>
                    <a:gd name="T86" fmla="*/ 8 w 554"/>
                    <a:gd name="T87" fmla="*/ 185 h 194"/>
                    <a:gd name="T88" fmla="*/ 0 w 554"/>
                    <a:gd name="T89" fmla="*/ 185 h 194"/>
                    <a:gd name="T90" fmla="*/ 2 w 554"/>
                    <a:gd name="T91" fmla="*/ 183 h 194"/>
                    <a:gd name="T92" fmla="*/ 7 w 554"/>
                    <a:gd name="T93" fmla="*/ 177 h 194"/>
                    <a:gd name="T94" fmla="*/ 13 w 554"/>
                    <a:gd name="T95" fmla="*/ 168 h 194"/>
                    <a:gd name="T96" fmla="*/ 24 w 554"/>
                    <a:gd name="T97" fmla="*/ 156 h 194"/>
                    <a:gd name="T98" fmla="*/ 36 w 554"/>
                    <a:gd name="T99" fmla="*/ 143 h 194"/>
                    <a:gd name="T100" fmla="*/ 50 w 554"/>
                    <a:gd name="T101" fmla="*/ 127 h 194"/>
                    <a:gd name="T102" fmla="*/ 66 w 554"/>
                    <a:gd name="T103" fmla="*/ 112 h 194"/>
                    <a:gd name="T104" fmla="*/ 84 w 554"/>
                    <a:gd name="T105" fmla="*/ 95 h 194"/>
                    <a:gd name="T106" fmla="*/ 103 w 554"/>
                    <a:gd name="T107" fmla="*/ 78 h 194"/>
                    <a:gd name="T108" fmla="*/ 122 w 554"/>
                    <a:gd name="T109" fmla="*/ 60 h 194"/>
                    <a:gd name="T110" fmla="*/ 143 w 554"/>
                    <a:gd name="T111" fmla="*/ 45 h 194"/>
                    <a:gd name="T112" fmla="*/ 164 w 554"/>
                    <a:gd name="T113" fmla="*/ 30 h 194"/>
                    <a:gd name="T114" fmla="*/ 187 w 554"/>
                    <a:gd name="T115" fmla="*/ 18 h 194"/>
                    <a:gd name="T116" fmla="*/ 208 w 554"/>
                    <a:gd name="T117" fmla="*/ 9 h 194"/>
                    <a:gd name="T118" fmla="*/ 230 w 554"/>
                    <a:gd name="T119" fmla="*/ 3 h 194"/>
                    <a:gd name="T120" fmla="*/ 251 w 554"/>
                    <a:gd name="T121" fmla="*/ 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554" h="194">
                      <a:moveTo>
                        <a:pt x="251" y="0"/>
                      </a:moveTo>
                      <a:lnTo>
                        <a:pt x="254" y="0"/>
                      </a:lnTo>
                      <a:lnTo>
                        <a:pt x="262" y="1"/>
                      </a:lnTo>
                      <a:lnTo>
                        <a:pt x="275" y="3"/>
                      </a:lnTo>
                      <a:lnTo>
                        <a:pt x="292" y="5"/>
                      </a:lnTo>
                      <a:lnTo>
                        <a:pt x="312" y="8"/>
                      </a:lnTo>
                      <a:lnTo>
                        <a:pt x="334" y="11"/>
                      </a:lnTo>
                      <a:lnTo>
                        <a:pt x="359" y="15"/>
                      </a:lnTo>
                      <a:lnTo>
                        <a:pt x="385" y="17"/>
                      </a:lnTo>
                      <a:lnTo>
                        <a:pt x="411" y="21"/>
                      </a:lnTo>
                      <a:lnTo>
                        <a:pt x="438" y="26"/>
                      </a:lnTo>
                      <a:lnTo>
                        <a:pt x="463" y="30"/>
                      </a:lnTo>
                      <a:lnTo>
                        <a:pt x="486" y="36"/>
                      </a:lnTo>
                      <a:lnTo>
                        <a:pt x="508" y="39"/>
                      </a:lnTo>
                      <a:lnTo>
                        <a:pt x="527" y="45"/>
                      </a:lnTo>
                      <a:lnTo>
                        <a:pt x="543" y="49"/>
                      </a:lnTo>
                      <a:lnTo>
                        <a:pt x="554" y="54"/>
                      </a:lnTo>
                      <a:lnTo>
                        <a:pt x="552" y="64"/>
                      </a:lnTo>
                      <a:lnTo>
                        <a:pt x="544" y="87"/>
                      </a:lnTo>
                      <a:lnTo>
                        <a:pt x="535" y="113"/>
                      </a:lnTo>
                      <a:lnTo>
                        <a:pt x="526" y="131"/>
                      </a:lnTo>
                      <a:lnTo>
                        <a:pt x="522" y="133"/>
                      </a:lnTo>
                      <a:lnTo>
                        <a:pt x="512" y="134"/>
                      </a:lnTo>
                      <a:lnTo>
                        <a:pt x="497" y="137"/>
                      </a:lnTo>
                      <a:lnTo>
                        <a:pt x="477" y="141"/>
                      </a:lnTo>
                      <a:lnTo>
                        <a:pt x="455" y="146"/>
                      </a:lnTo>
                      <a:lnTo>
                        <a:pt x="427" y="151"/>
                      </a:lnTo>
                      <a:lnTo>
                        <a:pt x="400" y="158"/>
                      </a:lnTo>
                      <a:lnTo>
                        <a:pt x="371" y="163"/>
                      </a:lnTo>
                      <a:lnTo>
                        <a:pt x="340" y="168"/>
                      </a:lnTo>
                      <a:lnTo>
                        <a:pt x="312" y="175"/>
                      </a:lnTo>
                      <a:lnTo>
                        <a:pt x="284" y="180"/>
                      </a:lnTo>
                      <a:lnTo>
                        <a:pt x="259" y="184"/>
                      </a:lnTo>
                      <a:lnTo>
                        <a:pt x="237" y="189"/>
                      </a:lnTo>
                      <a:lnTo>
                        <a:pt x="220" y="192"/>
                      </a:lnTo>
                      <a:lnTo>
                        <a:pt x="207" y="193"/>
                      </a:lnTo>
                      <a:lnTo>
                        <a:pt x="200" y="194"/>
                      </a:lnTo>
                      <a:lnTo>
                        <a:pt x="185" y="194"/>
                      </a:lnTo>
                      <a:lnTo>
                        <a:pt x="161" y="193"/>
                      </a:lnTo>
                      <a:lnTo>
                        <a:pt x="128" y="192"/>
                      </a:lnTo>
                      <a:lnTo>
                        <a:pt x="92" y="189"/>
                      </a:lnTo>
                      <a:lnTo>
                        <a:pt x="58" y="188"/>
                      </a:lnTo>
                      <a:lnTo>
                        <a:pt x="29" y="186"/>
                      </a:lnTo>
                      <a:lnTo>
                        <a:pt x="8" y="185"/>
                      </a:lnTo>
                      <a:lnTo>
                        <a:pt x="0" y="185"/>
                      </a:lnTo>
                      <a:lnTo>
                        <a:pt x="2" y="183"/>
                      </a:lnTo>
                      <a:lnTo>
                        <a:pt x="7" y="177"/>
                      </a:lnTo>
                      <a:lnTo>
                        <a:pt x="13" y="168"/>
                      </a:lnTo>
                      <a:lnTo>
                        <a:pt x="24" y="156"/>
                      </a:lnTo>
                      <a:lnTo>
                        <a:pt x="36" y="143"/>
                      </a:lnTo>
                      <a:lnTo>
                        <a:pt x="50" y="127"/>
                      </a:lnTo>
                      <a:lnTo>
                        <a:pt x="66" y="112"/>
                      </a:lnTo>
                      <a:lnTo>
                        <a:pt x="84" y="95"/>
                      </a:lnTo>
                      <a:lnTo>
                        <a:pt x="103" y="78"/>
                      </a:lnTo>
                      <a:lnTo>
                        <a:pt x="122" y="60"/>
                      </a:lnTo>
                      <a:lnTo>
                        <a:pt x="143" y="45"/>
                      </a:lnTo>
                      <a:lnTo>
                        <a:pt x="164" y="30"/>
                      </a:lnTo>
                      <a:lnTo>
                        <a:pt x="187" y="18"/>
                      </a:lnTo>
                      <a:lnTo>
                        <a:pt x="208" y="9"/>
                      </a:lnTo>
                      <a:lnTo>
                        <a:pt x="230" y="3"/>
                      </a:lnTo>
                      <a:lnTo>
                        <a:pt x="25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8" name="Freeform 88"/>
                <p:cNvSpPr>
                  <a:spLocks/>
                </p:cNvSpPr>
                <p:nvPr/>
              </p:nvSpPr>
              <p:spPr bwMode="auto">
                <a:xfrm>
                  <a:off x="2628" y="2665"/>
                  <a:ext cx="106" cy="31"/>
                </a:xfrm>
                <a:custGeom>
                  <a:avLst/>
                  <a:gdLst>
                    <a:gd name="T0" fmla="*/ 423 w 423"/>
                    <a:gd name="T1" fmla="*/ 29 h 122"/>
                    <a:gd name="T2" fmla="*/ 408 w 423"/>
                    <a:gd name="T3" fmla="*/ 63 h 122"/>
                    <a:gd name="T4" fmla="*/ 140 w 423"/>
                    <a:gd name="T5" fmla="*/ 122 h 122"/>
                    <a:gd name="T6" fmla="*/ 0 w 423"/>
                    <a:gd name="T7" fmla="*/ 103 h 122"/>
                    <a:gd name="T8" fmla="*/ 3 w 423"/>
                    <a:gd name="T9" fmla="*/ 100 h 122"/>
                    <a:gd name="T10" fmla="*/ 10 w 423"/>
                    <a:gd name="T11" fmla="*/ 92 h 122"/>
                    <a:gd name="T12" fmla="*/ 24 w 423"/>
                    <a:gd name="T13" fmla="*/ 80 h 122"/>
                    <a:gd name="T14" fmla="*/ 38 w 423"/>
                    <a:gd name="T15" fmla="*/ 66 h 122"/>
                    <a:gd name="T16" fmla="*/ 55 w 423"/>
                    <a:gd name="T17" fmla="*/ 51 h 122"/>
                    <a:gd name="T18" fmla="*/ 73 w 423"/>
                    <a:gd name="T19" fmla="*/ 38 h 122"/>
                    <a:gd name="T20" fmla="*/ 92 w 423"/>
                    <a:gd name="T21" fmla="*/ 28 h 122"/>
                    <a:gd name="T22" fmla="*/ 108 w 423"/>
                    <a:gd name="T23" fmla="*/ 20 h 122"/>
                    <a:gd name="T24" fmla="*/ 125 w 423"/>
                    <a:gd name="T25" fmla="*/ 15 h 122"/>
                    <a:gd name="T26" fmla="*/ 143 w 423"/>
                    <a:gd name="T27" fmla="*/ 11 h 122"/>
                    <a:gd name="T28" fmla="*/ 163 w 423"/>
                    <a:gd name="T29" fmla="*/ 7 h 122"/>
                    <a:gd name="T30" fmla="*/ 181 w 423"/>
                    <a:gd name="T31" fmla="*/ 4 h 122"/>
                    <a:gd name="T32" fmla="*/ 198 w 423"/>
                    <a:gd name="T33" fmla="*/ 3 h 122"/>
                    <a:gd name="T34" fmla="*/ 211 w 423"/>
                    <a:gd name="T35" fmla="*/ 2 h 122"/>
                    <a:gd name="T36" fmla="*/ 220 w 423"/>
                    <a:gd name="T37" fmla="*/ 0 h 122"/>
                    <a:gd name="T38" fmla="*/ 223 w 423"/>
                    <a:gd name="T39" fmla="*/ 0 h 122"/>
                    <a:gd name="T40" fmla="*/ 230 w 423"/>
                    <a:gd name="T41" fmla="*/ 0 h 122"/>
                    <a:gd name="T42" fmla="*/ 249 w 423"/>
                    <a:gd name="T43" fmla="*/ 2 h 122"/>
                    <a:gd name="T44" fmla="*/ 277 w 423"/>
                    <a:gd name="T45" fmla="*/ 4 h 122"/>
                    <a:gd name="T46" fmla="*/ 310 w 423"/>
                    <a:gd name="T47" fmla="*/ 7 h 122"/>
                    <a:gd name="T48" fmla="*/ 344 w 423"/>
                    <a:gd name="T49" fmla="*/ 11 h 122"/>
                    <a:gd name="T50" fmla="*/ 377 w 423"/>
                    <a:gd name="T51" fmla="*/ 16 h 122"/>
                    <a:gd name="T52" fmla="*/ 404 w 423"/>
                    <a:gd name="T53" fmla="*/ 23 h 122"/>
                    <a:gd name="T54" fmla="*/ 423 w 423"/>
                    <a:gd name="T55" fmla="*/ 29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23" h="122">
                      <a:moveTo>
                        <a:pt x="423" y="29"/>
                      </a:moveTo>
                      <a:lnTo>
                        <a:pt x="408" y="63"/>
                      </a:lnTo>
                      <a:lnTo>
                        <a:pt x="140" y="122"/>
                      </a:lnTo>
                      <a:lnTo>
                        <a:pt x="0" y="103"/>
                      </a:lnTo>
                      <a:lnTo>
                        <a:pt x="3" y="100"/>
                      </a:lnTo>
                      <a:lnTo>
                        <a:pt x="10" y="92"/>
                      </a:lnTo>
                      <a:lnTo>
                        <a:pt x="24" y="80"/>
                      </a:lnTo>
                      <a:lnTo>
                        <a:pt x="38" y="66"/>
                      </a:lnTo>
                      <a:lnTo>
                        <a:pt x="55" y="51"/>
                      </a:lnTo>
                      <a:lnTo>
                        <a:pt x="73" y="38"/>
                      </a:lnTo>
                      <a:lnTo>
                        <a:pt x="92" y="28"/>
                      </a:lnTo>
                      <a:lnTo>
                        <a:pt x="108" y="20"/>
                      </a:lnTo>
                      <a:lnTo>
                        <a:pt x="125" y="15"/>
                      </a:lnTo>
                      <a:lnTo>
                        <a:pt x="143" y="11"/>
                      </a:lnTo>
                      <a:lnTo>
                        <a:pt x="163" y="7"/>
                      </a:lnTo>
                      <a:lnTo>
                        <a:pt x="181" y="4"/>
                      </a:lnTo>
                      <a:lnTo>
                        <a:pt x="198" y="3"/>
                      </a:lnTo>
                      <a:lnTo>
                        <a:pt x="211" y="2"/>
                      </a:lnTo>
                      <a:lnTo>
                        <a:pt x="220" y="0"/>
                      </a:lnTo>
                      <a:lnTo>
                        <a:pt x="223" y="0"/>
                      </a:lnTo>
                      <a:lnTo>
                        <a:pt x="230" y="0"/>
                      </a:lnTo>
                      <a:lnTo>
                        <a:pt x="249" y="2"/>
                      </a:lnTo>
                      <a:lnTo>
                        <a:pt x="277" y="4"/>
                      </a:lnTo>
                      <a:lnTo>
                        <a:pt x="310" y="7"/>
                      </a:lnTo>
                      <a:lnTo>
                        <a:pt x="344" y="11"/>
                      </a:lnTo>
                      <a:lnTo>
                        <a:pt x="377" y="16"/>
                      </a:lnTo>
                      <a:lnTo>
                        <a:pt x="404" y="23"/>
                      </a:lnTo>
                      <a:lnTo>
                        <a:pt x="423" y="2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9" name="Freeform 89"/>
                <p:cNvSpPr>
                  <a:spLocks/>
                </p:cNvSpPr>
                <p:nvPr/>
              </p:nvSpPr>
              <p:spPr bwMode="auto">
                <a:xfrm>
                  <a:off x="2677" y="2502"/>
                  <a:ext cx="100" cy="128"/>
                </a:xfrm>
                <a:custGeom>
                  <a:avLst/>
                  <a:gdLst>
                    <a:gd name="T0" fmla="*/ 403 w 403"/>
                    <a:gd name="T1" fmla="*/ 53 h 511"/>
                    <a:gd name="T2" fmla="*/ 402 w 403"/>
                    <a:gd name="T3" fmla="*/ 67 h 511"/>
                    <a:gd name="T4" fmla="*/ 401 w 403"/>
                    <a:gd name="T5" fmla="*/ 104 h 511"/>
                    <a:gd name="T6" fmla="*/ 397 w 403"/>
                    <a:gd name="T7" fmla="*/ 160 h 511"/>
                    <a:gd name="T8" fmla="*/ 390 w 403"/>
                    <a:gd name="T9" fmla="*/ 227 h 511"/>
                    <a:gd name="T10" fmla="*/ 382 w 403"/>
                    <a:gd name="T11" fmla="*/ 299 h 511"/>
                    <a:gd name="T12" fmla="*/ 372 w 403"/>
                    <a:gd name="T13" fmla="*/ 372 h 511"/>
                    <a:gd name="T14" fmla="*/ 357 w 403"/>
                    <a:gd name="T15" fmla="*/ 439 h 511"/>
                    <a:gd name="T16" fmla="*/ 340 w 403"/>
                    <a:gd name="T17" fmla="*/ 491 h 511"/>
                    <a:gd name="T18" fmla="*/ 338 w 403"/>
                    <a:gd name="T19" fmla="*/ 494 h 511"/>
                    <a:gd name="T20" fmla="*/ 330 w 403"/>
                    <a:gd name="T21" fmla="*/ 499 h 511"/>
                    <a:gd name="T22" fmla="*/ 318 w 403"/>
                    <a:gd name="T23" fmla="*/ 506 h 511"/>
                    <a:gd name="T24" fmla="*/ 302 w 403"/>
                    <a:gd name="T25" fmla="*/ 511 h 511"/>
                    <a:gd name="T26" fmla="*/ 297 w 403"/>
                    <a:gd name="T27" fmla="*/ 511 h 511"/>
                    <a:gd name="T28" fmla="*/ 288 w 403"/>
                    <a:gd name="T29" fmla="*/ 511 h 511"/>
                    <a:gd name="T30" fmla="*/ 279 w 403"/>
                    <a:gd name="T31" fmla="*/ 508 h 511"/>
                    <a:gd name="T32" fmla="*/ 265 w 403"/>
                    <a:gd name="T33" fmla="*/ 507 h 511"/>
                    <a:gd name="T34" fmla="*/ 252 w 403"/>
                    <a:gd name="T35" fmla="*/ 504 h 511"/>
                    <a:gd name="T36" fmla="*/ 237 w 403"/>
                    <a:gd name="T37" fmla="*/ 500 h 511"/>
                    <a:gd name="T38" fmla="*/ 218 w 403"/>
                    <a:gd name="T39" fmla="*/ 496 h 511"/>
                    <a:gd name="T40" fmla="*/ 200 w 403"/>
                    <a:gd name="T41" fmla="*/ 492 h 511"/>
                    <a:gd name="T42" fmla="*/ 179 w 403"/>
                    <a:gd name="T43" fmla="*/ 488 h 511"/>
                    <a:gd name="T44" fmla="*/ 156 w 403"/>
                    <a:gd name="T45" fmla="*/ 485 h 511"/>
                    <a:gd name="T46" fmla="*/ 134 w 403"/>
                    <a:gd name="T47" fmla="*/ 479 h 511"/>
                    <a:gd name="T48" fmla="*/ 109 w 403"/>
                    <a:gd name="T49" fmla="*/ 475 h 511"/>
                    <a:gd name="T50" fmla="*/ 84 w 403"/>
                    <a:gd name="T51" fmla="*/ 473 h 511"/>
                    <a:gd name="T52" fmla="*/ 58 w 403"/>
                    <a:gd name="T53" fmla="*/ 469 h 511"/>
                    <a:gd name="T54" fmla="*/ 30 w 403"/>
                    <a:gd name="T55" fmla="*/ 466 h 511"/>
                    <a:gd name="T56" fmla="*/ 3 w 403"/>
                    <a:gd name="T57" fmla="*/ 464 h 511"/>
                    <a:gd name="T58" fmla="*/ 0 w 403"/>
                    <a:gd name="T59" fmla="*/ 322 h 511"/>
                    <a:gd name="T60" fmla="*/ 32 w 403"/>
                    <a:gd name="T61" fmla="*/ 7 h 511"/>
                    <a:gd name="T62" fmla="*/ 33 w 403"/>
                    <a:gd name="T63" fmla="*/ 7 h 511"/>
                    <a:gd name="T64" fmla="*/ 40 w 403"/>
                    <a:gd name="T65" fmla="*/ 5 h 511"/>
                    <a:gd name="T66" fmla="*/ 47 w 403"/>
                    <a:gd name="T67" fmla="*/ 4 h 511"/>
                    <a:gd name="T68" fmla="*/ 61 w 403"/>
                    <a:gd name="T69" fmla="*/ 3 h 511"/>
                    <a:gd name="T70" fmla="*/ 76 w 403"/>
                    <a:gd name="T71" fmla="*/ 2 h 511"/>
                    <a:gd name="T72" fmla="*/ 95 w 403"/>
                    <a:gd name="T73" fmla="*/ 2 h 511"/>
                    <a:gd name="T74" fmla="*/ 116 w 403"/>
                    <a:gd name="T75" fmla="*/ 0 h 511"/>
                    <a:gd name="T76" fmla="*/ 139 w 403"/>
                    <a:gd name="T77" fmla="*/ 0 h 511"/>
                    <a:gd name="T78" fmla="*/ 166 w 403"/>
                    <a:gd name="T79" fmla="*/ 2 h 511"/>
                    <a:gd name="T80" fmla="*/ 195 w 403"/>
                    <a:gd name="T81" fmla="*/ 4 h 511"/>
                    <a:gd name="T82" fmla="*/ 225 w 403"/>
                    <a:gd name="T83" fmla="*/ 8 h 511"/>
                    <a:gd name="T84" fmla="*/ 258 w 403"/>
                    <a:gd name="T85" fmla="*/ 13 h 511"/>
                    <a:gd name="T86" fmla="*/ 292 w 403"/>
                    <a:gd name="T87" fmla="*/ 20 h 511"/>
                    <a:gd name="T88" fmla="*/ 327 w 403"/>
                    <a:gd name="T89" fmla="*/ 29 h 511"/>
                    <a:gd name="T90" fmla="*/ 365 w 403"/>
                    <a:gd name="T91" fmla="*/ 40 h 511"/>
                    <a:gd name="T92" fmla="*/ 403 w 403"/>
                    <a:gd name="T93" fmla="*/ 53 h 5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403" h="511">
                      <a:moveTo>
                        <a:pt x="403" y="53"/>
                      </a:moveTo>
                      <a:lnTo>
                        <a:pt x="402" y="67"/>
                      </a:lnTo>
                      <a:lnTo>
                        <a:pt x="401" y="104"/>
                      </a:lnTo>
                      <a:lnTo>
                        <a:pt x="397" y="160"/>
                      </a:lnTo>
                      <a:lnTo>
                        <a:pt x="390" y="227"/>
                      </a:lnTo>
                      <a:lnTo>
                        <a:pt x="382" y="299"/>
                      </a:lnTo>
                      <a:lnTo>
                        <a:pt x="372" y="372"/>
                      </a:lnTo>
                      <a:lnTo>
                        <a:pt x="357" y="439"/>
                      </a:lnTo>
                      <a:lnTo>
                        <a:pt x="340" y="491"/>
                      </a:lnTo>
                      <a:lnTo>
                        <a:pt x="338" y="494"/>
                      </a:lnTo>
                      <a:lnTo>
                        <a:pt x="330" y="499"/>
                      </a:lnTo>
                      <a:lnTo>
                        <a:pt x="318" y="506"/>
                      </a:lnTo>
                      <a:lnTo>
                        <a:pt x="302" y="511"/>
                      </a:lnTo>
                      <a:lnTo>
                        <a:pt x="297" y="511"/>
                      </a:lnTo>
                      <a:lnTo>
                        <a:pt x="288" y="511"/>
                      </a:lnTo>
                      <a:lnTo>
                        <a:pt x="279" y="508"/>
                      </a:lnTo>
                      <a:lnTo>
                        <a:pt x="265" y="507"/>
                      </a:lnTo>
                      <a:lnTo>
                        <a:pt x="252" y="504"/>
                      </a:lnTo>
                      <a:lnTo>
                        <a:pt x="237" y="500"/>
                      </a:lnTo>
                      <a:lnTo>
                        <a:pt x="218" y="496"/>
                      </a:lnTo>
                      <a:lnTo>
                        <a:pt x="200" y="492"/>
                      </a:lnTo>
                      <a:lnTo>
                        <a:pt x="179" y="488"/>
                      </a:lnTo>
                      <a:lnTo>
                        <a:pt x="156" y="485"/>
                      </a:lnTo>
                      <a:lnTo>
                        <a:pt x="134" y="479"/>
                      </a:lnTo>
                      <a:lnTo>
                        <a:pt x="109" y="475"/>
                      </a:lnTo>
                      <a:lnTo>
                        <a:pt x="84" y="473"/>
                      </a:lnTo>
                      <a:lnTo>
                        <a:pt x="58" y="469"/>
                      </a:lnTo>
                      <a:lnTo>
                        <a:pt x="30" y="466"/>
                      </a:lnTo>
                      <a:lnTo>
                        <a:pt x="3" y="464"/>
                      </a:lnTo>
                      <a:lnTo>
                        <a:pt x="0" y="322"/>
                      </a:lnTo>
                      <a:lnTo>
                        <a:pt x="32" y="7"/>
                      </a:lnTo>
                      <a:lnTo>
                        <a:pt x="33" y="7"/>
                      </a:lnTo>
                      <a:lnTo>
                        <a:pt x="40" y="5"/>
                      </a:lnTo>
                      <a:lnTo>
                        <a:pt x="47" y="4"/>
                      </a:lnTo>
                      <a:lnTo>
                        <a:pt x="61" y="3"/>
                      </a:lnTo>
                      <a:lnTo>
                        <a:pt x="76" y="2"/>
                      </a:lnTo>
                      <a:lnTo>
                        <a:pt x="95" y="2"/>
                      </a:lnTo>
                      <a:lnTo>
                        <a:pt x="116" y="0"/>
                      </a:lnTo>
                      <a:lnTo>
                        <a:pt x="139" y="0"/>
                      </a:lnTo>
                      <a:lnTo>
                        <a:pt x="166" y="2"/>
                      </a:lnTo>
                      <a:lnTo>
                        <a:pt x="195" y="4"/>
                      </a:lnTo>
                      <a:lnTo>
                        <a:pt x="225" y="8"/>
                      </a:lnTo>
                      <a:lnTo>
                        <a:pt x="258" y="13"/>
                      </a:lnTo>
                      <a:lnTo>
                        <a:pt x="292" y="20"/>
                      </a:lnTo>
                      <a:lnTo>
                        <a:pt x="327" y="29"/>
                      </a:lnTo>
                      <a:lnTo>
                        <a:pt x="365" y="40"/>
                      </a:lnTo>
                      <a:lnTo>
                        <a:pt x="40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0" name="Freeform 90"/>
                <p:cNvSpPr>
                  <a:spLocks/>
                </p:cNvSpPr>
                <p:nvPr/>
              </p:nvSpPr>
              <p:spPr bwMode="auto">
                <a:xfrm>
                  <a:off x="2683" y="2512"/>
                  <a:ext cx="87" cy="108"/>
                </a:xfrm>
                <a:custGeom>
                  <a:avLst/>
                  <a:gdLst>
                    <a:gd name="T0" fmla="*/ 349 w 349"/>
                    <a:gd name="T1" fmla="*/ 45 h 429"/>
                    <a:gd name="T2" fmla="*/ 348 w 349"/>
                    <a:gd name="T3" fmla="*/ 56 h 429"/>
                    <a:gd name="T4" fmla="*/ 347 w 349"/>
                    <a:gd name="T5" fmla="*/ 89 h 429"/>
                    <a:gd name="T6" fmla="*/ 343 w 349"/>
                    <a:gd name="T7" fmla="*/ 136 h 429"/>
                    <a:gd name="T8" fmla="*/ 338 w 349"/>
                    <a:gd name="T9" fmla="*/ 193 h 429"/>
                    <a:gd name="T10" fmla="*/ 330 w 349"/>
                    <a:gd name="T11" fmla="*/ 255 h 429"/>
                    <a:gd name="T12" fmla="*/ 321 w 349"/>
                    <a:gd name="T13" fmla="*/ 316 h 429"/>
                    <a:gd name="T14" fmla="*/ 309 w 349"/>
                    <a:gd name="T15" fmla="*/ 370 h 429"/>
                    <a:gd name="T16" fmla="*/ 296 w 349"/>
                    <a:gd name="T17" fmla="*/ 413 h 429"/>
                    <a:gd name="T18" fmla="*/ 293 w 349"/>
                    <a:gd name="T19" fmla="*/ 415 h 429"/>
                    <a:gd name="T20" fmla="*/ 288 w 349"/>
                    <a:gd name="T21" fmla="*/ 420 h 429"/>
                    <a:gd name="T22" fmla="*/ 277 w 349"/>
                    <a:gd name="T23" fmla="*/ 425 h 429"/>
                    <a:gd name="T24" fmla="*/ 263 w 349"/>
                    <a:gd name="T25" fmla="*/ 429 h 429"/>
                    <a:gd name="T26" fmla="*/ 258 w 349"/>
                    <a:gd name="T27" fmla="*/ 429 h 429"/>
                    <a:gd name="T28" fmla="*/ 251 w 349"/>
                    <a:gd name="T29" fmla="*/ 429 h 429"/>
                    <a:gd name="T30" fmla="*/ 242 w 349"/>
                    <a:gd name="T31" fmla="*/ 428 h 429"/>
                    <a:gd name="T32" fmla="*/ 231 w 349"/>
                    <a:gd name="T33" fmla="*/ 425 h 429"/>
                    <a:gd name="T34" fmla="*/ 219 w 349"/>
                    <a:gd name="T35" fmla="*/ 424 h 429"/>
                    <a:gd name="T36" fmla="*/ 205 w 349"/>
                    <a:gd name="T37" fmla="*/ 420 h 429"/>
                    <a:gd name="T38" fmla="*/ 189 w 349"/>
                    <a:gd name="T39" fmla="*/ 417 h 429"/>
                    <a:gd name="T40" fmla="*/ 172 w 349"/>
                    <a:gd name="T41" fmla="*/ 413 h 429"/>
                    <a:gd name="T42" fmla="*/ 154 w 349"/>
                    <a:gd name="T43" fmla="*/ 411 h 429"/>
                    <a:gd name="T44" fmla="*/ 134 w 349"/>
                    <a:gd name="T45" fmla="*/ 407 h 429"/>
                    <a:gd name="T46" fmla="*/ 113 w 349"/>
                    <a:gd name="T47" fmla="*/ 403 h 429"/>
                    <a:gd name="T48" fmla="*/ 92 w 349"/>
                    <a:gd name="T49" fmla="*/ 400 h 429"/>
                    <a:gd name="T50" fmla="*/ 70 w 349"/>
                    <a:gd name="T51" fmla="*/ 396 h 429"/>
                    <a:gd name="T52" fmla="*/ 47 w 349"/>
                    <a:gd name="T53" fmla="*/ 394 h 429"/>
                    <a:gd name="T54" fmla="*/ 24 w 349"/>
                    <a:gd name="T55" fmla="*/ 391 h 429"/>
                    <a:gd name="T56" fmla="*/ 0 w 349"/>
                    <a:gd name="T57" fmla="*/ 390 h 429"/>
                    <a:gd name="T58" fmla="*/ 5 w 349"/>
                    <a:gd name="T59" fmla="*/ 269 h 429"/>
                    <a:gd name="T60" fmla="*/ 25 w 349"/>
                    <a:gd name="T61" fmla="*/ 5 h 429"/>
                    <a:gd name="T62" fmla="*/ 26 w 349"/>
                    <a:gd name="T63" fmla="*/ 5 h 429"/>
                    <a:gd name="T64" fmla="*/ 32 w 349"/>
                    <a:gd name="T65" fmla="*/ 4 h 429"/>
                    <a:gd name="T66" fmla="*/ 40 w 349"/>
                    <a:gd name="T67" fmla="*/ 3 h 429"/>
                    <a:gd name="T68" fmla="*/ 51 w 349"/>
                    <a:gd name="T69" fmla="*/ 3 h 429"/>
                    <a:gd name="T70" fmla="*/ 65 w 349"/>
                    <a:gd name="T71" fmla="*/ 1 h 429"/>
                    <a:gd name="T72" fmla="*/ 82 w 349"/>
                    <a:gd name="T73" fmla="*/ 0 h 429"/>
                    <a:gd name="T74" fmla="*/ 100 w 349"/>
                    <a:gd name="T75" fmla="*/ 0 h 429"/>
                    <a:gd name="T76" fmla="*/ 121 w 349"/>
                    <a:gd name="T77" fmla="*/ 0 h 429"/>
                    <a:gd name="T78" fmla="*/ 145 w 349"/>
                    <a:gd name="T79" fmla="*/ 1 h 429"/>
                    <a:gd name="T80" fmla="*/ 170 w 349"/>
                    <a:gd name="T81" fmla="*/ 4 h 429"/>
                    <a:gd name="T82" fmla="*/ 196 w 349"/>
                    <a:gd name="T83" fmla="*/ 6 h 429"/>
                    <a:gd name="T84" fmla="*/ 225 w 349"/>
                    <a:gd name="T85" fmla="*/ 10 h 429"/>
                    <a:gd name="T86" fmla="*/ 254 w 349"/>
                    <a:gd name="T87" fmla="*/ 17 h 429"/>
                    <a:gd name="T88" fmla="*/ 285 w 349"/>
                    <a:gd name="T89" fmla="*/ 24 h 429"/>
                    <a:gd name="T90" fmla="*/ 317 w 349"/>
                    <a:gd name="T91" fmla="*/ 33 h 429"/>
                    <a:gd name="T92" fmla="*/ 349 w 349"/>
                    <a:gd name="T93" fmla="*/ 45 h 4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349" h="429">
                      <a:moveTo>
                        <a:pt x="349" y="45"/>
                      </a:moveTo>
                      <a:lnTo>
                        <a:pt x="348" y="56"/>
                      </a:lnTo>
                      <a:lnTo>
                        <a:pt x="347" y="89"/>
                      </a:lnTo>
                      <a:lnTo>
                        <a:pt x="343" y="136"/>
                      </a:lnTo>
                      <a:lnTo>
                        <a:pt x="338" y="193"/>
                      </a:lnTo>
                      <a:lnTo>
                        <a:pt x="330" y="255"/>
                      </a:lnTo>
                      <a:lnTo>
                        <a:pt x="321" y="316"/>
                      </a:lnTo>
                      <a:lnTo>
                        <a:pt x="309" y="370"/>
                      </a:lnTo>
                      <a:lnTo>
                        <a:pt x="296" y="413"/>
                      </a:lnTo>
                      <a:lnTo>
                        <a:pt x="293" y="415"/>
                      </a:lnTo>
                      <a:lnTo>
                        <a:pt x="288" y="420"/>
                      </a:lnTo>
                      <a:lnTo>
                        <a:pt x="277" y="425"/>
                      </a:lnTo>
                      <a:lnTo>
                        <a:pt x="263" y="429"/>
                      </a:lnTo>
                      <a:lnTo>
                        <a:pt x="258" y="429"/>
                      </a:lnTo>
                      <a:lnTo>
                        <a:pt x="251" y="429"/>
                      </a:lnTo>
                      <a:lnTo>
                        <a:pt x="242" y="428"/>
                      </a:lnTo>
                      <a:lnTo>
                        <a:pt x="231" y="425"/>
                      </a:lnTo>
                      <a:lnTo>
                        <a:pt x="219" y="424"/>
                      </a:lnTo>
                      <a:lnTo>
                        <a:pt x="205" y="420"/>
                      </a:lnTo>
                      <a:lnTo>
                        <a:pt x="189" y="417"/>
                      </a:lnTo>
                      <a:lnTo>
                        <a:pt x="172" y="413"/>
                      </a:lnTo>
                      <a:lnTo>
                        <a:pt x="154" y="411"/>
                      </a:lnTo>
                      <a:lnTo>
                        <a:pt x="134" y="407"/>
                      </a:lnTo>
                      <a:lnTo>
                        <a:pt x="113" y="403"/>
                      </a:lnTo>
                      <a:lnTo>
                        <a:pt x="92" y="400"/>
                      </a:lnTo>
                      <a:lnTo>
                        <a:pt x="70" y="396"/>
                      </a:lnTo>
                      <a:lnTo>
                        <a:pt x="47" y="394"/>
                      </a:lnTo>
                      <a:lnTo>
                        <a:pt x="24" y="391"/>
                      </a:lnTo>
                      <a:lnTo>
                        <a:pt x="0" y="390"/>
                      </a:lnTo>
                      <a:lnTo>
                        <a:pt x="5" y="269"/>
                      </a:lnTo>
                      <a:lnTo>
                        <a:pt x="25" y="5"/>
                      </a:lnTo>
                      <a:lnTo>
                        <a:pt x="26" y="5"/>
                      </a:lnTo>
                      <a:lnTo>
                        <a:pt x="32" y="4"/>
                      </a:lnTo>
                      <a:lnTo>
                        <a:pt x="40" y="3"/>
                      </a:lnTo>
                      <a:lnTo>
                        <a:pt x="51" y="3"/>
                      </a:lnTo>
                      <a:lnTo>
                        <a:pt x="65" y="1"/>
                      </a:lnTo>
                      <a:lnTo>
                        <a:pt x="82" y="0"/>
                      </a:lnTo>
                      <a:lnTo>
                        <a:pt x="100" y="0"/>
                      </a:lnTo>
                      <a:lnTo>
                        <a:pt x="121" y="0"/>
                      </a:lnTo>
                      <a:lnTo>
                        <a:pt x="145" y="1"/>
                      </a:lnTo>
                      <a:lnTo>
                        <a:pt x="170" y="4"/>
                      </a:lnTo>
                      <a:lnTo>
                        <a:pt x="196" y="6"/>
                      </a:lnTo>
                      <a:lnTo>
                        <a:pt x="225" y="10"/>
                      </a:lnTo>
                      <a:lnTo>
                        <a:pt x="254" y="17"/>
                      </a:lnTo>
                      <a:lnTo>
                        <a:pt x="285" y="24"/>
                      </a:lnTo>
                      <a:lnTo>
                        <a:pt x="317" y="33"/>
                      </a:lnTo>
                      <a:lnTo>
                        <a:pt x="349" y="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1" name="Freeform 91"/>
                <p:cNvSpPr>
                  <a:spLocks/>
                </p:cNvSpPr>
                <p:nvPr/>
              </p:nvSpPr>
              <p:spPr bwMode="auto">
                <a:xfrm>
                  <a:off x="2302" y="2586"/>
                  <a:ext cx="295" cy="140"/>
                </a:xfrm>
                <a:custGeom>
                  <a:avLst/>
                  <a:gdLst>
                    <a:gd name="T0" fmla="*/ 0 w 1181"/>
                    <a:gd name="T1" fmla="*/ 6 h 563"/>
                    <a:gd name="T2" fmla="*/ 1181 w 1181"/>
                    <a:gd name="T3" fmla="*/ 0 h 563"/>
                    <a:gd name="T4" fmla="*/ 1181 w 1181"/>
                    <a:gd name="T5" fmla="*/ 70 h 563"/>
                    <a:gd name="T6" fmla="*/ 1162 w 1181"/>
                    <a:gd name="T7" fmla="*/ 77 h 563"/>
                    <a:gd name="T8" fmla="*/ 1162 w 1181"/>
                    <a:gd name="T9" fmla="*/ 555 h 563"/>
                    <a:gd name="T10" fmla="*/ 1158 w 1181"/>
                    <a:gd name="T11" fmla="*/ 555 h 563"/>
                    <a:gd name="T12" fmla="*/ 1149 w 1181"/>
                    <a:gd name="T13" fmla="*/ 557 h 563"/>
                    <a:gd name="T14" fmla="*/ 1135 w 1181"/>
                    <a:gd name="T15" fmla="*/ 559 h 563"/>
                    <a:gd name="T16" fmla="*/ 1114 w 1181"/>
                    <a:gd name="T17" fmla="*/ 561 h 563"/>
                    <a:gd name="T18" fmla="*/ 1090 w 1181"/>
                    <a:gd name="T19" fmla="*/ 563 h 563"/>
                    <a:gd name="T20" fmla="*/ 1061 w 1181"/>
                    <a:gd name="T21" fmla="*/ 563 h 563"/>
                    <a:gd name="T22" fmla="*/ 1030 w 1181"/>
                    <a:gd name="T23" fmla="*/ 563 h 563"/>
                    <a:gd name="T24" fmla="*/ 996 w 1181"/>
                    <a:gd name="T25" fmla="*/ 559 h 563"/>
                    <a:gd name="T26" fmla="*/ 960 w 1181"/>
                    <a:gd name="T27" fmla="*/ 553 h 563"/>
                    <a:gd name="T28" fmla="*/ 923 w 1181"/>
                    <a:gd name="T29" fmla="*/ 546 h 563"/>
                    <a:gd name="T30" fmla="*/ 885 w 1181"/>
                    <a:gd name="T31" fmla="*/ 534 h 563"/>
                    <a:gd name="T32" fmla="*/ 847 w 1181"/>
                    <a:gd name="T33" fmla="*/ 518 h 563"/>
                    <a:gd name="T34" fmla="*/ 811 w 1181"/>
                    <a:gd name="T35" fmla="*/ 497 h 563"/>
                    <a:gd name="T36" fmla="*/ 775 w 1181"/>
                    <a:gd name="T37" fmla="*/ 472 h 563"/>
                    <a:gd name="T38" fmla="*/ 741 w 1181"/>
                    <a:gd name="T39" fmla="*/ 442 h 563"/>
                    <a:gd name="T40" fmla="*/ 709 w 1181"/>
                    <a:gd name="T41" fmla="*/ 405 h 563"/>
                    <a:gd name="T42" fmla="*/ 678 w 1181"/>
                    <a:gd name="T43" fmla="*/ 368 h 563"/>
                    <a:gd name="T44" fmla="*/ 645 w 1181"/>
                    <a:gd name="T45" fmla="*/ 338 h 563"/>
                    <a:gd name="T46" fmla="*/ 610 w 1181"/>
                    <a:gd name="T47" fmla="*/ 315 h 563"/>
                    <a:gd name="T48" fmla="*/ 574 w 1181"/>
                    <a:gd name="T49" fmla="*/ 295 h 563"/>
                    <a:gd name="T50" fmla="*/ 537 w 1181"/>
                    <a:gd name="T51" fmla="*/ 280 h 563"/>
                    <a:gd name="T52" fmla="*/ 501 w 1181"/>
                    <a:gd name="T53" fmla="*/ 270 h 563"/>
                    <a:gd name="T54" fmla="*/ 465 w 1181"/>
                    <a:gd name="T55" fmla="*/ 262 h 563"/>
                    <a:gd name="T56" fmla="*/ 431 w 1181"/>
                    <a:gd name="T57" fmla="*/ 258 h 563"/>
                    <a:gd name="T58" fmla="*/ 397 w 1181"/>
                    <a:gd name="T59" fmla="*/ 257 h 563"/>
                    <a:gd name="T60" fmla="*/ 367 w 1181"/>
                    <a:gd name="T61" fmla="*/ 257 h 563"/>
                    <a:gd name="T62" fmla="*/ 338 w 1181"/>
                    <a:gd name="T63" fmla="*/ 259 h 563"/>
                    <a:gd name="T64" fmla="*/ 314 w 1181"/>
                    <a:gd name="T65" fmla="*/ 261 h 563"/>
                    <a:gd name="T66" fmla="*/ 292 w 1181"/>
                    <a:gd name="T67" fmla="*/ 265 h 563"/>
                    <a:gd name="T68" fmla="*/ 276 w 1181"/>
                    <a:gd name="T69" fmla="*/ 266 h 563"/>
                    <a:gd name="T70" fmla="*/ 264 w 1181"/>
                    <a:gd name="T71" fmla="*/ 269 h 563"/>
                    <a:gd name="T72" fmla="*/ 258 w 1181"/>
                    <a:gd name="T73" fmla="*/ 269 h 563"/>
                    <a:gd name="T74" fmla="*/ 222 w 1181"/>
                    <a:gd name="T75" fmla="*/ 259 h 563"/>
                    <a:gd name="T76" fmla="*/ 191 w 1181"/>
                    <a:gd name="T77" fmla="*/ 248 h 563"/>
                    <a:gd name="T78" fmla="*/ 162 w 1181"/>
                    <a:gd name="T79" fmla="*/ 232 h 563"/>
                    <a:gd name="T80" fmla="*/ 136 w 1181"/>
                    <a:gd name="T81" fmla="*/ 214 h 563"/>
                    <a:gd name="T82" fmla="*/ 112 w 1181"/>
                    <a:gd name="T83" fmla="*/ 193 h 563"/>
                    <a:gd name="T84" fmla="*/ 91 w 1181"/>
                    <a:gd name="T85" fmla="*/ 170 h 563"/>
                    <a:gd name="T86" fmla="*/ 73 w 1181"/>
                    <a:gd name="T87" fmla="*/ 148 h 563"/>
                    <a:gd name="T88" fmla="*/ 57 w 1181"/>
                    <a:gd name="T89" fmla="*/ 124 h 563"/>
                    <a:gd name="T90" fmla="*/ 42 w 1181"/>
                    <a:gd name="T91" fmla="*/ 102 h 563"/>
                    <a:gd name="T92" fmla="*/ 31 w 1181"/>
                    <a:gd name="T93" fmla="*/ 80 h 563"/>
                    <a:gd name="T94" fmla="*/ 21 w 1181"/>
                    <a:gd name="T95" fmla="*/ 60 h 563"/>
                    <a:gd name="T96" fmla="*/ 14 w 1181"/>
                    <a:gd name="T97" fmla="*/ 43 h 563"/>
                    <a:gd name="T98" fmla="*/ 7 w 1181"/>
                    <a:gd name="T99" fmla="*/ 27 h 563"/>
                    <a:gd name="T100" fmla="*/ 3 w 1181"/>
                    <a:gd name="T101" fmla="*/ 17 h 563"/>
                    <a:gd name="T102" fmla="*/ 2 w 1181"/>
                    <a:gd name="T103" fmla="*/ 9 h 563"/>
                    <a:gd name="T104" fmla="*/ 0 w 1181"/>
                    <a:gd name="T105" fmla="*/ 6 h 5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181" h="563">
                      <a:moveTo>
                        <a:pt x="0" y="6"/>
                      </a:moveTo>
                      <a:lnTo>
                        <a:pt x="1181" y="0"/>
                      </a:lnTo>
                      <a:lnTo>
                        <a:pt x="1181" y="70"/>
                      </a:lnTo>
                      <a:lnTo>
                        <a:pt x="1162" y="77"/>
                      </a:lnTo>
                      <a:lnTo>
                        <a:pt x="1162" y="555"/>
                      </a:lnTo>
                      <a:lnTo>
                        <a:pt x="1158" y="555"/>
                      </a:lnTo>
                      <a:lnTo>
                        <a:pt x="1149" y="557"/>
                      </a:lnTo>
                      <a:lnTo>
                        <a:pt x="1135" y="559"/>
                      </a:lnTo>
                      <a:lnTo>
                        <a:pt x="1114" y="561"/>
                      </a:lnTo>
                      <a:lnTo>
                        <a:pt x="1090" y="563"/>
                      </a:lnTo>
                      <a:lnTo>
                        <a:pt x="1061" y="563"/>
                      </a:lnTo>
                      <a:lnTo>
                        <a:pt x="1030" y="563"/>
                      </a:lnTo>
                      <a:lnTo>
                        <a:pt x="996" y="559"/>
                      </a:lnTo>
                      <a:lnTo>
                        <a:pt x="960" y="553"/>
                      </a:lnTo>
                      <a:lnTo>
                        <a:pt x="923" y="546"/>
                      </a:lnTo>
                      <a:lnTo>
                        <a:pt x="885" y="534"/>
                      </a:lnTo>
                      <a:lnTo>
                        <a:pt x="847" y="518"/>
                      </a:lnTo>
                      <a:lnTo>
                        <a:pt x="811" y="497"/>
                      </a:lnTo>
                      <a:lnTo>
                        <a:pt x="775" y="472"/>
                      </a:lnTo>
                      <a:lnTo>
                        <a:pt x="741" y="442"/>
                      </a:lnTo>
                      <a:lnTo>
                        <a:pt x="709" y="405"/>
                      </a:lnTo>
                      <a:lnTo>
                        <a:pt x="678" y="368"/>
                      </a:lnTo>
                      <a:lnTo>
                        <a:pt x="645" y="338"/>
                      </a:lnTo>
                      <a:lnTo>
                        <a:pt x="610" y="315"/>
                      </a:lnTo>
                      <a:lnTo>
                        <a:pt x="574" y="295"/>
                      </a:lnTo>
                      <a:lnTo>
                        <a:pt x="537" y="280"/>
                      </a:lnTo>
                      <a:lnTo>
                        <a:pt x="501" y="270"/>
                      </a:lnTo>
                      <a:lnTo>
                        <a:pt x="465" y="262"/>
                      </a:lnTo>
                      <a:lnTo>
                        <a:pt x="431" y="258"/>
                      </a:lnTo>
                      <a:lnTo>
                        <a:pt x="397" y="257"/>
                      </a:lnTo>
                      <a:lnTo>
                        <a:pt x="367" y="257"/>
                      </a:lnTo>
                      <a:lnTo>
                        <a:pt x="338" y="259"/>
                      </a:lnTo>
                      <a:lnTo>
                        <a:pt x="314" y="261"/>
                      </a:lnTo>
                      <a:lnTo>
                        <a:pt x="292" y="265"/>
                      </a:lnTo>
                      <a:lnTo>
                        <a:pt x="276" y="266"/>
                      </a:lnTo>
                      <a:lnTo>
                        <a:pt x="264" y="269"/>
                      </a:lnTo>
                      <a:lnTo>
                        <a:pt x="258" y="269"/>
                      </a:lnTo>
                      <a:lnTo>
                        <a:pt x="222" y="259"/>
                      </a:lnTo>
                      <a:lnTo>
                        <a:pt x="191" y="248"/>
                      </a:lnTo>
                      <a:lnTo>
                        <a:pt x="162" y="232"/>
                      </a:lnTo>
                      <a:lnTo>
                        <a:pt x="136" y="214"/>
                      </a:lnTo>
                      <a:lnTo>
                        <a:pt x="112" y="193"/>
                      </a:lnTo>
                      <a:lnTo>
                        <a:pt x="91" y="170"/>
                      </a:lnTo>
                      <a:lnTo>
                        <a:pt x="73" y="148"/>
                      </a:lnTo>
                      <a:lnTo>
                        <a:pt x="57" y="124"/>
                      </a:lnTo>
                      <a:lnTo>
                        <a:pt x="42" y="102"/>
                      </a:lnTo>
                      <a:lnTo>
                        <a:pt x="31" y="80"/>
                      </a:lnTo>
                      <a:lnTo>
                        <a:pt x="21" y="60"/>
                      </a:lnTo>
                      <a:lnTo>
                        <a:pt x="14" y="43"/>
                      </a:lnTo>
                      <a:lnTo>
                        <a:pt x="7" y="27"/>
                      </a:lnTo>
                      <a:lnTo>
                        <a:pt x="3" y="17"/>
                      </a:lnTo>
                      <a:lnTo>
                        <a:pt x="2" y="9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2" name="Freeform 92"/>
                <p:cNvSpPr>
                  <a:spLocks/>
                </p:cNvSpPr>
                <p:nvPr/>
              </p:nvSpPr>
              <p:spPr bwMode="auto">
                <a:xfrm>
                  <a:off x="2297" y="2593"/>
                  <a:ext cx="295" cy="6"/>
                </a:xfrm>
                <a:custGeom>
                  <a:avLst/>
                  <a:gdLst>
                    <a:gd name="T0" fmla="*/ 1179 w 1179"/>
                    <a:gd name="T1" fmla="*/ 0 h 28"/>
                    <a:gd name="T2" fmla="*/ 1174 w 1179"/>
                    <a:gd name="T3" fmla="*/ 28 h 28"/>
                    <a:gd name="T4" fmla="*/ 0 w 1179"/>
                    <a:gd name="T5" fmla="*/ 28 h 28"/>
                    <a:gd name="T6" fmla="*/ 2 w 1179"/>
                    <a:gd name="T7" fmla="*/ 0 h 28"/>
                    <a:gd name="T8" fmla="*/ 1179 w 1179"/>
                    <a:gd name="T9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79" h="28">
                      <a:moveTo>
                        <a:pt x="1179" y="0"/>
                      </a:moveTo>
                      <a:lnTo>
                        <a:pt x="1174" y="28"/>
                      </a:lnTo>
                      <a:lnTo>
                        <a:pt x="0" y="28"/>
                      </a:lnTo>
                      <a:lnTo>
                        <a:pt x="2" y="0"/>
                      </a:lnTo>
                      <a:lnTo>
                        <a:pt x="11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3" name="Freeform 93"/>
                <p:cNvSpPr>
                  <a:spLocks/>
                </p:cNvSpPr>
                <p:nvPr/>
              </p:nvSpPr>
              <p:spPr bwMode="auto">
                <a:xfrm>
                  <a:off x="2313" y="2610"/>
                  <a:ext cx="272" cy="125"/>
                </a:xfrm>
                <a:custGeom>
                  <a:avLst/>
                  <a:gdLst>
                    <a:gd name="T0" fmla="*/ 1086 w 1086"/>
                    <a:gd name="T1" fmla="*/ 0 h 497"/>
                    <a:gd name="T2" fmla="*/ 1086 w 1086"/>
                    <a:gd name="T3" fmla="*/ 462 h 497"/>
                    <a:gd name="T4" fmla="*/ 1084 w 1086"/>
                    <a:gd name="T5" fmla="*/ 463 h 497"/>
                    <a:gd name="T6" fmla="*/ 1079 w 1086"/>
                    <a:gd name="T7" fmla="*/ 466 h 497"/>
                    <a:gd name="T8" fmla="*/ 1071 w 1086"/>
                    <a:gd name="T9" fmla="*/ 471 h 497"/>
                    <a:gd name="T10" fmla="*/ 1061 w 1086"/>
                    <a:gd name="T11" fmla="*/ 476 h 497"/>
                    <a:gd name="T12" fmla="*/ 1047 w 1086"/>
                    <a:gd name="T13" fmla="*/ 482 h 497"/>
                    <a:gd name="T14" fmla="*/ 1030 w 1086"/>
                    <a:gd name="T15" fmla="*/ 488 h 497"/>
                    <a:gd name="T16" fmla="*/ 1011 w 1086"/>
                    <a:gd name="T17" fmla="*/ 492 h 497"/>
                    <a:gd name="T18" fmla="*/ 988 w 1086"/>
                    <a:gd name="T19" fmla="*/ 496 h 497"/>
                    <a:gd name="T20" fmla="*/ 965 w 1086"/>
                    <a:gd name="T21" fmla="*/ 497 h 497"/>
                    <a:gd name="T22" fmla="*/ 937 w 1086"/>
                    <a:gd name="T23" fmla="*/ 496 h 497"/>
                    <a:gd name="T24" fmla="*/ 907 w 1086"/>
                    <a:gd name="T25" fmla="*/ 492 h 497"/>
                    <a:gd name="T26" fmla="*/ 874 w 1086"/>
                    <a:gd name="T27" fmla="*/ 484 h 497"/>
                    <a:gd name="T28" fmla="*/ 840 w 1086"/>
                    <a:gd name="T29" fmla="*/ 473 h 497"/>
                    <a:gd name="T30" fmla="*/ 803 w 1086"/>
                    <a:gd name="T31" fmla="*/ 457 h 497"/>
                    <a:gd name="T32" fmla="*/ 764 w 1086"/>
                    <a:gd name="T33" fmla="*/ 434 h 497"/>
                    <a:gd name="T34" fmla="*/ 722 w 1086"/>
                    <a:gd name="T35" fmla="*/ 407 h 497"/>
                    <a:gd name="T36" fmla="*/ 711 w 1086"/>
                    <a:gd name="T37" fmla="*/ 400 h 497"/>
                    <a:gd name="T38" fmla="*/ 696 w 1086"/>
                    <a:gd name="T39" fmla="*/ 391 h 497"/>
                    <a:gd name="T40" fmla="*/ 675 w 1086"/>
                    <a:gd name="T41" fmla="*/ 379 h 497"/>
                    <a:gd name="T42" fmla="*/ 648 w 1086"/>
                    <a:gd name="T43" fmla="*/ 365 h 497"/>
                    <a:gd name="T44" fmla="*/ 619 w 1086"/>
                    <a:gd name="T45" fmla="*/ 349 h 497"/>
                    <a:gd name="T46" fmla="*/ 587 w 1086"/>
                    <a:gd name="T47" fmla="*/ 333 h 497"/>
                    <a:gd name="T48" fmla="*/ 551 w 1086"/>
                    <a:gd name="T49" fmla="*/ 316 h 497"/>
                    <a:gd name="T50" fmla="*/ 514 w 1086"/>
                    <a:gd name="T51" fmla="*/ 298 h 497"/>
                    <a:gd name="T52" fmla="*/ 475 w 1086"/>
                    <a:gd name="T53" fmla="*/ 281 h 497"/>
                    <a:gd name="T54" fmla="*/ 436 w 1086"/>
                    <a:gd name="T55" fmla="*/ 263 h 497"/>
                    <a:gd name="T56" fmla="*/ 396 w 1086"/>
                    <a:gd name="T57" fmla="*/ 247 h 497"/>
                    <a:gd name="T58" fmla="*/ 357 w 1086"/>
                    <a:gd name="T59" fmla="*/ 231 h 497"/>
                    <a:gd name="T60" fmla="*/ 320 w 1086"/>
                    <a:gd name="T61" fmla="*/ 218 h 497"/>
                    <a:gd name="T62" fmla="*/ 283 w 1086"/>
                    <a:gd name="T63" fmla="*/ 206 h 497"/>
                    <a:gd name="T64" fmla="*/ 249 w 1086"/>
                    <a:gd name="T65" fmla="*/ 197 h 497"/>
                    <a:gd name="T66" fmla="*/ 219 w 1086"/>
                    <a:gd name="T67" fmla="*/ 190 h 497"/>
                    <a:gd name="T68" fmla="*/ 216 w 1086"/>
                    <a:gd name="T69" fmla="*/ 189 h 497"/>
                    <a:gd name="T70" fmla="*/ 210 w 1086"/>
                    <a:gd name="T71" fmla="*/ 186 h 497"/>
                    <a:gd name="T72" fmla="*/ 198 w 1086"/>
                    <a:gd name="T73" fmla="*/ 182 h 497"/>
                    <a:gd name="T74" fmla="*/ 184 w 1086"/>
                    <a:gd name="T75" fmla="*/ 176 h 497"/>
                    <a:gd name="T76" fmla="*/ 166 w 1086"/>
                    <a:gd name="T77" fmla="*/ 168 h 497"/>
                    <a:gd name="T78" fmla="*/ 147 w 1086"/>
                    <a:gd name="T79" fmla="*/ 160 h 497"/>
                    <a:gd name="T80" fmla="*/ 127 w 1086"/>
                    <a:gd name="T81" fmla="*/ 148 h 497"/>
                    <a:gd name="T82" fmla="*/ 106 w 1086"/>
                    <a:gd name="T83" fmla="*/ 137 h 497"/>
                    <a:gd name="T84" fmla="*/ 85 w 1086"/>
                    <a:gd name="T85" fmla="*/ 123 h 497"/>
                    <a:gd name="T86" fmla="*/ 65 w 1086"/>
                    <a:gd name="T87" fmla="*/ 109 h 497"/>
                    <a:gd name="T88" fmla="*/ 47 w 1086"/>
                    <a:gd name="T89" fmla="*/ 93 h 497"/>
                    <a:gd name="T90" fmla="*/ 30 w 1086"/>
                    <a:gd name="T91" fmla="*/ 77 h 497"/>
                    <a:gd name="T92" fmla="*/ 17 w 1086"/>
                    <a:gd name="T93" fmla="*/ 59 h 497"/>
                    <a:gd name="T94" fmla="*/ 6 w 1086"/>
                    <a:gd name="T95" fmla="*/ 41 h 497"/>
                    <a:gd name="T96" fmla="*/ 1 w 1086"/>
                    <a:gd name="T97" fmla="*/ 21 h 497"/>
                    <a:gd name="T98" fmla="*/ 0 w 1086"/>
                    <a:gd name="T99" fmla="*/ 0 h 497"/>
                    <a:gd name="T100" fmla="*/ 1086 w 1086"/>
                    <a:gd name="T101" fmla="*/ 0 h 4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86" h="497">
                      <a:moveTo>
                        <a:pt x="1086" y="0"/>
                      </a:moveTo>
                      <a:lnTo>
                        <a:pt x="1086" y="462"/>
                      </a:lnTo>
                      <a:lnTo>
                        <a:pt x="1084" y="463"/>
                      </a:lnTo>
                      <a:lnTo>
                        <a:pt x="1079" y="466"/>
                      </a:lnTo>
                      <a:lnTo>
                        <a:pt x="1071" y="471"/>
                      </a:lnTo>
                      <a:lnTo>
                        <a:pt x="1061" y="476"/>
                      </a:lnTo>
                      <a:lnTo>
                        <a:pt x="1047" y="482"/>
                      </a:lnTo>
                      <a:lnTo>
                        <a:pt x="1030" y="488"/>
                      </a:lnTo>
                      <a:lnTo>
                        <a:pt x="1011" y="492"/>
                      </a:lnTo>
                      <a:lnTo>
                        <a:pt x="988" y="496"/>
                      </a:lnTo>
                      <a:lnTo>
                        <a:pt x="965" y="497"/>
                      </a:lnTo>
                      <a:lnTo>
                        <a:pt x="937" y="496"/>
                      </a:lnTo>
                      <a:lnTo>
                        <a:pt x="907" y="492"/>
                      </a:lnTo>
                      <a:lnTo>
                        <a:pt x="874" y="484"/>
                      </a:lnTo>
                      <a:lnTo>
                        <a:pt x="840" y="473"/>
                      </a:lnTo>
                      <a:lnTo>
                        <a:pt x="803" y="457"/>
                      </a:lnTo>
                      <a:lnTo>
                        <a:pt x="764" y="434"/>
                      </a:lnTo>
                      <a:lnTo>
                        <a:pt x="722" y="407"/>
                      </a:lnTo>
                      <a:lnTo>
                        <a:pt x="711" y="400"/>
                      </a:lnTo>
                      <a:lnTo>
                        <a:pt x="696" y="391"/>
                      </a:lnTo>
                      <a:lnTo>
                        <a:pt x="675" y="379"/>
                      </a:lnTo>
                      <a:lnTo>
                        <a:pt x="648" y="365"/>
                      </a:lnTo>
                      <a:lnTo>
                        <a:pt x="619" y="349"/>
                      </a:lnTo>
                      <a:lnTo>
                        <a:pt x="587" y="333"/>
                      </a:lnTo>
                      <a:lnTo>
                        <a:pt x="551" y="316"/>
                      </a:lnTo>
                      <a:lnTo>
                        <a:pt x="514" y="298"/>
                      </a:lnTo>
                      <a:lnTo>
                        <a:pt x="475" y="281"/>
                      </a:lnTo>
                      <a:lnTo>
                        <a:pt x="436" y="263"/>
                      </a:lnTo>
                      <a:lnTo>
                        <a:pt x="396" y="247"/>
                      </a:lnTo>
                      <a:lnTo>
                        <a:pt x="357" y="231"/>
                      </a:lnTo>
                      <a:lnTo>
                        <a:pt x="320" y="218"/>
                      </a:lnTo>
                      <a:lnTo>
                        <a:pt x="283" y="206"/>
                      </a:lnTo>
                      <a:lnTo>
                        <a:pt x="249" y="197"/>
                      </a:lnTo>
                      <a:lnTo>
                        <a:pt x="219" y="190"/>
                      </a:lnTo>
                      <a:lnTo>
                        <a:pt x="216" y="189"/>
                      </a:lnTo>
                      <a:lnTo>
                        <a:pt x="210" y="186"/>
                      </a:lnTo>
                      <a:lnTo>
                        <a:pt x="198" y="182"/>
                      </a:lnTo>
                      <a:lnTo>
                        <a:pt x="184" y="176"/>
                      </a:lnTo>
                      <a:lnTo>
                        <a:pt x="166" y="168"/>
                      </a:lnTo>
                      <a:lnTo>
                        <a:pt x="147" y="160"/>
                      </a:lnTo>
                      <a:lnTo>
                        <a:pt x="127" y="148"/>
                      </a:lnTo>
                      <a:lnTo>
                        <a:pt x="106" y="137"/>
                      </a:lnTo>
                      <a:lnTo>
                        <a:pt x="85" y="123"/>
                      </a:lnTo>
                      <a:lnTo>
                        <a:pt x="65" y="109"/>
                      </a:lnTo>
                      <a:lnTo>
                        <a:pt x="47" y="93"/>
                      </a:lnTo>
                      <a:lnTo>
                        <a:pt x="30" y="77"/>
                      </a:lnTo>
                      <a:lnTo>
                        <a:pt x="17" y="59"/>
                      </a:lnTo>
                      <a:lnTo>
                        <a:pt x="6" y="41"/>
                      </a:lnTo>
                      <a:lnTo>
                        <a:pt x="1" y="21"/>
                      </a:lnTo>
                      <a:lnTo>
                        <a:pt x="0" y="0"/>
                      </a:lnTo>
                      <a:lnTo>
                        <a:pt x="108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4" name="Freeform 94"/>
                <p:cNvSpPr>
                  <a:spLocks/>
                </p:cNvSpPr>
                <p:nvPr/>
              </p:nvSpPr>
              <p:spPr bwMode="auto">
                <a:xfrm>
                  <a:off x="2711" y="2530"/>
                  <a:ext cx="45" cy="80"/>
                </a:xfrm>
                <a:custGeom>
                  <a:avLst/>
                  <a:gdLst>
                    <a:gd name="T0" fmla="*/ 180 w 180"/>
                    <a:gd name="T1" fmla="*/ 0 h 320"/>
                    <a:gd name="T2" fmla="*/ 178 w 180"/>
                    <a:gd name="T3" fmla="*/ 12 h 320"/>
                    <a:gd name="T4" fmla="*/ 177 w 180"/>
                    <a:gd name="T5" fmla="*/ 43 h 320"/>
                    <a:gd name="T6" fmla="*/ 173 w 180"/>
                    <a:gd name="T7" fmla="*/ 88 h 320"/>
                    <a:gd name="T8" fmla="*/ 168 w 180"/>
                    <a:gd name="T9" fmla="*/ 142 h 320"/>
                    <a:gd name="T10" fmla="*/ 161 w 180"/>
                    <a:gd name="T11" fmla="*/ 198 h 320"/>
                    <a:gd name="T12" fmla="*/ 153 w 180"/>
                    <a:gd name="T13" fmla="*/ 249 h 320"/>
                    <a:gd name="T14" fmla="*/ 143 w 180"/>
                    <a:gd name="T15" fmla="*/ 292 h 320"/>
                    <a:gd name="T16" fmla="*/ 131 w 180"/>
                    <a:gd name="T17" fmla="*/ 320 h 320"/>
                    <a:gd name="T18" fmla="*/ 0 w 180"/>
                    <a:gd name="T19" fmla="*/ 306 h 320"/>
                    <a:gd name="T20" fmla="*/ 111 w 180"/>
                    <a:gd name="T21" fmla="*/ 296 h 320"/>
                    <a:gd name="T22" fmla="*/ 113 w 180"/>
                    <a:gd name="T23" fmla="*/ 294 h 320"/>
                    <a:gd name="T24" fmla="*/ 118 w 180"/>
                    <a:gd name="T25" fmla="*/ 285 h 320"/>
                    <a:gd name="T26" fmla="*/ 125 w 180"/>
                    <a:gd name="T27" fmla="*/ 266 h 320"/>
                    <a:gd name="T28" fmla="*/ 134 w 180"/>
                    <a:gd name="T29" fmla="*/ 239 h 320"/>
                    <a:gd name="T30" fmla="*/ 144 w 180"/>
                    <a:gd name="T31" fmla="*/ 201 h 320"/>
                    <a:gd name="T32" fmla="*/ 156 w 180"/>
                    <a:gd name="T33" fmla="*/ 148 h 320"/>
                    <a:gd name="T34" fmla="*/ 168 w 180"/>
                    <a:gd name="T35" fmla="*/ 82 h 320"/>
                    <a:gd name="T36" fmla="*/ 180 w 180"/>
                    <a:gd name="T37" fmla="*/ 0 h 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80" h="320">
                      <a:moveTo>
                        <a:pt x="180" y="0"/>
                      </a:moveTo>
                      <a:lnTo>
                        <a:pt x="178" y="12"/>
                      </a:lnTo>
                      <a:lnTo>
                        <a:pt x="177" y="43"/>
                      </a:lnTo>
                      <a:lnTo>
                        <a:pt x="173" y="88"/>
                      </a:lnTo>
                      <a:lnTo>
                        <a:pt x="168" y="142"/>
                      </a:lnTo>
                      <a:lnTo>
                        <a:pt x="161" y="198"/>
                      </a:lnTo>
                      <a:lnTo>
                        <a:pt x="153" y="249"/>
                      </a:lnTo>
                      <a:lnTo>
                        <a:pt x="143" y="292"/>
                      </a:lnTo>
                      <a:lnTo>
                        <a:pt x="131" y="320"/>
                      </a:lnTo>
                      <a:lnTo>
                        <a:pt x="0" y="306"/>
                      </a:lnTo>
                      <a:lnTo>
                        <a:pt x="111" y="296"/>
                      </a:lnTo>
                      <a:lnTo>
                        <a:pt x="113" y="294"/>
                      </a:lnTo>
                      <a:lnTo>
                        <a:pt x="118" y="285"/>
                      </a:lnTo>
                      <a:lnTo>
                        <a:pt x="125" y="266"/>
                      </a:lnTo>
                      <a:lnTo>
                        <a:pt x="134" y="239"/>
                      </a:lnTo>
                      <a:lnTo>
                        <a:pt x="144" y="201"/>
                      </a:lnTo>
                      <a:lnTo>
                        <a:pt x="156" y="148"/>
                      </a:lnTo>
                      <a:lnTo>
                        <a:pt x="168" y="82"/>
                      </a:lnTo>
                      <a:lnTo>
                        <a:pt x="1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5" name="Freeform 95"/>
                <p:cNvSpPr>
                  <a:spLocks/>
                </p:cNvSpPr>
                <p:nvPr/>
              </p:nvSpPr>
              <p:spPr bwMode="auto">
                <a:xfrm>
                  <a:off x="2715" y="2687"/>
                  <a:ext cx="12" cy="35"/>
                </a:xfrm>
                <a:custGeom>
                  <a:avLst/>
                  <a:gdLst>
                    <a:gd name="T0" fmla="*/ 45 w 49"/>
                    <a:gd name="T1" fmla="*/ 0 h 141"/>
                    <a:gd name="T2" fmla="*/ 49 w 49"/>
                    <a:gd name="T3" fmla="*/ 135 h 141"/>
                    <a:gd name="T4" fmla="*/ 0 w 49"/>
                    <a:gd name="T5" fmla="*/ 141 h 141"/>
                    <a:gd name="T6" fmla="*/ 0 w 49"/>
                    <a:gd name="T7" fmla="*/ 24 h 141"/>
                    <a:gd name="T8" fmla="*/ 45 w 49"/>
                    <a:gd name="T9" fmla="*/ 0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9" h="141">
                      <a:moveTo>
                        <a:pt x="45" y="0"/>
                      </a:moveTo>
                      <a:lnTo>
                        <a:pt x="49" y="135"/>
                      </a:lnTo>
                      <a:lnTo>
                        <a:pt x="0" y="141"/>
                      </a:lnTo>
                      <a:lnTo>
                        <a:pt x="0" y="24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6" name="Freeform 96"/>
                <p:cNvSpPr>
                  <a:spLocks/>
                </p:cNvSpPr>
                <p:nvPr/>
              </p:nvSpPr>
              <p:spPr bwMode="auto">
                <a:xfrm>
                  <a:off x="2665" y="2700"/>
                  <a:ext cx="15" cy="23"/>
                </a:xfrm>
                <a:custGeom>
                  <a:avLst/>
                  <a:gdLst>
                    <a:gd name="T0" fmla="*/ 49 w 59"/>
                    <a:gd name="T1" fmla="*/ 4 h 92"/>
                    <a:gd name="T2" fmla="*/ 59 w 59"/>
                    <a:gd name="T3" fmla="*/ 92 h 92"/>
                    <a:gd name="T4" fmla="*/ 6 w 59"/>
                    <a:gd name="T5" fmla="*/ 89 h 92"/>
                    <a:gd name="T6" fmla="*/ 0 w 59"/>
                    <a:gd name="T7" fmla="*/ 0 h 92"/>
                    <a:gd name="T8" fmla="*/ 49 w 59"/>
                    <a:gd name="T9" fmla="*/ 4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9" h="92">
                      <a:moveTo>
                        <a:pt x="49" y="4"/>
                      </a:moveTo>
                      <a:lnTo>
                        <a:pt x="59" y="92"/>
                      </a:lnTo>
                      <a:lnTo>
                        <a:pt x="6" y="89"/>
                      </a:lnTo>
                      <a:lnTo>
                        <a:pt x="0" y="0"/>
                      </a:lnTo>
                      <a:lnTo>
                        <a:pt x="49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7" name="Freeform 97"/>
                <p:cNvSpPr>
                  <a:spLocks/>
                </p:cNvSpPr>
                <p:nvPr/>
              </p:nvSpPr>
              <p:spPr bwMode="auto">
                <a:xfrm>
                  <a:off x="2649" y="2699"/>
                  <a:ext cx="12" cy="23"/>
                </a:xfrm>
                <a:custGeom>
                  <a:avLst/>
                  <a:gdLst>
                    <a:gd name="T0" fmla="*/ 9 w 48"/>
                    <a:gd name="T1" fmla="*/ 0 h 92"/>
                    <a:gd name="T2" fmla="*/ 0 w 48"/>
                    <a:gd name="T3" fmla="*/ 92 h 92"/>
                    <a:gd name="T4" fmla="*/ 48 w 48"/>
                    <a:gd name="T5" fmla="*/ 92 h 92"/>
                    <a:gd name="T6" fmla="*/ 48 w 48"/>
                    <a:gd name="T7" fmla="*/ 5 h 92"/>
                    <a:gd name="T8" fmla="*/ 9 w 48"/>
                    <a:gd name="T9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92">
                      <a:moveTo>
                        <a:pt x="9" y="0"/>
                      </a:moveTo>
                      <a:lnTo>
                        <a:pt x="0" y="92"/>
                      </a:lnTo>
                      <a:lnTo>
                        <a:pt x="48" y="92"/>
                      </a:lnTo>
                      <a:lnTo>
                        <a:pt x="48" y="5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8" name="Freeform 98"/>
                <p:cNvSpPr>
                  <a:spLocks/>
                </p:cNvSpPr>
                <p:nvPr/>
              </p:nvSpPr>
              <p:spPr bwMode="auto">
                <a:xfrm>
                  <a:off x="2590" y="2701"/>
                  <a:ext cx="11" cy="18"/>
                </a:xfrm>
                <a:custGeom>
                  <a:avLst/>
                  <a:gdLst>
                    <a:gd name="T0" fmla="*/ 43 w 43"/>
                    <a:gd name="T1" fmla="*/ 8 h 71"/>
                    <a:gd name="T2" fmla="*/ 38 w 43"/>
                    <a:gd name="T3" fmla="*/ 71 h 71"/>
                    <a:gd name="T4" fmla="*/ 9 w 43"/>
                    <a:gd name="T5" fmla="*/ 71 h 71"/>
                    <a:gd name="T6" fmla="*/ 0 w 43"/>
                    <a:gd name="T7" fmla="*/ 0 h 71"/>
                    <a:gd name="T8" fmla="*/ 43 w 43"/>
                    <a:gd name="T9" fmla="*/ 8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71">
                      <a:moveTo>
                        <a:pt x="43" y="8"/>
                      </a:moveTo>
                      <a:lnTo>
                        <a:pt x="38" y="71"/>
                      </a:lnTo>
                      <a:lnTo>
                        <a:pt x="9" y="71"/>
                      </a:lnTo>
                      <a:lnTo>
                        <a:pt x="0" y="0"/>
                      </a:lnTo>
                      <a:lnTo>
                        <a:pt x="43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9" name="Freeform 99"/>
                <p:cNvSpPr>
                  <a:spLocks/>
                </p:cNvSpPr>
                <p:nvPr/>
              </p:nvSpPr>
              <p:spPr bwMode="auto">
                <a:xfrm>
                  <a:off x="2275" y="2349"/>
                  <a:ext cx="166" cy="170"/>
                </a:xfrm>
                <a:custGeom>
                  <a:avLst/>
                  <a:gdLst>
                    <a:gd name="T0" fmla="*/ 535 w 661"/>
                    <a:gd name="T1" fmla="*/ 0 h 679"/>
                    <a:gd name="T2" fmla="*/ 541 w 661"/>
                    <a:gd name="T3" fmla="*/ 18 h 679"/>
                    <a:gd name="T4" fmla="*/ 556 w 661"/>
                    <a:gd name="T5" fmla="*/ 69 h 679"/>
                    <a:gd name="T6" fmla="*/ 576 w 661"/>
                    <a:gd name="T7" fmla="*/ 144 h 679"/>
                    <a:gd name="T8" fmla="*/ 601 w 661"/>
                    <a:gd name="T9" fmla="*/ 237 h 679"/>
                    <a:gd name="T10" fmla="*/ 623 w 661"/>
                    <a:gd name="T11" fmla="*/ 340 h 679"/>
                    <a:gd name="T12" fmla="*/ 644 w 661"/>
                    <a:gd name="T13" fmla="*/ 446 h 679"/>
                    <a:gd name="T14" fmla="*/ 658 w 661"/>
                    <a:gd name="T15" fmla="*/ 546 h 679"/>
                    <a:gd name="T16" fmla="*/ 661 w 661"/>
                    <a:gd name="T17" fmla="*/ 635 h 679"/>
                    <a:gd name="T18" fmla="*/ 447 w 661"/>
                    <a:gd name="T19" fmla="*/ 679 h 679"/>
                    <a:gd name="T20" fmla="*/ 404 w 661"/>
                    <a:gd name="T21" fmla="*/ 645 h 679"/>
                    <a:gd name="T22" fmla="*/ 102 w 661"/>
                    <a:gd name="T23" fmla="*/ 651 h 679"/>
                    <a:gd name="T24" fmla="*/ 0 w 661"/>
                    <a:gd name="T25" fmla="*/ 217 h 679"/>
                    <a:gd name="T26" fmla="*/ 311 w 661"/>
                    <a:gd name="T27" fmla="*/ 82 h 679"/>
                    <a:gd name="T28" fmla="*/ 336 w 661"/>
                    <a:gd name="T29" fmla="*/ 30 h 679"/>
                    <a:gd name="T30" fmla="*/ 535 w 661"/>
                    <a:gd name="T31" fmla="*/ 0 h 6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661" h="679">
                      <a:moveTo>
                        <a:pt x="535" y="0"/>
                      </a:moveTo>
                      <a:lnTo>
                        <a:pt x="541" y="18"/>
                      </a:lnTo>
                      <a:lnTo>
                        <a:pt x="556" y="69"/>
                      </a:lnTo>
                      <a:lnTo>
                        <a:pt x="576" y="144"/>
                      </a:lnTo>
                      <a:lnTo>
                        <a:pt x="601" y="237"/>
                      </a:lnTo>
                      <a:lnTo>
                        <a:pt x="623" y="340"/>
                      </a:lnTo>
                      <a:lnTo>
                        <a:pt x="644" y="446"/>
                      </a:lnTo>
                      <a:lnTo>
                        <a:pt x="658" y="546"/>
                      </a:lnTo>
                      <a:lnTo>
                        <a:pt x="661" y="635"/>
                      </a:lnTo>
                      <a:lnTo>
                        <a:pt x="447" y="679"/>
                      </a:lnTo>
                      <a:lnTo>
                        <a:pt x="404" y="645"/>
                      </a:lnTo>
                      <a:lnTo>
                        <a:pt x="102" y="651"/>
                      </a:lnTo>
                      <a:lnTo>
                        <a:pt x="0" y="217"/>
                      </a:lnTo>
                      <a:lnTo>
                        <a:pt x="311" y="82"/>
                      </a:lnTo>
                      <a:lnTo>
                        <a:pt x="336" y="30"/>
                      </a:lnTo>
                      <a:lnTo>
                        <a:pt x="5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0" name="Freeform 100"/>
                <p:cNvSpPr>
                  <a:spLocks/>
                </p:cNvSpPr>
                <p:nvPr/>
              </p:nvSpPr>
              <p:spPr bwMode="auto">
                <a:xfrm>
                  <a:off x="2364" y="2363"/>
                  <a:ext cx="65" cy="145"/>
                </a:xfrm>
                <a:custGeom>
                  <a:avLst/>
                  <a:gdLst>
                    <a:gd name="T0" fmla="*/ 154 w 257"/>
                    <a:gd name="T1" fmla="*/ 0 h 582"/>
                    <a:gd name="T2" fmla="*/ 158 w 257"/>
                    <a:gd name="T3" fmla="*/ 19 h 582"/>
                    <a:gd name="T4" fmla="*/ 169 w 257"/>
                    <a:gd name="T5" fmla="*/ 70 h 582"/>
                    <a:gd name="T6" fmla="*/ 183 w 257"/>
                    <a:gd name="T7" fmla="*/ 145 h 582"/>
                    <a:gd name="T8" fmla="*/ 200 w 257"/>
                    <a:gd name="T9" fmla="*/ 233 h 582"/>
                    <a:gd name="T10" fmla="*/ 218 w 257"/>
                    <a:gd name="T11" fmla="*/ 327 h 582"/>
                    <a:gd name="T12" fmla="*/ 235 w 257"/>
                    <a:gd name="T13" fmla="*/ 418 h 582"/>
                    <a:gd name="T14" fmla="*/ 248 w 257"/>
                    <a:gd name="T15" fmla="*/ 495 h 582"/>
                    <a:gd name="T16" fmla="*/ 257 w 257"/>
                    <a:gd name="T17" fmla="*/ 553 h 582"/>
                    <a:gd name="T18" fmla="*/ 102 w 257"/>
                    <a:gd name="T19" fmla="*/ 582 h 582"/>
                    <a:gd name="T20" fmla="*/ 0 w 257"/>
                    <a:gd name="T21" fmla="*/ 29 h 582"/>
                    <a:gd name="T22" fmla="*/ 154 w 257"/>
                    <a:gd name="T23" fmla="*/ 0 h 5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57" h="582">
                      <a:moveTo>
                        <a:pt x="154" y="0"/>
                      </a:moveTo>
                      <a:lnTo>
                        <a:pt x="158" y="19"/>
                      </a:lnTo>
                      <a:lnTo>
                        <a:pt x="169" y="70"/>
                      </a:lnTo>
                      <a:lnTo>
                        <a:pt x="183" y="145"/>
                      </a:lnTo>
                      <a:lnTo>
                        <a:pt x="200" y="233"/>
                      </a:lnTo>
                      <a:lnTo>
                        <a:pt x="218" y="327"/>
                      </a:lnTo>
                      <a:lnTo>
                        <a:pt x="235" y="418"/>
                      </a:lnTo>
                      <a:lnTo>
                        <a:pt x="248" y="495"/>
                      </a:lnTo>
                      <a:lnTo>
                        <a:pt x="257" y="553"/>
                      </a:lnTo>
                      <a:lnTo>
                        <a:pt x="102" y="582"/>
                      </a:lnTo>
                      <a:lnTo>
                        <a:pt x="0" y="29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1" name="Freeform 101"/>
                <p:cNvSpPr>
                  <a:spLocks/>
                </p:cNvSpPr>
                <p:nvPr/>
              </p:nvSpPr>
              <p:spPr bwMode="auto">
                <a:xfrm>
                  <a:off x="2292" y="2382"/>
                  <a:ext cx="82" cy="119"/>
                </a:xfrm>
                <a:custGeom>
                  <a:avLst/>
                  <a:gdLst>
                    <a:gd name="T0" fmla="*/ 247 w 330"/>
                    <a:gd name="T1" fmla="*/ 0 h 475"/>
                    <a:gd name="T2" fmla="*/ 330 w 330"/>
                    <a:gd name="T3" fmla="*/ 461 h 475"/>
                    <a:gd name="T4" fmla="*/ 78 w 330"/>
                    <a:gd name="T5" fmla="*/ 475 h 475"/>
                    <a:gd name="T6" fmla="*/ 0 w 330"/>
                    <a:gd name="T7" fmla="*/ 106 h 475"/>
                    <a:gd name="T8" fmla="*/ 247 w 330"/>
                    <a:gd name="T9" fmla="*/ 0 h 4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0" h="475">
                      <a:moveTo>
                        <a:pt x="247" y="0"/>
                      </a:moveTo>
                      <a:lnTo>
                        <a:pt x="330" y="461"/>
                      </a:lnTo>
                      <a:lnTo>
                        <a:pt x="78" y="475"/>
                      </a:lnTo>
                      <a:lnTo>
                        <a:pt x="0" y="106"/>
                      </a:lnTo>
                      <a:lnTo>
                        <a:pt x="24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2" name="Freeform 102"/>
                <p:cNvSpPr>
                  <a:spLocks/>
                </p:cNvSpPr>
                <p:nvPr/>
              </p:nvSpPr>
              <p:spPr bwMode="auto">
                <a:xfrm>
                  <a:off x="2313" y="2509"/>
                  <a:ext cx="107" cy="43"/>
                </a:xfrm>
                <a:custGeom>
                  <a:avLst/>
                  <a:gdLst>
                    <a:gd name="T0" fmla="*/ 291 w 428"/>
                    <a:gd name="T1" fmla="*/ 9 h 175"/>
                    <a:gd name="T2" fmla="*/ 291 w 428"/>
                    <a:gd name="T3" fmla="*/ 126 h 175"/>
                    <a:gd name="T4" fmla="*/ 428 w 428"/>
                    <a:gd name="T5" fmla="*/ 131 h 175"/>
                    <a:gd name="T6" fmla="*/ 428 w 428"/>
                    <a:gd name="T7" fmla="*/ 175 h 175"/>
                    <a:gd name="T8" fmla="*/ 0 w 428"/>
                    <a:gd name="T9" fmla="*/ 175 h 175"/>
                    <a:gd name="T10" fmla="*/ 0 w 428"/>
                    <a:gd name="T11" fmla="*/ 131 h 175"/>
                    <a:gd name="T12" fmla="*/ 107 w 428"/>
                    <a:gd name="T13" fmla="*/ 126 h 175"/>
                    <a:gd name="T14" fmla="*/ 107 w 428"/>
                    <a:gd name="T15" fmla="*/ 0 h 175"/>
                    <a:gd name="T16" fmla="*/ 291 w 428"/>
                    <a:gd name="T17" fmla="*/ 9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8" h="175">
                      <a:moveTo>
                        <a:pt x="291" y="9"/>
                      </a:moveTo>
                      <a:lnTo>
                        <a:pt x="291" y="126"/>
                      </a:lnTo>
                      <a:lnTo>
                        <a:pt x="428" y="131"/>
                      </a:lnTo>
                      <a:lnTo>
                        <a:pt x="428" y="175"/>
                      </a:lnTo>
                      <a:lnTo>
                        <a:pt x="0" y="175"/>
                      </a:lnTo>
                      <a:lnTo>
                        <a:pt x="0" y="131"/>
                      </a:lnTo>
                      <a:lnTo>
                        <a:pt x="107" y="126"/>
                      </a:lnTo>
                      <a:lnTo>
                        <a:pt x="107" y="0"/>
                      </a:lnTo>
                      <a:lnTo>
                        <a:pt x="291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3" name="Freeform 103"/>
                <p:cNvSpPr>
                  <a:spLocks/>
                </p:cNvSpPr>
                <p:nvPr/>
              </p:nvSpPr>
              <p:spPr bwMode="auto">
                <a:xfrm>
                  <a:off x="2347" y="2509"/>
                  <a:ext cx="30" cy="27"/>
                </a:xfrm>
                <a:custGeom>
                  <a:avLst/>
                  <a:gdLst>
                    <a:gd name="T0" fmla="*/ 117 w 117"/>
                    <a:gd name="T1" fmla="*/ 34 h 112"/>
                    <a:gd name="T2" fmla="*/ 117 w 117"/>
                    <a:gd name="T3" fmla="*/ 112 h 112"/>
                    <a:gd name="T4" fmla="*/ 6 w 117"/>
                    <a:gd name="T5" fmla="*/ 112 h 112"/>
                    <a:gd name="T6" fmla="*/ 0 w 117"/>
                    <a:gd name="T7" fmla="*/ 9 h 112"/>
                    <a:gd name="T8" fmla="*/ 83 w 117"/>
                    <a:gd name="T9" fmla="*/ 0 h 112"/>
                    <a:gd name="T10" fmla="*/ 117 w 117"/>
                    <a:gd name="T11" fmla="*/ 34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7" h="112">
                      <a:moveTo>
                        <a:pt x="117" y="34"/>
                      </a:moveTo>
                      <a:lnTo>
                        <a:pt x="117" y="112"/>
                      </a:lnTo>
                      <a:lnTo>
                        <a:pt x="6" y="112"/>
                      </a:lnTo>
                      <a:lnTo>
                        <a:pt x="0" y="9"/>
                      </a:lnTo>
                      <a:lnTo>
                        <a:pt x="83" y="0"/>
                      </a:lnTo>
                      <a:lnTo>
                        <a:pt x="117" y="3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4" name="Rectangle 104"/>
                <p:cNvSpPr>
                  <a:spLocks noChangeArrowheads="1"/>
                </p:cNvSpPr>
                <p:nvPr/>
              </p:nvSpPr>
              <p:spPr bwMode="auto">
                <a:xfrm>
                  <a:off x="2302" y="2549"/>
                  <a:ext cx="152" cy="4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5" name="Rectangle 105"/>
                <p:cNvSpPr>
                  <a:spLocks noChangeArrowheads="1"/>
                </p:cNvSpPr>
                <p:nvPr/>
              </p:nvSpPr>
              <p:spPr bwMode="auto">
                <a:xfrm>
                  <a:off x="2311" y="2557"/>
                  <a:ext cx="134" cy="2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6" name="Freeform 106"/>
                <p:cNvSpPr>
                  <a:spLocks/>
                </p:cNvSpPr>
                <p:nvPr/>
              </p:nvSpPr>
              <p:spPr bwMode="auto">
                <a:xfrm>
                  <a:off x="2471" y="2567"/>
                  <a:ext cx="68" cy="22"/>
                </a:xfrm>
                <a:custGeom>
                  <a:avLst/>
                  <a:gdLst>
                    <a:gd name="T0" fmla="*/ 270 w 270"/>
                    <a:gd name="T1" fmla="*/ 88 h 88"/>
                    <a:gd name="T2" fmla="*/ 266 w 270"/>
                    <a:gd name="T3" fmla="*/ 54 h 88"/>
                    <a:gd name="T4" fmla="*/ 0 w 270"/>
                    <a:gd name="T5" fmla="*/ 0 h 88"/>
                    <a:gd name="T6" fmla="*/ 0 w 270"/>
                    <a:gd name="T7" fmla="*/ 83 h 88"/>
                    <a:gd name="T8" fmla="*/ 270 w 270"/>
                    <a:gd name="T9" fmla="*/ 88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0" h="88">
                      <a:moveTo>
                        <a:pt x="270" y="88"/>
                      </a:moveTo>
                      <a:lnTo>
                        <a:pt x="266" y="54"/>
                      </a:lnTo>
                      <a:lnTo>
                        <a:pt x="0" y="0"/>
                      </a:lnTo>
                      <a:lnTo>
                        <a:pt x="0" y="83"/>
                      </a:lnTo>
                      <a:lnTo>
                        <a:pt x="270" y="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7" name="Freeform 107"/>
                <p:cNvSpPr>
                  <a:spLocks/>
                </p:cNvSpPr>
                <p:nvPr/>
              </p:nvSpPr>
              <p:spPr bwMode="auto">
                <a:xfrm>
                  <a:off x="2478" y="2574"/>
                  <a:ext cx="49" cy="9"/>
                </a:xfrm>
                <a:custGeom>
                  <a:avLst/>
                  <a:gdLst>
                    <a:gd name="T0" fmla="*/ 194 w 194"/>
                    <a:gd name="T1" fmla="*/ 33 h 33"/>
                    <a:gd name="T2" fmla="*/ 0 w 194"/>
                    <a:gd name="T3" fmla="*/ 0 h 33"/>
                    <a:gd name="T4" fmla="*/ 5 w 194"/>
                    <a:gd name="T5" fmla="*/ 24 h 33"/>
                    <a:gd name="T6" fmla="*/ 194 w 194"/>
                    <a:gd name="T7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4" h="33">
                      <a:moveTo>
                        <a:pt x="194" y="33"/>
                      </a:moveTo>
                      <a:lnTo>
                        <a:pt x="0" y="0"/>
                      </a:lnTo>
                      <a:lnTo>
                        <a:pt x="5" y="24"/>
                      </a:lnTo>
                      <a:lnTo>
                        <a:pt x="194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8" name="Freeform 108"/>
                <p:cNvSpPr>
                  <a:spLocks/>
                </p:cNvSpPr>
                <p:nvPr/>
              </p:nvSpPr>
              <p:spPr bwMode="auto">
                <a:xfrm>
                  <a:off x="2620" y="2595"/>
                  <a:ext cx="42" cy="27"/>
                </a:xfrm>
                <a:custGeom>
                  <a:avLst/>
                  <a:gdLst>
                    <a:gd name="T0" fmla="*/ 0 w 168"/>
                    <a:gd name="T1" fmla="*/ 0 h 109"/>
                    <a:gd name="T2" fmla="*/ 1 w 168"/>
                    <a:gd name="T3" fmla="*/ 3 h 109"/>
                    <a:gd name="T4" fmla="*/ 5 w 168"/>
                    <a:gd name="T5" fmla="*/ 12 h 109"/>
                    <a:gd name="T6" fmla="*/ 13 w 168"/>
                    <a:gd name="T7" fmla="*/ 24 h 109"/>
                    <a:gd name="T8" fmla="*/ 27 w 168"/>
                    <a:gd name="T9" fmla="*/ 40 h 109"/>
                    <a:gd name="T10" fmla="*/ 48 w 168"/>
                    <a:gd name="T11" fmla="*/ 57 h 109"/>
                    <a:gd name="T12" fmla="*/ 77 w 168"/>
                    <a:gd name="T13" fmla="*/ 74 h 109"/>
                    <a:gd name="T14" fmla="*/ 117 w 168"/>
                    <a:gd name="T15" fmla="*/ 90 h 109"/>
                    <a:gd name="T16" fmla="*/ 168 w 168"/>
                    <a:gd name="T17" fmla="*/ 104 h 109"/>
                    <a:gd name="T18" fmla="*/ 161 w 168"/>
                    <a:gd name="T19" fmla="*/ 105 h 109"/>
                    <a:gd name="T20" fmla="*/ 143 w 168"/>
                    <a:gd name="T21" fmla="*/ 108 h 109"/>
                    <a:gd name="T22" fmla="*/ 117 w 168"/>
                    <a:gd name="T23" fmla="*/ 109 h 109"/>
                    <a:gd name="T24" fmla="*/ 86 w 168"/>
                    <a:gd name="T25" fmla="*/ 105 h 109"/>
                    <a:gd name="T26" fmla="*/ 56 w 168"/>
                    <a:gd name="T27" fmla="*/ 96 h 109"/>
                    <a:gd name="T28" fmla="*/ 30 w 168"/>
                    <a:gd name="T29" fmla="*/ 76 h 109"/>
                    <a:gd name="T30" fmla="*/ 9 w 168"/>
                    <a:gd name="T31" fmla="*/ 46 h 109"/>
                    <a:gd name="T32" fmla="*/ 0 w 168"/>
                    <a:gd name="T33" fmla="*/ 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68" h="109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5" y="12"/>
                      </a:lnTo>
                      <a:lnTo>
                        <a:pt x="13" y="24"/>
                      </a:lnTo>
                      <a:lnTo>
                        <a:pt x="27" y="40"/>
                      </a:lnTo>
                      <a:lnTo>
                        <a:pt x="48" y="57"/>
                      </a:lnTo>
                      <a:lnTo>
                        <a:pt x="77" y="74"/>
                      </a:lnTo>
                      <a:lnTo>
                        <a:pt x="117" y="90"/>
                      </a:lnTo>
                      <a:lnTo>
                        <a:pt x="168" y="104"/>
                      </a:lnTo>
                      <a:lnTo>
                        <a:pt x="161" y="105"/>
                      </a:lnTo>
                      <a:lnTo>
                        <a:pt x="143" y="108"/>
                      </a:lnTo>
                      <a:lnTo>
                        <a:pt x="117" y="109"/>
                      </a:lnTo>
                      <a:lnTo>
                        <a:pt x="86" y="105"/>
                      </a:lnTo>
                      <a:lnTo>
                        <a:pt x="56" y="96"/>
                      </a:lnTo>
                      <a:lnTo>
                        <a:pt x="30" y="76"/>
                      </a:lnTo>
                      <a:lnTo>
                        <a:pt x="9" y="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9" name="Freeform 109"/>
                <p:cNvSpPr>
                  <a:spLocks/>
                </p:cNvSpPr>
                <p:nvPr/>
              </p:nvSpPr>
              <p:spPr bwMode="auto">
                <a:xfrm>
                  <a:off x="2593" y="2688"/>
                  <a:ext cx="17" cy="15"/>
                </a:xfrm>
                <a:custGeom>
                  <a:avLst/>
                  <a:gdLst>
                    <a:gd name="T0" fmla="*/ 0 w 68"/>
                    <a:gd name="T1" fmla="*/ 0 h 58"/>
                    <a:gd name="T2" fmla="*/ 3 w 68"/>
                    <a:gd name="T3" fmla="*/ 2 h 58"/>
                    <a:gd name="T4" fmla="*/ 9 w 68"/>
                    <a:gd name="T5" fmla="*/ 6 h 58"/>
                    <a:gd name="T6" fmla="*/ 18 w 68"/>
                    <a:gd name="T7" fmla="*/ 11 h 58"/>
                    <a:gd name="T8" fmla="*/ 30 w 68"/>
                    <a:gd name="T9" fmla="*/ 17 h 58"/>
                    <a:gd name="T10" fmla="*/ 42 w 68"/>
                    <a:gd name="T11" fmla="*/ 27 h 58"/>
                    <a:gd name="T12" fmla="*/ 53 w 68"/>
                    <a:gd name="T13" fmla="*/ 36 h 58"/>
                    <a:gd name="T14" fmla="*/ 62 w 68"/>
                    <a:gd name="T15" fmla="*/ 48 h 58"/>
                    <a:gd name="T16" fmla="*/ 68 w 68"/>
                    <a:gd name="T17" fmla="*/ 58 h 58"/>
                    <a:gd name="T18" fmla="*/ 68 w 68"/>
                    <a:gd name="T19" fmla="*/ 56 h 58"/>
                    <a:gd name="T20" fmla="*/ 68 w 68"/>
                    <a:gd name="T21" fmla="*/ 48 h 58"/>
                    <a:gd name="T22" fmla="*/ 66 w 68"/>
                    <a:gd name="T23" fmla="*/ 37 h 58"/>
                    <a:gd name="T24" fmla="*/ 62 w 68"/>
                    <a:gd name="T25" fmla="*/ 27 h 58"/>
                    <a:gd name="T26" fmla="*/ 54 w 68"/>
                    <a:gd name="T27" fmla="*/ 15 h 58"/>
                    <a:gd name="T28" fmla="*/ 41 w 68"/>
                    <a:gd name="T29" fmla="*/ 6 h 58"/>
                    <a:gd name="T30" fmla="*/ 24 w 68"/>
                    <a:gd name="T31" fmla="*/ 0 h 58"/>
                    <a:gd name="T32" fmla="*/ 0 w 68"/>
                    <a:gd name="T33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8" h="58">
                      <a:moveTo>
                        <a:pt x="0" y="0"/>
                      </a:moveTo>
                      <a:lnTo>
                        <a:pt x="3" y="2"/>
                      </a:lnTo>
                      <a:lnTo>
                        <a:pt x="9" y="6"/>
                      </a:lnTo>
                      <a:lnTo>
                        <a:pt x="18" y="11"/>
                      </a:lnTo>
                      <a:lnTo>
                        <a:pt x="30" y="17"/>
                      </a:lnTo>
                      <a:lnTo>
                        <a:pt x="42" y="27"/>
                      </a:lnTo>
                      <a:lnTo>
                        <a:pt x="53" y="36"/>
                      </a:lnTo>
                      <a:lnTo>
                        <a:pt x="62" y="48"/>
                      </a:lnTo>
                      <a:lnTo>
                        <a:pt x="68" y="58"/>
                      </a:lnTo>
                      <a:lnTo>
                        <a:pt x="68" y="56"/>
                      </a:lnTo>
                      <a:lnTo>
                        <a:pt x="68" y="48"/>
                      </a:lnTo>
                      <a:lnTo>
                        <a:pt x="66" y="37"/>
                      </a:lnTo>
                      <a:lnTo>
                        <a:pt x="62" y="27"/>
                      </a:lnTo>
                      <a:lnTo>
                        <a:pt x="54" y="15"/>
                      </a:lnTo>
                      <a:lnTo>
                        <a:pt x="41" y="6"/>
                      </a:lnTo>
                      <a:lnTo>
                        <a:pt x="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0" name="Freeform 110"/>
                <p:cNvSpPr>
                  <a:spLocks/>
                </p:cNvSpPr>
                <p:nvPr/>
              </p:nvSpPr>
              <p:spPr bwMode="auto">
                <a:xfrm>
                  <a:off x="2174" y="2242"/>
                  <a:ext cx="133" cy="55"/>
                </a:xfrm>
                <a:custGeom>
                  <a:avLst/>
                  <a:gdLst>
                    <a:gd name="T0" fmla="*/ 0 w 533"/>
                    <a:gd name="T1" fmla="*/ 33 h 218"/>
                    <a:gd name="T2" fmla="*/ 533 w 533"/>
                    <a:gd name="T3" fmla="*/ 218 h 218"/>
                    <a:gd name="T4" fmla="*/ 45 w 533"/>
                    <a:gd name="T5" fmla="*/ 0 h 218"/>
                    <a:gd name="T6" fmla="*/ 0 w 533"/>
                    <a:gd name="T7" fmla="*/ 33 h 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33" h="218">
                      <a:moveTo>
                        <a:pt x="0" y="33"/>
                      </a:moveTo>
                      <a:lnTo>
                        <a:pt x="533" y="218"/>
                      </a:lnTo>
                      <a:lnTo>
                        <a:pt x="45" y="0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1" name="Freeform 111"/>
                <p:cNvSpPr>
                  <a:spLocks/>
                </p:cNvSpPr>
                <p:nvPr/>
              </p:nvSpPr>
              <p:spPr bwMode="auto">
                <a:xfrm>
                  <a:off x="2199" y="2162"/>
                  <a:ext cx="146" cy="121"/>
                </a:xfrm>
                <a:custGeom>
                  <a:avLst/>
                  <a:gdLst>
                    <a:gd name="T0" fmla="*/ 0 w 585"/>
                    <a:gd name="T1" fmla="*/ 40 h 485"/>
                    <a:gd name="T2" fmla="*/ 585 w 585"/>
                    <a:gd name="T3" fmla="*/ 485 h 485"/>
                    <a:gd name="T4" fmla="*/ 77 w 585"/>
                    <a:gd name="T5" fmla="*/ 0 h 485"/>
                    <a:gd name="T6" fmla="*/ 0 w 585"/>
                    <a:gd name="T7" fmla="*/ 40 h 4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85" h="485">
                      <a:moveTo>
                        <a:pt x="0" y="40"/>
                      </a:moveTo>
                      <a:lnTo>
                        <a:pt x="585" y="485"/>
                      </a:lnTo>
                      <a:lnTo>
                        <a:pt x="77" y="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22" name="Freeform 112"/>
                <p:cNvSpPr>
                  <a:spLocks/>
                </p:cNvSpPr>
                <p:nvPr/>
              </p:nvSpPr>
              <p:spPr bwMode="auto">
                <a:xfrm>
                  <a:off x="2304" y="2136"/>
                  <a:ext cx="55" cy="107"/>
                </a:xfrm>
                <a:custGeom>
                  <a:avLst/>
                  <a:gdLst>
                    <a:gd name="T0" fmla="*/ 0 w 222"/>
                    <a:gd name="T1" fmla="*/ 0 h 428"/>
                    <a:gd name="T2" fmla="*/ 222 w 222"/>
                    <a:gd name="T3" fmla="*/ 428 h 428"/>
                    <a:gd name="T4" fmla="*/ 64 w 222"/>
                    <a:gd name="T5" fmla="*/ 17 h 428"/>
                    <a:gd name="T6" fmla="*/ 0 w 222"/>
                    <a:gd name="T7" fmla="*/ 0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22" h="428">
                      <a:moveTo>
                        <a:pt x="0" y="0"/>
                      </a:moveTo>
                      <a:lnTo>
                        <a:pt x="222" y="428"/>
                      </a:lnTo>
                      <a:lnTo>
                        <a:pt x="64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b="1" kern="1200">
                      <a:solidFill>
                        <a:srgbClr val="00CC00"/>
                      </a:solidFill>
                      <a:latin typeface="宋体" pitchFamily="2" charset="-122"/>
                      <a:ea typeface="宋体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sp>
          <p:nvSpPr>
            <p:cNvPr id="40" name="AutoShape 177"/>
            <p:cNvSpPr>
              <a:spLocks noChangeArrowheads="1"/>
            </p:cNvSpPr>
            <p:nvPr/>
          </p:nvSpPr>
          <p:spPr bwMode="auto">
            <a:xfrm>
              <a:off x="2821455" y="1110386"/>
              <a:ext cx="1944687" cy="1263704"/>
            </a:xfrm>
            <a:prstGeom prst="wedgeEllipseCallout">
              <a:avLst>
                <a:gd name="adj1" fmla="val -24086"/>
                <a:gd name="adj2" fmla="val 64941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FFFF0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rgbClr val="00CC00"/>
                  </a:solidFill>
                  <a:latin typeface="宋体" pitchFamily="2" charset="-122"/>
                  <a:ea typeface="宋体" pitchFamily="2" charset="-122"/>
                  <a:cs typeface="+mn-cs"/>
                </a:defRPr>
              </a:lvl9pPr>
            </a:lstStyle>
            <a:p>
              <a:pPr eaLnBrk="0" hangingPunct="0"/>
              <a:r>
                <a:rPr lang="zh-CN" altLang="en-US" sz="1400" b="0" dirty="0" smtClean="0">
                  <a:solidFill>
                    <a:schemeClr val="tx1"/>
                  </a:solidFill>
                  <a:latin typeface="Arial" charset="0"/>
                </a:rPr>
                <a:t>客户要求的产品我们是否可以生产，价格是多少，交货周期多长？</a:t>
              </a:r>
              <a:endParaRPr lang="zh-CN" altLang="en-US" sz="1400" b="0" dirty="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核心问题和需求</a:t>
            </a:r>
            <a:endParaRPr lang="zh-CN" altLang="en-US" dirty="0"/>
          </a:p>
        </p:txBody>
      </p:sp>
      <p:sp>
        <p:nvSpPr>
          <p:cNvPr id="33" name="AutoShape 165"/>
          <p:cNvSpPr>
            <a:spLocks noChangeArrowheads="1"/>
          </p:cNvSpPr>
          <p:nvPr/>
        </p:nvSpPr>
        <p:spPr bwMode="auto">
          <a:xfrm>
            <a:off x="1388911" y="3282160"/>
            <a:ext cx="503237" cy="485775"/>
          </a:xfrm>
          <a:prstGeom prst="rightArrow">
            <a:avLst>
              <a:gd name="adj1" fmla="val 50000"/>
              <a:gd name="adj2" fmla="val 25899"/>
            </a:avLst>
          </a:prstGeom>
          <a:gradFill rotWithShape="1">
            <a:gsLst>
              <a:gs pos="0">
                <a:srgbClr val="FFBD5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FFBD5D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CC00"/>
                </a:solidFill>
                <a:latin typeface="宋体" pitchFamily="2" charset="-122"/>
                <a:ea typeface="宋体" pitchFamily="2" charset="-122"/>
                <a:cs typeface="+mn-cs"/>
              </a:defRPr>
            </a:lvl9pPr>
          </a:lstStyle>
          <a:p>
            <a:pPr algn="ctr"/>
            <a:endParaRPr lang="zh-CN" altLang="zh-CN">
              <a:latin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5434164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未来选装选配总体业务框图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-505023" y="2225598"/>
            <a:ext cx="8235950" cy="5027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4213" indent="-22860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–"/>
              <a:defRPr sz="18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2pPr>
            <a:lvl3pPr marL="1143000" indent="-228600" algn="l" defTabSz="108585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•"/>
              <a:defRPr sz="16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42875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4pPr>
            <a:lvl5pPr marL="1827213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700" smtClean="0"/>
          </a:p>
          <a:p>
            <a:endParaRPr lang="en-US" altLang="zh-CN" sz="1700"/>
          </a:p>
        </p:txBody>
      </p:sp>
      <p:sp>
        <p:nvSpPr>
          <p:cNvPr id="40" name="AutoShape 2"/>
          <p:cNvSpPr>
            <a:spLocks noChangeArrowheads="1"/>
          </p:cNvSpPr>
          <p:nvPr/>
        </p:nvSpPr>
        <p:spPr bwMode="auto">
          <a:xfrm>
            <a:off x="134938" y="1038410"/>
            <a:ext cx="8886825" cy="2676525"/>
          </a:xfrm>
          <a:prstGeom prst="roundRect">
            <a:avLst>
              <a:gd name="adj" fmla="val 16667"/>
            </a:avLst>
          </a:prstGeom>
          <a:noFill/>
          <a:ln w="38100" cap="rnd" algn="ctr">
            <a:solidFill>
              <a:srgbClr val="33CC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CCFF">
                    <a:alpha val="85001"/>
                  </a:srgbClr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marL="171450" indent="-171450" algn="ctr"/>
            <a:endParaRPr lang="zh-CN" altLang="zh-CN" sz="2000" b="1">
              <a:solidFill>
                <a:srgbClr val="FF3300"/>
              </a:solidFill>
            </a:endParaRPr>
          </a:p>
        </p:txBody>
      </p:sp>
      <p:sp>
        <p:nvSpPr>
          <p:cNvPr id="41" name="AutoShape 3"/>
          <p:cNvSpPr>
            <a:spLocks noChangeArrowheads="1"/>
          </p:cNvSpPr>
          <p:nvPr/>
        </p:nvSpPr>
        <p:spPr bwMode="auto">
          <a:xfrm>
            <a:off x="134938" y="3857810"/>
            <a:ext cx="6909909" cy="2600325"/>
          </a:xfrm>
          <a:prstGeom prst="roundRect">
            <a:avLst>
              <a:gd name="adj" fmla="val 16667"/>
            </a:avLst>
          </a:prstGeom>
          <a:noFill/>
          <a:ln w="38100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CC">
                    <a:alpha val="85001"/>
                  </a:srgbClr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marL="171450" indent="-171450" algn="ctr"/>
            <a:endParaRPr lang="zh-CN" altLang="zh-CN" sz="2000" b="1">
              <a:solidFill>
                <a:srgbClr val="FF3300"/>
              </a:solidFill>
            </a:endParaRPr>
          </a:p>
        </p:txBody>
      </p:sp>
      <p:sp>
        <p:nvSpPr>
          <p:cNvPr id="149" name="Line 96"/>
          <p:cNvSpPr>
            <a:spLocks noChangeShapeType="1"/>
          </p:cNvSpPr>
          <p:nvPr/>
        </p:nvSpPr>
        <p:spPr bwMode="auto">
          <a:xfrm rot="5400000">
            <a:off x="4624389" y="-661803"/>
            <a:ext cx="0" cy="8886825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endParaRPr lang="zh-CN" altLang="en-US"/>
          </a:p>
        </p:txBody>
      </p:sp>
      <p:sp>
        <p:nvSpPr>
          <p:cNvPr id="466" name="Rectangle 398"/>
          <p:cNvSpPr>
            <a:spLocks noChangeArrowheads="1"/>
          </p:cNvSpPr>
          <p:nvPr/>
        </p:nvSpPr>
        <p:spPr bwMode="auto">
          <a:xfrm>
            <a:off x="412044" y="6109292"/>
            <a:ext cx="47449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b="1" dirty="0" smtClean="0">
                <a:solidFill>
                  <a:srgbClr val="FF3300"/>
                </a:solidFill>
              </a:rPr>
              <a:t>SAP</a:t>
            </a:r>
            <a:endParaRPr lang="en-US" altLang="zh-CN" sz="1200" b="1" i="1" dirty="0">
              <a:solidFill>
                <a:srgbClr val="0033CC"/>
              </a:solidFill>
            </a:endParaRPr>
          </a:p>
        </p:txBody>
      </p:sp>
      <p:sp>
        <p:nvSpPr>
          <p:cNvPr id="467" name="Rectangle 399"/>
          <p:cNvSpPr>
            <a:spLocks noChangeArrowheads="1"/>
          </p:cNvSpPr>
          <p:nvPr/>
        </p:nvSpPr>
        <p:spPr bwMode="auto">
          <a:xfrm>
            <a:off x="404051" y="3166067"/>
            <a:ext cx="10238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b="1" dirty="0" err="1" smtClean="0">
                <a:solidFill>
                  <a:srgbClr val="FF3300"/>
                </a:solidFill>
              </a:rPr>
              <a:t>Windchill</a:t>
            </a:r>
            <a:endParaRPr lang="en-US" altLang="zh-CN" sz="1200" b="1" i="1" dirty="0">
              <a:solidFill>
                <a:srgbClr val="0033CC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10164" y="1047325"/>
            <a:ext cx="3698125" cy="2577499"/>
            <a:chOff x="1796214" y="1077765"/>
            <a:chExt cx="3698125" cy="2577499"/>
          </a:xfrm>
        </p:grpSpPr>
        <p:pic>
          <p:nvPicPr>
            <p:cNvPr id="156" name="Picture 108" descr="MCj0431547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6214" y="2110127"/>
              <a:ext cx="4318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57" name="组合 556"/>
            <p:cNvGrpSpPr/>
            <p:nvPr/>
          </p:nvGrpSpPr>
          <p:grpSpPr>
            <a:xfrm>
              <a:off x="2406509" y="1351007"/>
              <a:ext cx="2401390" cy="2304257"/>
              <a:chOff x="1329855" y="2222932"/>
              <a:chExt cx="2590965" cy="2835451"/>
            </a:xfrm>
          </p:grpSpPr>
          <p:sp>
            <p:nvSpPr>
              <p:cNvPr id="558" name="Text Box 281"/>
              <p:cNvSpPr txBox="1">
                <a:spLocks noChangeAspect="1" noChangeArrowheads="1"/>
              </p:cNvSpPr>
              <p:nvPr/>
            </p:nvSpPr>
            <p:spPr bwMode="auto">
              <a:xfrm>
                <a:off x="1826977" y="3777160"/>
                <a:ext cx="1821549" cy="966037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lIns="92075" tIns="46038" rIns="92075" bIns="4603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1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559" name="组合 558"/>
              <p:cNvGrpSpPr/>
              <p:nvPr/>
            </p:nvGrpSpPr>
            <p:grpSpPr>
              <a:xfrm>
                <a:off x="1329855" y="2222932"/>
                <a:ext cx="2590965" cy="2835451"/>
                <a:chOff x="1329855" y="2222932"/>
                <a:chExt cx="2590965" cy="2835451"/>
              </a:xfrm>
            </p:grpSpPr>
            <p:grpSp>
              <p:nvGrpSpPr>
                <p:cNvPr id="561" name="组合 560"/>
                <p:cNvGrpSpPr/>
                <p:nvPr/>
              </p:nvGrpSpPr>
              <p:grpSpPr>
                <a:xfrm>
                  <a:off x="1519787" y="2222932"/>
                  <a:ext cx="2401033" cy="2447968"/>
                  <a:chOff x="1519787" y="2222932"/>
                  <a:chExt cx="2401033" cy="2447968"/>
                </a:xfrm>
              </p:grpSpPr>
              <p:sp>
                <p:nvSpPr>
                  <p:cNvPr id="596" name="AutoShape 23"/>
                  <p:cNvSpPr>
                    <a:spLocks noChangeArrowheads="1"/>
                  </p:cNvSpPr>
                  <p:nvPr/>
                </p:nvSpPr>
                <p:spPr bwMode="auto">
                  <a:xfrm>
                    <a:off x="1519787" y="2222932"/>
                    <a:ext cx="2401033" cy="2447968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F99"/>
                  </a:solidFill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 anchor="ctr"/>
                  <a:lstStyle/>
                  <a:p>
                    <a:pPr marL="171450" indent="-171450">
                      <a:buFontTx/>
                      <a:buChar char="•"/>
                    </a:pPr>
                    <a:endParaRPr lang="zh-CN" altLang="zh-CN" sz="1200" b="1"/>
                  </a:p>
                </p:txBody>
              </p:sp>
              <p:pic>
                <p:nvPicPr>
                  <p:cNvPr id="597" name="Picture 212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1694384" y="2359962"/>
                    <a:ext cx="193132" cy="1444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598" name="Text Box 2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9247" y="2291293"/>
                    <a:ext cx="1432830" cy="384721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eaLnBrk="0" hangingPunct="0">
                      <a:defRPr/>
                    </a:pPr>
                    <a:r>
                      <a:rPr lang="zh-CN" altLang="en-US" sz="900" b="1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装载机</a:t>
                    </a:r>
                    <a:r>
                      <a:rPr lang="en-US" altLang="zh-CN" sz="900" b="1" kern="0" dirty="0" smtClean="0">
                        <a:solidFill>
                          <a:sysClr val="windowText" lastClr="000000"/>
                        </a:solidFill>
                        <a:ea typeface="宋体" pitchFamily="2" charset="-122"/>
                      </a:rPr>
                      <a:t>64F0282</a:t>
                    </a:r>
                    <a:r>
                      <a:rPr lang="zh-CN" altLang="en-US" sz="900" b="1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系列</a:t>
                    </a:r>
                    <a:endParaRPr lang="en-US" altLang="zh-CN" sz="900" b="1" kern="0" dirty="0">
                      <a:solidFill>
                        <a:sysClr val="windowText" lastClr="000000"/>
                      </a:solidFill>
                      <a:latin typeface="宋体" pitchFamily="2" charset="-122"/>
                      <a:ea typeface="宋体" pitchFamily="2" charset="-122"/>
                    </a:endParaRPr>
                  </a:p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562" name="AutoShape 23"/>
                <p:cNvSpPr>
                  <a:spLocks noChangeArrowheads="1"/>
                </p:cNvSpPr>
                <p:nvPr/>
              </p:nvSpPr>
              <p:spPr bwMode="auto">
                <a:xfrm>
                  <a:off x="1329855" y="2538919"/>
                  <a:ext cx="2401033" cy="25194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pPr marL="171450" indent="-171450">
                    <a:buFontTx/>
                    <a:buChar char="•"/>
                  </a:pPr>
                  <a:endParaRPr lang="zh-CN" altLang="zh-CN" sz="1200" b="1"/>
                </a:p>
              </p:txBody>
            </p:sp>
            <p:grpSp>
              <p:nvGrpSpPr>
                <p:cNvPr id="563" name="组合 562"/>
                <p:cNvGrpSpPr/>
                <p:nvPr/>
              </p:nvGrpSpPr>
              <p:grpSpPr>
                <a:xfrm>
                  <a:off x="1446261" y="2641928"/>
                  <a:ext cx="2284627" cy="2326547"/>
                  <a:chOff x="1446261" y="2641928"/>
                  <a:chExt cx="2284627" cy="2326547"/>
                </a:xfrm>
              </p:grpSpPr>
              <p:cxnSp>
                <p:nvCxnSpPr>
                  <p:cNvPr id="564" name="AutoShape 181"/>
                  <p:cNvCxnSpPr>
                    <a:cxnSpLocks noChangeAspect="1" noChangeShapeType="1"/>
                  </p:cNvCxnSpPr>
                  <p:nvPr/>
                </p:nvCxnSpPr>
                <p:spPr bwMode="auto">
                  <a:xfrm rot="16200000" flipH="1">
                    <a:off x="2457433" y="3593542"/>
                    <a:ext cx="131947" cy="895101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cxnSp>
                <p:nvCxnSpPr>
                  <p:cNvPr id="565" name="AutoShape 182"/>
                  <p:cNvCxnSpPr>
                    <a:cxnSpLocks noChangeAspect="1" noChangeShapeType="1"/>
                  </p:cNvCxnSpPr>
                  <p:nvPr/>
                </p:nvCxnSpPr>
                <p:spPr bwMode="auto">
                  <a:xfrm rot="16200000" flipH="1">
                    <a:off x="2331910" y="3719065"/>
                    <a:ext cx="406951" cy="919062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grpSp>
                <p:nvGrpSpPr>
                  <p:cNvPr id="566" name="Group 199"/>
                  <p:cNvGrpSpPr>
                    <a:grpSpLocks/>
                  </p:cNvGrpSpPr>
                  <p:nvPr/>
                </p:nvGrpSpPr>
                <p:grpSpPr bwMode="auto">
                  <a:xfrm>
                    <a:off x="2991514" y="4545971"/>
                    <a:ext cx="636670" cy="230560"/>
                    <a:chOff x="4637" y="2608"/>
                    <a:chExt cx="372" cy="166"/>
                  </a:xfrm>
                </p:grpSpPr>
                <p:pic>
                  <p:nvPicPr>
                    <p:cNvPr id="594" name="Picture 184" descr="Icon_Par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4637" y="2617"/>
                      <a:ext cx="153" cy="13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595" name="Text Box 185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4766" y="2608"/>
                      <a:ext cx="243" cy="166"/>
                    </a:xfrm>
                    <a:prstGeom prst="rect">
                      <a:avLst/>
                    </a:prstGeom>
                    <a:noFill/>
                    <a:ln w="3175" algn="ctr">
                      <a:noFill/>
                      <a:miter lim="800000"/>
                      <a:headEnd/>
                      <a:tailEnd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0" dirty="0" smtClean="0">
                          <a:solidFill>
                            <a:srgbClr val="000000"/>
                          </a:solidFill>
                          <a:latin typeface="宋体" pitchFamily="2" charset="-122"/>
                          <a:ea typeface="宋体" pitchFamily="2" charset="-122"/>
                        </a:rPr>
                        <a:t>侧卸</a:t>
                      </a:r>
                      <a:endParaRPr kumimoji="0" lang="en-US" sz="90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宋体" pitchFamily="2" charset="-122"/>
                        <a:ea typeface="宋体" pitchFamily="2" charset="-122"/>
                      </a:endParaRPr>
                    </a:p>
                  </p:txBody>
                </p:sp>
              </p:grpSp>
              <p:grpSp>
                <p:nvGrpSpPr>
                  <p:cNvPr id="567" name="Group 198"/>
                  <p:cNvGrpSpPr>
                    <a:grpSpLocks/>
                  </p:cNvGrpSpPr>
                  <p:nvPr/>
                </p:nvGrpSpPr>
                <p:grpSpPr bwMode="auto">
                  <a:xfrm>
                    <a:off x="2994944" y="4275138"/>
                    <a:ext cx="628113" cy="254173"/>
                    <a:chOff x="4651" y="2805"/>
                    <a:chExt cx="367" cy="183"/>
                  </a:xfrm>
                </p:grpSpPr>
                <p:pic>
                  <p:nvPicPr>
                    <p:cNvPr id="592" name="Picture 187" descr="Icon_Par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4651" y="2816"/>
                      <a:ext cx="153" cy="13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593" name="Text Box 188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4754" y="2805"/>
                      <a:ext cx="264" cy="183"/>
                    </a:xfrm>
                    <a:prstGeom prst="rect">
                      <a:avLst/>
                    </a:prstGeom>
                    <a:noFill/>
                    <a:ln w="3175" algn="ctr">
                      <a:noFill/>
                      <a:miter lim="800000"/>
                      <a:headEnd/>
                      <a:tailEnd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zh-CN" altLang="en-US" sz="900" kern="0" noProof="0" dirty="0" smtClean="0">
                          <a:solidFill>
                            <a:srgbClr val="000000"/>
                          </a:solidFill>
                          <a:latin typeface="宋体" pitchFamily="2" charset="-122"/>
                          <a:ea typeface="宋体" pitchFamily="2" charset="-122"/>
                        </a:rPr>
                        <a:t>抱叉</a:t>
                      </a:r>
                      <a:endParaRPr kumimoji="0" lang="en-US" sz="90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宋体" pitchFamily="2" charset="-122"/>
                        <a:ea typeface="宋体" pitchFamily="2" charset="-122"/>
                      </a:endParaRPr>
                    </a:p>
                  </p:txBody>
                </p:sp>
              </p:grpSp>
              <p:cxnSp>
                <p:nvCxnSpPr>
                  <p:cNvPr id="568" name="AutoShape 189"/>
                  <p:cNvCxnSpPr>
                    <a:cxnSpLocks noChangeAspect="1" noChangeShapeType="1"/>
                  </p:cNvCxnSpPr>
                  <p:nvPr/>
                </p:nvCxnSpPr>
                <p:spPr bwMode="auto">
                  <a:xfrm rot="16200000" flipH="1">
                    <a:off x="2194571" y="3856568"/>
                    <a:ext cx="683344" cy="919062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grpSp>
                <p:nvGrpSpPr>
                  <p:cNvPr id="569" name="Group 197"/>
                  <p:cNvGrpSpPr>
                    <a:grpSpLocks/>
                  </p:cNvGrpSpPr>
                  <p:nvPr/>
                </p:nvGrpSpPr>
                <p:grpSpPr bwMode="auto">
                  <a:xfrm>
                    <a:off x="2984683" y="4008453"/>
                    <a:ext cx="746205" cy="254170"/>
                    <a:chOff x="4651" y="3009"/>
                    <a:chExt cx="436" cy="183"/>
                  </a:xfrm>
                </p:grpSpPr>
                <p:pic>
                  <p:nvPicPr>
                    <p:cNvPr id="590" name="Picture 191" descr="Icon_Par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4651" y="3015"/>
                      <a:ext cx="152" cy="13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591" name="Text Box 192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4755" y="3009"/>
                      <a:ext cx="332" cy="183"/>
                    </a:xfrm>
                    <a:prstGeom prst="rect">
                      <a:avLst/>
                    </a:prstGeom>
                    <a:noFill/>
                    <a:ln w="3175" algn="ctr">
                      <a:noFill/>
                      <a:miter lim="800000"/>
                      <a:headEnd/>
                      <a:tailEnd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zh-CN" altLang="en-US" sz="900" kern="0" dirty="0" smtClean="0">
                          <a:solidFill>
                            <a:srgbClr val="000000"/>
                          </a:solidFill>
                          <a:latin typeface="宋体" pitchFamily="2" charset="-122"/>
                          <a:ea typeface="宋体" pitchFamily="2" charset="-122"/>
                        </a:rPr>
                        <a:t>除雪铲</a:t>
                      </a:r>
                      <a:endParaRPr kumimoji="0" lang="en-US" sz="90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宋体" pitchFamily="2" charset="-122"/>
                        <a:ea typeface="宋体" pitchFamily="2" charset="-122"/>
                      </a:endParaRPr>
                    </a:p>
                  </p:txBody>
                </p:sp>
              </p:grpSp>
              <p:sp>
                <p:nvSpPr>
                  <p:cNvPr id="570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61262" y="3780556"/>
                    <a:ext cx="761747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noProof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三联阀属具</a:t>
                    </a:r>
                    <a:endParaRPr kumimoji="0" lang="en-US" sz="9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cxnSp>
                <p:nvCxnSpPr>
                  <p:cNvPr id="571" name="AutoShape 202"/>
                  <p:cNvCxnSpPr>
                    <a:cxnSpLocks noChangeShapeType="1"/>
                    <a:stCxn id="574" idx="2"/>
                    <a:endCxn id="573" idx="1"/>
                  </p:cNvCxnSpPr>
                  <p:nvPr/>
                </p:nvCxnSpPr>
                <p:spPr bwMode="auto">
                  <a:xfrm rot="16200000" flipH="1">
                    <a:off x="1767629" y="3711207"/>
                    <a:ext cx="187325" cy="175327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sp>
                <p:nvSpPr>
                  <p:cNvPr id="572" name="Text Box 2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7758" y="3533737"/>
                    <a:ext cx="415498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属具</a:t>
                    </a:r>
                    <a:endPara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pic>
                <p:nvPicPr>
                  <p:cNvPr id="573" name="Picture 204" descr="basicnod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/>
                  <a:srcRect/>
                  <a:stretch>
                    <a:fillRect/>
                  </a:stretch>
                </p:blipFill>
                <p:spPr bwMode="auto">
                  <a:xfrm>
                    <a:off x="1948954" y="3809858"/>
                    <a:ext cx="224636" cy="16534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574" name="Picture 205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1676376" y="3561836"/>
                    <a:ext cx="194502" cy="14337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cxnSp>
                <p:nvCxnSpPr>
                  <p:cNvPr id="575" name="AutoShape 209"/>
                  <p:cNvCxnSpPr>
                    <a:cxnSpLocks noChangeShapeType="1"/>
                    <a:stCxn id="578" idx="2"/>
                    <a:endCxn id="574" idx="1"/>
                  </p:cNvCxnSpPr>
                  <p:nvPr/>
                </p:nvCxnSpPr>
                <p:spPr bwMode="auto">
                  <a:xfrm rot="16200000" flipH="1">
                    <a:off x="1210619" y="3167766"/>
                    <a:ext cx="797963" cy="133549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cxnSp>
                <p:nvCxnSpPr>
                  <p:cNvPr id="576" name="AutoShape 210"/>
                  <p:cNvCxnSpPr>
                    <a:cxnSpLocks noChangeShapeType="1"/>
                    <a:stCxn id="578" idx="2"/>
                    <a:endCxn id="577" idx="1"/>
                  </p:cNvCxnSpPr>
                  <p:nvPr/>
                </p:nvCxnSpPr>
                <p:spPr bwMode="auto">
                  <a:xfrm rot="16200000" flipH="1">
                    <a:off x="1519478" y="2858908"/>
                    <a:ext cx="174767" cy="128070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pic>
                <p:nvPicPr>
                  <p:cNvPr id="577" name="Picture 211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1670897" y="2938117"/>
                    <a:ext cx="193132" cy="1444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578" name="Picture 212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1446261" y="2691141"/>
                    <a:ext cx="193132" cy="1444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579" name="Text Box 2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43141" y="2892516"/>
                    <a:ext cx="877163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转向液压系统</a:t>
                    </a:r>
                    <a:endPara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sp>
                <p:nvSpPr>
                  <p:cNvPr id="580" name="Text Box 2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70852" y="2641928"/>
                    <a:ext cx="1432830" cy="384721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eaLnBrk="0" hangingPunct="0">
                      <a:defRPr/>
                    </a:pPr>
                    <a:r>
                      <a:rPr lang="zh-CN" altLang="en-US" sz="900" b="1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装载机</a:t>
                    </a:r>
                    <a:r>
                      <a:rPr lang="en-US" altLang="zh-CN" sz="900" b="1" kern="0" dirty="0">
                        <a:solidFill>
                          <a:sysClr val="windowText" lastClr="000000"/>
                        </a:solidFill>
                        <a:ea typeface="宋体" pitchFamily="2" charset="-122"/>
                      </a:rPr>
                      <a:t>64F0281</a:t>
                    </a:r>
                    <a:r>
                      <a:rPr lang="zh-CN" altLang="en-US" sz="900" b="1" kern="0" dirty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系列</a:t>
                    </a:r>
                    <a:endParaRPr lang="en-US" altLang="zh-CN" sz="900" b="1" kern="0" dirty="0">
                      <a:solidFill>
                        <a:sysClr val="windowText" lastClr="000000"/>
                      </a:solidFill>
                      <a:latin typeface="宋体" pitchFamily="2" charset="-122"/>
                      <a:ea typeface="宋体" pitchFamily="2" charset="-122"/>
                    </a:endParaRPr>
                  </a:p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pic>
                <p:nvPicPr>
                  <p:cNvPr id="581" name="Picture 215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1754452" y="4824056"/>
                    <a:ext cx="193132" cy="1444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cxnSp>
                <p:nvCxnSpPr>
                  <p:cNvPr id="582" name="AutoShape 217"/>
                  <p:cNvCxnSpPr>
                    <a:cxnSpLocks noChangeShapeType="1"/>
                    <a:stCxn id="578" idx="2"/>
                    <a:endCxn id="581" idx="1"/>
                  </p:cNvCxnSpPr>
                  <p:nvPr/>
                </p:nvCxnSpPr>
                <p:spPr bwMode="auto">
                  <a:xfrm rot="16200000" flipH="1">
                    <a:off x="618286" y="3760100"/>
                    <a:ext cx="2060706" cy="211625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pic>
                <p:nvPicPr>
                  <p:cNvPr id="583" name="Picture 221" descr="basicnod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/>
                  <a:srcRect/>
                  <a:stretch>
                    <a:fillRect/>
                  </a:stretch>
                </p:blipFill>
                <p:spPr bwMode="auto">
                  <a:xfrm>
                    <a:off x="1918818" y="3365092"/>
                    <a:ext cx="224636" cy="166395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584" name="Text Box 2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93794" y="3340395"/>
                    <a:ext cx="877163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转向油缸总成</a:t>
                    </a:r>
                    <a:endPara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sp>
                <p:nvSpPr>
                  <p:cNvPr id="585" name="Text Box 2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5103" y="3123348"/>
                    <a:ext cx="877163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转向阀及管路</a:t>
                    </a:r>
                    <a:endPara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pic>
                <p:nvPicPr>
                  <p:cNvPr id="586" name="Picture 224" descr="basicnod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/>
                  <a:srcRect/>
                  <a:stretch>
                    <a:fillRect/>
                  </a:stretch>
                </p:blipFill>
                <p:spPr bwMode="auto">
                  <a:xfrm>
                    <a:off x="1924298" y="3137999"/>
                    <a:ext cx="224636" cy="16534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cxnSp>
                <p:nvCxnSpPr>
                  <p:cNvPr id="587" name="AutoShape 225"/>
                  <p:cNvCxnSpPr>
                    <a:cxnSpLocks noChangeShapeType="1"/>
                    <a:stCxn id="577" idx="2"/>
                    <a:endCxn id="583" idx="1"/>
                  </p:cNvCxnSpPr>
                  <p:nvPr/>
                </p:nvCxnSpPr>
                <p:spPr bwMode="auto">
                  <a:xfrm rot="16200000" flipH="1">
                    <a:off x="1660263" y="3189734"/>
                    <a:ext cx="365755" cy="151355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cxnSp>
                <p:nvCxnSpPr>
                  <p:cNvPr id="588" name="AutoShape 226"/>
                  <p:cNvCxnSpPr>
                    <a:cxnSpLocks noChangeShapeType="1"/>
                    <a:stCxn id="577" idx="2"/>
                    <a:endCxn id="586" idx="1"/>
                  </p:cNvCxnSpPr>
                  <p:nvPr/>
                </p:nvCxnSpPr>
                <p:spPr bwMode="auto">
                  <a:xfrm rot="16200000" flipH="1">
                    <a:off x="1776810" y="3073188"/>
                    <a:ext cx="138138" cy="156834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sp>
                <p:nvSpPr>
                  <p:cNvPr id="589" name="Text Box 2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61291" y="4730444"/>
                    <a:ext cx="699819" cy="238027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sz="1400" kern="0" noProof="0" dirty="0" smtClean="0">
                        <a:solidFill>
                          <a:sysClr val="windowText" lastClr="000000"/>
                        </a:solidFill>
                      </a:rPr>
                      <a:t>……….</a:t>
                    </a:r>
                    <a:endPara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560" name="AutoShape 119"/>
              <p:cNvSpPr>
                <a:spLocks noChangeArrowheads="1"/>
              </p:cNvSpPr>
              <p:nvPr/>
            </p:nvSpPr>
            <p:spPr bwMode="auto">
              <a:xfrm>
                <a:off x="1870878" y="4041093"/>
                <a:ext cx="444420" cy="504878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 w="12700">
                <a:solidFill>
                  <a:schemeClr val="accent1">
                    <a:lumMod val="60000"/>
                    <a:lumOff val="40000"/>
                  </a:scheme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 algn="ctr"/>
                <a:r>
                  <a:rPr lang="en-US" altLang="zh-CN" sz="10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宋体" pitchFamily="2" charset="-122"/>
                    <a:ea typeface="宋体" pitchFamily="2" charset="-122"/>
                  </a:rPr>
                  <a:t>OD</a:t>
                </a:r>
              </a:p>
              <a:p>
                <a:pPr marL="171450" indent="-171450" algn="ctr"/>
                <a:r>
                  <a:rPr lang="zh-CN" altLang="en-US" sz="9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宋体" pitchFamily="2" charset="-122"/>
                    <a:ea typeface="宋体" pitchFamily="2" charset="-122"/>
                  </a:rPr>
                  <a:t>关系</a:t>
                </a:r>
                <a:endParaRPr lang="en-US" altLang="zh-CN" sz="9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宋体" pitchFamily="2" charset="-122"/>
                  <a:ea typeface="宋体" pitchFamily="2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898047" y="1377073"/>
              <a:ext cx="596292" cy="600649"/>
              <a:chOff x="5020118" y="1776126"/>
              <a:chExt cx="817737" cy="600649"/>
            </a:xfrm>
          </p:grpSpPr>
          <p:sp>
            <p:nvSpPr>
              <p:cNvPr id="470" name="AutoShape 23"/>
              <p:cNvSpPr>
                <a:spLocks noChangeArrowheads="1"/>
              </p:cNvSpPr>
              <p:nvPr/>
            </p:nvSpPr>
            <p:spPr bwMode="auto">
              <a:xfrm>
                <a:off x="5020118" y="1776126"/>
                <a:ext cx="817737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471" name="TextBox 470"/>
              <p:cNvSpPr txBox="1"/>
              <p:nvPr/>
            </p:nvSpPr>
            <p:spPr>
              <a:xfrm>
                <a:off x="5042711" y="1884332"/>
                <a:ext cx="77255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sp>
          <p:nvSpPr>
            <p:cNvPr id="472" name="Rectangle 8"/>
            <p:cNvSpPr>
              <a:spLocks noChangeArrowheads="1"/>
            </p:cNvSpPr>
            <p:nvPr/>
          </p:nvSpPr>
          <p:spPr bwMode="auto">
            <a:xfrm>
              <a:off x="3035677" y="1077765"/>
              <a:ext cx="954108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超级</a:t>
              </a:r>
              <a:r>
                <a:rPr lang="en-US" altLang="zh-CN" sz="1200" b="1" i="1" dirty="0" smtClean="0">
                  <a:solidFill>
                    <a:srgbClr val="0033CC"/>
                  </a:solidFill>
                </a:rPr>
                <a:t>EBOM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577158" y="1084245"/>
            <a:ext cx="3219109" cy="2555620"/>
            <a:chOff x="5577158" y="1084245"/>
            <a:chExt cx="3219109" cy="2555620"/>
          </a:xfrm>
        </p:grpSpPr>
        <p:pic>
          <p:nvPicPr>
            <p:cNvPr id="508" name="Picture 108" descr="MCj0431547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7158" y="2116607"/>
              <a:ext cx="4318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09" name="组合 508"/>
            <p:cNvGrpSpPr/>
            <p:nvPr/>
          </p:nvGrpSpPr>
          <p:grpSpPr>
            <a:xfrm>
              <a:off x="6394877" y="1335608"/>
              <a:ext cx="2401390" cy="2304257"/>
              <a:chOff x="5606909" y="1335608"/>
              <a:chExt cx="2401390" cy="2304257"/>
            </a:xfrm>
          </p:grpSpPr>
          <p:grpSp>
            <p:nvGrpSpPr>
              <p:cNvPr id="510" name="组合 509"/>
              <p:cNvGrpSpPr/>
              <p:nvPr/>
            </p:nvGrpSpPr>
            <p:grpSpPr>
              <a:xfrm>
                <a:off x="5606909" y="1335608"/>
                <a:ext cx="2401390" cy="2304257"/>
                <a:chOff x="5606909" y="1335608"/>
                <a:chExt cx="2401390" cy="2304257"/>
              </a:xfrm>
            </p:grpSpPr>
            <p:grpSp>
              <p:nvGrpSpPr>
                <p:cNvPr id="512" name="组合 511"/>
                <p:cNvGrpSpPr/>
                <p:nvPr/>
              </p:nvGrpSpPr>
              <p:grpSpPr>
                <a:xfrm>
                  <a:off x="5606909" y="1335608"/>
                  <a:ext cx="2401390" cy="2304257"/>
                  <a:chOff x="5606909" y="1335608"/>
                  <a:chExt cx="2401390" cy="2304257"/>
                </a:xfrm>
              </p:grpSpPr>
              <p:sp>
                <p:nvSpPr>
                  <p:cNvPr id="514" name="Text Box 281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6067658" y="2598667"/>
                    <a:ext cx="1688270" cy="78505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 algn="ctr">
                    <a:solidFill>
                      <a:srgbClr val="FF6600"/>
                    </a:solidFill>
                    <a:miter lim="800000"/>
                    <a:headEnd/>
                    <a:tailEnd/>
                  </a:ln>
                </p:spPr>
                <p:txBody>
                  <a:bodyPr lIns="92075" tIns="46038" rIns="92075" bIns="46038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de-DE" sz="11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515" name="组合 514"/>
                  <p:cNvGrpSpPr/>
                  <p:nvPr/>
                </p:nvGrpSpPr>
                <p:grpSpPr>
                  <a:xfrm>
                    <a:off x="5606909" y="1335608"/>
                    <a:ext cx="2401390" cy="2304257"/>
                    <a:chOff x="1329855" y="2222932"/>
                    <a:chExt cx="2590965" cy="2835451"/>
                  </a:xfrm>
                </p:grpSpPr>
                <p:grpSp>
                  <p:nvGrpSpPr>
                    <p:cNvPr id="517" name="组合 516"/>
                    <p:cNvGrpSpPr/>
                    <p:nvPr/>
                  </p:nvGrpSpPr>
                  <p:grpSpPr>
                    <a:xfrm>
                      <a:off x="1519787" y="2222932"/>
                      <a:ext cx="2401033" cy="2447968"/>
                      <a:chOff x="1519787" y="2222932"/>
                      <a:chExt cx="2401033" cy="2447968"/>
                    </a:xfrm>
                  </p:grpSpPr>
                  <p:sp>
                    <p:nvSpPr>
                      <p:cNvPr id="544" name="AutoShape 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19787" y="2222932"/>
                        <a:ext cx="2401033" cy="2447968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FFFF99"/>
                      </a:solidFill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lIns="92075" tIns="46038" rIns="92075" bIns="46038" anchor="ctr"/>
                      <a:lstStyle/>
                      <a:p>
                        <a:pPr marL="171450" indent="-171450">
                          <a:buFontTx/>
                          <a:buChar char="•"/>
                        </a:pPr>
                        <a:endParaRPr lang="zh-CN" altLang="zh-CN" sz="1200" b="1"/>
                      </a:p>
                    </p:txBody>
                  </p:sp>
                  <p:pic>
                    <p:nvPicPr>
                      <p:cNvPr id="545" name="Picture 212" descr="structure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4384" y="2359962"/>
                        <a:ext cx="193132" cy="1444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546" name="Text Box 2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09247" y="2291293"/>
                        <a:ext cx="1432830" cy="384721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 eaLnBrk="0" hangingPunct="0">
                          <a:defRPr/>
                        </a:pP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装载机</a:t>
                        </a:r>
                        <a:r>
                          <a:rPr lang="en-US" altLang="zh-CN" sz="900" b="1" kern="0" dirty="0" smtClean="0">
                            <a:solidFill>
                              <a:sysClr val="windowText" lastClr="000000"/>
                            </a:solidFill>
                            <a:ea typeface="宋体" pitchFamily="2" charset="-122"/>
                          </a:rPr>
                          <a:t>64F0282</a:t>
                        </a: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系列</a:t>
                        </a:r>
                        <a:endParaRPr lang="en-US" altLang="zh-CN" sz="900" b="1" kern="0" dirty="0">
                          <a:solidFill>
                            <a:sysClr val="windowText" lastClr="000000"/>
                          </a:solidFill>
                          <a:latin typeface="宋体" pitchFamily="2" charset="-122"/>
                          <a:ea typeface="宋体" pitchFamily="2" charset="-122"/>
                        </a:endParaRPr>
                      </a:p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518" name="AutoShape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29855" y="2538919"/>
                      <a:ext cx="2401033" cy="2519464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FFFF99"/>
                    </a:solidFill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2075" tIns="46038" rIns="92075" bIns="46038" anchor="ctr"/>
                    <a:lstStyle/>
                    <a:p>
                      <a:pPr marL="171450" indent="-171450">
                        <a:buFontTx/>
                        <a:buChar char="•"/>
                      </a:pPr>
                      <a:endParaRPr lang="zh-CN" altLang="zh-CN" sz="1200" b="1"/>
                    </a:p>
                  </p:txBody>
                </p:sp>
                <p:grpSp>
                  <p:nvGrpSpPr>
                    <p:cNvPr id="519" name="组合 518"/>
                    <p:cNvGrpSpPr/>
                    <p:nvPr/>
                  </p:nvGrpSpPr>
                  <p:grpSpPr>
                    <a:xfrm>
                      <a:off x="1446261" y="2641928"/>
                      <a:ext cx="2284627" cy="2326543"/>
                      <a:chOff x="1446261" y="2641928"/>
                      <a:chExt cx="2284627" cy="2326543"/>
                    </a:xfrm>
                  </p:grpSpPr>
                  <p:cxnSp>
                    <p:nvCxnSpPr>
                      <p:cNvPr id="520" name="AutoShape 181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457433" y="3593542"/>
                        <a:ext cx="131947" cy="895101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cxnSp>
                    <p:nvCxnSpPr>
                      <p:cNvPr id="521" name="AutoShape 182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331910" y="3719065"/>
                        <a:ext cx="406951" cy="919062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grpSp>
                    <p:nvGrpSpPr>
                      <p:cNvPr id="522" name="Group 19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91514" y="4545971"/>
                        <a:ext cx="636670" cy="230560"/>
                        <a:chOff x="4637" y="2608"/>
                        <a:chExt cx="372" cy="166"/>
                      </a:xfrm>
                    </p:grpSpPr>
                    <p:pic>
                      <p:nvPicPr>
                        <p:cNvPr id="542" name="Picture 184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7" y="2617"/>
                          <a:ext cx="153" cy="1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543" name="Text Box 185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66" y="2608"/>
                          <a:ext cx="243" cy="166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900" kern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侧卸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523" name="Group 19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94944" y="4275138"/>
                        <a:ext cx="628113" cy="254173"/>
                        <a:chOff x="4651" y="2805"/>
                        <a:chExt cx="367" cy="183"/>
                      </a:xfrm>
                    </p:grpSpPr>
                    <p:pic>
                      <p:nvPicPr>
                        <p:cNvPr id="540" name="Picture 187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1" y="2816"/>
                          <a:ext cx="153" cy="1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541" name="Text Box 188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54" y="2805"/>
                          <a:ext cx="264" cy="183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05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</a:rPr>
                            <a:t> </a:t>
                          </a:r>
                          <a:r>
                            <a:rPr lang="zh-CN" altLang="en-US" sz="900" kern="0" noProof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抱叉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cxnSp>
                    <p:nvCxnSpPr>
                      <p:cNvPr id="524" name="AutoShape 189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194571" y="3856568"/>
                        <a:ext cx="683344" cy="919062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grpSp>
                    <p:nvGrpSpPr>
                      <p:cNvPr id="525" name="Group 19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84683" y="4008453"/>
                        <a:ext cx="746205" cy="254170"/>
                        <a:chOff x="4651" y="3009"/>
                        <a:chExt cx="436" cy="183"/>
                      </a:xfrm>
                    </p:grpSpPr>
                    <p:pic>
                      <p:nvPicPr>
                        <p:cNvPr id="538" name="Picture 191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1" y="3015"/>
                          <a:ext cx="152" cy="1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539" name="Text Box 192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55" y="3009"/>
                          <a:ext cx="332" cy="183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05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</a:rPr>
                            <a:t> </a:t>
                          </a:r>
                          <a:r>
                            <a:rPr lang="zh-CN" altLang="en-US" sz="900" kern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除雪铲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sp>
                    <p:nvSpPr>
                      <p:cNvPr id="526" name="Text Box 20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161262" y="3780556"/>
                        <a:ext cx="761747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noProof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三联阀属具</a:t>
                        </a:r>
                        <a:endParaRPr kumimoji="0" lang="en-US" sz="9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cxnSp>
                    <p:nvCxnSpPr>
                      <p:cNvPr id="527" name="AutoShape 202"/>
                      <p:cNvCxnSpPr>
                        <a:cxnSpLocks noChangeShapeType="1"/>
                        <a:endCxn id="528" idx="1"/>
                      </p:cNvCxnSpPr>
                      <p:nvPr/>
                    </p:nvCxnSpPr>
                    <p:spPr bwMode="auto">
                      <a:xfrm rot="16200000" flipH="1">
                        <a:off x="1245883" y="3189460"/>
                        <a:ext cx="1000016" cy="406127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528" name="Picture 204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8954" y="3809858"/>
                        <a:ext cx="224636" cy="16534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cxnSp>
                    <p:nvCxnSpPr>
                      <p:cNvPr id="529" name="AutoShape 210"/>
                      <p:cNvCxnSpPr>
                        <a:cxnSpLocks noChangeShapeType="1"/>
                        <a:stCxn id="530" idx="2"/>
                        <a:endCxn id="536" idx="1"/>
                      </p:cNvCxnSpPr>
                      <p:nvPr/>
                    </p:nvCxnSpPr>
                    <p:spPr bwMode="auto">
                      <a:xfrm rot="16200000" flipH="1">
                        <a:off x="1541006" y="2837381"/>
                        <a:ext cx="385113" cy="381470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530" name="Picture 212" descr="structure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61" y="2691141"/>
                        <a:ext cx="193132" cy="1444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531" name="Text Box 2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570852" y="2641928"/>
                        <a:ext cx="1432830" cy="384721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 eaLnBrk="0" hangingPunct="0">
                          <a:defRPr/>
                        </a:pP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装载机</a:t>
                        </a:r>
                        <a:r>
                          <a:rPr lang="en-US" altLang="zh-CN" sz="900" b="1" kern="0" dirty="0">
                            <a:solidFill>
                              <a:sysClr val="windowText" lastClr="000000"/>
                            </a:solidFill>
                            <a:ea typeface="宋体" pitchFamily="2" charset="-122"/>
                          </a:rPr>
                          <a:t>64F0281</a:t>
                        </a:r>
                        <a:r>
                          <a:rPr lang="zh-CN" altLang="en-US" sz="900" b="1" kern="0" dirty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系列</a:t>
                        </a:r>
                        <a:endParaRPr lang="en-US" altLang="zh-CN" sz="900" b="1" kern="0" dirty="0">
                          <a:solidFill>
                            <a:sysClr val="windowText" lastClr="000000"/>
                          </a:solidFill>
                          <a:latin typeface="宋体" pitchFamily="2" charset="-122"/>
                          <a:ea typeface="宋体" pitchFamily="2" charset="-122"/>
                        </a:endParaRPr>
                      </a:p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cxnSp>
                    <p:nvCxnSpPr>
                      <p:cNvPr id="532" name="AutoShape 217"/>
                      <p:cNvCxnSpPr>
                        <a:cxnSpLocks noChangeShapeType="1"/>
                        <a:stCxn id="530" idx="2"/>
                      </p:cNvCxnSpPr>
                      <p:nvPr/>
                    </p:nvCxnSpPr>
                    <p:spPr bwMode="auto">
                      <a:xfrm rot="16200000" flipH="1">
                        <a:off x="618286" y="3760100"/>
                        <a:ext cx="2060706" cy="211625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533" name="Picture 221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818" y="3365092"/>
                        <a:ext cx="224636" cy="166395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534" name="Text Box 22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93794" y="3340395"/>
                        <a:ext cx="877163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转向油缸总成</a:t>
                        </a:r>
                        <a:endPara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sp>
                    <p:nvSpPr>
                      <p:cNvPr id="535" name="Text Box 22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105103" y="3123348"/>
                        <a:ext cx="877163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转向阀及管路</a:t>
                        </a:r>
                        <a:endPara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pic>
                    <p:nvPicPr>
                      <p:cNvPr id="536" name="Picture 224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298" y="3137999"/>
                        <a:ext cx="224636" cy="16534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537" name="Text Box 22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61291" y="4730444"/>
                        <a:ext cx="699819" cy="238027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400" kern="0" noProof="0" dirty="0" smtClean="0">
                            <a:solidFill>
                              <a:sysClr val="windowText" lastClr="000000"/>
                            </a:solidFill>
                          </a:rPr>
                          <a:t>……….</a:t>
                        </a:r>
                        <a:endPara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sp>
                <p:nvSpPr>
                  <p:cNvPr id="516" name="AutoShape 119"/>
                  <p:cNvSpPr>
                    <a:spLocks noChangeArrowheads="1"/>
                  </p:cNvSpPr>
                  <p:nvPr/>
                </p:nvSpPr>
                <p:spPr bwMode="auto">
                  <a:xfrm>
                    <a:off x="6108347" y="2813154"/>
                    <a:ext cx="411903" cy="410294"/>
                  </a:xfrm>
                  <a:prstGeom prst="foldedCorner">
                    <a:avLst>
                      <a:gd name="adj" fmla="val 12500"/>
                    </a:avLst>
                  </a:prstGeom>
                  <a:solidFill>
                    <a:srgbClr val="FFFF99"/>
                  </a:solidFill>
                  <a:ln w="12700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 anchor="ctr"/>
                  <a:lstStyle/>
                  <a:p>
                    <a:pPr marL="171450" indent="-171450" algn="ctr"/>
                    <a:r>
                      <a:rPr lang="en-US" altLang="zh-CN" sz="1000" b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宋体" pitchFamily="2" charset="-122"/>
                        <a:ea typeface="宋体" pitchFamily="2" charset="-122"/>
                      </a:rPr>
                      <a:t>OD</a:t>
                    </a:r>
                  </a:p>
                  <a:p>
                    <a:pPr marL="171450" indent="-171450" algn="ctr"/>
                    <a:r>
                      <a:rPr lang="zh-CN" altLang="en-US" sz="900" b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宋体" pitchFamily="2" charset="-122"/>
                        <a:ea typeface="宋体" pitchFamily="2" charset="-122"/>
                      </a:rPr>
                      <a:t>关系</a:t>
                    </a:r>
                    <a:endParaRPr lang="en-US" altLang="zh-CN" sz="9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</p:grpSp>
            <p:pic>
              <p:nvPicPr>
                <p:cNvPr id="513" name="Picture 224" descr="basicnode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989364" y="3467329"/>
                  <a:ext cx="208200" cy="1343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cxnSp>
            <p:nvCxnSpPr>
              <p:cNvPr id="511" name="AutoShape 210"/>
              <p:cNvCxnSpPr>
                <a:cxnSpLocks noChangeShapeType="1"/>
              </p:cNvCxnSpPr>
              <p:nvPr/>
            </p:nvCxnSpPr>
            <p:spPr bwMode="auto">
              <a:xfrm rot="16200000" flipH="1">
                <a:off x="5725049" y="1913405"/>
                <a:ext cx="498974" cy="337030"/>
              </a:xfrm>
              <a:prstGeom prst="bentConnector2">
                <a:avLst/>
              </a:prstGeom>
              <a:noFill/>
              <a:ln w="19050">
                <a:solidFill>
                  <a:srgbClr val="40637A"/>
                </a:solidFill>
                <a:miter lim="800000"/>
                <a:headEnd/>
                <a:tailEnd/>
              </a:ln>
            </p:spPr>
          </p:cxnSp>
        </p:grpSp>
        <p:sp>
          <p:nvSpPr>
            <p:cNvPr id="551" name="Rectangle 8"/>
            <p:cNvSpPr>
              <a:spLocks noChangeArrowheads="1"/>
            </p:cNvSpPr>
            <p:nvPr/>
          </p:nvSpPr>
          <p:spPr bwMode="auto">
            <a:xfrm>
              <a:off x="7124821" y="1084245"/>
              <a:ext cx="979756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超级</a:t>
              </a:r>
              <a:r>
                <a:rPr lang="en-US" altLang="zh-CN" sz="1200" b="1" i="1" dirty="0">
                  <a:solidFill>
                    <a:srgbClr val="0033CC"/>
                  </a:solidFill>
                </a:rPr>
                <a:t>M</a:t>
              </a:r>
              <a:r>
                <a:rPr lang="en-US" altLang="zh-CN" sz="1200" b="1" i="1" dirty="0" smtClean="0">
                  <a:solidFill>
                    <a:srgbClr val="0033CC"/>
                  </a:solidFill>
                </a:rPr>
                <a:t>BOM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48445" y="4197756"/>
            <a:ext cx="1313124" cy="1272675"/>
            <a:chOff x="248445" y="4197756"/>
            <a:chExt cx="1313124" cy="1272675"/>
          </a:xfrm>
        </p:grpSpPr>
        <p:sp>
          <p:nvSpPr>
            <p:cNvPr id="165" name="Rectangle 111"/>
            <p:cNvSpPr>
              <a:spLocks noChangeArrowheads="1"/>
            </p:cNvSpPr>
            <p:nvPr/>
          </p:nvSpPr>
          <p:spPr bwMode="auto">
            <a:xfrm>
              <a:off x="248445" y="4197756"/>
              <a:ext cx="801687" cy="258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销售订单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161" name="AutoShape 107"/>
            <p:cNvSpPr>
              <a:spLocks noChangeArrowheads="1"/>
            </p:cNvSpPr>
            <p:nvPr/>
          </p:nvSpPr>
          <p:spPr bwMode="auto">
            <a:xfrm>
              <a:off x="281763" y="4558618"/>
              <a:ext cx="682625" cy="525463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171450" indent="-171450" algn="ctr"/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预测订单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65" name="AutoShape 107"/>
            <p:cNvSpPr>
              <a:spLocks noChangeArrowheads="1"/>
            </p:cNvSpPr>
            <p:nvPr/>
          </p:nvSpPr>
          <p:spPr bwMode="auto">
            <a:xfrm>
              <a:off x="281763" y="4944968"/>
              <a:ext cx="682625" cy="525463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171450" indent="-171450" algn="ctr"/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客户订单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</p:txBody>
        </p:sp>
        <p:pic>
          <p:nvPicPr>
            <p:cNvPr id="553" name="Picture 108" descr="MCj0431547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9769" y="4900441"/>
              <a:ext cx="4318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组合 1"/>
          <p:cNvGrpSpPr/>
          <p:nvPr/>
        </p:nvGrpSpPr>
        <p:grpSpPr>
          <a:xfrm>
            <a:off x="412044" y="1277295"/>
            <a:ext cx="1256604" cy="1753445"/>
            <a:chOff x="412044" y="1277295"/>
            <a:chExt cx="1256604" cy="1753445"/>
          </a:xfrm>
        </p:grpSpPr>
        <p:sp>
          <p:nvSpPr>
            <p:cNvPr id="635" name="Rectangle 8"/>
            <p:cNvSpPr>
              <a:spLocks noChangeArrowheads="1"/>
            </p:cNvSpPr>
            <p:nvPr/>
          </p:nvSpPr>
          <p:spPr bwMode="auto">
            <a:xfrm>
              <a:off x="412044" y="1277295"/>
              <a:ext cx="800219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设计输入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  <p:grpSp>
          <p:nvGrpSpPr>
            <p:cNvPr id="636" name="组合 635"/>
            <p:cNvGrpSpPr/>
            <p:nvPr/>
          </p:nvGrpSpPr>
          <p:grpSpPr>
            <a:xfrm>
              <a:off x="620661" y="1759811"/>
              <a:ext cx="1047987" cy="1270929"/>
              <a:chOff x="634999" y="1431160"/>
              <a:chExt cx="1047987" cy="1270929"/>
            </a:xfrm>
          </p:grpSpPr>
          <p:sp>
            <p:nvSpPr>
              <p:cNvPr id="637" name="AutoShape 107"/>
              <p:cNvSpPr>
                <a:spLocks noChangeArrowheads="1"/>
              </p:cNvSpPr>
              <p:nvPr/>
            </p:nvSpPr>
            <p:spPr bwMode="auto">
              <a:xfrm>
                <a:off x="634999" y="1431160"/>
                <a:ext cx="682625" cy="525463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详细设计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marL="171450" indent="-171450"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定义</a:t>
                </a:r>
                <a:endParaRPr lang="en-US" altLang="zh-CN" sz="900" b="1" dirty="0">
                  <a:latin typeface="宋体" pitchFamily="2" charset="-122"/>
                  <a:ea typeface="宋体" pitchFamily="2" charset="-122"/>
                </a:endParaRPr>
              </a:p>
            </p:txBody>
          </p:sp>
          <p:sp>
            <p:nvSpPr>
              <p:cNvPr id="638" name="AutoShape 107"/>
              <p:cNvSpPr>
                <a:spLocks noChangeArrowheads="1"/>
              </p:cNvSpPr>
              <p:nvPr/>
            </p:nvSpPr>
            <p:spPr bwMode="auto">
              <a:xfrm>
                <a:off x="820095" y="1854673"/>
                <a:ext cx="682625" cy="525463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客户需求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</p:txBody>
          </p:sp>
          <p:sp>
            <p:nvSpPr>
              <p:cNvPr id="639" name="AutoShape 107"/>
              <p:cNvSpPr>
                <a:spLocks noChangeArrowheads="1"/>
              </p:cNvSpPr>
              <p:nvPr/>
            </p:nvSpPr>
            <p:spPr bwMode="auto">
              <a:xfrm>
                <a:off x="1000361" y="2176626"/>
                <a:ext cx="682625" cy="525463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建议书请求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4939897" y="4127002"/>
            <a:ext cx="2091292" cy="1614689"/>
            <a:chOff x="4939897" y="4127002"/>
            <a:chExt cx="2091292" cy="1614689"/>
          </a:xfrm>
        </p:grpSpPr>
        <p:pic>
          <p:nvPicPr>
            <p:cNvPr id="643" name="Picture 108" descr="MCj0431547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9897" y="4906921"/>
              <a:ext cx="4318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2" name="Group 419"/>
            <p:cNvGrpSpPr>
              <a:grpSpLocks/>
            </p:cNvGrpSpPr>
            <p:nvPr/>
          </p:nvGrpSpPr>
          <p:grpSpPr bwMode="auto">
            <a:xfrm>
              <a:off x="5632982" y="4554382"/>
              <a:ext cx="1156325" cy="1187309"/>
              <a:chOff x="192" y="1392"/>
              <a:chExt cx="1584" cy="1888"/>
            </a:xfrm>
          </p:grpSpPr>
          <p:grpSp>
            <p:nvGrpSpPr>
              <p:cNvPr id="153" name="Group 392"/>
              <p:cNvGrpSpPr>
                <a:grpSpLocks/>
              </p:cNvGrpSpPr>
              <p:nvPr/>
            </p:nvGrpSpPr>
            <p:grpSpPr bwMode="auto">
              <a:xfrm>
                <a:off x="192" y="1392"/>
                <a:ext cx="1584" cy="1888"/>
                <a:chOff x="192" y="1392"/>
                <a:chExt cx="1584" cy="1888"/>
              </a:xfrm>
            </p:grpSpPr>
            <p:sp>
              <p:nvSpPr>
                <p:cNvPr id="179" name="Freeform 192"/>
                <p:cNvSpPr>
                  <a:spLocks/>
                </p:cNvSpPr>
                <p:nvPr/>
              </p:nvSpPr>
              <p:spPr bwMode="auto">
                <a:xfrm>
                  <a:off x="1353" y="2936"/>
                  <a:ext cx="423" cy="316"/>
                </a:xfrm>
                <a:custGeom>
                  <a:avLst/>
                  <a:gdLst>
                    <a:gd name="T0" fmla="*/ 6 w 423"/>
                    <a:gd name="T1" fmla="*/ 316 h 316"/>
                    <a:gd name="T2" fmla="*/ 257 w 423"/>
                    <a:gd name="T3" fmla="*/ 225 h 316"/>
                    <a:gd name="T4" fmla="*/ 423 w 423"/>
                    <a:gd name="T5" fmla="*/ 0 h 316"/>
                    <a:gd name="T6" fmla="*/ 0 w 423"/>
                    <a:gd name="T7" fmla="*/ 0 h 316"/>
                    <a:gd name="T8" fmla="*/ 6 w 423"/>
                    <a:gd name="T9" fmla="*/ 316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3" h="316">
                      <a:moveTo>
                        <a:pt x="6" y="316"/>
                      </a:moveTo>
                      <a:lnTo>
                        <a:pt x="257" y="225"/>
                      </a:lnTo>
                      <a:lnTo>
                        <a:pt x="423" y="0"/>
                      </a:lnTo>
                      <a:lnTo>
                        <a:pt x="0" y="0"/>
                      </a:lnTo>
                      <a:lnTo>
                        <a:pt x="6" y="316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" name="Freeform 193"/>
                <p:cNvSpPr>
                  <a:spLocks/>
                </p:cNvSpPr>
                <p:nvPr/>
              </p:nvSpPr>
              <p:spPr bwMode="auto">
                <a:xfrm>
                  <a:off x="491" y="1400"/>
                  <a:ext cx="992" cy="1819"/>
                </a:xfrm>
                <a:custGeom>
                  <a:avLst/>
                  <a:gdLst>
                    <a:gd name="T0" fmla="*/ 73 w 992"/>
                    <a:gd name="T1" fmla="*/ 25 h 1819"/>
                    <a:gd name="T2" fmla="*/ 85 w 992"/>
                    <a:gd name="T3" fmla="*/ 13 h 1819"/>
                    <a:gd name="T4" fmla="*/ 97 w 992"/>
                    <a:gd name="T5" fmla="*/ 4 h 1819"/>
                    <a:gd name="T6" fmla="*/ 112 w 992"/>
                    <a:gd name="T7" fmla="*/ 4 h 1819"/>
                    <a:gd name="T8" fmla="*/ 919 w 992"/>
                    <a:gd name="T9" fmla="*/ 0 h 1819"/>
                    <a:gd name="T10" fmla="*/ 934 w 992"/>
                    <a:gd name="T11" fmla="*/ 4 h 1819"/>
                    <a:gd name="T12" fmla="*/ 946 w 992"/>
                    <a:gd name="T13" fmla="*/ 8 h 1819"/>
                    <a:gd name="T14" fmla="*/ 959 w 992"/>
                    <a:gd name="T15" fmla="*/ 17 h 1819"/>
                    <a:gd name="T16" fmla="*/ 971 w 992"/>
                    <a:gd name="T17" fmla="*/ 29 h 1819"/>
                    <a:gd name="T18" fmla="*/ 980 w 992"/>
                    <a:gd name="T19" fmla="*/ 45 h 1819"/>
                    <a:gd name="T20" fmla="*/ 986 w 992"/>
                    <a:gd name="T21" fmla="*/ 62 h 1819"/>
                    <a:gd name="T22" fmla="*/ 989 w 992"/>
                    <a:gd name="T23" fmla="*/ 82 h 1819"/>
                    <a:gd name="T24" fmla="*/ 992 w 992"/>
                    <a:gd name="T25" fmla="*/ 103 h 1819"/>
                    <a:gd name="T26" fmla="*/ 992 w 992"/>
                    <a:gd name="T27" fmla="*/ 1667 h 1819"/>
                    <a:gd name="T28" fmla="*/ 989 w 992"/>
                    <a:gd name="T29" fmla="*/ 1687 h 1819"/>
                    <a:gd name="T30" fmla="*/ 983 w 992"/>
                    <a:gd name="T31" fmla="*/ 1704 h 1819"/>
                    <a:gd name="T32" fmla="*/ 974 w 992"/>
                    <a:gd name="T33" fmla="*/ 1720 h 1819"/>
                    <a:gd name="T34" fmla="*/ 907 w 992"/>
                    <a:gd name="T35" fmla="*/ 1811 h 1819"/>
                    <a:gd name="T36" fmla="*/ 913 w 992"/>
                    <a:gd name="T37" fmla="*/ 1794 h 1819"/>
                    <a:gd name="T38" fmla="*/ 919 w 992"/>
                    <a:gd name="T39" fmla="*/ 1774 h 1819"/>
                    <a:gd name="T40" fmla="*/ 919 w 992"/>
                    <a:gd name="T41" fmla="*/ 1753 h 1819"/>
                    <a:gd name="T42" fmla="*/ 919 w 992"/>
                    <a:gd name="T43" fmla="*/ 189 h 1819"/>
                    <a:gd name="T44" fmla="*/ 916 w 992"/>
                    <a:gd name="T45" fmla="*/ 169 h 1819"/>
                    <a:gd name="T46" fmla="*/ 910 w 992"/>
                    <a:gd name="T47" fmla="*/ 152 h 1819"/>
                    <a:gd name="T48" fmla="*/ 904 w 992"/>
                    <a:gd name="T49" fmla="*/ 136 h 1819"/>
                    <a:gd name="T50" fmla="*/ 895 w 992"/>
                    <a:gd name="T51" fmla="*/ 123 h 1819"/>
                    <a:gd name="T52" fmla="*/ 883 w 992"/>
                    <a:gd name="T53" fmla="*/ 111 h 1819"/>
                    <a:gd name="T54" fmla="*/ 868 w 992"/>
                    <a:gd name="T55" fmla="*/ 103 h 1819"/>
                    <a:gd name="T56" fmla="*/ 856 w 992"/>
                    <a:gd name="T57" fmla="*/ 99 h 1819"/>
                    <a:gd name="T58" fmla="*/ 46 w 992"/>
                    <a:gd name="T59" fmla="*/ 99 h 1819"/>
                    <a:gd name="T60" fmla="*/ 34 w 992"/>
                    <a:gd name="T61" fmla="*/ 99 h 1819"/>
                    <a:gd name="T62" fmla="*/ 18 w 992"/>
                    <a:gd name="T63" fmla="*/ 107 h 1819"/>
                    <a:gd name="T64" fmla="*/ 6 w 992"/>
                    <a:gd name="T65" fmla="*/ 115 h 18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992" h="1819">
                      <a:moveTo>
                        <a:pt x="0" y="123"/>
                      </a:moveTo>
                      <a:lnTo>
                        <a:pt x="73" y="25"/>
                      </a:lnTo>
                      <a:lnTo>
                        <a:pt x="79" y="17"/>
                      </a:lnTo>
                      <a:lnTo>
                        <a:pt x="85" y="13"/>
                      </a:lnTo>
                      <a:lnTo>
                        <a:pt x="91" y="8"/>
                      </a:lnTo>
                      <a:lnTo>
                        <a:pt x="97" y="4"/>
                      </a:lnTo>
                      <a:lnTo>
                        <a:pt x="103" y="4"/>
                      </a:lnTo>
                      <a:lnTo>
                        <a:pt x="112" y="4"/>
                      </a:lnTo>
                      <a:lnTo>
                        <a:pt x="118" y="0"/>
                      </a:lnTo>
                      <a:lnTo>
                        <a:pt x="919" y="0"/>
                      </a:lnTo>
                      <a:lnTo>
                        <a:pt x="925" y="4"/>
                      </a:lnTo>
                      <a:lnTo>
                        <a:pt x="934" y="4"/>
                      </a:lnTo>
                      <a:lnTo>
                        <a:pt x="940" y="4"/>
                      </a:lnTo>
                      <a:lnTo>
                        <a:pt x="946" y="8"/>
                      </a:lnTo>
                      <a:lnTo>
                        <a:pt x="952" y="13"/>
                      </a:lnTo>
                      <a:lnTo>
                        <a:pt x="959" y="17"/>
                      </a:lnTo>
                      <a:lnTo>
                        <a:pt x="965" y="25"/>
                      </a:lnTo>
                      <a:lnTo>
                        <a:pt x="971" y="29"/>
                      </a:lnTo>
                      <a:lnTo>
                        <a:pt x="974" y="37"/>
                      </a:lnTo>
                      <a:lnTo>
                        <a:pt x="980" y="45"/>
                      </a:lnTo>
                      <a:lnTo>
                        <a:pt x="983" y="54"/>
                      </a:lnTo>
                      <a:lnTo>
                        <a:pt x="986" y="62"/>
                      </a:lnTo>
                      <a:lnTo>
                        <a:pt x="989" y="70"/>
                      </a:lnTo>
                      <a:lnTo>
                        <a:pt x="989" y="82"/>
                      </a:lnTo>
                      <a:lnTo>
                        <a:pt x="992" y="91"/>
                      </a:lnTo>
                      <a:lnTo>
                        <a:pt x="992" y="103"/>
                      </a:lnTo>
                      <a:lnTo>
                        <a:pt x="992" y="1659"/>
                      </a:lnTo>
                      <a:lnTo>
                        <a:pt x="992" y="1667"/>
                      </a:lnTo>
                      <a:lnTo>
                        <a:pt x="989" y="1679"/>
                      </a:lnTo>
                      <a:lnTo>
                        <a:pt x="989" y="1687"/>
                      </a:lnTo>
                      <a:lnTo>
                        <a:pt x="986" y="1696"/>
                      </a:lnTo>
                      <a:lnTo>
                        <a:pt x="983" y="1704"/>
                      </a:lnTo>
                      <a:lnTo>
                        <a:pt x="980" y="1712"/>
                      </a:lnTo>
                      <a:lnTo>
                        <a:pt x="974" y="1720"/>
                      </a:lnTo>
                      <a:lnTo>
                        <a:pt x="904" y="1819"/>
                      </a:lnTo>
                      <a:lnTo>
                        <a:pt x="907" y="1811"/>
                      </a:lnTo>
                      <a:lnTo>
                        <a:pt x="910" y="1802"/>
                      </a:lnTo>
                      <a:lnTo>
                        <a:pt x="913" y="1794"/>
                      </a:lnTo>
                      <a:lnTo>
                        <a:pt x="916" y="1786"/>
                      </a:lnTo>
                      <a:lnTo>
                        <a:pt x="919" y="1774"/>
                      </a:lnTo>
                      <a:lnTo>
                        <a:pt x="919" y="1765"/>
                      </a:lnTo>
                      <a:lnTo>
                        <a:pt x="919" y="1753"/>
                      </a:lnTo>
                      <a:lnTo>
                        <a:pt x="919" y="197"/>
                      </a:lnTo>
                      <a:lnTo>
                        <a:pt x="919" y="189"/>
                      </a:lnTo>
                      <a:lnTo>
                        <a:pt x="919" y="177"/>
                      </a:lnTo>
                      <a:lnTo>
                        <a:pt x="916" y="169"/>
                      </a:lnTo>
                      <a:lnTo>
                        <a:pt x="913" y="160"/>
                      </a:lnTo>
                      <a:lnTo>
                        <a:pt x="910" y="152"/>
                      </a:lnTo>
                      <a:lnTo>
                        <a:pt x="907" y="144"/>
                      </a:lnTo>
                      <a:lnTo>
                        <a:pt x="904" y="136"/>
                      </a:lnTo>
                      <a:lnTo>
                        <a:pt x="898" y="127"/>
                      </a:lnTo>
                      <a:lnTo>
                        <a:pt x="895" y="123"/>
                      </a:lnTo>
                      <a:lnTo>
                        <a:pt x="889" y="115"/>
                      </a:lnTo>
                      <a:lnTo>
                        <a:pt x="883" y="111"/>
                      </a:lnTo>
                      <a:lnTo>
                        <a:pt x="874" y="107"/>
                      </a:lnTo>
                      <a:lnTo>
                        <a:pt x="868" y="103"/>
                      </a:lnTo>
                      <a:lnTo>
                        <a:pt x="862" y="99"/>
                      </a:lnTo>
                      <a:lnTo>
                        <a:pt x="856" y="99"/>
                      </a:lnTo>
                      <a:lnTo>
                        <a:pt x="847" y="99"/>
                      </a:lnTo>
                      <a:lnTo>
                        <a:pt x="46" y="99"/>
                      </a:lnTo>
                      <a:lnTo>
                        <a:pt x="40" y="99"/>
                      </a:lnTo>
                      <a:lnTo>
                        <a:pt x="34" y="99"/>
                      </a:lnTo>
                      <a:lnTo>
                        <a:pt x="24" y="103"/>
                      </a:lnTo>
                      <a:lnTo>
                        <a:pt x="18" y="107"/>
                      </a:lnTo>
                      <a:lnTo>
                        <a:pt x="12" y="111"/>
                      </a:lnTo>
                      <a:lnTo>
                        <a:pt x="6" y="115"/>
                      </a:lnTo>
                      <a:lnTo>
                        <a:pt x="0" y="123"/>
                      </a:lnTo>
                      <a:close/>
                    </a:path>
                  </a:pathLst>
                </a:custGeom>
                <a:solidFill>
                  <a:srgbClr val="FFFFA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" name="Freeform 194"/>
                <p:cNvSpPr>
                  <a:spLocks/>
                </p:cNvSpPr>
                <p:nvPr/>
              </p:nvSpPr>
              <p:spPr bwMode="auto">
                <a:xfrm>
                  <a:off x="485" y="1417"/>
                  <a:ext cx="82" cy="110"/>
                </a:xfrm>
                <a:custGeom>
                  <a:avLst/>
                  <a:gdLst>
                    <a:gd name="T0" fmla="*/ 73 w 82"/>
                    <a:gd name="T1" fmla="*/ 0 h 110"/>
                    <a:gd name="T2" fmla="*/ 73 w 82"/>
                    <a:gd name="T3" fmla="*/ 0 h 110"/>
                    <a:gd name="T4" fmla="*/ 0 w 82"/>
                    <a:gd name="T5" fmla="*/ 98 h 110"/>
                    <a:gd name="T6" fmla="*/ 12 w 82"/>
                    <a:gd name="T7" fmla="*/ 110 h 110"/>
                    <a:gd name="T8" fmla="*/ 82 w 82"/>
                    <a:gd name="T9" fmla="*/ 16 h 110"/>
                    <a:gd name="T10" fmla="*/ 82 w 82"/>
                    <a:gd name="T11" fmla="*/ 16 h 110"/>
                    <a:gd name="T12" fmla="*/ 73 w 82"/>
                    <a:gd name="T13" fmla="*/ 0 h 110"/>
                    <a:gd name="T14" fmla="*/ 73 w 82"/>
                    <a:gd name="T15" fmla="*/ 0 h 110"/>
                    <a:gd name="T16" fmla="*/ 73 w 82"/>
                    <a:gd name="T17" fmla="*/ 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2" h="110">
                      <a:moveTo>
                        <a:pt x="73" y="0"/>
                      </a:moveTo>
                      <a:lnTo>
                        <a:pt x="73" y="0"/>
                      </a:lnTo>
                      <a:lnTo>
                        <a:pt x="0" y="98"/>
                      </a:lnTo>
                      <a:lnTo>
                        <a:pt x="12" y="110"/>
                      </a:lnTo>
                      <a:lnTo>
                        <a:pt x="82" y="16"/>
                      </a:lnTo>
                      <a:lnTo>
                        <a:pt x="82" y="16"/>
                      </a:lnTo>
                      <a:lnTo>
                        <a:pt x="73" y="0"/>
                      </a:lnTo>
                      <a:lnTo>
                        <a:pt x="73" y="0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" name="Freeform 195"/>
                <p:cNvSpPr>
                  <a:spLocks/>
                </p:cNvSpPr>
                <p:nvPr/>
              </p:nvSpPr>
              <p:spPr bwMode="auto">
                <a:xfrm>
                  <a:off x="558" y="1408"/>
                  <a:ext cx="15" cy="25"/>
                </a:xfrm>
                <a:custGeom>
                  <a:avLst/>
                  <a:gdLst>
                    <a:gd name="T0" fmla="*/ 6 w 15"/>
                    <a:gd name="T1" fmla="*/ 0 h 25"/>
                    <a:gd name="T2" fmla="*/ 6 w 15"/>
                    <a:gd name="T3" fmla="*/ 5 h 25"/>
                    <a:gd name="T4" fmla="*/ 0 w 15"/>
                    <a:gd name="T5" fmla="*/ 9 h 25"/>
                    <a:gd name="T6" fmla="*/ 9 w 15"/>
                    <a:gd name="T7" fmla="*/ 25 h 25"/>
                    <a:gd name="T8" fmla="*/ 15 w 15"/>
                    <a:gd name="T9" fmla="*/ 17 h 25"/>
                    <a:gd name="T10" fmla="*/ 15 w 15"/>
                    <a:gd name="T11" fmla="*/ 21 h 25"/>
                    <a:gd name="T12" fmla="*/ 6 w 15"/>
                    <a:gd name="T13" fmla="*/ 0 h 25"/>
                    <a:gd name="T14" fmla="*/ 6 w 15"/>
                    <a:gd name="T15" fmla="*/ 5 h 25"/>
                    <a:gd name="T16" fmla="*/ 6 w 15"/>
                    <a:gd name="T17" fmla="*/ 5 h 25"/>
                    <a:gd name="T18" fmla="*/ 6 w 15"/>
                    <a:gd name="T1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6" y="0"/>
                      </a:moveTo>
                      <a:lnTo>
                        <a:pt x="6" y="5"/>
                      </a:lnTo>
                      <a:lnTo>
                        <a:pt x="0" y="9"/>
                      </a:lnTo>
                      <a:lnTo>
                        <a:pt x="9" y="25"/>
                      </a:lnTo>
                      <a:lnTo>
                        <a:pt x="15" y="17"/>
                      </a:lnTo>
                      <a:lnTo>
                        <a:pt x="15" y="21"/>
                      </a:lnTo>
                      <a:lnTo>
                        <a:pt x="6" y="0"/>
                      </a:lnTo>
                      <a:lnTo>
                        <a:pt x="6" y="5"/>
                      </a:lnTo>
                      <a:lnTo>
                        <a:pt x="6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" name="Freeform 196"/>
                <p:cNvSpPr>
                  <a:spLocks/>
                </p:cNvSpPr>
                <p:nvPr/>
              </p:nvSpPr>
              <p:spPr bwMode="auto">
                <a:xfrm>
                  <a:off x="564" y="1404"/>
                  <a:ext cx="15" cy="25"/>
                </a:xfrm>
                <a:custGeom>
                  <a:avLst/>
                  <a:gdLst>
                    <a:gd name="T0" fmla="*/ 9 w 15"/>
                    <a:gd name="T1" fmla="*/ 0 h 25"/>
                    <a:gd name="T2" fmla="*/ 6 w 15"/>
                    <a:gd name="T3" fmla="*/ 0 h 25"/>
                    <a:gd name="T4" fmla="*/ 0 w 15"/>
                    <a:gd name="T5" fmla="*/ 4 h 25"/>
                    <a:gd name="T6" fmla="*/ 9 w 15"/>
                    <a:gd name="T7" fmla="*/ 25 h 25"/>
                    <a:gd name="T8" fmla="*/ 15 w 15"/>
                    <a:gd name="T9" fmla="*/ 17 h 25"/>
                    <a:gd name="T10" fmla="*/ 15 w 15"/>
                    <a:gd name="T11" fmla="*/ 17 h 25"/>
                    <a:gd name="T12" fmla="*/ 9 w 15"/>
                    <a:gd name="T13" fmla="*/ 0 h 25"/>
                    <a:gd name="T14" fmla="*/ 9 w 15"/>
                    <a:gd name="T15" fmla="*/ 0 h 25"/>
                    <a:gd name="T16" fmla="*/ 6 w 15"/>
                    <a:gd name="T17" fmla="*/ 0 h 25"/>
                    <a:gd name="T18" fmla="*/ 9 w 15"/>
                    <a:gd name="T1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9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9" y="25"/>
                      </a:lnTo>
                      <a:lnTo>
                        <a:pt x="15" y="17"/>
                      </a:lnTo>
                      <a:lnTo>
                        <a:pt x="15" y="17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" name="Freeform 197"/>
                <p:cNvSpPr>
                  <a:spLocks/>
                </p:cNvSpPr>
                <p:nvPr/>
              </p:nvSpPr>
              <p:spPr bwMode="auto">
                <a:xfrm>
                  <a:off x="573" y="1400"/>
                  <a:ext cx="12" cy="21"/>
                </a:xfrm>
                <a:custGeom>
                  <a:avLst/>
                  <a:gdLst>
                    <a:gd name="T0" fmla="*/ 6 w 12"/>
                    <a:gd name="T1" fmla="*/ 0 h 21"/>
                    <a:gd name="T2" fmla="*/ 6 w 12"/>
                    <a:gd name="T3" fmla="*/ 0 h 21"/>
                    <a:gd name="T4" fmla="*/ 0 w 12"/>
                    <a:gd name="T5" fmla="*/ 4 h 21"/>
                    <a:gd name="T6" fmla="*/ 6 w 12"/>
                    <a:gd name="T7" fmla="*/ 21 h 21"/>
                    <a:gd name="T8" fmla="*/ 12 w 12"/>
                    <a:gd name="T9" fmla="*/ 17 h 21"/>
                    <a:gd name="T10" fmla="*/ 9 w 12"/>
                    <a:gd name="T11" fmla="*/ 17 h 21"/>
                    <a:gd name="T12" fmla="*/ 6 w 12"/>
                    <a:gd name="T13" fmla="*/ 0 h 21"/>
                    <a:gd name="T14" fmla="*/ 6 w 12"/>
                    <a:gd name="T15" fmla="*/ 0 h 21"/>
                    <a:gd name="T16" fmla="*/ 6 w 12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6" y="21"/>
                      </a:lnTo>
                      <a:lnTo>
                        <a:pt x="12" y="17"/>
                      </a:lnTo>
                      <a:lnTo>
                        <a:pt x="9" y="17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" name="Freeform 198"/>
                <p:cNvSpPr>
                  <a:spLocks/>
                </p:cNvSpPr>
                <p:nvPr/>
              </p:nvSpPr>
              <p:spPr bwMode="auto">
                <a:xfrm>
                  <a:off x="579" y="1396"/>
                  <a:ext cx="12" cy="21"/>
                </a:xfrm>
                <a:custGeom>
                  <a:avLst/>
                  <a:gdLst>
                    <a:gd name="T0" fmla="*/ 6 w 12"/>
                    <a:gd name="T1" fmla="*/ 0 h 21"/>
                    <a:gd name="T2" fmla="*/ 6 w 12"/>
                    <a:gd name="T3" fmla="*/ 0 h 21"/>
                    <a:gd name="T4" fmla="*/ 0 w 12"/>
                    <a:gd name="T5" fmla="*/ 4 h 21"/>
                    <a:gd name="T6" fmla="*/ 3 w 12"/>
                    <a:gd name="T7" fmla="*/ 21 h 21"/>
                    <a:gd name="T8" fmla="*/ 12 w 12"/>
                    <a:gd name="T9" fmla="*/ 21 h 21"/>
                    <a:gd name="T10" fmla="*/ 12 w 12"/>
                    <a:gd name="T11" fmla="*/ 21 h 21"/>
                    <a:gd name="T12" fmla="*/ 6 w 12"/>
                    <a:gd name="T13" fmla="*/ 0 h 21"/>
                    <a:gd name="T14" fmla="*/ 6 w 12"/>
                    <a:gd name="T15" fmla="*/ 0 h 21"/>
                    <a:gd name="T16" fmla="*/ 6 w 12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3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" name="Freeform 199"/>
                <p:cNvSpPr>
                  <a:spLocks/>
                </p:cNvSpPr>
                <p:nvPr/>
              </p:nvSpPr>
              <p:spPr bwMode="auto">
                <a:xfrm>
                  <a:off x="585" y="1396"/>
                  <a:ext cx="12" cy="21"/>
                </a:xfrm>
                <a:custGeom>
                  <a:avLst/>
                  <a:gdLst>
                    <a:gd name="T0" fmla="*/ 9 w 12"/>
                    <a:gd name="T1" fmla="*/ 0 h 21"/>
                    <a:gd name="T2" fmla="*/ 9 w 12"/>
                    <a:gd name="T3" fmla="*/ 0 h 21"/>
                    <a:gd name="T4" fmla="*/ 0 w 12"/>
                    <a:gd name="T5" fmla="*/ 0 h 21"/>
                    <a:gd name="T6" fmla="*/ 6 w 12"/>
                    <a:gd name="T7" fmla="*/ 21 h 21"/>
                    <a:gd name="T8" fmla="*/ 12 w 12"/>
                    <a:gd name="T9" fmla="*/ 17 h 21"/>
                    <a:gd name="T10" fmla="*/ 12 w 12"/>
                    <a:gd name="T11" fmla="*/ 17 h 21"/>
                    <a:gd name="T12" fmla="*/ 9 w 12"/>
                    <a:gd name="T13" fmla="*/ 0 h 21"/>
                    <a:gd name="T14" fmla="*/ 9 w 12"/>
                    <a:gd name="T15" fmla="*/ 0 h 21"/>
                    <a:gd name="T16" fmla="*/ 9 w 12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6" y="21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" name="Freeform 200"/>
                <p:cNvSpPr>
                  <a:spLocks/>
                </p:cNvSpPr>
                <p:nvPr/>
              </p:nvSpPr>
              <p:spPr bwMode="auto">
                <a:xfrm>
                  <a:off x="594" y="1392"/>
                  <a:ext cx="9" cy="21"/>
                </a:xfrm>
                <a:custGeom>
                  <a:avLst/>
                  <a:gdLst>
                    <a:gd name="T0" fmla="*/ 9 w 9"/>
                    <a:gd name="T1" fmla="*/ 0 h 21"/>
                    <a:gd name="T2" fmla="*/ 6 w 9"/>
                    <a:gd name="T3" fmla="*/ 0 h 21"/>
                    <a:gd name="T4" fmla="*/ 0 w 9"/>
                    <a:gd name="T5" fmla="*/ 4 h 21"/>
                    <a:gd name="T6" fmla="*/ 3 w 9"/>
                    <a:gd name="T7" fmla="*/ 21 h 21"/>
                    <a:gd name="T8" fmla="*/ 9 w 9"/>
                    <a:gd name="T9" fmla="*/ 21 h 21"/>
                    <a:gd name="T10" fmla="*/ 9 w 9"/>
                    <a:gd name="T11" fmla="*/ 21 h 21"/>
                    <a:gd name="T12" fmla="*/ 9 w 9"/>
                    <a:gd name="T13" fmla="*/ 0 h 21"/>
                    <a:gd name="T14" fmla="*/ 6 w 9"/>
                    <a:gd name="T15" fmla="*/ 0 h 21"/>
                    <a:gd name="T16" fmla="*/ 6 w 9"/>
                    <a:gd name="T17" fmla="*/ 0 h 21"/>
                    <a:gd name="T18" fmla="*/ 9 w 9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1">
                      <a:moveTo>
                        <a:pt x="9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3" y="21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" name="Freeform 201"/>
                <p:cNvSpPr>
                  <a:spLocks/>
                </p:cNvSpPr>
                <p:nvPr/>
              </p:nvSpPr>
              <p:spPr bwMode="auto">
                <a:xfrm>
                  <a:off x="603" y="1392"/>
                  <a:ext cx="6" cy="21"/>
                </a:xfrm>
                <a:custGeom>
                  <a:avLst/>
                  <a:gdLst>
                    <a:gd name="T0" fmla="*/ 6 w 6"/>
                    <a:gd name="T1" fmla="*/ 0 h 21"/>
                    <a:gd name="T2" fmla="*/ 6 w 6"/>
                    <a:gd name="T3" fmla="*/ 0 h 21"/>
                    <a:gd name="T4" fmla="*/ 0 w 6"/>
                    <a:gd name="T5" fmla="*/ 0 h 21"/>
                    <a:gd name="T6" fmla="*/ 0 w 6"/>
                    <a:gd name="T7" fmla="*/ 21 h 21"/>
                    <a:gd name="T8" fmla="*/ 6 w 6"/>
                    <a:gd name="T9" fmla="*/ 21 h 21"/>
                    <a:gd name="T10" fmla="*/ 6 w 6"/>
                    <a:gd name="T11" fmla="*/ 21 h 21"/>
                    <a:gd name="T12" fmla="*/ 6 w 6"/>
                    <a:gd name="T13" fmla="*/ 0 h 21"/>
                    <a:gd name="T14" fmla="*/ 6 w 6"/>
                    <a:gd name="T15" fmla="*/ 0 h 21"/>
                    <a:gd name="T16" fmla="*/ 6 w 6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" h="2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" name="Freeform 202"/>
                <p:cNvSpPr>
                  <a:spLocks/>
                </p:cNvSpPr>
                <p:nvPr/>
              </p:nvSpPr>
              <p:spPr bwMode="auto">
                <a:xfrm>
                  <a:off x="609" y="1392"/>
                  <a:ext cx="801" cy="21"/>
                </a:xfrm>
                <a:custGeom>
                  <a:avLst/>
                  <a:gdLst>
                    <a:gd name="T0" fmla="*/ 801 w 801"/>
                    <a:gd name="T1" fmla="*/ 0 h 21"/>
                    <a:gd name="T2" fmla="*/ 801 w 801"/>
                    <a:gd name="T3" fmla="*/ 0 h 21"/>
                    <a:gd name="T4" fmla="*/ 0 w 801"/>
                    <a:gd name="T5" fmla="*/ 0 h 21"/>
                    <a:gd name="T6" fmla="*/ 0 w 801"/>
                    <a:gd name="T7" fmla="*/ 21 h 21"/>
                    <a:gd name="T8" fmla="*/ 801 w 801"/>
                    <a:gd name="T9" fmla="*/ 21 h 21"/>
                    <a:gd name="T10" fmla="*/ 801 w 801"/>
                    <a:gd name="T11" fmla="*/ 21 h 21"/>
                    <a:gd name="T12" fmla="*/ 801 w 801"/>
                    <a:gd name="T13" fmla="*/ 0 h 21"/>
                    <a:gd name="T14" fmla="*/ 801 w 801"/>
                    <a:gd name="T15" fmla="*/ 0 h 21"/>
                    <a:gd name="T16" fmla="*/ 801 w 801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1" h="21">
                      <a:moveTo>
                        <a:pt x="801" y="0"/>
                      </a:move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801" y="21"/>
                      </a:lnTo>
                      <a:lnTo>
                        <a:pt x="801" y="21"/>
                      </a:lnTo>
                      <a:lnTo>
                        <a:pt x="801" y="0"/>
                      </a:lnTo>
                      <a:lnTo>
                        <a:pt x="801" y="0"/>
                      </a:lnTo>
                      <a:lnTo>
                        <a:pt x="8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" name="Freeform 203"/>
                <p:cNvSpPr>
                  <a:spLocks/>
                </p:cNvSpPr>
                <p:nvPr/>
              </p:nvSpPr>
              <p:spPr bwMode="auto">
                <a:xfrm>
                  <a:off x="1410" y="1392"/>
                  <a:ext cx="9" cy="21"/>
                </a:xfrm>
                <a:custGeom>
                  <a:avLst/>
                  <a:gdLst>
                    <a:gd name="T0" fmla="*/ 9 w 9"/>
                    <a:gd name="T1" fmla="*/ 0 h 21"/>
                    <a:gd name="T2" fmla="*/ 6 w 9"/>
                    <a:gd name="T3" fmla="*/ 0 h 21"/>
                    <a:gd name="T4" fmla="*/ 0 w 9"/>
                    <a:gd name="T5" fmla="*/ 0 h 21"/>
                    <a:gd name="T6" fmla="*/ 0 w 9"/>
                    <a:gd name="T7" fmla="*/ 21 h 21"/>
                    <a:gd name="T8" fmla="*/ 6 w 9"/>
                    <a:gd name="T9" fmla="*/ 21 h 21"/>
                    <a:gd name="T10" fmla="*/ 6 w 9"/>
                    <a:gd name="T11" fmla="*/ 21 h 21"/>
                    <a:gd name="T12" fmla="*/ 9 w 9"/>
                    <a:gd name="T13" fmla="*/ 0 h 21"/>
                    <a:gd name="T14" fmla="*/ 6 w 9"/>
                    <a:gd name="T15" fmla="*/ 0 h 21"/>
                    <a:gd name="T16" fmla="*/ 6 w 9"/>
                    <a:gd name="T17" fmla="*/ 0 h 21"/>
                    <a:gd name="T18" fmla="*/ 9 w 9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1">
                      <a:moveTo>
                        <a:pt x="9" y="0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" name="Freeform 204"/>
                <p:cNvSpPr>
                  <a:spLocks/>
                </p:cNvSpPr>
                <p:nvPr/>
              </p:nvSpPr>
              <p:spPr bwMode="auto">
                <a:xfrm>
                  <a:off x="1416" y="1392"/>
                  <a:ext cx="9" cy="21"/>
                </a:xfrm>
                <a:custGeom>
                  <a:avLst/>
                  <a:gdLst>
                    <a:gd name="T0" fmla="*/ 9 w 9"/>
                    <a:gd name="T1" fmla="*/ 4 h 21"/>
                    <a:gd name="T2" fmla="*/ 9 w 9"/>
                    <a:gd name="T3" fmla="*/ 4 h 21"/>
                    <a:gd name="T4" fmla="*/ 3 w 9"/>
                    <a:gd name="T5" fmla="*/ 0 h 21"/>
                    <a:gd name="T6" fmla="*/ 0 w 9"/>
                    <a:gd name="T7" fmla="*/ 21 h 21"/>
                    <a:gd name="T8" fmla="*/ 6 w 9"/>
                    <a:gd name="T9" fmla="*/ 21 h 21"/>
                    <a:gd name="T10" fmla="*/ 6 w 9"/>
                    <a:gd name="T11" fmla="*/ 21 h 21"/>
                    <a:gd name="T12" fmla="*/ 9 w 9"/>
                    <a:gd name="T13" fmla="*/ 4 h 21"/>
                    <a:gd name="T14" fmla="*/ 9 w 9"/>
                    <a:gd name="T15" fmla="*/ 4 h 21"/>
                    <a:gd name="T16" fmla="*/ 9 w 9"/>
                    <a:gd name="T17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9" y="4"/>
                      </a:moveTo>
                      <a:lnTo>
                        <a:pt x="9" y="4"/>
                      </a:lnTo>
                      <a:lnTo>
                        <a:pt x="3" y="0"/>
                      </a:ln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9" y="4"/>
                      </a:lnTo>
                      <a:lnTo>
                        <a:pt x="9" y="4"/>
                      </a:lnTo>
                      <a:lnTo>
                        <a:pt x="9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" name="Freeform 205"/>
                <p:cNvSpPr>
                  <a:spLocks/>
                </p:cNvSpPr>
                <p:nvPr/>
              </p:nvSpPr>
              <p:spPr bwMode="auto">
                <a:xfrm>
                  <a:off x="1422" y="1396"/>
                  <a:ext cx="12" cy="21"/>
                </a:xfrm>
                <a:custGeom>
                  <a:avLst/>
                  <a:gdLst>
                    <a:gd name="T0" fmla="*/ 12 w 12"/>
                    <a:gd name="T1" fmla="*/ 0 h 21"/>
                    <a:gd name="T2" fmla="*/ 9 w 12"/>
                    <a:gd name="T3" fmla="*/ 0 h 21"/>
                    <a:gd name="T4" fmla="*/ 3 w 12"/>
                    <a:gd name="T5" fmla="*/ 0 h 21"/>
                    <a:gd name="T6" fmla="*/ 0 w 12"/>
                    <a:gd name="T7" fmla="*/ 17 h 21"/>
                    <a:gd name="T8" fmla="*/ 6 w 12"/>
                    <a:gd name="T9" fmla="*/ 21 h 21"/>
                    <a:gd name="T10" fmla="*/ 6 w 12"/>
                    <a:gd name="T11" fmla="*/ 21 h 21"/>
                    <a:gd name="T12" fmla="*/ 12 w 12"/>
                    <a:gd name="T13" fmla="*/ 0 h 21"/>
                    <a:gd name="T14" fmla="*/ 12 w 12"/>
                    <a:gd name="T15" fmla="*/ 0 h 21"/>
                    <a:gd name="T16" fmla="*/ 9 w 12"/>
                    <a:gd name="T17" fmla="*/ 0 h 21"/>
                    <a:gd name="T18" fmla="*/ 12 w 12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1">
                      <a:moveTo>
                        <a:pt x="12" y="0"/>
                      </a:moveTo>
                      <a:lnTo>
                        <a:pt x="9" y="0"/>
                      </a:lnTo>
                      <a:lnTo>
                        <a:pt x="3" y="0"/>
                      </a:ln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" name="Freeform 206"/>
                <p:cNvSpPr>
                  <a:spLocks/>
                </p:cNvSpPr>
                <p:nvPr/>
              </p:nvSpPr>
              <p:spPr bwMode="auto">
                <a:xfrm>
                  <a:off x="1428" y="1396"/>
                  <a:ext cx="12" cy="21"/>
                </a:xfrm>
                <a:custGeom>
                  <a:avLst/>
                  <a:gdLst>
                    <a:gd name="T0" fmla="*/ 12 w 12"/>
                    <a:gd name="T1" fmla="*/ 4 h 21"/>
                    <a:gd name="T2" fmla="*/ 12 w 12"/>
                    <a:gd name="T3" fmla="*/ 4 h 21"/>
                    <a:gd name="T4" fmla="*/ 6 w 12"/>
                    <a:gd name="T5" fmla="*/ 0 h 21"/>
                    <a:gd name="T6" fmla="*/ 0 w 12"/>
                    <a:gd name="T7" fmla="*/ 21 h 21"/>
                    <a:gd name="T8" fmla="*/ 6 w 12"/>
                    <a:gd name="T9" fmla="*/ 21 h 21"/>
                    <a:gd name="T10" fmla="*/ 6 w 12"/>
                    <a:gd name="T11" fmla="*/ 21 h 21"/>
                    <a:gd name="T12" fmla="*/ 12 w 12"/>
                    <a:gd name="T13" fmla="*/ 4 h 21"/>
                    <a:gd name="T14" fmla="*/ 12 w 12"/>
                    <a:gd name="T15" fmla="*/ 4 h 21"/>
                    <a:gd name="T16" fmla="*/ 12 w 12"/>
                    <a:gd name="T17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" name="Freeform 207"/>
                <p:cNvSpPr>
                  <a:spLocks/>
                </p:cNvSpPr>
                <p:nvPr/>
              </p:nvSpPr>
              <p:spPr bwMode="auto">
                <a:xfrm>
                  <a:off x="1434" y="1400"/>
                  <a:ext cx="13" cy="21"/>
                </a:xfrm>
                <a:custGeom>
                  <a:avLst/>
                  <a:gdLst>
                    <a:gd name="T0" fmla="*/ 13 w 13"/>
                    <a:gd name="T1" fmla="*/ 4 h 21"/>
                    <a:gd name="T2" fmla="*/ 13 w 13"/>
                    <a:gd name="T3" fmla="*/ 4 h 21"/>
                    <a:gd name="T4" fmla="*/ 6 w 13"/>
                    <a:gd name="T5" fmla="*/ 0 h 21"/>
                    <a:gd name="T6" fmla="*/ 0 w 13"/>
                    <a:gd name="T7" fmla="*/ 17 h 21"/>
                    <a:gd name="T8" fmla="*/ 6 w 13"/>
                    <a:gd name="T9" fmla="*/ 21 h 21"/>
                    <a:gd name="T10" fmla="*/ 6 w 13"/>
                    <a:gd name="T11" fmla="*/ 21 h 21"/>
                    <a:gd name="T12" fmla="*/ 13 w 13"/>
                    <a:gd name="T13" fmla="*/ 4 h 21"/>
                    <a:gd name="T14" fmla="*/ 13 w 13"/>
                    <a:gd name="T15" fmla="*/ 4 h 21"/>
                    <a:gd name="T16" fmla="*/ 13 w 13"/>
                    <a:gd name="T17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" h="21">
                      <a:moveTo>
                        <a:pt x="13" y="4"/>
                      </a:moveTo>
                      <a:lnTo>
                        <a:pt x="13" y="4"/>
                      </a:lnTo>
                      <a:lnTo>
                        <a:pt x="6" y="0"/>
                      </a:ln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13" y="4"/>
                      </a:lnTo>
                      <a:lnTo>
                        <a:pt x="13" y="4"/>
                      </a:lnTo>
                      <a:lnTo>
                        <a:pt x="13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" name="Freeform 208"/>
                <p:cNvSpPr>
                  <a:spLocks/>
                </p:cNvSpPr>
                <p:nvPr/>
              </p:nvSpPr>
              <p:spPr bwMode="auto">
                <a:xfrm>
                  <a:off x="1440" y="1404"/>
                  <a:ext cx="16" cy="25"/>
                </a:xfrm>
                <a:custGeom>
                  <a:avLst/>
                  <a:gdLst>
                    <a:gd name="T0" fmla="*/ 16 w 16"/>
                    <a:gd name="T1" fmla="*/ 9 h 25"/>
                    <a:gd name="T2" fmla="*/ 13 w 16"/>
                    <a:gd name="T3" fmla="*/ 4 h 25"/>
                    <a:gd name="T4" fmla="*/ 7 w 16"/>
                    <a:gd name="T5" fmla="*/ 0 h 25"/>
                    <a:gd name="T6" fmla="*/ 0 w 16"/>
                    <a:gd name="T7" fmla="*/ 17 h 25"/>
                    <a:gd name="T8" fmla="*/ 7 w 16"/>
                    <a:gd name="T9" fmla="*/ 25 h 25"/>
                    <a:gd name="T10" fmla="*/ 7 w 16"/>
                    <a:gd name="T11" fmla="*/ 21 h 25"/>
                    <a:gd name="T12" fmla="*/ 16 w 16"/>
                    <a:gd name="T13" fmla="*/ 9 h 25"/>
                    <a:gd name="T14" fmla="*/ 16 w 16"/>
                    <a:gd name="T15" fmla="*/ 9 h 25"/>
                    <a:gd name="T16" fmla="*/ 13 w 16"/>
                    <a:gd name="T17" fmla="*/ 4 h 25"/>
                    <a:gd name="T18" fmla="*/ 16 w 16"/>
                    <a:gd name="T19" fmla="*/ 9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6" h="25">
                      <a:moveTo>
                        <a:pt x="16" y="9"/>
                      </a:moveTo>
                      <a:lnTo>
                        <a:pt x="13" y="4"/>
                      </a:lnTo>
                      <a:lnTo>
                        <a:pt x="7" y="0"/>
                      </a:lnTo>
                      <a:lnTo>
                        <a:pt x="0" y="17"/>
                      </a:lnTo>
                      <a:lnTo>
                        <a:pt x="7" y="25"/>
                      </a:lnTo>
                      <a:lnTo>
                        <a:pt x="7" y="21"/>
                      </a:lnTo>
                      <a:lnTo>
                        <a:pt x="16" y="9"/>
                      </a:lnTo>
                      <a:lnTo>
                        <a:pt x="16" y="9"/>
                      </a:lnTo>
                      <a:lnTo>
                        <a:pt x="13" y="4"/>
                      </a:lnTo>
                      <a:lnTo>
                        <a:pt x="16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" name="Freeform 209"/>
                <p:cNvSpPr>
                  <a:spLocks/>
                </p:cNvSpPr>
                <p:nvPr/>
              </p:nvSpPr>
              <p:spPr bwMode="auto">
                <a:xfrm>
                  <a:off x="1447" y="1413"/>
                  <a:ext cx="15" cy="20"/>
                </a:xfrm>
                <a:custGeom>
                  <a:avLst/>
                  <a:gdLst>
                    <a:gd name="T0" fmla="*/ 15 w 15"/>
                    <a:gd name="T1" fmla="*/ 4 h 20"/>
                    <a:gd name="T2" fmla="*/ 15 w 15"/>
                    <a:gd name="T3" fmla="*/ 4 h 20"/>
                    <a:gd name="T4" fmla="*/ 9 w 15"/>
                    <a:gd name="T5" fmla="*/ 0 h 20"/>
                    <a:gd name="T6" fmla="*/ 0 w 15"/>
                    <a:gd name="T7" fmla="*/ 12 h 20"/>
                    <a:gd name="T8" fmla="*/ 6 w 15"/>
                    <a:gd name="T9" fmla="*/ 20 h 20"/>
                    <a:gd name="T10" fmla="*/ 6 w 15"/>
                    <a:gd name="T11" fmla="*/ 20 h 20"/>
                    <a:gd name="T12" fmla="*/ 15 w 15"/>
                    <a:gd name="T13" fmla="*/ 4 h 20"/>
                    <a:gd name="T14" fmla="*/ 15 w 15"/>
                    <a:gd name="T15" fmla="*/ 4 h 20"/>
                    <a:gd name="T16" fmla="*/ 15 w 15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4"/>
                      </a:move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" name="Freeform 210"/>
                <p:cNvSpPr>
                  <a:spLocks/>
                </p:cNvSpPr>
                <p:nvPr/>
              </p:nvSpPr>
              <p:spPr bwMode="auto">
                <a:xfrm>
                  <a:off x="1453" y="1417"/>
                  <a:ext cx="15" cy="20"/>
                </a:xfrm>
                <a:custGeom>
                  <a:avLst/>
                  <a:gdLst>
                    <a:gd name="T0" fmla="*/ 15 w 15"/>
                    <a:gd name="T1" fmla="*/ 8 h 20"/>
                    <a:gd name="T2" fmla="*/ 12 w 15"/>
                    <a:gd name="T3" fmla="*/ 8 h 20"/>
                    <a:gd name="T4" fmla="*/ 9 w 15"/>
                    <a:gd name="T5" fmla="*/ 0 h 20"/>
                    <a:gd name="T6" fmla="*/ 0 w 15"/>
                    <a:gd name="T7" fmla="*/ 16 h 20"/>
                    <a:gd name="T8" fmla="*/ 3 w 15"/>
                    <a:gd name="T9" fmla="*/ 20 h 20"/>
                    <a:gd name="T10" fmla="*/ 3 w 15"/>
                    <a:gd name="T11" fmla="*/ 20 h 20"/>
                    <a:gd name="T12" fmla="*/ 15 w 15"/>
                    <a:gd name="T13" fmla="*/ 8 h 20"/>
                    <a:gd name="T14" fmla="*/ 15 w 15"/>
                    <a:gd name="T15" fmla="*/ 8 h 20"/>
                    <a:gd name="T16" fmla="*/ 12 w 15"/>
                    <a:gd name="T17" fmla="*/ 8 h 20"/>
                    <a:gd name="T18" fmla="*/ 15 w 15"/>
                    <a:gd name="T19" fmla="*/ 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15" y="8"/>
                      </a:moveTo>
                      <a:lnTo>
                        <a:pt x="12" y="8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2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" name="Freeform 211"/>
                <p:cNvSpPr>
                  <a:spLocks/>
                </p:cNvSpPr>
                <p:nvPr/>
              </p:nvSpPr>
              <p:spPr bwMode="auto">
                <a:xfrm>
                  <a:off x="1456" y="1425"/>
                  <a:ext cx="15" cy="20"/>
                </a:xfrm>
                <a:custGeom>
                  <a:avLst/>
                  <a:gdLst>
                    <a:gd name="T0" fmla="*/ 15 w 15"/>
                    <a:gd name="T1" fmla="*/ 8 h 20"/>
                    <a:gd name="T2" fmla="*/ 15 w 15"/>
                    <a:gd name="T3" fmla="*/ 8 h 20"/>
                    <a:gd name="T4" fmla="*/ 12 w 15"/>
                    <a:gd name="T5" fmla="*/ 0 h 20"/>
                    <a:gd name="T6" fmla="*/ 0 w 15"/>
                    <a:gd name="T7" fmla="*/ 12 h 20"/>
                    <a:gd name="T8" fmla="*/ 6 w 15"/>
                    <a:gd name="T9" fmla="*/ 20 h 20"/>
                    <a:gd name="T10" fmla="*/ 3 w 15"/>
                    <a:gd name="T11" fmla="*/ 20 h 20"/>
                    <a:gd name="T12" fmla="*/ 15 w 15"/>
                    <a:gd name="T13" fmla="*/ 8 h 20"/>
                    <a:gd name="T14" fmla="*/ 15 w 15"/>
                    <a:gd name="T15" fmla="*/ 8 h 20"/>
                    <a:gd name="T16" fmla="*/ 15 w 15"/>
                    <a:gd name="T17" fmla="*/ 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6" y="20"/>
                      </a:lnTo>
                      <a:lnTo>
                        <a:pt x="3" y="2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" name="Freeform 212"/>
                <p:cNvSpPr>
                  <a:spLocks/>
                </p:cNvSpPr>
                <p:nvPr/>
              </p:nvSpPr>
              <p:spPr bwMode="auto">
                <a:xfrm>
                  <a:off x="1459" y="1433"/>
                  <a:ext cx="18" cy="21"/>
                </a:xfrm>
                <a:custGeom>
                  <a:avLst/>
                  <a:gdLst>
                    <a:gd name="T0" fmla="*/ 18 w 18"/>
                    <a:gd name="T1" fmla="*/ 8 h 21"/>
                    <a:gd name="T2" fmla="*/ 18 w 18"/>
                    <a:gd name="T3" fmla="*/ 8 h 21"/>
                    <a:gd name="T4" fmla="*/ 12 w 18"/>
                    <a:gd name="T5" fmla="*/ 0 h 21"/>
                    <a:gd name="T6" fmla="*/ 0 w 18"/>
                    <a:gd name="T7" fmla="*/ 12 h 21"/>
                    <a:gd name="T8" fmla="*/ 6 w 18"/>
                    <a:gd name="T9" fmla="*/ 21 h 21"/>
                    <a:gd name="T10" fmla="*/ 6 w 18"/>
                    <a:gd name="T11" fmla="*/ 16 h 21"/>
                    <a:gd name="T12" fmla="*/ 18 w 18"/>
                    <a:gd name="T13" fmla="*/ 8 h 21"/>
                    <a:gd name="T14" fmla="*/ 18 w 18"/>
                    <a:gd name="T15" fmla="*/ 8 h 21"/>
                    <a:gd name="T16" fmla="*/ 18 w 18"/>
                    <a:gd name="T17" fmla="*/ 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21">
                      <a:moveTo>
                        <a:pt x="18" y="8"/>
                      </a:moveTo>
                      <a:lnTo>
                        <a:pt x="18" y="8"/>
                      </a:ln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6" y="21"/>
                      </a:lnTo>
                      <a:lnTo>
                        <a:pt x="6" y="16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" name="Freeform 213"/>
                <p:cNvSpPr>
                  <a:spLocks/>
                </p:cNvSpPr>
                <p:nvPr/>
              </p:nvSpPr>
              <p:spPr bwMode="auto">
                <a:xfrm>
                  <a:off x="1465" y="1441"/>
                  <a:ext cx="15" cy="17"/>
                </a:xfrm>
                <a:custGeom>
                  <a:avLst/>
                  <a:gdLst>
                    <a:gd name="T0" fmla="*/ 15 w 15"/>
                    <a:gd name="T1" fmla="*/ 8 h 17"/>
                    <a:gd name="T2" fmla="*/ 15 w 15"/>
                    <a:gd name="T3" fmla="*/ 8 h 17"/>
                    <a:gd name="T4" fmla="*/ 12 w 15"/>
                    <a:gd name="T5" fmla="*/ 0 h 17"/>
                    <a:gd name="T6" fmla="*/ 0 w 15"/>
                    <a:gd name="T7" fmla="*/ 8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8 h 17"/>
                    <a:gd name="T14" fmla="*/ 15 w 15"/>
                    <a:gd name="T15" fmla="*/ 8 h 17"/>
                    <a:gd name="T16" fmla="*/ 15 w 15"/>
                    <a:gd name="T17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" name="Freeform 214"/>
                <p:cNvSpPr>
                  <a:spLocks/>
                </p:cNvSpPr>
                <p:nvPr/>
              </p:nvSpPr>
              <p:spPr bwMode="auto">
                <a:xfrm>
                  <a:off x="1468" y="1449"/>
                  <a:ext cx="15" cy="17"/>
                </a:xfrm>
                <a:custGeom>
                  <a:avLst/>
                  <a:gdLst>
                    <a:gd name="T0" fmla="*/ 15 w 15"/>
                    <a:gd name="T1" fmla="*/ 9 h 17"/>
                    <a:gd name="T2" fmla="*/ 15 w 15"/>
                    <a:gd name="T3" fmla="*/ 9 h 17"/>
                    <a:gd name="T4" fmla="*/ 12 w 15"/>
                    <a:gd name="T5" fmla="*/ 0 h 17"/>
                    <a:gd name="T6" fmla="*/ 0 w 15"/>
                    <a:gd name="T7" fmla="*/ 9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9 h 17"/>
                    <a:gd name="T14" fmla="*/ 15 w 15"/>
                    <a:gd name="T15" fmla="*/ 9 h 17"/>
                    <a:gd name="T16" fmla="*/ 15 w 15"/>
                    <a:gd name="T17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5" y="9"/>
                      </a:moveTo>
                      <a:lnTo>
                        <a:pt x="15" y="9"/>
                      </a:lnTo>
                      <a:lnTo>
                        <a:pt x="12" y="0"/>
                      </a:ln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" name="Freeform 215"/>
                <p:cNvSpPr>
                  <a:spLocks/>
                </p:cNvSpPr>
                <p:nvPr/>
              </p:nvSpPr>
              <p:spPr bwMode="auto">
                <a:xfrm>
                  <a:off x="1471" y="1458"/>
                  <a:ext cx="15" cy="16"/>
                </a:xfrm>
                <a:custGeom>
                  <a:avLst/>
                  <a:gdLst>
                    <a:gd name="T0" fmla="*/ 15 w 15"/>
                    <a:gd name="T1" fmla="*/ 12 h 16"/>
                    <a:gd name="T2" fmla="*/ 15 w 15"/>
                    <a:gd name="T3" fmla="*/ 12 h 16"/>
                    <a:gd name="T4" fmla="*/ 12 w 15"/>
                    <a:gd name="T5" fmla="*/ 0 h 16"/>
                    <a:gd name="T6" fmla="*/ 0 w 15"/>
                    <a:gd name="T7" fmla="*/ 8 h 16"/>
                    <a:gd name="T8" fmla="*/ 3 w 15"/>
                    <a:gd name="T9" fmla="*/ 16 h 16"/>
                    <a:gd name="T10" fmla="*/ 3 w 15"/>
                    <a:gd name="T11" fmla="*/ 16 h 16"/>
                    <a:gd name="T12" fmla="*/ 15 w 15"/>
                    <a:gd name="T13" fmla="*/ 12 h 16"/>
                    <a:gd name="T14" fmla="*/ 15 w 15"/>
                    <a:gd name="T15" fmla="*/ 12 h 16"/>
                    <a:gd name="T16" fmla="*/ 15 w 15"/>
                    <a:gd name="T17" fmla="*/ 12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15" y="12"/>
                      </a:moveTo>
                      <a:lnTo>
                        <a:pt x="15" y="12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15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" name="Freeform 216"/>
                <p:cNvSpPr>
                  <a:spLocks/>
                </p:cNvSpPr>
                <p:nvPr/>
              </p:nvSpPr>
              <p:spPr bwMode="auto">
                <a:xfrm>
                  <a:off x="1474" y="1470"/>
                  <a:ext cx="15" cy="12"/>
                </a:xfrm>
                <a:custGeom>
                  <a:avLst/>
                  <a:gdLst>
                    <a:gd name="T0" fmla="*/ 15 w 15"/>
                    <a:gd name="T1" fmla="*/ 8 h 12"/>
                    <a:gd name="T2" fmla="*/ 15 w 15"/>
                    <a:gd name="T3" fmla="*/ 8 h 12"/>
                    <a:gd name="T4" fmla="*/ 12 w 15"/>
                    <a:gd name="T5" fmla="*/ 0 h 12"/>
                    <a:gd name="T6" fmla="*/ 0 w 15"/>
                    <a:gd name="T7" fmla="*/ 4 h 12"/>
                    <a:gd name="T8" fmla="*/ 0 w 15"/>
                    <a:gd name="T9" fmla="*/ 12 h 12"/>
                    <a:gd name="T10" fmla="*/ 0 w 15"/>
                    <a:gd name="T11" fmla="*/ 12 h 12"/>
                    <a:gd name="T12" fmla="*/ 15 w 15"/>
                    <a:gd name="T13" fmla="*/ 8 h 12"/>
                    <a:gd name="T14" fmla="*/ 15 w 15"/>
                    <a:gd name="T15" fmla="*/ 8 h 12"/>
                    <a:gd name="T16" fmla="*/ 15 w 15"/>
                    <a:gd name="T17" fmla="*/ 8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" name="Freeform 217"/>
                <p:cNvSpPr>
                  <a:spLocks/>
                </p:cNvSpPr>
                <p:nvPr/>
              </p:nvSpPr>
              <p:spPr bwMode="auto">
                <a:xfrm>
                  <a:off x="1474" y="1478"/>
                  <a:ext cx="15" cy="13"/>
                </a:xfrm>
                <a:custGeom>
                  <a:avLst/>
                  <a:gdLst>
                    <a:gd name="T0" fmla="*/ 15 w 15"/>
                    <a:gd name="T1" fmla="*/ 13 h 13"/>
                    <a:gd name="T2" fmla="*/ 15 w 15"/>
                    <a:gd name="T3" fmla="*/ 13 h 13"/>
                    <a:gd name="T4" fmla="*/ 15 w 15"/>
                    <a:gd name="T5" fmla="*/ 0 h 13"/>
                    <a:gd name="T6" fmla="*/ 0 w 15"/>
                    <a:gd name="T7" fmla="*/ 4 h 13"/>
                    <a:gd name="T8" fmla="*/ 3 w 15"/>
                    <a:gd name="T9" fmla="*/ 13 h 13"/>
                    <a:gd name="T10" fmla="*/ 3 w 15"/>
                    <a:gd name="T11" fmla="*/ 13 h 13"/>
                    <a:gd name="T12" fmla="*/ 15 w 15"/>
                    <a:gd name="T13" fmla="*/ 13 h 13"/>
                    <a:gd name="T14" fmla="*/ 15 w 15"/>
                    <a:gd name="T15" fmla="*/ 13 h 13"/>
                    <a:gd name="T16" fmla="*/ 15 w 15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3">
                      <a:moveTo>
                        <a:pt x="15" y="13"/>
                      </a:moveTo>
                      <a:lnTo>
                        <a:pt x="15" y="13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3" y="13"/>
                      </a:lnTo>
                      <a:lnTo>
                        <a:pt x="3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" name="Freeform 218"/>
                <p:cNvSpPr>
                  <a:spLocks/>
                </p:cNvSpPr>
                <p:nvPr/>
              </p:nvSpPr>
              <p:spPr bwMode="auto">
                <a:xfrm>
                  <a:off x="1477" y="1491"/>
                  <a:ext cx="12" cy="12"/>
                </a:xfrm>
                <a:custGeom>
                  <a:avLst/>
                  <a:gdLst>
                    <a:gd name="T0" fmla="*/ 12 w 12"/>
                    <a:gd name="T1" fmla="*/ 12 h 12"/>
                    <a:gd name="T2" fmla="*/ 12 w 12"/>
                    <a:gd name="T3" fmla="*/ 8 h 12"/>
                    <a:gd name="T4" fmla="*/ 12 w 12"/>
                    <a:gd name="T5" fmla="*/ 0 h 12"/>
                    <a:gd name="T6" fmla="*/ 0 w 12"/>
                    <a:gd name="T7" fmla="*/ 0 h 12"/>
                    <a:gd name="T8" fmla="*/ 0 w 12"/>
                    <a:gd name="T9" fmla="*/ 12 h 12"/>
                    <a:gd name="T10" fmla="*/ 0 w 12"/>
                    <a:gd name="T11" fmla="*/ 12 h 12"/>
                    <a:gd name="T12" fmla="*/ 12 w 12"/>
                    <a:gd name="T13" fmla="*/ 12 h 12"/>
                    <a:gd name="T14" fmla="*/ 12 w 12"/>
                    <a:gd name="T15" fmla="*/ 12 h 12"/>
                    <a:gd name="T16" fmla="*/ 12 w 12"/>
                    <a:gd name="T17" fmla="*/ 8 h 12"/>
                    <a:gd name="T18" fmla="*/ 12 w 12"/>
                    <a:gd name="T1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12">
                      <a:moveTo>
                        <a:pt x="12" y="12"/>
                      </a:moveTo>
                      <a:lnTo>
                        <a:pt x="12" y="8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8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" name="Freeform 219"/>
                <p:cNvSpPr>
                  <a:spLocks/>
                </p:cNvSpPr>
                <p:nvPr/>
              </p:nvSpPr>
              <p:spPr bwMode="auto">
                <a:xfrm>
                  <a:off x="1477" y="1503"/>
                  <a:ext cx="12" cy="1556"/>
                </a:xfrm>
                <a:custGeom>
                  <a:avLst/>
                  <a:gdLst>
                    <a:gd name="T0" fmla="*/ 12 w 12"/>
                    <a:gd name="T1" fmla="*/ 1556 h 1556"/>
                    <a:gd name="T2" fmla="*/ 12 w 12"/>
                    <a:gd name="T3" fmla="*/ 1556 h 1556"/>
                    <a:gd name="T4" fmla="*/ 12 w 12"/>
                    <a:gd name="T5" fmla="*/ 0 h 1556"/>
                    <a:gd name="T6" fmla="*/ 0 w 12"/>
                    <a:gd name="T7" fmla="*/ 0 h 1556"/>
                    <a:gd name="T8" fmla="*/ 0 w 12"/>
                    <a:gd name="T9" fmla="*/ 1556 h 1556"/>
                    <a:gd name="T10" fmla="*/ 0 w 12"/>
                    <a:gd name="T11" fmla="*/ 1556 h 1556"/>
                    <a:gd name="T12" fmla="*/ 12 w 12"/>
                    <a:gd name="T13" fmla="*/ 1556 h 1556"/>
                    <a:gd name="T14" fmla="*/ 12 w 12"/>
                    <a:gd name="T15" fmla="*/ 1556 h 1556"/>
                    <a:gd name="T16" fmla="*/ 12 w 12"/>
                    <a:gd name="T17" fmla="*/ 1556 h 1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556">
                      <a:moveTo>
                        <a:pt x="12" y="1556"/>
                      </a:moveTo>
                      <a:lnTo>
                        <a:pt x="12" y="1556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1556"/>
                      </a:lnTo>
                      <a:lnTo>
                        <a:pt x="0" y="1556"/>
                      </a:lnTo>
                      <a:lnTo>
                        <a:pt x="12" y="1556"/>
                      </a:lnTo>
                      <a:lnTo>
                        <a:pt x="12" y="1556"/>
                      </a:lnTo>
                      <a:lnTo>
                        <a:pt x="12" y="15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" name="Freeform 220"/>
                <p:cNvSpPr>
                  <a:spLocks/>
                </p:cNvSpPr>
                <p:nvPr/>
              </p:nvSpPr>
              <p:spPr bwMode="auto">
                <a:xfrm>
                  <a:off x="1477" y="3059"/>
                  <a:ext cx="12" cy="12"/>
                </a:xfrm>
                <a:custGeom>
                  <a:avLst/>
                  <a:gdLst>
                    <a:gd name="T0" fmla="*/ 12 w 12"/>
                    <a:gd name="T1" fmla="*/ 12 h 12"/>
                    <a:gd name="T2" fmla="*/ 12 w 12"/>
                    <a:gd name="T3" fmla="*/ 12 h 12"/>
                    <a:gd name="T4" fmla="*/ 12 w 12"/>
                    <a:gd name="T5" fmla="*/ 0 h 12"/>
                    <a:gd name="T6" fmla="*/ 0 w 12"/>
                    <a:gd name="T7" fmla="*/ 0 h 12"/>
                    <a:gd name="T8" fmla="*/ 0 w 12"/>
                    <a:gd name="T9" fmla="*/ 8 h 12"/>
                    <a:gd name="T10" fmla="*/ 0 w 12"/>
                    <a:gd name="T11" fmla="*/ 8 h 12"/>
                    <a:gd name="T12" fmla="*/ 12 w 12"/>
                    <a:gd name="T13" fmla="*/ 12 h 12"/>
                    <a:gd name="T14" fmla="*/ 12 w 12"/>
                    <a:gd name="T15" fmla="*/ 12 h 12"/>
                    <a:gd name="T16" fmla="*/ 12 w 12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2"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" name="Freeform 221"/>
                <p:cNvSpPr>
                  <a:spLocks/>
                </p:cNvSpPr>
                <p:nvPr/>
              </p:nvSpPr>
              <p:spPr bwMode="auto">
                <a:xfrm>
                  <a:off x="1474" y="3067"/>
                  <a:ext cx="15" cy="12"/>
                </a:xfrm>
                <a:custGeom>
                  <a:avLst/>
                  <a:gdLst>
                    <a:gd name="T0" fmla="*/ 15 w 15"/>
                    <a:gd name="T1" fmla="*/ 12 h 12"/>
                    <a:gd name="T2" fmla="*/ 15 w 15"/>
                    <a:gd name="T3" fmla="*/ 12 h 12"/>
                    <a:gd name="T4" fmla="*/ 15 w 15"/>
                    <a:gd name="T5" fmla="*/ 4 h 12"/>
                    <a:gd name="T6" fmla="*/ 3 w 15"/>
                    <a:gd name="T7" fmla="*/ 0 h 12"/>
                    <a:gd name="T8" fmla="*/ 0 w 15"/>
                    <a:gd name="T9" fmla="*/ 8 h 12"/>
                    <a:gd name="T10" fmla="*/ 0 w 15"/>
                    <a:gd name="T11" fmla="*/ 8 h 12"/>
                    <a:gd name="T12" fmla="*/ 15 w 15"/>
                    <a:gd name="T13" fmla="*/ 12 h 12"/>
                    <a:gd name="T14" fmla="*/ 15 w 15"/>
                    <a:gd name="T15" fmla="*/ 12 h 12"/>
                    <a:gd name="T16" fmla="*/ 15 w 15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5" y="12"/>
                      </a:moveTo>
                      <a:lnTo>
                        <a:pt x="15" y="12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15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" name="Freeform 222"/>
                <p:cNvSpPr>
                  <a:spLocks/>
                </p:cNvSpPr>
                <p:nvPr/>
              </p:nvSpPr>
              <p:spPr bwMode="auto">
                <a:xfrm>
                  <a:off x="1474" y="3075"/>
                  <a:ext cx="15" cy="17"/>
                </a:xfrm>
                <a:custGeom>
                  <a:avLst/>
                  <a:gdLst>
                    <a:gd name="T0" fmla="*/ 12 w 15"/>
                    <a:gd name="T1" fmla="*/ 17 h 17"/>
                    <a:gd name="T2" fmla="*/ 12 w 15"/>
                    <a:gd name="T3" fmla="*/ 17 h 17"/>
                    <a:gd name="T4" fmla="*/ 15 w 15"/>
                    <a:gd name="T5" fmla="*/ 4 h 17"/>
                    <a:gd name="T6" fmla="*/ 0 w 15"/>
                    <a:gd name="T7" fmla="*/ 0 h 17"/>
                    <a:gd name="T8" fmla="*/ 0 w 15"/>
                    <a:gd name="T9" fmla="*/ 8 h 17"/>
                    <a:gd name="T10" fmla="*/ 0 w 15"/>
                    <a:gd name="T11" fmla="*/ 8 h 17"/>
                    <a:gd name="T12" fmla="*/ 12 w 15"/>
                    <a:gd name="T13" fmla="*/ 17 h 17"/>
                    <a:gd name="T14" fmla="*/ 12 w 15"/>
                    <a:gd name="T15" fmla="*/ 17 h 17"/>
                    <a:gd name="T16" fmla="*/ 12 w 15"/>
                    <a:gd name="T1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2" y="17"/>
                      </a:moveTo>
                      <a:lnTo>
                        <a:pt x="12" y="17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" name="Freeform 223"/>
                <p:cNvSpPr>
                  <a:spLocks/>
                </p:cNvSpPr>
                <p:nvPr/>
              </p:nvSpPr>
              <p:spPr bwMode="auto">
                <a:xfrm>
                  <a:off x="1471" y="3083"/>
                  <a:ext cx="15" cy="17"/>
                </a:xfrm>
                <a:custGeom>
                  <a:avLst/>
                  <a:gdLst>
                    <a:gd name="T0" fmla="*/ 12 w 15"/>
                    <a:gd name="T1" fmla="*/ 17 h 17"/>
                    <a:gd name="T2" fmla="*/ 12 w 15"/>
                    <a:gd name="T3" fmla="*/ 17 h 17"/>
                    <a:gd name="T4" fmla="*/ 15 w 15"/>
                    <a:gd name="T5" fmla="*/ 9 h 17"/>
                    <a:gd name="T6" fmla="*/ 3 w 15"/>
                    <a:gd name="T7" fmla="*/ 0 h 17"/>
                    <a:gd name="T8" fmla="*/ 0 w 15"/>
                    <a:gd name="T9" fmla="*/ 13 h 17"/>
                    <a:gd name="T10" fmla="*/ 0 w 15"/>
                    <a:gd name="T11" fmla="*/ 9 h 17"/>
                    <a:gd name="T12" fmla="*/ 12 w 15"/>
                    <a:gd name="T13" fmla="*/ 17 h 17"/>
                    <a:gd name="T14" fmla="*/ 12 w 15"/>
                    <a:gd name="T15" fmla="*/ 17 h 17"/>
                    <a:gd name="T16" fmla="*/ 12 w 15"/>
                    <a:gd name="T1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2" y="17"/>
                      </a:moveTo>
                      <a:lnTo>
                        <a:pt x="12" y="17"/>
                      </a:lnTo>
                      <a:lnTo>
                        <a:pt x="15" y="9"/>
                      </a:lnTo>
                      <a:lnTo>
                        <a:pt x="3" y="0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" name="Freeform 224"/>
                <p:cNvSpPr>
                  <a:spLocks/>
                </p:cNvSpPr>
                <p:nvPr/>
              </p:nvSpPr>
              <p:spPr bwMode="auto">
                <a:xfrm>
                  <a:off x="1468" y="3092"/>
                  <a:ext cx="15" cy="20"/>
                </a:xfrm>
                <a:custGeom>
                  <a:avLst/>
                  <a:gdLst>
                    <a:gd name="T0" fmla="*/ 12 w 15"/>
                    <a:gd name="T1" fmla="*/ 20 h 20"/>
                    <a:gd name="T2" fmla="*/ 12 w 15"/>
                    <a:gd name="T3" fmla="*/ 16 h 20"/>
                    <a:gd name="T4" fmla="*/ 15 w 15"/>
                    <a:gd name="T5" fmla="*/ 8 h 20"/>
                    <a:gd name="T6" fmla="*/ 3 w 15"/>
                    <a:gd name="T7" fmla="*/ 0 h 20"/>
                    <a:gd name="T8" fmla="*/ 0 w 15"/>
                    <a:gd name="T9" fmla="*/ 8 h 20"/>
                    <a:gd name="T10" fmla="*/ 0 w 15"/>
                    <a:gd name="T11" fmla="*/ 8 h 20"/>
                    <a:gd name="T12" fmla="*/ 12 w 15"/>
                    <a:gd name="T13" fmla="*/ 20 h 20"/>
                    <a:gd name="T14" fmla="*/ 12 w 15"/>
                    <a:gd name="T15" fmla="*/ 16 h 20"/>
                    <a:gd name="T16" fmla="*/ 12 w 15"/>
                    <a:gd name="T17" fmla="*/ 16 h 20"/>
                    <a:gd name="T18" fmla="*/ 12 w 15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12" y="20"/>
                      </a:moveTo>
                      <a:lnTo>
                        <a:pt x="12" y="16"/>
                      </a:lnTo>
                      <a:lnTo>
                        <a:pt x="15" y="8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1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" name="Freeform 225"/>
                <p:cNvSpPr>
                  <a:spLocks/>
                </p:cNvSpPr>
                <p:nvPr/>
              </p:nvSpPr>
              <p:spPr bwMode="auto">
                <a:xfrm>
                  <a:off x="1465" y="3100"/>
                  <a:ext cx="15" cy="20"/>
                </a:xfrm>
                <a:custGeom>
                  <a:avLst/>
                  <a:gdLst>
                    <a:gd name="T0" fmla="*/ 12 w 15"/>
                    <a:gd name="T1" fmla="*/ 20 h 20"/>
                    <a:gd name="T2" fmla="*/ 12 w 15"/>
                    <a:gd name="T3" fmla="*/ 20 h 20"/>
                    <a:gd name="T4" fmla="*/ 15 w 15"/>
                    <a:gd name="T5" fmla="*/ 12 h 20"/>
                    <a:gd name="T6" fmla="*/ 3 w 15"/>
                    <a:gd name="T7" fmla="*/ 0 h 20"/>
                    <a:gd name="T8" fmla="*/ 0 w 15"/>
                    <a:gd name="T9" fmla="*/ 8 h 20"/>
                    <a:gd name="T10" fmla="*/ 0 w 15"/>
                    <a:gd name="T11" fmla="*/ 8 h 20"/>
                    <a:gd name="T12" fmla="*/ 12 w 15"/>
                    <a:gd name="T13" fmla="*/ 20 h 20"/>
                    <a:gd name="T14" fmla="*/ 12 w 15"/>
                    <a:gd name="T15" fmla="*/ 20 h 20"/>
                    <a:gd name="T16" fmla="*/ 12 w 15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2" y="20"/>
                      </a:moveTo>
                      <a:lnTo>
                        <a:pt x="12" y="20"/>
                      </a:lnTo>
                      <a:lnTo>
                        <a:pt x="15" y="12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20"/>
                      </a:lnTo>
                      <a:lnTo>
                        <a:pt x="12" y="20"/>
                      </a:lnTo>
                      <a:lnTo>
                        <a:pt x="1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" name="Freeform 226"/>
                <p:cNvSpPr>
                  <a:spLocks/>
                </p:cNvSpPr>
                <p:nvPr/>
              </p:nvSpPr>
              <p:spPr bwMode="auto">
                <a:xfrm>
                  <a:off x="1459" y="3108"/>
                  <a:ext cx="18" cy="21"/>
                </a:xfrm>
                <a:custGeom>
                  <a:avLst/>
                  <a:gdLst>
                    <a:gd name="T0" fmla="*/ 12 w 18"/>
                    <a:gd name="T1" fmla="*/ 21 h 21"/>
                    <a:gd name="T2" fmla="*/ 12 w 18"/>
                    <a:gd name="T3" fmla="*/ 21 h 21"/>
                    <a:gd name="T4" fmla="*/ 18 w 18"/>
                    <a:gd name="T5" fmla="*/ 12 h 21"/>
                    <a:gd name="T6" fmla="*/ 6 w 18"/>
                    <a:gd name="T7" fmla="*/ 0 h 21"/>
                    <a:gd name="T8" fmla="*/ 0 w 18"/>
                    <a:gd name="T9" fmla="*/ 8 h 21"/>
                    <a:gd name="T10" fmla="*/ 3 w 18"/>
                    <a:gd name="T11" fmla="*/ 8 h 21"/>
                    <a:gd name="T12" fmla="*/ 12 w 18"/>
                    <a:gd name="T13" fmla="*/ 21 h 21"/>
                    <a:gd name="T14" fmla="*/ 12 w 18"/>
                    <a:gd name="T15" fmla="*/ 21 h 21"/>
                    <a:gd name="T16" fmla="*/ 12 w 18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21">
                      <a:moveTo>
                        <a:pt x="12" y="21"/>
                      </a:moveTo>
                      <a:lnTo>
                        <a:pt x="12" y="21"/>
                      </a:lnTo>
                      <a:lnTo>
                        <a:pt x="18" y="12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3" y="8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" name="Freeform 227"/>
                <p:cNvSpPr>
                  <a:spLocks/>
                </p:cNvSpPr>
                <p:nvPr/>
              </p:nvSpPr>
              <p:spPr bwMode="auto">
                <a:xfrm>
                  <a:off x="1356" y="3116"/>
                  <a:ext cx="115" cy="164"/>
                </a:xfrm>
                <a:custGeom>
                  <a:avLst/>
                  <a:gdLst>
                    <a:gd name="T0" fmla="*/ 33 w 115"/>
                    <a:gd name="T1" fmla="*/ 95 h 164"/>
                    <a:gd name="T2" fmla="*/ 42 w 115"/>
                    <a:gd name="T3" fmla="*/ 111 h 164"/>
                    <a:gd name="T4" fmla="*/ 115 w 115"/>
                    <a:gd name="T5" fmla="*/ 13 h 164"/>
                    <a:gd name="T6" fmla="*/ 106 w 115"/>
                    <a:gd name="T7" fmla="*/ 0 h 164"/>
                    <a:gd name="T8" fmla="*/ 33 w 115"/>
                    <a:gd name="T9" fmla="*/ 95 h 164"/>
                    <a:gd name="T10" fmla="*/ 45 w 115"/>
                    <a:gd name="T11" fmla="*/ 107 h 164"/>
                    <a:gd name="T12" fmla="*/ 33 w 115"/>
                    <a:gd name="T13" fmla="*/ 95 h 164"/>
                    <a:gd name="T14" fmla="*/ 0 w 115"/>
                    <a:gd name="T15" fmla="*/ 164 h 164"/>
                    <a:gd name="T16" fmla="*/ 42 w 115"/>
                    <a:gd name="T17" fmla="*/ 111 h 164"/>
                    <a:gd name="T18" fmla="*/ 33 w 115"/>
                    <a:gd name="T19" fmla="*/ 95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5" h="164">
                      <a:moveTo>
                        <a:pt x="33" y="95"/>
                      </a:moveTo>
                      <a:lnTo>
                        <a:pt x="42" y="111"/>
                      </a:lnTo>
                      <a:lnTo>
                        <a:pt x="115" y="13"/>
                      </a:lnTo>
                      <a:lnTo>
                        <a:pt x="106" y="0"/>
                      </a:lnTo>
                      <a:lnTo>
                        <a:pt x="33" y="95"/>
                      </a:lnTo>
                      <a:lnTo>
                        <a:pt x="45" y="107"/>
                      </a:lnTo>
                      <a:lnTo>
                        <a:pt x="33" y="95"/>
                      </a:lnTo>
                      <a:lnTo>
                        <a:pt x="0" y="164"/>
                      </a:lnTo>
                      <a:lnTo>
                        <a:pt x="42" y="111"/>
                      </a:lnTo>
                      <a:lnTo>
                        <a:pt x="33" y="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" name="Freeform 228"/>
                <p:cNvSpPr>
                  <a:spLocks/>
                </p:cNvSpPr>
                <p:nvPr/>
              </p:nvSpPr>
              <p:spPr bwMode="auto">
                <a:xfrm>
                  <a:off x="1389" y="3202"/>
                  <a:ext cx="15" cy="21"/>
                </a:xfrm>
                <a:custGeom>
                  <a:avLst/>
                  <a:gdLst>
                    <a:gd name="T0" fmla="*/ 3 w 15"/>
                    <a:gd name="T1" fmla="*/ 5 h 21"/>
                    <a:gd name="T2" fmla="*/ 3 w 15"/>
                    <a:gd name="T3" fmla="*/ 0 h 21"/>
                    <a:gd name="T4" fmla="*/ 0 w 15"/>
                    <a:gd name="T5" fmla="*/ 9 h 21"/>
                    <a:gd name="T6" fmla="*/ 12 w 15"/>
                    <a:gd name="T7" fmla="*/ 21 h 21"/>
                    <a:gd name="T8" fmla="*/ 15 w 15"/>
                    <a:gd name="T9" fmla="*/ 13 h 21"/>
                    <a:gd name="T10" fmla="*/ 15 w 15"/>
                    <a:gd name="T11" fmla="*/ 13 h 21"/>
                    <a:gd name="T12" fmla="*/ 15 w 15"/>
                    <a:gd name="T13" fmla="*/ 13 h 21"/>
                    <a:gd name="T14" fmla="*/ 15 w 15"/>
                    <a:gd name="T15" fmla="*/ 13 h 21"/>
                    <a:gd name="T16" fmla="*/ 15 w 15"/>
                    <a:gd name="T17" fmla="*/ 13 h 21"/>
                    <a:gd name="T18" fmla="*/ 3 w 15"/>
                    <a:gd name="T19" fmla="*/ 5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3" y="5"/>
                      </a:move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12" y="21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3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" name="Freeform 229"/>
                <p:cNvSpPr>
                  <a:spLocks/>
                </p:cNvSpPr>
                <p:nvPr/>
              </p:nvSpPr>
              <p:spPr bwMode="auto">
                <a:xfrm>
                  <a:off x="1392" y="3198"/>
                  <a:ext cx="18" cy="17"/>
                </a:xfrm>
                <a:custGeom>
                  <a:avLst/>
                  <a:gdLst>
                    <a:gd name="T0" fmla="*/ 3 w 18"/>
                    <a:gd name="T1" fmla="*/ 0 h 17"/>
                    <a:gd name="T2" fmla="*/ 3 w 18"/>
                    <a:gd name="T3" fmla="*/ 0 h 17"/>
                    <a:gd name="T4" fmla="*/ 0 w 18"/>
                    <a:gd name="T5" fmla="*/ 9 h 17"/>
                    <a:gd name="T6" fmla="*/ 12 w 18"/>
                    <a:gd name="T7" fmla="*/ 17 h 17"/>
                    <a:gd name="T8" fmla="*/ 15 w 18"/>
                    <a:gd name="T9" fmla="*/ 9 h 17"/>
                    <a:gd name="T10" fmla="*/ 18 w 18"/>
                    <a:gd name="T11" fmla="*/ 9 h 17"/>
                    <a:gd name="T12" fmla="*/ 15 w 18"/>
                    <a:gd name="T13" fmla="*/ 9 h 17"/>
                    <a:gd name="T14" fmla="*/ 15 w 18"/>
                    <a:gd name="T15" fmla="*/ 9 h 17"/>
                    <a:gd name="T16" fmla="*/ 18 w 18"/>
                    <a:gd name="T17" fmla="*/ 9 h 17"/>
                    <a:gd name="T18" fmla="*/ 3 w 18"/>
                    <a:gd name="T1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7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12" y="17"/>
                      </a:lnTo>
                      <a:lnTo>
                        <a:pt x="15" y="9"/>
                      </a:lnTo>
                      <a:lnTo>
                        <a:pt x="18" y="9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18" y="9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" name="Freeform 230"/>
                <p:cNvSpPr>
                  <a:spLocks/>
                </p:cNvSpPr>
                <p:nvPr/>
              </p:nvSpPr>
              <p:spPr bwMode="auto">
                <a:xfrm>
                  <a:off x="1395" y="3190"/>
                  <a:ext cx="18" cy="17"/>
                </a:xfrm>
                <a:custGeom>
                  <a:avLst/>
                  <a:gdLst>
                    <a:gd name="T0" fmla="*/ 3 w 18"/>
                    <a:gd name="T1" fmla="*/ 0 h 17"/>
                    <a:gd name="T2" fmla="*/ 3 w 18"/>
                    <a:gd name="T3" fmla="*/ 0 h 17"/>
                    <a:gd name="T4" fmla="*/ 0 w 18"/>
                    <a:gd name="T5" fmla="*/ 8 h 17"/>
                    <a:gd name="T6" fmla="*/ 15 w 18"/>
                    <a:gd name="T7" fmla="*/ 17 h 17"/>
                    <a:gd name="T8" fmla="*/ 18 w 18"/>
                    <a:gd name="T9" fmla="*/ 8 h 17"/>
                    <a:gd name="T10" fmla="*/ 18 w 18"/>
                    <a:gd name="T11" fmla="*/ 8 h 17"/>
                    <a:gd name="T12" fmla="*/ 18 w 18"/>
                    <a:gd name="T13" fmla="*/ 8 h 17"/>
                    <a:gd name="T14" fmla="*/ 18 w 18"/>
                    <a:gd name="T15" fmla="*/ 8 h 17"/>
                    <a:gd name="T16" fmla="*/ 18 w 18"/>
                    <a:gd name="T17" fmla="*/ 8 h 17"/>
                    <a:gd name="T18" fmla="*/ 3 w 18"/>
                    <a:gd name="T1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7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5" y="17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" name="Freeform 231"/>
                <p:cNvSpPr>
                  <a:spLocks/>
                </p:cNvSpPr>
                <p:nvPr/>
              </p:nvSpPr>
              <p:spPr bwMode="auto">
                <a:xfrm>
                  <a:off x="1398" y="3182"/>
                  <a:ext cx="15" cy="16"/>
                </a:xfrm>
                <a:custGeom>
                  <a:avLst/>
                  <a:gdLst>
                    <a:gd name="T0" fmla="*/ 3 w 15"/>
                    <a:gd name="T1" fmla="*/ 0 h 16"/>
                    <a:gd name="T2" fmla="*/ 3 w 15"/>
                    <a:gd name="T3" fmla="*/ 0 h 16"/>
                    <a:gd name="T4" fmla="*/ 0 w 15"/>
                    <a:gd name="T5" fmla="*/ 8 h 16"/>
                    <a:gd name="T6" fmla="*/ 15 w 15"/>
                    <a:gd name="T7" fmla="*/ 16 h 16"/>
                    <a:gd name="T8" fmla="*/ 15 w 15"/>
                    <a:gd name="T9" fmla="*/ 4 h 16"/>
                    <a:gd name="T10" fmla="*/ 15 w 15"/>
                    <a:gd name="T11" fmla="*/ 4 h 16"/>
                    <a:gd name="T12" fmla="*/ 15 w 15"/>
                    <a:gd name="T13" fmla="*/ 4 h 16"/>
                    <a:gd name="T14" fmla="*/ 15 w 15"/>
                    <a:gd name="T15" fmla="*/ 4 h 16"/>
                    <a:gd name="T16" fmla="*/ 15 w 15"/>
                    <a:gd name="T17" fmla="*/ 4 h 16"/>
                    <a:gd name="T18" fmla="*/ 3 w 15"/>
                    <a:gd name="T19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5" y="16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" name="Freeform 232"/>
                <p:cNvSpPr>
                  <a:spLocks/>
                </p:cNvSpPr>
                <p:nvPr/>
              </p:nvSpPr>
              <p:spPr bwMode="auto">
                <a:xfrm>
                  <a:off x="1401" y="3174"/>
                  <a:ext cx="15" cy="12"/>
                </a:xfrm>
                <a:custGeom>
                  <a:avLst/>
                  <a:gdLst>
                    <a:gd name="T0" fmla="*/ 3 w 15"/>
                    <a:gd name="T1" fmla="*/ 0 h 12"/>
                    <a:gd name="T2" fmla="*/ 3 w 15"/>
                    <a:gd name="T3" fmla="*/ 0 h 12"/>
                    <a:gd name="T4" fmla="*/ 0 w 15"/>
                    <a:gd name="T5" fmla="*/ 8 h 12"/>
                    <a:gd name="T6" fmla="*/ 12 w 15"/>
                    <a:gd name="T7" fmla="*/ 12 h 12"/>
                    <a:gd name="T8" fmla="*/ 15 w 15"/>
                    <a:gd name="T9" fmla="*/ 4 h 12"/>
                    <a:gd name="T10" fmla="*/ 15 w 15"/>
                    <a:gd name="T11" fmla="*/ 4 h 12"/>
                    <a:gd name="T12" fmla="*/ 15 w 15"/>
                    <a:gd name="T13" fmla="*/ 4 h 12"/>
                    <a:gd name="T14" fmla="*/ 15 w 15"/>
                    <a:gd name="T15" fmla="*/ 4 h 12"/>
                    <a:gd name="T16" fmla="*/ 15 w 15"/>
                    <a:gd name="T17" fmla="*/ 4 h 12"/>
                    <a:gd name="T18" fmla="*/ 3 w 15"/>
                    <a:gd name="T19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" name="Freeform 233"/>
                <p:cNvSpPr>
                  <a:spLocks/>
                </p:cNvSpPr>
                <p:nvPr/>
              </p:nvSpPr>
              <p:spPr bwMode="auto">
                <a:xfrm>
                  <a:off x="1404" y="3165"/>
                  <a:ext cx="15" cy="13"/>
                </a:xfrm>
                <a:custGeom>
                  <a:avLst/>
                  <a:gdLst>
                    <a:gd name="T0" fmla="*/ 0 w 15"/>
                    <a:gd name="T1" fmla="*/ 0 h 13"/>
                    <a:gd name="T2" fmla="*/ 0 w 15"/>
                    <a:gd name="T3" fmla="*/ 0 h 13"/>
                    <a:gd name="T4" fmla="*/ 0 w 15"/>
                    <a:gd name="T5" fmla="*/ 9 h 13"/>
                    <a:gd name="T6" fmla="*/ 12 w 15"/>
                    <a:gd name="T7" fmla="*/ 13 h 13"/>
                    <a:gd name="T8" fmla="*/ 12 w 15"/>
                    <a:gd name="T9" fmla="*/ 0 h 13"/>
                    <a:gd name="T10" fmla="*/ 12 w 15"/>
                    <a:gd name="T11" fmla="*/ 0 h 13"/>
                    <a:gd name="T12" fmla="*/ 12 w 15"/>
                    <a:gd name="T13" fmla="*/ 0 h 13"/>
                    <a:gd name="T14" fmla="*/ 12 w 15"/>
                    <a:gd name="T15" fmla="*/ 0 h 13"/>
                    <a:gd name="T16" fmla="*/ 15 w 15"/>
                    <a:gd name="T17" fmla="*/ 0 h 13"/>
                    <a:gd name="T18" fmla="*/ 0 w 15"/>
                    <a:gd name="T19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13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" name="Freeform 234"/>
                <p:cNvSpPr>
                  <a:spLocks/>
                </p:cNvSpPr>
                <p:nvPr/>
              </p:nvSpPr>
              <p:spPr bwMode="auto">
                <a:xfrm>
                  <a:off x="1404" y="3153"/>
                  <a:ext cx="15" cy="12"/>
                </a:xfrm>
                <a:custGeom>
                  <a:avLst/>
                  <a:gdLst>
                    <a:gd name="T0" fmla="*/ 0 w 15"/>
                    <a:gd name="T1" fmla="*/ 0 h 12"/>
                    <a:gd name="T2" fmla="*/ 0 w 15"/>
                    <a:gd name="T3" fmla="*/ 0 h 12"/>
                    <a:gd name="T4" fmla="*/ 0 w 15"/>
                    <a:gd name="T5" fmla="*/ 12 h 12"/>
                    <a:gd name="T6" fmla="*/ 12 w 15"/>
                    <a:gd name="T7" fmla="*/ 12 h 12"/>
                    <a:gd name="T8" fmla="*/ 15 w 15"/>
                    <a:gd name="T9" fmla="*/ 4 h 12"/>
                    <a:gd name="T10" fmla="*/ 15 w 15"/>
                    <a:gd name="T11" fmla="*/ 0 h 12"/>
                    <a:gd name="T12" fmla="*/ 15 w 15"/>
                    <a:gd name="T13" fmla="*/ 4 h 12"/>
                    <a:gd name="T14" fmla="*/ 15 w 15"/>
                    <a:gd name="T15" fmla="*/ 0 h 12"/>
                    <a:gd name="T16" fmla="*/ 15 w 15"/>
                    <a:gd name="T17" fmla="*/ 0 h 12"/>
                    <a:gd name="T18" fmla="*/ 0 w 15"/>
                    <a:gd name="T19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" name="Freeform 235"/>
                <p:cNvSpPr>
                  <a:spLocks/>
                </p:cNvSpPr>
                <p:nvPr/>
              </p:nvSpPr>
              <p:spPr bwMode="auto">
                <a:xfrm>
                  <a:off x="1404" y="1597"/>
                  <a:ext cx="15" cy="1556"/>
                </a:xfrm>
                <a:custGeom>
                  <a:avLst/>
                  <a:gdLst>
                    <a:gd name="T0" fmla="*/ 0 w 15"/>
                    <a:gd name="T1" fmla="*/ 0 h 1556"/>
                    <a:gd name="T2" fmla="*/ 0 w 15"/>
                    <a:gd name="T3" fmla="*/ 0 h 1556"/>
                    <a:gd name="T4" fmla="*/ 0 w 15"/>
                    <a:gd name="T5" fmla="*/ 1556 h 1556"/>
                    <a:gd name="T6" fmla="*/ 15 w 15"/>
                    <a:gd name="T7" fmla="*/ 1556 h 1556"/>
                    <a:gd name="T8" fmla="*/ 15 w 15"/>
                    <a:gd name="T9" fmla="*/ 0 h 1556"/>
                    <a:gd name="T10" fmla="*/ 15 w 15"/>
                    <a:gd name="T11" fmla="*/ 0 h 1556"/>
                    <a:gd name="T12" fmla="*/ 15 w 15"/>
                    <a:gd name="T13" fmla="*/ 0 h 1556"/>
                    <a:gd name="T14" fmla="*/ 15 w 15"/>
                    <a:gd name="T15" fmla="*/ 0 h 1556"/>
                    <a:gd name="T16" fmla="*/ 15 w 15"/>
                    <a:gd name="T17" fmla="*/ 0 h 1556"/>
                    <a:gd name="T18" fmla="*/ 0 w 15"/>
                    <a:gd name="T19" fmla="*/ 0 h 1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55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556"/>
                      </a:lnTo>
                      <a:lnTo>
                        <a:pt x="15" y="1556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" name="Freeform 236"/>
                <p:cNvSpPr>
                  <a:spLocks/>
                </p:cNvSpPr>
                <p:nvPr/>
              </p:nvSpPr>
              <p:spPr bwMode="auto">
                <a:xfrm>
                  <a:off x="1404" y="1585"/>
                  <a:ext cx="15" cy="12"/>
                </a:xfrm>
                <a:custGeom>
                  <a:avLst/>
                  <a:gdLst>
                    <a:gd name="T0" fmla="*/ 0 w 15"/>
                    <a:gd name="T1" fmla="*/ 4 h 12"/>
                    <a:gd name="T2" fmla="*/ 0 w 15"/>
                    <a:gd name="T3" fmla="*/ 4 h 12"/>
                    <a:gd name="T4" fmla="*/ 0 w 15"/>
                    <a:gd name="T5" fmla="*/ 12 h 12"/>
                    <a:gd name="T6" fmla="*/ 15 w 15"/>
                    <a:gd name="T7" fmla="*/ 12 h 12"/>
                    <a:gd name="T8" fmla="*/ 12 w 15"/>
                    <a:gd name="T9" fmla="*/ 4 h 12"/>
                    <a:gd name="T10" fmla="*/ 12 w 15"/>
                    <a:gd name="T11" fmla="*/ 0 h 12"/>
                    <a:gd name="T12" fmla="*/ 15 w 15"/>
                    <a:gd name="T13" fmla="*/ 4 h 12"/>
                    <a:gd name="T14" fmla="*/ 12 w 15"/>
                    <a:gd name="T15" fmla="*/ 0 h 12"/>
                    <a:gd name="T16" fmla="*/ 12 w 15"/>
                    <a:gd name="T17" fmla="*/ 0 h 12"/>
                    <a:gd name="T18" fmla="*/ 0 w 15"/>
                    <a:gd name="T19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5" y="12"/>
                      </a:lnTo>
                      <a:lnTo>
                        <a:pt x="12" y="4"/>
                      </a:lnTo>
                      <a:lnTo>
                        <a:pt x="12" y="0"/>
                      </a:lnTo>
                      <a:lnTo>
                        <a:pt x="15" y="4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" name="Freeform 237"/>
                <p:cNvSpPr>
                  <a:spLocks/>
                </p:cNvSpPr>
                <p:nvPr/>
              </p:nvSpPr>
              <p:spPr bwMode="auto">
                <a:xfrm>
                  <a:off x="1404" y="1577"/>
                  <a:ext cx="12" cy="12"/>
                </a:xfrm>
                <a:custGeom>
                  <a:avLst/>
                  <a:gdLst>
                    <a:gd name="T0" fmla="*/ 0 w 12"/>
                    <a:gd name="T1" fmla="*/ 4 h 12"/>
                    <a:gd name="T2" fmla="*/ 0 w 12"/>
                    <a:gd name="T3" fmla="*/ 4 h 12"/>
                    <a:gd name="T4" fmla="*/ 0 w 12"/>
                    <a:gd name="T5" fmla="*/ 12 h 12"/>
                    <a:gd name="T6" fmla="*/ 12 w 12"/>
                    <a:gd name="T7" fmla="*/ 8 h 12"/>
                    <a:gd name="T8" fmla="*/ 12 w 12"/>
                    <a:gd name="T9" fmla="*/ 0 h 12"/>
                    <a:gd name="T10" fmla="*/ 12 w 12"/>
                    <a:gd name="T11" fmla="*/ 0 h 12"/>
                    <a:gd name="T12" fmla="*/ 12 w 12"/>
                    <a:gd name="T13" fmla="*/ 0 h 12"/>
                    <a:gd name="T14" fmla="*/ 12 w 12"/>
                    <a:gd name="T15" fmla="*/ 0 h 12"/>
                    <a:gd name="T16" fmla="*/ 12 w 12"/>
                    <a:gd name="T17" fmla="*/ 0 h 12"/>
                    <a:gd name="T18" fmla="*/ 0 w 12"/>
                    <a:gd name="T19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12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2" y="8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" name="Freeform 238"/>
                <p:cNvSpPr>
                  <a:spLocks/>
                </p:cNvSpPr>
                <p:nvPr/>
              </p:nvSpPr>
              <p:spPr bwMode="auto">
                <a:xfrm>
                  <a:off x="1401" y="1564"/>
                  <a:ext cx="15" cy="17"/>
                </a:xfrm>
                <a:custGeom>
                  <a:avLst/>
                  <a:gdLst>
                    <a:gd name="T0" fmla="*/ 0 w 15"/>
                    <a:gd name="T1" fmla="*/ 9 h 17"/>
                    <a:gd name="T2" fmla="*/ 0 w 15"/>
                    <a:gd name="T3" fmla="*/ 9 h 17"/>
                    <a:gd name="T4" fmla="*/ 3 w 15"/>
                    <a:gd name="T5" fmla="*/ 17 h 17"/>
                    <a:gd name="T6" fmla="*/ 15 w 15"/>
                    <a:gd name="T7" fmla="*/ 13 h 17"/>
                    <a:gd name="T8" fmla="*/ 12 w 15"/>
                    <a:gd name="T9" fmla="*/ 0 h 17"/>
                    <a:gd name="T10" fmla="*/ 12 w 15"/>
                    <a:gd name="T11" fmla="*/ 0 h 17"/>
                    <a:gd name="T12" fmla="*/ 12 w 15"/>
                    <a:gd name="T13" fmla="*/ 0 h 17"/>
                    <a:gd name="T14" fmla="*/ 12 w 15"/>
                    <a:gd name="T15" fmla="*/ 0 h 17"/>
                    <a:gd name="T16" fmla="*/ 12 w 15"/>
                    <a:gd name="T17" fmla="*/ 0 h 17"/>
                    <a:gd name="T18" fmla="*/ 0 w 15"/>
                    <a:gd name="T19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15" y="13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" name="Freeform 239"/>
                <p:cNvSpPr>
                  <a:spLocks/>
                </p:cNvSpPr>
                <p:nvPr/>
              </p:nvSpPr>
              <p:spPr bwMode="auto">
                <a:xfrm>
                  <a:off x="1398" y="1556"/>
                  <a:ext cx="15" cy="17"/>
                </a:xfrm>
                <a:custGeom>
                  <a:avLst/>
                  <a:gdLst>
                    <a:gd name="T0" fmla="*/ 0 w 15"/>
                    <a:gd name="T1" fmla="*/ 8 h 17"/>
                    <a:gd name="T2" fmla="*/ 0 w 15"/>
                    <a:gd name="T3" fmla="*/ 8 h 17"/>
                    <a:gd name="T4" fmla="*/ 3 w 15"/>
                    <a:gd name="T5" fmla="*/ 17 h 17"/>
                    <a:gd name="T6" fmla="*/ 15 w 15"/>
                    <a:gd name="T7" fmla="*/ 8 h 17"/>
                    <a:gd name="T8" fmla="*/ 15 w 15"/>
                    <a:gd name="T9" fmla="*/ 0 h 17"/>
                    <a:gd name="T10" fmla="*/ 15 w 15"/>
                    <a:gd name="T11" fmla="*/ 0 h 17"/>
                    <a:gd name="T12" fmla="*/ 15 w 15"/>
                    <a:gd name="T13" fmla="*/ 0 h 17"/>
                    <a:gd name="T14" fmla="*/ 15 w 15"/>
                    <a:gd name="T15" fmla="*/ 0 h 17"/>
                    <a:gd name="T16" fmla="*/ 15 w 15"/>
                    <a:gd name="T17" fmla="*/ 0 h 17"/>
                    <a:gd name="T18" fmla="*/ 0 w 15"/>
                    <a:gd name="T19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" name="Freeform 240"/>
                <p:cNvSpPr>
                  <a:spLocks/>
                </p:cNvSpPr>
                <p:nvPr/>
              </p:nvSpPr>
              <p:spPr bwMode="auto">
                <a:xfrm>
                  <a:off x="1395" y="1548"/>
                  <a:ext cx="18" cy="16"/>
                </a:xfrm>
                <a:custGeom>
                  <a:avLst/>
                  <a:gdLst>
                    <a:gd name="T0" fmla="*/ 0 w 18"/>
                    <a:gd name="T1" fmla="*/ 8 h 16"/>
                    <a:gd name="T2" fmla="*/ 0 w 18"/>
                    <a:gd name="T3" fmla="*/ 8 h 16"/>
                    <a:gd name="T4" fmla="*/ 3 w 18"/>
                    <a:gd name="T5" fmla="*/ 16 h 16"/>
                    <a:gd name="T6" fmla="*/ 18 w 18"/>
                    <a:gd name="T7" fmla="*/ 8 h 16"/>
                    <a:gd name="T8" fmla="*/ 15 w 18"/>
                    <a:gd name="T9" fmla="*/ 0 h 16"/>
                    <a:gd name="T10" fmla="*/ 12 w 18"/>
                    <a:gd name="T11" fmla="*/ 0 h 16"/>
                    <a:gd name="T12" fmla="*/ 15 w 18"/>
                    <a:gd name="T13" fmla="*/ 0 h 16"/>
                    <a:gd name="T14" fmla="*/ 12 w 18"/>
                    <a:gd name="T15" fmla="*/ 0 h 16"/>
                    <a:gd name="T16" fmla="*/ 12 w 18"/>
                    <a:gd name="T17" fmla="*/ 0 h 16"/>
                    <a:gd name="T18" fmla="*/ 0 w 18"/>
                    <a:gd name="T19" fmla="*/ 8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6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18" y="8"/>
                      </a:ln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" name="Freeform 241"/>
                <p:cNvSpPr>
                  <a:spLocks/>
                </p:cNvSpPr>
                <p:nvPr/>
              </p:nvSpPr>
              <p:spPr bwMode="auto">
                <a:xfrm>
                  <a:off x="1392" y="1536"/>
                  <a:ext cx="15" cy="20"/>
                </a:xfrm>
                <a:custGeom>
                  <a:avLst/>
                  <a:gdLst>
                    <a:gd name="T0" fmla="*/ 0 w 15"/>
                    <a:gd name="T1" fmla="*/ 12 h 20"/>
                    <a:gd name="T2" fmla="*/ 0 w 15"/>
                    <a:gd name="T3" fmla="*/ 12 h 20"/>
                    <a:gd name="T4" fmla="*/ 3 w 15"/>
                    <a:gd name="T5" fmla="*/ 20 h 20"/>
                    <a:gd name="T6" fmla="*/ 15 w 15"/>
                    <a:gd name="T7" fmla="*/ 12 h 20"/>
                    <a:gd name="T8" fmla="*/ 12 w 15"/>
                    <a:gd name="T9" fmla="*/ 0 h 20"/>
                    <a:gd name="T10" fmla="*/ 12 w 15"/>
                    <a:gd name="T11" fmla="*/ 0 h 20"/>
                    <a:gd name="T12" fmla="*/ 12 w 15"/>
                    <a:gd name="T13" fmla="*/ 0 h 20"/>
                    <a:gd name="T14" fmla="*/ 12 w 15"/>
                    <a:gd name="T15" fmla="*/ 0 h 20"/>
                    <a:gd name="T16" fmla="*/ 12 w 15"/>
                    <a:gd name="T17" fmla="*/ 0 h 20"/>
                    <a:gd name="T18" fmla="*/ 0 w 15"/>
                    <a:gd name="T1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3" y="20"/>
                      </a:lnTo>
                      <a:lnTo>
                        <a:pt x="15" y="12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" name="Freeform 242"/>
                <p:cNvSpPr>
                  <a:spLocks/>
                </p:cNvSpPr>
                <p:nvPr/>
              </p:nvSpPr>
              <p:spPr bwMode="auto">
                <a:xfrm>
                  <a:off x="1389" y="1527"/>
                  <a:ext cx="15" cy="21"/>
                </a:xfrm>
                <a:custGeom>
                  <a:avLst/>
                  <a:gdLst>
                    <a:gd name="T0" fmla="*/ 0 w 15"/>
                    <a:gd name="T1" fmla="*/ 13 h 21"/>
                    <a:gd name="T2" fmla="*/ 0 w 15"/>
                    <a:gd name="T3" fmla="*/ 13 h 21"/>
                    <a:gd name="T4" fmla="*/ 3 w 15"/>
                    <a:gd name="T5" fmla="*/ 21 h 21"/>
                    <a:gd name="T6" fmla="*/ 15 w 15"/>
                    <a:gd name="T7" fmla="*/ 9 h 21"/>
                    <a:gd name="T8" fmla="*/ 12 w 15"/>
                    <a:gd name="T9" fmla="*/ 0 h 21"/>
                    <a:gd name="T10" fmla="*/ 9 w 15"/>
                    <a:gd name="T11" fmla="*/ 0 h 21"/>
                    <a:gd name="T12" fmla="*/ 12 w 15"/>
                    <a:gd name="T13" fmla="*/ 0 h 21"/>
                    <a:gd name="T14" fmla="*/ 12 w 15"/>
                    <a:gd name="T15" fmla="*/ 0 h 21"/>
                    <a:gd name="T16" fmla="*/ 9 w 15"/>
                    <a:gd name="T17" fmla="*/ 0 h 21"/>
                    <a:gd name="T18" fmla="*/ 0 w 15"/>
                    <a:gd name="T19" fmla="*/ 13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0" y="13"/>
                      </a:moveTo>
                      <a:lnTo>
                        <a:pt x="0" y="13"/>
                      </a:lnTo>
                      <a:lnTo>
                        <a:pt x="3" y="21"/>
                      </a:lnTo>
                      <a:lnTo>
                        <a:pt x="15" y="9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" name="Freeform 243"/>
                <p:cNvSpPr>
                  <a:spLocks/>
                </p:cNvSpPr>
                <p:nvPr/>
              </p:nvSpPr>
              <p:spPr bwMode="auto">
                <a:xfrm>
                  <a:off x="1386" y="1519"/>
                  <a:ext cx="12" cy="21"/>
                </a:xfrm>
                <a:custGeom>
                  <a:avLst/>
                  <a:gdLst>
                    <a:gd name="T0" fmla="*/ 0 w 12"/>
                    <a:gd name="T1" fmla="*/ 17 h 21"/>
                    <a:gd name="T2" fmla="*/ 0 w 12"/>
                    <a:gd name="T3" fmla="*/ 17 h 21"/>
                    <a:gd name="T4" fmla="*/ 3 w 12"/>
                    <a:gd name="T5" fmla="*/ 21 h 21"/>
                    <a:gd name="T6" fmla="*/ 12 w 12"/>
                    <a:gd name="T7" fmla="*/ 8 h 21"/>
                    <a:gd name="T8" fmla="*/ 9 w 12"/>
                    <a:gd name="T9" fmla="*/ 4 h 21"/>
                    <a:gd name="T10" fmla="*/ 9 w 12"/>
                    <a:gd name="T11" fmla="*/ 0 h 21"/>
                    <a:gd name="T12" fmla="*/ 9 w 12"/>
                    <a:gd name="T13" fmla="*/ 4 h 21"/>
                    <a:gd name="T14" fmla="*/ 9 w 12"/>
                    <a:gd name="T15" fmla="*/ 0 h 21"/>
                    <a:gd name="T16" fmla="*/ 9 w 12"/>
                    <a:gd name="T17" fmla="*/ 0 h 21"/>
                    <a:gd name="T18" fmla="*/ 0 w 12"/>
                    <a:gd name="T19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1">
                      <a:moveTo>
                        <a:pt x="0" y="17"/>
                      </a:moveTo>
                      <a:lnTo>
                        <a:pt x="0" y="17"/>
                      </a:lnTo>
                      <a:lnTo>
                        <a:pt x="3" y="21"/>
                      </a:lnTo>
                      <a:lnTo>
                        <a:pt x="12" y="8"/>
                      </a:lnTo>
                      <a:lnTo>
                        <a:pt x="9" y="4"/>
                      </a:lnTo>
                      <a:lnTo>
                        <a:pt x="9" y="0"/>
                      </a:lnTo>
                      <a:lnTo>
                        <a:pt x="9" y="4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" name="Freeform 244"/>
                <p:cNvSpPr>
                  <a:spLocks/>
                </p:cNvSpPr>
                <p:nvPr/>
              </p:nvSpPr>
              <p:spPr bwMode="auto">
                <a:xfrm>
                  <a:off x="1380" y="1515"/>
                  <a:ext cx="15" cy="21"/>
                </a:xfrm>
                <a:custGeom>
                  <a:avLst/>
                  <a:gdLst>
                    <a:gd name="T0" fmla="*/ 0 w 15"/>
                    <a:gd name="T1" fmla="*/ 12 h 21"/>
                    <a:gd name="T2" fmla="*/ 0 w 15"/>
                    <a:gd name="T3" fmla="*/ 12 h 21"/>
                    <a:gd name="T4" fmla="*/ 6 w 15"/>
                    <a:gd name="T5" fmla="*/ 21 h 21"/>
                    <a:gd name="T6" fmla="*/ 15 w 15"/>
                    <a:gd name="T7" fmla="*/ 4 h 21"/>
                    <a:gd name="T8" fmla="*/ 9 w 15"/>
                    <a:gd name="T9" fmla="*/ 0 h 21"/>
                    <a:gd name="T10" fmla="*/ 9 w 15"/>
                    <a:gd name="T11" fmla="*/ 0 h 21"/>
                    <a:gd name="T12" fmla="*/ 9 w 15"/>
                    <a:gd name="T13" fmla="*/ 0 h 21"/>
                    <a:gd name="T14" fmla="*/ 9 w 15"/>
                    <a:gd name="T15" fmla="*/ 0 h 21"/>
                    <a:gd name="T16" fmla="*/ 9 w 15"/>
                    <a:gd name="T17" fmla="*/ 0 h 21"/>
                    <a:gd name="T18" fmla="*/ 0 w 15"/>
                    <a:gd name="T19" fmla="*/ 1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6" y="21"/>
                      </a:ln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" name="Freeform 245"/>
                <p:cNvSpPr>
                  <a:spLocks/>
                </p:cNvSpPr>
                <p:nvPr/>
              </p:nvSpPr>
              <p:spPr bwMode="auto">
                <a:xfrm>
                  <a:off x="1374" y="1507"/>
                  <a:ext cx="15" cy="20"/>
                </a:xfrm>
                <a:custGeom>
                  <a:avLst/>
                  <a:gdLst>
                    <a:gd name="T0" fmla="*/ 0 w 15"/>
                    <a:gd name="T1" fmla="*/ 16 h 20"/>
                    <a:gd name="T2" fmla="*/ 0 w 15"/>
                    <a:gd name="T3" fmla="*/ 16 h 20"/>
                    <a:gd name="T4" fmla="*/ 6 w 15"/>
                    <a:gd name="T5" fmla="*/ 20 h 20"/>
                    <a:gd name="T6" fmla="*/ 15 w 15"/>
                    <a:gd name="T7" fmla="*/ 8 h 20"/>
                    <a:gd name="T8" fmla="*/ 9 w 15"/>
                    <a:gd name="T9" fmla="*/ 0 h 20"/>
                    <a:gd name="T10" fmla="*/ 9 w 15"/>
                    <a:gd name="T11" fmla="*/ 0 h 20"/>
                    <a:gd name="T12" fmla="*/ 9 w 15"/>
                    <a:gd name="T13" fmla="*/ 0 h 20"/>
                    <a:gd name="T14" fmla="*/ 9 w 15"/>
                    <a:gd name="T15" fmla="*/ 0 h 20"/>
                    <a:gd name="T16" fmla="*/ 9 w 15"/>
                    <a:gd name="T17" fmla="*/ 0 h 20"/>
                    <a:gd name="T18" fmla="*/ 0 w 15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" name="Freeform 246"/>
                <p:cNvSpPr>
                  <a:spLocks/>
                </p:cNvSpPr>
                <p:nvPr/>
              </p:nvSpPr>
              <p:spPr bwMode="auto">
                <a:xfrm>
                  <a:off x="1368" y="1503"/>
                  <a:ext cx="15" cy="20"/>
                </a:xfrm>
                <a:custGeom>
                  <a:avLst/>
                  <a:gdLst>
                    <a:gd name="T0" fmla="*/ 3 w 15"/>
                    <a:gd name="T1" fmla="*/ 16 h 20"/>
                    <a:gd name="T2" fmla="*/ 0 w 15"/>
                    <a:gd name="T3" fmla="*/ 16 h 20"/>
                    <a:gd name="T4" fmla="*/ 6 w 15"/>
                    <a:gd name="T5" fmla="*/ 20 h 20"/>
                    <a:gd name="T6" fmla="*/ 15 w 15"/>
                    <a:gd name="T7" fmla="*/ 4 h 20"/>
                    <a:gd name="T8" fmla="*/ 9 w 15"/>
                    <a:gd name="T9" fmla="*/ 0 h 20"/>
                    <a:gd name="T10" fmla="*/ 6 w 15"/>
                    <a:gd name="T11" fmla="*/ 0 h 20"/>
                    <a:gd name="T12" fmla="*/ 9 w 15"/>
                    <a:gd name="T13" fmla="*/ 0 h 20"/>
                    <a:gd name="T14" fmla="*/ 9 w 15"/>
                    <a:gd name="T15" fmla="*/ 0 h 20"/>
                    <a:gd name="T16" fmla="*/ 6 w 15"/>
                    <a:gd name="T17" fmla="*/ 0 h 20"/>
                    <a:gd name="T18" fmla="*/ 3 w 15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3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" name="Freeform 247"/>
                <p:cNvSpPr>
                  <a:spLocks/>
                </p:cNvSpPr>
                <p:nvPr/>
              </p:nvSpPr>
              <p:spPr bwMode="auto">
                <a:xfrm>
                  <a:off x="1365" y="1499"/>
                  <a:ext cx="9" cy="20"/>
                </a:xfrm>
                <a:custGeom>
                  <a:avLst/>
                  <a:gdLst>
                    <a:gd name="T0" fmla="*/ 0 w 9"/>
                    <a:gd name="T1" fmla="*/ 16 h 20"/>
                    <a:gd name="T2" fmla="*/ 0 w 9"/>
                    <a:gd name="T3" fmla="*/ 16 h 20"/>
                    <a:gd name="T4" fmla="*/ 6 w 9"/>
                    <a:gd name="T5" fmla="*/ 20 h 20"/>
                    <a:gd name="T6" fmla="*/ 9 w 9"/>
                    <a:gd name="T7" fmla="*/ 4 h 20"/>
                    <a:gd name="T8" fmla="*/ 3 w 9"/>
                    <a:gd name="T9" fmla="*/ 0 h 20"/>
                    <a:gd name="T10" fmla="*/ 3 w 9"/>
                    <a:gd name="T11" fmla="*/ 0 h 20"/>
                    <a:gd name="T12" fmla="*/ 3 w 9"/>
                    <a:gd name="T13" fmla="*/ 0 h 20"/>
                    <a:gd name="T14" fmla="*/ 3 w 9"/>
                    <a:gd name="T15" fmla="*/ 0 h 20"/>
                    <a:gd name="T16" fmla="*/ 3 w 9"/>
                    <a:gd name="T17" fmla="*/ 0 h 20"/>
                    <a:gd name="T18" fmla="*/ 0 w 9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9" y="4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" name="Freeform 248"/>
                <p:cNvSpPr>
                  <a:spLocks/>
                </p:cNvSpPr>
                <p:nvPr/>
              </p:nvSpPr>
              <p:spPr bwMode="auto">
                <a:xfrm>
                  <a:off x="1356" y="1495"/>
                  <a:ext cx="12" cy="20"/>
                </a:xfrm>
                <a:custGeom>
                  <a:avLst/>
                  <a:gdLst>
                    <a:gd name="T0" fmla="*/ 3 w 12"/>
                    <a:gd name="T1" fmla="*/ 16 h 20"/>
                    <a:gd name="T2" fmla="*/ 0 w 12"/>
                    <a:gd name="T3" fmla="*/ 16 h 20"/>
                    <a:gd name="T4" fmla="*/ 9 w 12"/>
                    <a:gd name="T5" fmla="*/ 20 h 20"/>
                    <a:gd name="T6" fmla="*/ 12 w 12"/>
                    <a:gd name="T7" fmla="*/ 4 h 20"/>
                    <a:gd name="T8" fmla="*/ 6 w 12"/>
                    <a:gd name="T9" fmla="*/ 0 h 20"/>
                    <a:gd name="T10" fmla="*/ 6 w 12"/>
                    <a:gd name="T11" fmla="*/ 0 h 20"/>
                    <a:gd name="T12" fmla="*/ 6 w 12"/>
                    <a:gd name="T13" fmla="*/ 0 h 20"/>
                    <a:gd name="T14" fmla="*/ 6 w 12"/>
                    <a:gd name="T15" fmla="*/ 0 h 20"/>
                    <a:gd name="T16" fmla="*/ 6 w 12"/>
                    <a:gd name="T17" fmla="*/ 0 h 20"/>
                    <a:gd name="T18" fmla="*/ 3 w 12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3" y="16"/>
                      </a:move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" name="Freeform 249"/>
                <p:cNvSpPr>
                  <a:spLocks/>
                </p:cNvSpPr>
                <p:nvPr/>
              </p:nvSpPr>
              <p:spPr bwMode="auto">
                <a:xfrm>
                  <a:off x="1350" y="1491"/>
                  <a:ext cx="12" cy="20"/>
                </a:xfrm>
                <a:custGeom>
                  <a:avLst/>
                  <a:gdLst>
                    <a:gd name="T0" fmla="*/ 3 w 12"/>
                    <a:gd name="T1" fmla="*/ 20 h 20"/>
                    <a:gd name="T2" fmla="*/ 0 w 12"/>
                    <a:gd name="T3" fmla="*/ 20 h 20"/>
                    <a:gd name="T4" fmla="*/ 9 w 12"/>
                    <a:gd name="T5" fmla="*/ 20 h 20"/>
                    <a:gd name="T6" fmla="*/ 12 w 12"/>
                    <a:gd name="T7" fmla="*/ 4 h 20"/>
                    <a:gd name="T8" fmla="*/ 6 w 12"/>
                    <a:gd name="T9" fmla="*/ 0 h 20"/>
                    <a:gd name="T10" fmla="*/ 3 w 12"/>
                    <a:gd name="T11" fmla="*/ 0 h 20"/>
                    <a:gd name="T12" fmla="*/ 6 w 12"/>
                    <a:gd name="T13" fmla="*/ 0 h 20"/>
                    <a:gd name="T14" fmla="*/ 3 w 12"/>
                    <a:gd name="T15" fmla="*/ 0 h 20"/>
                    <a:gd name="T16" fmla="*/ 3 w 12"/>
                    <a:gd name="T17" fmla="*/ 0 h 20"/>
                    <a:gd name="T18" fmla="*/ 3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3" y="20"/>
                      </a:moveTo>
                      <a:lnTo>
                        <a:pt x="0" y="20"/>
                      </a:lnTo>
                      <a:lnTo>
                        <a:pt x="9" y="20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" name="Freeform 250"/>
                <p:cNvSpPr>
                  <a:spLocks/>
                </p:cNvSpPr>
                <p:nvPr/>
              </p:nvSpPr>
              <p:spPr bwMode="auto">
                <a:xfrm>
                  <a:off x="1344" y="1491"/>
                  <a:ext cx="9" cy="20"/>
                </a:xfrm>
                <a:custGeom>
                  <a:avLst/>
                  <a:gdLst>
                    <a:gd name="T0" fmla="*/ 0 w 9"/>
                    <a:gd name="T1" fmla="*/ 16 h 20"/>
                    <a:gd name="T2" fmla="*/ 0 w 9"/>
                    <a:gd name="T3" fmla="*/ 16 h 20"/>
                    <a:gd name="T4" fmla="*/ 9 w 9"/>
                    <a:gd name="T5" fmla="*/ 20 h 20"/>
                    <a:gd name="T6" fmla="*/ 9 w 9"/>
                    <a:gd name="T7" fmla="*/ 0 h 20"/>
                    <a:gd name="T8" fmla="*/ 3 w 9"/>
                    <a:gd name="T9" fmla="*/ 0 h 20"/>
                    <a:gd name="T10" fmla="*/ 3 w 9"/>
                    <a:gd name="T11" fmla="*/ 0 h 20"/>
                    <a:gd name="T12" fmla="*/ 3 w 9"/>
                    <a:gd name="T13" fmla="*/ 0 h 20"/>
                    <a:gd name="T14" fmla="*/ 3 w 9"/>
                    <a:gd name="T15" fmla="*/ 0 h 20"/>
                    <a:gd name="T16" fmla="*/ 3 w 9"/>
                    <a:gd name="T17" fmla="*/ 0 h 20"/>
                    <a:gd name="T18" fmla="*/ 0 w 9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9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" name="Freeform 251"/>
                <p:cNvSpPr>
                  <a:spLocks/>
                </p:cNvSpPr>
                <p:nvPr/>
              </p:nvSpPr>
              <p:spPr bwMode="auto">
                <a:xfrm>
                  <a:off x="1338" y="1491"/>
                  <a:ext cx="9" cy="16"/>
                </a:xfrm>
                <a:custGeom>
                  <a:avLst/>
                  <a:gdLst>
                    <a:gd name="T0" fmla="*/ 0 w 9"/>
                    <a:gd name="T1" fmla="*/ 16 h 16"/>
                    <a:gd name="T2" fmla="*/ 0 w 9"/>
                    <a:gd name="T3" fmla="*/ 16 h 16"/>
                    <a:gd name="T4" fmla="*/ 6 w 9"/>
                    <a:gd name="T5" fmla="*/ 16 h 16"/>
                    <a:gd name="T6" fmla="*/ 9 w 9"/>
                    <a:gd name="T7" fmla="*/ 0 h 16"/>
                    <a:gd name="T8" fmla="*/ 0 w 9"/>
                    <a:gd name="T9" fmla="*/ 0 h 16"/>
                    <a:gd name="T10" fmla="*/ 0 w 9"/>
                    <a:gd name="T11" fmla="*/ 0 h 16"/>
                    <a:gd name="T12" fmla="*/ 0 w 9"/>
                    <a:gd name="T13" fmla="*/ 0 h 16"/>
                    <a:gd name="T14" fmla="*/ 0 w 9"/>
                    <a:gd name="T15" fmla="*/ 0 h 16"/>
                    <a:gd name="T16" fmla="*/ 0 w 9"/>
                    <a:gd name="T17" fmla="*/ 0 h 16"/>
                    <a:gd name="T18" fmla="*/ 0 w 9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6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16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" name="Freeform 252"/>
                <p:cNvSpPr>
                  <a:spLocks/>
                </p:cNvSpPr>
                <p:nvPr/>
              </p:nvSpPr>
              <p:spPr bwMode="auto">
                <a:xfrm>
                  <a:off x="537" y="1491"/>
                  <a:ext cx="801" cy="16"/>
                </a:xfrm>
                <a:custGeom>
                  <a:avLst/>
                  <a:gdLst>
                    <a:gd name="T0" fmla="*/ 3 w 801"/>
                    <a:gd name="T1" fmla="*/ 16 h 16"/>
                    <a:gd name="T2" fmla="*/ 0 w 801"/>
                    <a:gd name="T3" fmla="*/ 16 h 16"/>
                    <a:gd name="T4" fmla="*/ 801 w 801"/>
                    <a:gd name="T5" fmla="*/ 16 h 16"/>
                    <a:gd name="T6" fmla="*/ 801 w 801"/>
                    <a:gd name="T7" fmla="*/ 0 h 16"/>
                    <a:gd name="T8" fmla="*/ 0 w 801"/>
                    <a:gd name="T9" fmla="*/ 0 h 16"/>
                    <a:gd name="T10" fmla="*/ 0 w 801"/>
                    <a:gd name="T11" fmla="*/ 0 h 16"/>
                    <a:gd name="T12" fmla="*/ 0 w 801"/>
                    <a:gd name="T13" fmla="*/ 0 h 16"/>
                    <a:gd name="T14" fmla="*/ 0 w 801"/>
                    <a:gd name="T15" fmla="*/ 0 h 16"/>
                    <a:gd name="T16" fmla="*/ 0 w 801"/>
                    <a:gd name="T17" fmla="*/ 0 h 16"/>
                    <a:gd name="T18" fmla="*/ 3 w 801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01" h="16">
                      <a:moveTo>
                        <a:pt x="3" y="16"/>
                      </a:moveTo>
                      <a:lnTo>
                        <a:pt x="0" y="16"/>
                      </a:lnTo>
                      <a:lnTo>
                        <a:pt x="801" y="16"/>
                      </a:ln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" name="Freeform 253"/>
                <p:cNvSpPr>
                  <a:spLocks/>
                </p:cNvSpPr>
                <p:nvPr/>
              </p:nvSpPr>
              <p:spPr bwMode="auto">
                <a:xfrm>
                  <a:off x="531" y="1491"/>
                  <a:ext cx="9" cy="16"/>
                </a:xfrm>
                <a:custGeom>
                  <a:avLst/>
                  <a:gdLst>
                    <a:gd name="T0" fmla="*/ 0 w 9"/>
                    <a:gd name="T1" fmla="*/ 16 h 16"/>
                    <a:gd name="T2" fmla="*/ 0 w 9"/>
                    <a:gd name="T3" fmla="*/ 16 h 16"/>
                    <a:gd name="T4" fmla="*/ 9 w 9"/>
                    <a:gd name="T5" fmla="*/ 16 h 16"/>
                    <a:gd name="T6" fmla="*/ 6 w 9"/>
                    <a:gd name="T7" fmla="*/ 0 h 16"/>
                    <a:gd name="T8" fmla="*/ 0 w 9"/>
                    <a:gd name="T9" fmla="*/ 0 h 16"/>
                    <a:gd name="T10" fmla="*/ 0 w 9"/>
                    <a:gd name="T11" fmla="*/ 0 h 16"/>
                    <a:gd name="T12" fmla="*/ 0 w 9"/>
                    <a:gd name="T13" fmla="*/ 0 h 16"/>
                    <a:gd name="T14" fmla="*/ 0 w 9"/>
                    <a:gd name="T15" fmla="*/ 0 h 16"/>
                    <a:gd name="T16" fmla="*/ 0 w 9"/>
                    <a:gd name="T17" fmla="*/ 0 h 16"/>
                    <a:gd name="T18" fmla="*/ 0 w 9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6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" name="Freeform 254"/>
                <p:cNvSpPr>
                  <a:spLocks/>
                </p:cNvSpPr>
                <p:nvPr/>
              </p:nvSpPr>
              <p:spPr bwMode="auto">
                <a:xfrm>
                  <a:off x="521" y="1491"/>
                  <a:ext cx="10" cy="20"/>
                </a:xfrm>
                <a:custGeom>
                  <a:avLst/>
                  <a:gdLst>
                    <a:gd name="T0" fmla="*/ 4 w 10"/>
                    <a:gd name="T1" fmla="*/ 20 h 20"/>
                    <a:gd name="T2" fmla="*/ 4 w 10"/>
                    <a:gd name="T3" fmla="*/ 20 h 20"/>
                    <a:gd name="T4" fmla="*/ 10 w 10"/>
                    <a:gd name="T5" fmla="*/ 16 h 20"/>
                    <a:gd name="T6" fmla="*/ 10 w 10"/>
                    <a:gd name="T7" fmla="*/ 0 h 20"/>
                    <a:gd name="T8" fmla="*/ 0 w 10"/>
                    <a:gd name="T9" fmla="*/ 0 h 20"/>
                    <a:gd name="T10" fmla="*/ 0 w 10"/>
                    <a:gd name="T11" fmla="*/ 0 h 20"/>
                    <a:gd name="T12" fmla="*/ 0 w 10"/>
                    <a:gd name="T13" fmla="*/ 0 h 20"/>
                    <a:gd name="T14" fmla="*/ 0 w 10"/>
                    <a:gd name="T15" fmla="*/ 0 h 20"/>
                    <a:gd name="T16" fmla="*/ 0 w 10"/>
                    <a:gd name="T17" fmla="*/ 0 h 20"/>
                    <a:gd name="T18" fmla="*/ 4 w 10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" h="20">
                      <a:moveTo>
                        <a:pt x="4" y="20"/>
                      </a:moveTo>
                      <a:lnTo>
                        <a:pt x="4" y="20"/>
                      </a:lnTo>
                      <a:lnTo>
                        <a:pt x="10" y="16"/>
                      </a:lnTo>
                      <a:lnTo>
                        <a:pt x="1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" name="Freeform 255"/>
                <p:cNvSpPr>
                  <a:spLocks/>
                </p:cNvSpPr>
                <p:nvPr/>
              </p:nvSpPr>
              <p:spPr bwMode="auto">
                <a:xfrm>
                  <a:off x="512" y="1491"/>
                  <a:ext cx="13" cy="20"/>
                </a:xfrm>
                <a:custGeom>
                  <a:avLst/>
                  <a:gdLst>
                    <a:gd name="T0" fmla="*/ 6 w 13"/>
                    <a:gd name="T1" fmla="*/ 20 h 20"/>
                    <a:gd name="T2" fmla="*/ 6 w 13"/>
                    <a:gd name="T3" fmla="*/ 20 h 20"/>
                    <a:gd name="T4" fmla="*/ 13 w 13"/>
                    <a:gd name="T5" fmla="*/ 20 h 20"/>
                    <a:gd name="T6" fmla="*/ 9 w 13"/>
                    <a:gd name="T7" fmla="*/ 0 h 20"/>
                    <a:gd name="T8" fmla="*/ 3 w 13"/>
                    <a:gd name="T9" fmla="*/ 4 h 20"/>
                    <a:gd name="T10" fmla="*/ 0 w 13"/>
                    <a:gd name="T11" fmla="*/ 4 h 20"/>
                    <a:gd name="T12" fmla="*/ 3 w 13"/>
                    <a:gd name="T13" fmla="*/ 4 h 20"/>
                    <a:gd name="T14" fmla="*/ 3 w 13"/>
                    <a:gd name="T15" fmla="*/ 4 h 20"/>
                    <a:gd name="T16" fmla="*/ 0 w 13"/>
                    <a:gd name="T17" fmla="*/ 4 h 20"/>
                    <a:gd name="T18" fmla="*/ 6 w 13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" h="20">
                      <a:moveTo>
                        <a:pt x="6" y="20"/>
                      </a:moveTo>
                      <a:lnTo>
                        <a:pt x="6" y="20"/>
                      </a:lnTo>
                      <a:lnTo>
                        <a:pt x="13" y="20"/>
                      </a:lnTo>
                      <a:lnTo>
                        <a:pt x="9" y="0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6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" name="Freeform 256"/>
                <p:cNvSpPr>
                  <a:spLocks/>
                </p:cNvSpPr>
                <p:nvPr/>
              </p:nvSpPr>
              <p:spPr bwMode="auto">
                <a:xfrm>
                  <a:off x="506" y="1495"/>
                  <a:ext cx="12" cy="20"/>
                </a:xfrm>
                <a:custGeom>
                  <a:avLst/>
                  <a:gdLst>
                    <a:gd name="T0" fmla="*/ 6 w 12"/>
                    <a:gd name="T1" fmla="*/ 20 h 20"/>
                    <a:gd name="T2" fmla="*/ 6 w 12"/>
                    <a:gd name="T3" fmla="*/ 20 h 20"/>
                    <a:gd name="T4" fmla="*/ 12 w 12"/>
                    <a:gd name="T5" fmla="*/ 16 h 20"/>
                    <a:gd name="T6" fmla="*/ 6 w 12"/>
                    <a:gd name="T7" fmla="*/ 0 h 20"/>
                    <a:gd name="T8" fmla="*/ 0 w 12"/>
                    <a:gd name="T9" fmla="*/ 4 h 20"/>
                    <a:gd name="T10" fmla="*/ 0 w 12"/>
                    <a:gd name="T11" fmla="*/ 4 h 20"/>
                    <a:gd name="T12" fmla="*/ 0 w 12"/>
                    <a:gd name="T13" fmla="*/ 4 h 20"/>
                    <a:gd name="T14" fmla="*/ 0 w 12"/>
                    <a:gd name="T15" fmla="*/ 4 h 20"/>
                    <a:gd name="T16" fmla="*/ 0 w 12"/>
                    <a:gd name="T17" fmla="*/ 4 h 20"/>
                    <a:gd name="T18" fmla="*/ 6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6" y="20"/>
                      </a:move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6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" name="Freeform 257"/>
                <p:cNvSpPr>
                  <a:spLocks/>
                </p:cNvSpPr>
                <p:nvPr/>
              </p:nvSpPr>
              <p:spPr bwMode="auto">
                <a:xfrm>
                  <a:off x="500" y="1499"/>
                  <a:ext cx="12" cy="20"/>
                </a:xfrm>
                <a:custGeom>
                  <a:avLst/>
                  <a:gdLst>
                    <a:gd name="T0" fmla="*/ 6 w 12"/>
                    <a:gd name="T1" fmla="*/ 20 h 20"/>
                    <a:gd name="T2" fmla="*/ 6 w 12"/>
                    <a:gd name="T3" fmla="*/ 20 h 20"/>
                    <a:gd name="T4" fmla="*/ 12 w 12"/>
                    <a:gd name="T5" fmla="*/ 16 h 20"/>
                    <a:gd name="T6" fmla="*/ 6 w 12"/>
                    <a:gd name="T7" fmla="*/ 0 h 20"/>
                    <a:gd name="T8" fmla="*/ 0 w 12"/>
                    <a:gd name="T9" fmla="*/ 4 h 20"/>
                    <a:gd name="T10" fmla="*/ 0 w 12"/>
                    <a:gd name="T11" fmla="*/ 4 h 20"/>
                    <a:gd name="T12" fmla="*/ 0 w 12"/>
                    <a:gd name="T13" fmla="*/ 4 h 20"/>
                    <a:gd name="T14" fmla="*/ 0 w 12"/>
                    <a:gd name="T15" fmla="*/ 4 h 20"/>
                    <a:gd name="T16" fmla="*/ 0 w 12"/>
                    <a:gd name="T17" fmla="*/ 4 h 20"/>
                    <a:gd name="T18" fmla="*/ 6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6" y="20"/>
                      </a:move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6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" name="Freeform 258"/>
                <p:cNvSpPr>
                  <a:spLocks/>
                </p:cNvSpPr>
                <p:nvPr/>
              </p:nvSpPr>
              <p:spPr bwMode="auto">
                <a:xfrm>
                  <a:off x="491" y="1503"/>
                  <a:ext cx="15" cy="20"/>
                </a:xfrm>
                <a:custGeom>
                  <a:avLst/>
                  <a:gdLst>
                    <a:gd name="T0" fmla="*/ 9 w 15"/>
                    <a:gd name="T1" fmla="*/ 20 h 20"/>
                    <a:gd name="T2" fmla="*/ 9 w 15"/>
                    <a:gd name="T3" fmla="*/ 20 h 20"/>
                    <a:gd name="T4" fmla="*/ 15 w 15"/>
                    <a:gd name="T5" fmla="*/ 16 h 20"/>
                    <a:gd name="T6" fmla="*/ 9 w 15"/>
                    <a:gd name="T7" fmla="*/ 0 h 20"/>
                    <a:gd name="T8" fmla="*/ 3 w 15"/>
                    <a:gd name="T9" fmla="*/ 4 h 20"/>
                    <a:gd name="T10" fmla="*/ 0 w 15"/>
                    <a:gd name="T11" fmla="*/ 4 h 20"/>
                    <a:gd name="T12" fmla="*/ 3 w 15"/>
                    <a:gd name="T13" fmla="*/ 4 h 20"/>
                    <a:gd name="T14" fmla="*/ 3 w 15"/>
                    <a:gd name="T15" fmla="*/ 4 h 20"/>
                    <a:gd name="T16" fmla="*/ 0 w 15"/>
                    <a:gd name="T17" fmla="*/ 4 h 20"/>
                    <a:gd name="T18" fmla="*/ 9 w 15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9" y="20"/>
                      </a:moveTo>
                      <a:lnTo>
                        <a:pt x="9" y="20"/>
                      </a:lnTo>
                      <a:lnTo>
                        <a:pt x="15" y="16"/>
                      </a:lnTo>
                      <a:lnTo>
                        <a:pt x="9" y="0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" name="Freeform 259"/>
                <p:cNvSpPr>
                  <a:spLocks/>
                </p:cNvSpPr>
                <p:nvPr/>
              </p:nvSpPr>
              <p:spPr bwMode="auto">
                <a:xfrm>
                  <a:off x="437" y="1507"/>
                  <a:ext cx="63" cy="78"/>
                </a:xfrm>
                <a:custGeom>
                  <a:avLst/>
                  <a:gdLst>
                    <a:gd name="T0" fmla="*/ 48 w 63"/>
                    <a:gd name="T1" fmla="*/ 8 h 78"/>
                    <a:gd name="T2" fmla="*/ 57 w 63"/>
                    <a:gd name="T3" fmla="*/ 20 h 78"/>
                    <a:gd name="T4" fmla="*/ 63 w 63"/>
                    <a:gd name="T5" fmla="*/ 16 h 78"/>
                    <a:gd name="T6" fmla="*/ 54 w 63"/>
                    <a:gd name="T7" fmla="*/ 0 h 78"/>
                    <a:gd name="T8" fmla="*/ 51 w 63"/>
                    <a:gd name="T9" fmla="*/ 8 h 78"/>
                    <a:gd name="T10" fmla="*/ 60 w 63"/>
                    <a:gd name="T11" fmla="*/ 20 h 78"/>
                    <a:gd name="T12" fmla="*/ 48 w 63"/>
                    <a:gd name="T13" fmla="*/ 8 h 78"/>
                    <a:gd name="T14" fmla="*/ 0 w 63"/>
                    <a:gd name="T15" fmla="*/ 78 h 78"/>
                    <a:gd name="T16" fmla="*/ 57 w 63"/>
                    <a:gd name="T17" fmla="*/ 20 h 78"/>
                    <a:gd name="T18" fmla="*/ 48 w 63"/>
                    <a:gd name="T19" fmla="*/ 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3" h="78">
                      <a:moveTo>
                        <a:pt x="48" y="8"/>
                      </a:moveTo>
                      <a:lnTo>
                        <a:pt x="57" y="20"/>
                      </a:lnTo>
                      <a:lnTo>
                        <a:pt x="63" y="16"/>
                      </a:lnTo>
                      <a:lnTo>
                        <a:pt x="54" y="0"/>
                      </a:lnTo>
                      <a:lnTo>
                        <a:pt x="51" y="8"/>
                      </a:lnTo>
                      <a:lnTo>
                        <a:pt x="60" y="20"/>
                      </a:lnTo>
                      <a:lnTo>
                        <a:pt x="48" y="8"/>
                      </a:lnTo>
                      <a:lnTo>
                        <a:pt x="0" y="78"/>
                      </a:lnTo>
                      <a:lnTo>
                        <a:pt x="57" y="20"/>
                      </a:lnTo>
                      <a:lnTo>
                        <a:pt x="48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" name="Freeform 260"/>
                <p:cNvSpPr>
                  <a:spLocks/>
                </p:cNvSpPr>
                <p:nvPr/>
              </p:nvSpPr>
              <p:spPr bwMode="auto">
                <a:xfrm>
                  <a:off x="464" y="1499"/>
                  <a:ext cx="946" cy="1757"/>
                </a:xfrm>
                <a:custGeom>
                  <a:avLst/>
                  <a:gdLst>
                    <a:gd name="T0" fmla="*/ 874 w 946"/>
                    <a:gd name="T1" fmla="*/ 0 h 1757"/>
                    <a:gd name="T2" fmla="*/ 889 w 946"/>
                    <a:gd name="T3" fmla="*/ 0 h 1757"/>
                    <a:gd name="T4" fmla="*/ 901 w 946"/>
                    <a:gd name="T5" fmla="*/ 8 h 1757"/>
                    <a:gd name="T6" fmla="*/ 916 w 946"/>
                    <a:gd name="T7" fmla="*/ 16 h 1757"/>
                    <a:gd name="T8" fmla="*/ 925 w 946"/>
                    <a:gd name="T9" fmla="*/ 28 h 1757"/>
                    <a:gd name="T10" fmla="*/ 934 w 946"/>
                    <a:gd name="T11" fmla="*/ 45 h 1757"/>
                    <a:gd name="T12" fmla="*/ 940 w 946"/>
                    <a:gd name="T13" fmla="*/ 61 h 1757"/>
                    <a:gd name="T14" fmla="*/ 946 w 946"/>
                    <a:gd name="T15" fmla="*/ 78 h 1757"/>
                    <a:gd name="T16" fmla="*/ 946 w 946"/>
                    <a:gd name="T17" fmla="*/ 98 h 1757"/>
                    <a:gd name="T18" fmla="*/ 946 w 946"/>
                    <a:gd name="T19" fmla="*/ 1666 h 1757"/>
                    <a:gd name="T20" fmla="*/ 943 w 946"/>
                    <a:gd name="T21" fmla="*/ 1687 h 1757"/>
                    <a:gd name="T22" fmla="*/ 937 w 946"/>
                    <a:gd name="T23" fmla="*/ 1703 h 1757"/>
                    <a:gd name="T24" fmla="*/ 931 w 946"/>
                    <a:gd name="T25" fmla="*/ 1720 h 1757"/>
                    <a:gd name="T26" fmla="*/ 922 w 946"/>
                    <a:gd name="T27" fmla="*/ 1732 h 1757"/>
                    <a:gd name="T28" fmla="*/ 910 w 946"/>
                    <a:gd name="T29" fmla="*/ 1744 h 1757"/>
                    <a:gd name="T30" fmla="*/ 895 w 946"/>
                    <a:gd name="T31" fmla="*/ 1753 h 1757"/>
                    <a:gd name="T32" fmla="*/ 883 w 946"/>
                    <a:gd name="T33" fmla="*/ 1753 h 1757"/>
                    <a:gd name="T34" fmla="*/ 73 w 946"/>
                    <a:gd name="T35" fmla="*/ 1757 h 1757"/>
                    <a:gd name="T36" fmla="*/ 61 w 946"/>
                    <a:gd name="T37" fmla="*/ 1753 h 1757"/>
                    <a:gd name="T38" fmla="*/ 45 w 946"/>
                    <a:gd name="T39" fmla="*/ 1749 h 1757"/>
                    <a:gd name="T40" fmla="*/ 33 w 946"/>
                    <a:gd name="T41" fmla="*/ 1740 h 1757"/>
                    <a:gd name="T42" fmla="*/ 21 w 946"/>
                    <a:gd name="T43" fmla="*/ 1728 h 1757"/>
                    <a:gd name="T44" fmla="*/ 12 w 946"/>
                    <a:gd name="T45" fmla="*/ 1712 h 1757"/>
                    <a:gd name="T46" fmla="*/ 6 w 946"/>
                    <a:gd name="T47" fmla="*/ 1695 h 1757"/>
                    <a:gd name="T48" fmla="*/ 3 w 946"/>
                    <a:gd name="T49" fmla="*/ 1675 h 1757"/>
                    <a:gd name="T50" fmla="*/ 0 w 946"/>
                    <a:gd name="T51" fmla="*/ 1654 h 1757"/>
                    <a:gd name="T52" fmla="*/ 0 w 946"/>
                    <a:gd name="T53" fmla="*/ 90 h 1757"/>
                    <a:gd name="T54" fmla="*/ 3 w 946"/>
                    <a:gd name="T55" fmla="*/ 70 h 1757"/>
                    <a:gd name="T56" fmla="*/ 9 w 946"/>
                    <a:gd name="T57" fmla="*/ 53 h 1757"/>
                    <a:gd name="T58" fmla="*/ 18 w 946"/>
                    <a:gd name="T59" fmla="*/ 37 h 1757"/>
                    <a:gd name="T60" fmla="*/ 27 w 946"/>
                    <a:gd name="T61" fmla="*/ 24 h 1757"/>
                    <a:gd name="T62" fmla="*/ 39 w 946"/>
                    <a:gd name="T63" fmla="*/ 12 h 1757"/>
                    <a:gd name="T64" fmla="*/ 51 w 946"/>
                    <a:gd name="T65" fmla="*/ 4 h 1757"/>
                    <a:gd name="T66" fmla="*/ 67 w 946"/>
                    <a:gd name="T67" fmla="*/ 0 h 17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946" h="1757">
                      <a:moveTo>
                        <a:pt x="73" y="0"/>
                      </a:moveTo>
                      <a:lnTo>
                        <a:pt x="874" y="0"/>
                      </a:lnTo>
                      <a:lnTo>
                        <a:pt x="883" y="0"/>
                      </a:lnTo>
                      <a:lnTo>
                        <a:pt x="889" y="0"/>
                      </a:lnTo>
                      <a:lnTo>
                        <a:pt x="895" y="4"/>
                      </a:lnTo>
                      <a:lnTo>
                        <a:pt x="901" y="8"/>
                      </a:lnTo>
                      <a:lnTo>
                        <a:pt x="910" y="12"/>
                      </a:lnTo>
                      <a:lnTo>
                        <a:pt x="916" y="16"/>
                      </a:lnTo>
                      <a:lnTo>
                        <a:pt x="922" y="24"/>
                      </a:lnTo>
                      <a:lnTo>
                        <a:pt x="925" y="28"/>
                      </a:lnTo>
                      <a:lnTo>
                        <a:pt x="931" y="37"/>
                      </a:lnTo>
                      <a:lnTo>
                        <a:pt x="934" y="45"/>
                      </a:lnTo>
                      <a:lnTo>
                        <a:pt x="937" y="53"/>
                      </a:lnTo>
                      <a:lnTo>
                        <a:pt x="940" y="61"/>
                      </a:lnTo>
                      <a:lnTo>
                        <a:pt x="943" y="70"/>
                      </a:lnTo>
                      <a:lnTo>
                        <a:pt x="946" y="78"/>
                      </a:lnTo>
                      <a:lnTo>
                        <a:pt x="946" y="90"/>
                      </a:lnTo>
                      <a:lnTo>
                        <a:pt x="946" y="98"/>
                      </a:lnTo>
                      <a:lnTo>
                        <a:pt x="946" y="1654"/>
                      </a:lnTo>
                      <a:lnTo>
                        <a:pt x="946" y="1666"/>
                      </a:lnTo>
                      <a:lnTo>
                        <a:pt x="946" y="1675"/>
                      </a:lnTo>
                      <a:lnTo>
                        <a:pt x="943" y="1687"/>
                      </a:lnTo>
                      <a:lnTo>
                        <a:pt x="940" y="1695"/>
                      </a:lnTo>
                      <a:lnTo>
                        <a:pt x="937" y="1703"/>
                      </a:lnTo>
                      <a:lnTo>
                        <a:pt x="934" y="1712"/>
                      </a:lnTo>
                      <a:lnTo>
                        <a:pt x="931" y="1720"/>
                      </a:lnTo>
                      <a:lnTo>
                        <a:pt x="925" y="1728"/>
                      </a:lnTo>
                      <a:lnTo>
                        <a:pt x="922" y="1732"/>
                      </a:lnTo>
                      <a:lnTo>
                        <a:pt x="916" y="1740"/>
                      </a:lnTo>
                      <a:lnTo>
                        <a:pt x="910" y="1744"/>
                      </a:lnTo>
                      <a:lnTo>
                        <a:pt x="901" y="1749"/>
                      </a:lnTo>
                      <a:lnTo>
                        <a:pt x="895" y="1753"/>
                      </a:lnTo>
                      <a:lnTo>
                        <a:pt x="889" y="1753"/>
                      </a:lnTo>
                      <a:lnTo>
                        <a:pt x="883" y="1753"/>
                      </a:lnTo>
                      <a:lnTo>
                        <a:pt x="874" y="1757"/>
                      </a:lnTo>
                      <a:lnTo>
                        <a:pt x="73" y="1757"/>
                      </a:lnTo>
                      <a:lnTo>
                        <a:pt x="67" y="1753"/>
                      </a:lnTo>
                      <a:lnTo>
                        <a:pt x="61" y="1753"/>
                      </a:lnTo>
                      <a:lnTo>
                        <a:pt x="51" y="1753"/>
                      </a:lnTo>
                      <a:lnTo>
                        <a:pt x="45" y="1749"/>
                      </a:lnTo>
                      <a:lnTo>
                        <a:pt x="39" y="1744"/>
                      </a:lnTo>
                      <a:lnTo>
                        <a:pt x="33" y="1740"/>
                      </a:lnTo>
                      <a:lnTo>
                        <a:pt x="27" y="1732"/>
                      </a:lnTo>
                      <a:lnTo>
                        <a:pt x="21" y="1728"/>
                      </a:lnTo>
                      <a:lnTo>
                        <a:pt x="18" y="1720"/>
                      </a:lnTo>
                      <a:lnTo>
                        <a:pt x="12" y="1712"/>
                      </a:lnTo>
                      <a:lnTo>
                        <a:pt x="9" y="1703"/>
                      </a:lnTo>
                      <a:lnTo>
                        <a:pt x="6" y="1695"/>
                      </a:lnTo>
                      <a:lnTo>
                        <a:pt x="3" y="1687"/>
                      </a:lnTo>
                      <a:lnTo>
                        <a:pt x="3" y="1675"/>
                      </a:lnTo>
                      <a:lnTo>
                        <a:pt x="0" y="1666"/>
                      </a:lnTo>
                      <a:lnTo>
                        <a:pt x="0" y="1654"/>
                      </a:lnTo>
                      <a:lnTo>
                        <a:pt x="0" y="98"/>
                      </a:lnTo>
                      <a:lnTo>
                        <a:pt x="0" y="90"/>
                      </a:lnTo>
                      <a:lnTo>
                        <a:pt x="3" y="78"/>
                      </a:lnTo>
                      <a:lnTo>
                        <a:pt x="3" y="70"/>
                      </a:lnTo>
                      <a:lnTo>
                        <a:pt x="6" y="61"/>
                      </a:lnTo>
                      <a:lnTo>
                        <a:pt x="9" y="53"/>
                      </a:lnTo>
                      <a:lnTo>
                        <a:pt x="12" y="45"/>
                      </a:lnTo>
                      <a:lnTo>
                        <a:pt x="18" y="37"/>
                      </a:lnTo>
                      <a:lnTo>
                        <a:pt x="21" y="28"/>
                      </a:lnTo>
                      <a:lnTo>
                        <a:pt x="27" y="24"/>
                      </a:lnTo>
                      <a:lnTo>
                        <a:pt x="33" y="16"/>
                      </a:lnTo>
                      <a:lnTo>
                        <a:pt x="39" y="12"/>
                      </a:lnTo>
                      <a:lnTo>
                        <a:pt x="45" y="8"/>
                      </a:lnTo>
                      <a:lnTo>
                        <a:pt x="51" y="4"/>
                      </a:lnTo>
                      <a:lnTo>
                        <a:pt x="61" y="0"/>
                      </a:lnTo>
                      <a:lnTo>
                        <a:pt x="67" y="0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FFFFA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" name="Freeform 261"/>
                <p:cNvSpPr>
                  <a:spLocks/>
                </p:cNvSpPr>
                <p:nvPr/>
              </p:nvSpPr>
              <p:spPr bwMode="auto">
                <a:xfrm>
                  <a:off x="537" y="1491"/>
                  <a:ext cx="801" cy="16"/>
                </a:xfrm>
                <a:custGeom>
                  <a:avLst/>
                  <a:gdLst>
                    <a:gd name="T0" fmla="*/ 801 w 801"/>
                    <a:gd name="T1" fmla="*/ 0 h 16"/>
                    <a:gd name="T2" fmla="*/ 801 w 801"/>
                    <a:gd name="T3" fmla="*/ 0 h 16"/>
                    <a:gd name="T4" fmla="*/ 0 w 801"/>
                    <a:gd name="T5" fmla="*/ 0 h 16"/>
                    <a:gd name="T6" fmla="*/ 0 w 801"/>
                    <a:gd name="T7" fmla="*/ 16 h 16"/>
                    <a:gd name="T8" fmla="*/ 801 w 801"/>
                    <a:gd name="T9" fmla="*/ 16 h 16"/>
                    <a:gd name="T10" fmla="*/ 801 w 801"/>
                    <a:gd name="T11" fmla="*/ 16 h 16"/>
                    <a:gd name="T12" fmla="*/ 801 w 801"/>
                    <a:gd name="T13" fmla="*/ 0 h 16"/>
                    <a:gd name="T14" fmla="*/ 801 w 801"/>
                    <a:gd name="T15" fmla="*/ 0 h 16"/>
                    <a:gd name="T16" fmla="*/ 801 w 801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1" h="16">
                      <a:moveTo>
                        <a:pt x="801" y="0"/>
                      </a:move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801" y="16"/>
                      </a:lnTo>
                      <a:lnTo>
                        <a:pt x="801" y="16"/>
                      </a:lnTo>
                      <a:lnTo>
                        <a:pt x="801" y="0"/>
                      </a:lnTo>
                      <a:lnTo>
                        <a:pt x="801" y="0"/>
                      </a:lnTo>
                      <a:lnTo>
                        <a:pt x="8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" name="Freeform 262"/>
                <p:cNvSpPr>
                  <a:spLocks/>
                </p:cNvSpPr>
                <p:nvPr/>
              </p:nvSpPr>
              <p:spPr bwMode="auto">
                <a:xfrm>
                  <a:off x="1338" y="1491"/>
                  <a:ext cx="9" cy="16"/>
                </a:xfrm>
                <a:custGeom>
                  <a:avLst/>
                  <a:gdLst>
                    <a:gd name="T0" fmla="*/ 9 w 9"/>
                    <a:gd name="T1" fmla="*/ 0 h 16"/>
                    <a:gd name="T2" fmla="*/ 9 w 9"/>
                    <a:gd name="T3" fmla="*/ 0 h 16"/>
                    <a:gd name="T4" fmla="*/ 0 w 9"/>
                    <a:gd name="T5" fmla="*/ 0 h 16"/>
                    <a:gd name="T6" fmla="*/ 0 w 9"/>
                    <a:gd name="T7" fmla="*/ 16 h 16"/>
                    <a:gd name="T8" fmla="*/ 6 w 9"/>
                    <a:gd name="T9" fmla="*/ 16 h 16"/>
                    <a:gd name="T10" fmla="*/ 6 w 9"/>
                    <a:gd name="T11" fmla="*/ 16 h 16"/>
                    <a:gd name="T12" fmla="*/ 9 w 9"/>
                    <a:gd name="T13" fmla="*/ 0 h 16"/>
                    <a:gd name="T14" fmla="*/ 9 w 9"/>
                    <a:gd name="T15" fmla="*/ 0 h 16"/>
                    <a:gd name="T16" fmla="*/ 9 w 9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6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6" y="16"/>
                      </a:lnTo>
                      <a:lnTo>
                        <a:pt x="6" y="16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" name="Freeform 263"/>
                <p:cNvSpPr>
                  <a:spLocks/>
                </p:cNvSpPr>
                <p:nvPr/>
              </p:nvSpPr>
              <p:spPr bwMode="auto">
                <a:xfrm>
                  <a:off x="1344" y="1491"/>
                  <a:ext cx="12" cy="20"/>
                </a:xfrm>
                <a:custGeom>
                  <a:avLst/>
                  <a:gdLst>
                    <a:gd name="T0" fmla="*/ 12 w 12"/>
                    <a:gd name="T1" fmla="*/ 0 h 20"/>
                    <a:gd name="T2" fmla="*/ 9 w 12"/>
                    <a:gd name="T3" fmla="*/ 0 h 20"/>
                    <a:gd name="T4" fmla="*/ 3 w 12"/>
                    <a:gd name="T5" fmla="*/ 0 h 20"/>
                    <a:gd name="T6" fmla="*/ 0 w 12"/>
                    <a:gd name="T7" fmla="*/ 16 h 20"/>
                    <a:gd name="T8" fmla="*/ 9 w 12"/>
                    <a:gd name="T9" fmla="*/ 20 h 20"/>
                    <a:gd name="T10" fmla="*/ 6 w 12"/>
                    <a:gd name="T11" fmla="*/ 20 h 20"/>
                    <a:gd name="T12" fmla="*/ 12 w 12"/>
                    <a:gd name="T13" fmla="*/ 0 h 20"/>
                    <a:gd name="T14" fmla="*/ 9 w 12"/>
                    <a:gd name="T15" fmla="*/ 0 h 20"/>
                    <a:gd name="T16" fmla="*/ 9 w 12"/>
                    <a:gd name="T17" fmla="*/ 0 h 20"/>
                    <a:gd name="T18" fmla="*/ 12 w 12"/>
                    <a:gd name="T19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12" y="0"/>
                      </a:moveTo>
                      <a:lnTo>
                        <a:pt x="9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6" y="20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" name="Freeform 264"/>
                <p:cNvSpPr>
                  <a:spLocks/>
                </p:cNvSpPr>
                <p:nvPr/>
              </p:nvSpPr>
              <p:spPr bwMode="auto">
                <a:xfrm>
                  <a:off x="1350" y="1491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12 w 12"/>
                    <a:gd name="T3" fmla="*/ 4 h 20"/>
                    <a:gd name="T4" fmla="*/ 6 w 12"/>
                    <a:gd name="T5" fmla="*/ 0 h 20"/>
                    <a:gd name="T6" fmla="*/ 0 w 12"/>
                    <a:gd name="T7" fmla="*/ 20 h 20"/>
                    <a:gd name="T8" fmla="*/ 9 w 12"/>
                    <a:gd name="T9" fmla="*/ 20 h 20"/>
                    <a:gd name="T10" fmla="*/ 6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12 w 12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20"/>
                      </a:lnTo>
                      <a:lnTo>
                        <a:pt x="9" y="20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" name="Freeform 265"/>
                <p:cNvSpPr>
                  <a:spLocks/>
                </p:cNvSpPr>
                <p:nvPr/>
              </p:nvSpPr>
              <p:spPr bwMode="auto">
                <a:xfrm>
                  <a:off x="1356" y="1495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12 w 12"/>
                    <a:gd name="T3" fmla="*/ 4 h 20"/>
                    <a:gd name="T4" fmla="*/ 6 w 12"/>
                    <a:gd name="T5" fmla="*/ 0 h 20"/>
                    <a:gd name="T6" fmla="*/ 0 w 12"/>
                    <a:gd name="T7" fmla="*/ 16 h 20"/>
                    <a:gd name="T8" fmla="*/ 9 w 12"/>
                    <a:gd name="T9" fmla="*/ 20 h 20"/>
                    <a:gd name="T10" fmla="*/ 9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12 w 12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" name="Freeform 266"/>
                <p:cNvSpPr>
                  <a:spLocks/>
                </p:cNvSpPr>
                <p:nvPr/>
              </p:nvSpPr>
              <p:spPr bwMode="auto">
                <a:xfrm>
                  <a:off x="1365" y="1499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9 w 12"/>
                    <a:gd name="T3" fmla="*/ 4 h 20"/>
                    <a:gd name="T4" fmla="*/ 3 w 12"/>
                    <a:gd name="T5" fmla="*/ 0 h 20"/>
                    <a:gd name="T6" fmla="*/ 0 w 12"/>
                    <a:gd name="T7" fmla="*/ 16 h 20"/>
                    <a:gd name="T8" fmla="*/ 6 w 12"/>
                    <a:gd name="T9" fmla="*/ 20 h 20"/>
                    <a:gd name="T10" fmla="*/ 3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9 w 12"/>
                    <a:gd name="T17" fmla="*/ 4 h 20"/>
                    <a:gd name="T18" fmla="*/ 12 w 12"/>
                    <a:gd name="T19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9" y="4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3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9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" name="Freeform 267"/>
                <p:cNvSpPr>
                  <a:spLocks/>
                </p:cNvSpPr>
                <p:nvPr/>
              </p:nvSpPr>
              <p:spPr bwMode="auto">
                <a:xfrm>
                  <a:off x="1368" y="1503"/>
                  <a:ext cx="15" cy="20"/>
                </a:xfrm>
                <a:custGeom>
                  <a:avLst/>
                  <a:gdLst>
                    <a:gd name="T0" fmla="*/ 15 w 15"/>
                    <a:gd name="T1" fmla="*/ 4 h 20"/>
                    <a:gd name="T2" fmla="*/ 15 w 15"/>
                    <a:gd name="T3" fmla="*/ 4 h 20"/>
                    <a:gd name="T4" fmla="*/ 9 w 15"/>
                    <a:gd name="T5" fmla="*/ 0 h 20"/>
                    <a:gd name="T6" fmla="*/ 0 w 15"/>
                    <a:gd name="T7" fmla="*/ 16 h 20"/>
                    <a:gd name="T8" fmla="*/ 6 w 15"/>
                    <a:gd name="T9" fmla="*/ 20 h 20"/>
                    <a:gd name="T10" fmla="*/ 6 w 15"/>
                    <a:gd name="T11" fmla="*/ 20 h 20"/>
                    <a:gd name="T12" fmla="*/ 15 w 15"/>
                    <a:gd name="T13" fmla="*/ 4 h 20"/>
                    <a:gd name="T14" fmla="*/ 15 w 15"/>
                    <a:gd name="T15" fmla="*/ 4 h 20"/>
                    <a:gd name="T16" fmla="*/ 15 w 15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4"/>
                      </a:move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Freeform 268"/>
                <p:cNvSpPr>
                  <a:spLocks/>
                </p:cNvSpPr>
                <p:nvPr/>
              </p:nvSpPr>
              <p:spPr bwMode="auto">
                <a:xfrm>
                  <a:off x="1374" y="1507"/>
                  <a:ext cx="15" cy="20"/>
                </a:xfrm>
                <a:custGeom>
                  <a:avLst/>
                  <a:gdLst>
                    <a:gd name="T0" fmla="*/ 15 w 15"/>
                    <a:gd name="T1" fmla="*/ 8 h 20"/>
                    <a:gd name="T2" fmla="*/ 15 w 15"/>
                    <a:gd name="T3" fmla="*/ 8 h 20"/>
                    <a:gd name="T4" fmla="*/ 9 w 15"/>
                    <a:gd name="T5" fmla="*/ 0 h 20"/>
                    <a:gd name="T6" fmla="*/ 0 w 15"/>
                    <a:gd name="T7" fmla="*/ 16 h 20"/>
                    <a:gd name="T8" fmla="*/ 6 w 15"/>
                    <a:gd name="T9" fmla="*/ 20 h 20"/>
                    <a:gd name="T10" fmla="*/ 6 w 15"/>
                    <a:gd name="T11" fmla="*/ 20 h 20"/>
                    <a:gd name="T12" fmla="*/ 15 w 15"/>
                    <a:gd name="T13" fmla="*/ 8 h 20"/>
                    <a:gd name="T14" fmla="*/ 15 w 15"/>
                    <a:gd name="T15" fmla="*/ 8 h 20"/>
                    <a:gd name="T16" fmla="*/ 15 w 15"/>
                    <a:gd name="T17" fmla="*/ 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" name="Freeform 269"/>
                <p:cNvSpPr>
                  <a:spLocks/>
                </p:cNvSpPr>
                <p:nvPr/>
              </p:nvSpPr>
              <p:spPr bwMode="auto">
                <a:xfrm>
                  <a:off x="1380" y="1515"/>
                  <a:ext cx="15" cy="21"/>
                </a:xfrm>
                <a:custGeom>
                  <a:avLst/>
                  <a:gdLst>
                    <a:gd name="T0" fmla="*/ 15 w 15"/>
                    <a:gd name="T1" fmla="*/ 8 h 21"/>
                    <a:gd name="T2" fmla="*/ 15 w 15"/>
                    <a:gd name="T3" fmla="*/ 4 h 21"/>
                    <a:gd name="T4" fmla="*/ 9 w 15"/>
                    <a:gd name="T5" fmla="*/ 0 h 21"/>
                    <a:gd name="T6" fmla="*/ 0 w 15"/>
                    <a:gd name="T7" fmla="*/ 12 h 21"/>
                    <a:gd name="T8" fmla="*/ 6 w 15"/>
                    <a:gd name="T9" fmla="*/ 21 h 21"/>
                    <a:gd name="T10" fmla="*/ 6 w 15"/>
                    <a:gd name="T11" fmla="*/ 21 h 21"/>
                    <a:gd name="T12" fmla="*/ 15 w 15"/>
                    <a:gd name="T13" fmla="*/ 8 h 21"/>
                    <a:gd name="T14" fmla="*/ 15 w 15"/>
                    <a:gd name="T15" fmla="*/ 4 h 21"/>
                    <a:gd name="T16" fmla="*/ 15 w 15"/>
                    <a:gd name="T17" fmla="*/ 4 h 21"/>
                    <a:gd name="T18" fmla="*/ 15 w 15"/>
                    <a:gd name="T19" fmla="*/ 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15" y="8"/>
                      </a:move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15" y="8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" name="Freeform 270"/>
                <p:cNvSpPr>
                  <a:spLocks/>
                </p:cNvSpPr>
                <p:nvPr/>
              </p:nvSpPr>
              <p:spPr bwMode="auto">
                <a:xfrm>
                  <a:off x="1386" y="1523"/>
                  <a:ext cx="15" cy="17"/>
                </a:xfrm>
                <a:custGeom>
                  <a:avLst/>
                  <a:gdLst>
                    <a:gd name="T0" fmla="*/ 15 w 15"/>
                    <a:gd name="T1" fmla="*/ 4 h 17"/>
                    <a:gd name="T2" fmla="*/ 12 w 15"/>
                    <a:gd name="T3" fmla="*/ 4 h 17"/>
                    <a:gd name="T4" fmla="*/ 9 w 15"/>
                    <a:gd name="T5" fmla="*/ 0 h 17"/>
                    <a:gd name="T6" fmla="*/ 0 w 15"/>
                    <a:gd name="T7" fmla="*/ 13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4 h 17"/>
                    <a:gd name="T14" fmla="*/ 15 w 15"/>
                    <a:gd name="T15" fmla="*/ 4 h 17"/>
                    <a:gd name="T16" fmla="*/ 12 w 15"/>
                    <a:gd name="T17" fmla="*/ 4 h 17"/>
                    <a:gd name="T18" fmla="*/ 15 w 15"/>
                    <a:gd name="T19" fmla="*/ 4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15" y="4"/>
                      </a:moveTo>
                      <a:lnTo>
                        <a:pt x="12" y="4"/>
                      </a:lnTo>
                      <a:lnTo>
                        <a:pt x="9" y="0"/>
                      </a:lnTo>
                      <a:lnTo>
                        <a:pt x="0" y="13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2" y="4"/>
                      </a:lnTo>
                      <a:lnTo>
                        <a:pt x="15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" name="Freeform 271"/>
                <p:cNvSpPr>
                  <a:spLocks/>
                </p:cNvSpPr>
                <p:nvPr/>
              </p:nvSpPr>
              <p:spPr bwMode="auto">
                <a:xfrm>
                  <a:off x="1389" y="1527"/>
                  <a:ext cx="15" cy="21"/>
                </a:xfrm>
                <a:custGeom>
                  <a:avLst/>
                  <a:gdLst>
                    <a:gd name="T0" fmla="*/ 15 w 15"/>
                    <a:gd name="T1" fmla="*/ 9 h 21"/>
                    <a:gd name="T2" fmla="*/ 15 w 15"/>
                    <a:gd name="T3" fmla="*/ 9 h 21"/>
                    <a:gd name="T4" fmla="*/ 12 w 15"/>
                    <a:gd name="T5" fmla="*/ 0 h 21"/>
                    <a:gd name="T6" fmla="*/ 0 w 15"/>
                    <a:gd name="T7" fmla="*/ 13 h 21"/>
                    <a:gd name="T8" fmla="*/ 3 w 15"/>
                    <a:gd name="T9" fmla="*/ 21 h 21"/>
                    <a:gd name="T10" fmla="*/ 3 w 15"/>
                    <a:gd name="T11" fmla="*/ 21 h 21"/>
                    <a:gd name="T12" fmla="*/ 15 w 15"/>
                    <a:gd name="T13" fmla="*/ 9 h 21"/>
                    <a:gd name="T14" fmla="*/ 15 w 15"/>
                    <a:gd name="T15" fmla="*/ 9 h 21"/>
                    <a:gd name="T16" fmla="*/ 15 w 15"/>
                    <a:gd name="T17" fmla="*/ 9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1">
                      <a:moveTo>
                        <a:pt x="15" y="9"/>
                      </a:moveTo>
                      <a:lnTo>
                        <a:pt x="15" y="9"/>
                      </a:lnTo>
                      <a:lnTo>
                        <a:pt x="12" y="0"/>
                      </a:lnTo>
                      <a:lnTo>
                        <a:pt x="0" y="13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" name="Freeform 272"/>
                <p:cNvSpPr>
                  <a:spLocks/>
                </p:cNvSpPr>
                <p:nvPr/>
              </p:nvSpPr>
              <p:spPr bwMode="auto">
                <a:xfrm>
                  <a:off x="1392" y="1536"/>
                  <a:ext cx="18" cy="20"/>
                </a:xfrm>
                <a:custGeom>
                  <a:avLst/>
                  <a:gdLst>
                    <a:gd name="T0" fmla="*/ 18 w 18"/>
                    <a:gd name="T1" fmla="*/ 12 h 20"/>
                    <a:gd name="T2" fmla="*/ 15 w 18"/>
                    <a:gd name="T3" fmla="*/ 12 h 20"/>
                    <a:gd name="T4" fmla="*/ 12 w 18"/>
                    <a:gd name="T5" fmla="*/ 0 h 20"/>
                    <a:gd name="T6" fmla="*/ 0 w 18"/>
                    <a:gd name="T7" fmla="*/ 12 h 20"/>
                    <a:gd name="T8" fmla="*/ 3 w 18"/>
                    <a:gd name="T9" fmla="*/ 20 h 20"/>
                    <a:gd name="T10" fmla="*/ 3 w 18"/>
                    <a:gd name="T11" fmla="*/ 20 h 20"/>
                    <a:gd name="T12" fmla="*/ 18 w 18"/>
                    <a:gd name="T13" fmla="*/ 12 h 20"/>
                    <a:gd name="T14" fmla="*/ 15 w 18"/>
                    <a:gd name="T15" fmla="*/ 12 h 20"/>
                    <a:gd name="T16" fmla="*/ 15 w 18"/>
                    <a:gd name="T17" fmla="*/ 12 h 20"/>
                    <a:gd name="T18" fmla="*/ 18 w 18"/>
                    <a:gd name="T1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20">
                      <a:moveTo>
                        <a:pt x="18" y="12"/>
                      </a:moveTo>
                      <a:lnTo>
                        <a:pt x="15" y="12"/>
                      </a:ln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18" y="12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1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" name="Freeform 273"/>
                <p:cNvSpPr>
                  <a:spLocks/>
                </p:cNvSpPr>
                <p:nvPr/>
              </p:nvSpPr>
              <p:spPr bwMode="auto">
                <a:xfrm>
                  <a:off x="1395" y="1548"/>
                  <a:ext cx="18" cy="16"/>
                </a:xfrm>
                <a:custGeom>
                  <a:avLst/>
                  <a:gdLst>
                    <a:gd name="T0" fmla="*/ 18 w 18"/>
                    <a:gd name="T1" fmla="*/ 8 h 16"/>
                    <a:gd name="T2" fmla="*/ 18 w 18"/>
                    <a:gd name="T3" fmla="*/ 8 h 16"/>
                    <a:gd name="T4" fmla="*/ 15 w 18"/>
                    <a:gd name="T5" fmla="*/ 0 h 16"/>
                    <a:gd name="T6" fmla="*/ 0 w 18"/>
                    <a:gd name="T7" fmla="*/ 8 h 16"/>
                    <a:gd name="T8" fmla="*/ 3 w 18"/>
                    <a:gd name="T9" fmla="*/ 16 h 16"/>
                    <a:gd name="T10" fmla="*/ 3 w 18"/>
                    <a:gd name="T11" fmla="*/ 16 h 16"/>
                    <a:gd name="T12" fmla="*/ 18 w 18"/>
                    <a:gd name="T13" fmla="*/ 8 h 16"/>
                    <a:gd name="T14" fmla="*/ 18 w 18"/>
                    <a:gd name="T15" fmla="*/ 8 h 16"/>
                    <a:gd name="T16" fmla="*/ 18 w 18"/>
                    <a:gd name="T17" fmla="*/ 8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16">
                      <a:moveTo>
                        <a:pt x="18" y="8"/>
                      </a:moveTo>
                      <a:lnTo>
                        <a:pt x="18" y="8"/>
                      </a:lnTo>
                      <a:lnTo>
                        <a:pt x="15" y="0"/>
                      </a:ln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" name="Freeform 274"/>
                <p:cNvSpPr>
                  <a:spLocks/>
                </p:cNvSpPr>
                <p:nvPr/>
              </p:nvSpPr>
              <p:spPr bwMode="auto">
                <a:xfrm>
                  <a:off x="1398" y="1556"/>
                  <a:ext cx="15" cy="17"/>
                </a:xfrm>
                <a:custGeom>
                  <a:avLst/>
                  <a:gdLst>
                    <a:gd name="T0" fmla="*/ 15 w 15"/>
                    <a:gd name="T1" fmla="*/ 8 h 17"/>
                    <a:gd name="T2" fmla="*/ 15 w 15"/>
                    <a:gd name="T3" fmla="*/ 8 h 17"/>
                    <a:gd name="T4" fmla="*/ 15 w 15"/>
                    <a:gd name="T5" fmla="*/ 0 h 17"/>
                    <a:gd name="T6" fmla="*/ 0 w 15"/>
                    <a:gd name="T7" fmla="*/ 8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8 h 17"/>
                    <a:gd name="T14" fmla="*/ 15 w 15"/>
                    <a:gd name="T15" fmla="*/ 8 h 17"/>
                    <a:gd name="T16" fmla="*/ 15 w 15"/>
                    <a:gd name="T17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0" y="8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" name="Freeform 275"/>
                <p:cNvSpPr>
                  <a:spLocks/>
                </p:cNvSpPr>
                <p:nvPr/>
              </p:nvSpPr>
              <p:spPr bwMode="auto">
                <a:xfrm>
                  <a:off x="1401" y="1564"/>
                  <a:ext cx="15" cy="17"/>
                </a:xfrm>
                <a:custGeom>
                  <a:avLst/>
                  <a:gdLst>
                    <a:gd name="T0" fmla="*/ 15 w 15"/>
                    <a:gd name="T1" fmla="*/ 13 h 17"/>
                    <a:gd name="T2" fmla="*/ 15 w 15"/>
                    <a:gd name="T3" fmla="*/ 13 h 17"/>
                    <a:gd name="T4" fmla="*/ 12 w 15"/>
                    <a:gd name="T5" fmla="*/ 0 h 17"/>
                    <a:gd name="T6" fmla="*/ 0 w 15"/>
                    <a:gd name="T7" fmla="*/ 9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13 h 17"/>
                    <a:gd name="T14" fmla="*/ 15 w 15"/>
                    <a:gd name="T15" fmla="*/ 13 h 17"/>
                    <a:gd name="T16" fmla="*/ 15 w 15"/>
                    <a:gd name="T17" fmla="*/ 1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5" y="13"/>
                      </a:moveTo>
                      <a:lnTo>
                        <a:pt x="15" y="13"/>
                      </a:lnTo>
                      <a:lnTo>
                        <a:pt x="12" y="0"/>
                      </a:ln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" name="Freeform 276"/>
                <p:cNvSpPr>
                  <a:spLocks/>
                </p:cNvSpPr>
                <p:nvPr/>
              </p:nvSpPr>
              <p:spPr bwMode="auto">
                <a:xfrm>
                  <a:off x="1404" y="1577"/>
                  <a:ext cx="15" cy="12"/>
                </a:xfrm>
                <a:custGeom>
                  <a:avLst/>
                  <a:gdLst>
                    <a:gd name="T0" fmla="*/ 12 w 15"/>
                    <a:gd name="T1" fmla="*/ 12 h 12"/>
                    <a:gd name="T2" fmla="*/ 12 w 15"/>
                    <a:gd name="T3" fmla="*/ 8 h 12"/>
                    <a:gd name="T4" fmla="*/ 12 w 15"/>
                    <a:gd name="T5" fmla="*/ 0 h 12"/>
                    <a:gd name="T6" fmla="*/ 0 w 15"/>
                    <a:gd name="T7" fmla="*/ 4 h 12"/>
                    <a:gd name="T8" fmla="*/ 0 w 15"/>
                    <a:gd name="T9" fmla="*/ 12 h 12"/>
                    <a:gd name="T10" fmla="*/ 0 w 15"/>
                    <a:gd name="T11" fmla="*/ 12 h 12"/>
                    <a:gd name="T12" fmla="*/ 15 w 15"/>
                    <a:gd name="T13" fmla="*/ 12 h 12"/>
                    <a:gd name="T14" fmla="*/ 12 w 15"/>
                    <a:gd name="T15" fmla="*/ 8 h 12"/>
                    <a:gd name="T16" fmla="*/ 12 w 15"/>
                    <a:gd name="T17" fmla="*/ 8 h 12"/>
                    <a:gd name="T18" fmla="*/ 12 w 15"/>
                    <a:gd name="T1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12" y="12"/>
                      </a:moveTo>
                      <a:lnTo>
                        <a:pt x="12" y="8"/>
                      </a:lnTo>
                      <a:lnTo>
                        <a:pt x="12" y="0"/>
                      </a:ln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5" y="12"/>
                      </a:lnTo>
                      <a:lnTo>
                        <a:pt x="12" y="8"/>
                      </a:lnTo>
                      <a:lnTo>
                        <a:pt x="12" y="8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" name="Freeform 277"/>
                <p:cNvSpPr>
                  <a:spLocks/>
                </p:cNvSpPr>
                <p:nvPr/>
              </p:nvSpPr>
              <p:spPr bwMode="auto">
                <a:xfrm>
                  <a:off x="1404" y="1589"/>
                  <a:ext cx="15" cy="8"/>
                </a:xfrm>
                <a:custGeom>
                  <a:avLst/>
                  <a:gdLst>
                    <a:gd name="T0" fmla="*/ 15 w 15"/>
                    <a:gd name="T1" fmla="*/ 8 h 8"/>
                    <a:gd name="T2" fmla="*/ 15 w 15"/>
                    <a:gd name="T3" fmla="*/ 8 h 8"/>
                    <a:gd name="T4" fmla="*/ 12 w 15"/>
                    <a:gd name="T5" fmla="*/ 0 h 8"/>
                    <a:gd name="T6" fmla="*/ 0 w 15"/>
                    <a:gd name="T7" fmla="*/ 0 h 8"/>
                    <a:gd name="T8" fmla="*/ 0 w 15"/>
                    <a:gd name="T9" fmla="*/ 8 h 8"/>
                    <a:gd name="T10" fmla="*/ 0 w 15"/>
                    <a:gd name="T11" fmla="*/ 8 h 8"/>
                    <a:gd name="T12" fmla="*/ 15 w 15"/>
                    <a:gd name="T13" fmla="*/ 8 h 8"/>
                    <a:gd name="T14" fmla="*/ 15 w 15"/>
                    <a:gd name="T15" fmla="*/ 8 h 8"/>
                    <a:gd name="T16" fmla="*/ 15 w 15"/>
                    <a:gd name="T17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8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" name="Freeform 278"/>
                <p:cNvSpPr>
                  <a:spLocks/>
                </p:cNvSpPr>
                <p:nvPr/>
              </p:nvSpPr>
              <p:spPr bwMode="auto">
                <a:xfrm>
                  <a:off x="1404" y="1597"/>
                  <a:ext cx="15" cy="1560"/>
                </a:xfrm>
                <a:custGeom>
                  <a:avLst/>
                  <a:gdLst>
                    <a:gd name="T0" fmla="*/ 15 w 15"/>
                    <a:gd name="T1" fmla="*/ 1560 h 1560"/>
                    <a:gd name="T2" fmla="*/ 15 w 15"/>
                    <a:gd name="T3" fmla="*/ 1556 h 1560"/>
                    <a:gd name="T4" fmla="*/ 15 w 15"/>
                    <a:gd name="T5" fmla="*/ 0 h 1560"/>
                    <a:gd name="T6" fmla="*/ 0 w 15"/>
                    <a:gd name="T7" fmla="*/ 0 h 1560"/>
                    <a:gd name="T8" fmla="*/ 0 w 15"/>
                    <a:gd name="T9" fmla="*/ 1556 h 1560"/>
                    <a:gd name="T10" fmla="*/ 0 w 15"/>
                    <a:gd name="T11" fmla="*/ 1556 h 1560"/>
                    <a:gd name="T12" fmla="*/ 15 w 15"/>
                    <a:gd name="T13" fmla="*/ 1560 h 1560"/>
                    <a:gd name="T14" fmla="*/ 15 w 15"/>
                    <a:gd name="T15" fmla="*/ 1556 h 1560"/>
                    <a:gd name="T16" fmla="*/ 15 w 15"/>
                    <a:gd name="T17" fmla="*/ 1556 h 1560"/>
                    <a:gd name="T18" fmla="*/ 15 w 15"/>
                    <a:gd name="T19" fmla="*/ 1560 h 15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560">
                      <a:moveTo>
                        <a:pt x="15" y="1560"/>
                      </a:moveTo>
                      <a:lnTo>
                        <a:pt x="15" y="1556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1556"/>
                      </a:lnTo>
                      <a:lnTo>
                        <a:pt x="0" y="1556"/>
                      </a:lnTo>
                      <a:lnTo>
                        <a:pt x="15" y="1560"/>
                      </a:lnTo>
                      <a:lnTo>
                        <a:pt x="15" y="1556"/>
                      </a:lnTo>
                      <a:lnTo>
                        <a:pt x="15" y="1556"/>
                      </a:lnTo>
                      <a:lnTo>
                        <a:pt x="15" y="15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" name="Freeform 279"/>
                <p:cNvSpPr>
                  <a:spLocks/>
                </p:cNvSpPr>
                <p:nvPr/>
              </p:nvSpPr>
              <p:spPr bwMode="auto">
                <a:xfrm>
                  <a:off x="1404" y="3153"/>
                  <a:ext cx="15" cy="12"/>
                </a:xfrm>
                <a:custGeom>
                  <a:avLst/>
                  <a:gdLst>
                    <a:gd name="T0" fmla="*/ 12 w 15"/>
                    <a:gd name="T1" fmla="*/ 12 h 12"/>
                    <a:gd name="T2" fmla="*/ 12 w 15"/>
                    <a:gd name="T3" fmla="*/ 12 h 12"/>
                    <a:gd name="T4" fmla="*/ 15 w 15"/>
                    <a:gd name="T5" fmla="*/ 4 h 12"/>
                    <a:gd name="T6" fmla="*/ 0 w 15"/>
                    <a:gd name="T7" fmla="*/ 0 h 12"/>
                    <a:gd name="T8" fmla="*/ 0 w 15"/>
                    <a:gd name="T9" fmla="*/ 12 h 12"/>
                    <a:gd name="T10" fmla="*/ 0 w 15"/>
                    <a:gd name="T11" fmla="*/ 12 h 12"/>
                    <a:gd name="T12" fmla="*/ 12 w 15"/>
                    <a:gd name="T13" fmla="*/ 12 h 12"/>
                    <a:gd name="T14" fmla="*/ 12 w 15"/>
                    <a:gd name="T15" fmla="*/ 12 h 12"/>
                    <a:gd name="T16" fmla="*/ 15 w 15"/>
                    <a:gd name="T17" fmla="*/ 12 h 12"/>
                    <a:gd name="T18" fmla="*/ 12 w 15"/>
                    <a:gd name="T1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5" y="12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" name="Freeform 280"/>
                <p:cNvSpPr>
                  <a:spLocks/>
                </p:cNvSpPr>
                <p:nvPr/>
              </p:nvSpPr>
              <p:spPr bwMode="auto">
                <a:xfrm>
                  <a:off x="1404" y="3165"/>
                  <a:ext cx="12" cy="13"/>
                </a:xfrm>
                <a:custGeom>
                  <a:avLst/>
                  <a:gdLst>
                    <a:gd name="T0" fmla="*/ 12 w 12"/>
                    <a:gd name="T1" fmla="*/ 13 h 13"/>
                    <a:gd name="T2" fmla="*/ 12 w 12"/>
                    <a:gd name="T3" fmla="*/ 13 h 13"/>
                    <a:gd name="T4" fmla="*/ 12 w 12"/>
                    <a:gd name="T5" fmla="*/ 0 h 13"/>
                    <a:gd name="T6" fmla="*/ 0 w 12"/>
                    <a:gd name="T7" fmla="*/ 0 h 13"/>
                    <a:gd name="T8" fmla="*/ 0 w 12"/>
                    <a:gd name="T9" fmla="*/ 9 h 13"/>
                    <a:gd name="T10" fmla="*/ 0 w 12"/>
                    <a:gd name="T11" fmla="*/ 9 h 13"/>
                    <a:gd name="T12" fmla="*/ 12 w 12"/>
                    <a:gd name="T13" fmla="*/ 13 h 13"/>
                    <a:gd name="T14" fmla="*/ 12 w 12"/>
                    <a:gd name="T15" fmla="*/ 13 h 13"/>
                    <a:gd name="T16" fmla="*/ 12 w 12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3">
                      <a:moveTo>
                        <a:pt x="12" y="13"/>
                      </a:moveTo>
                      <a:lnTo>
                        <a:pt x="12" y="13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12" y="13"/>
                      </a:lnTo>
                      <a:lnTo>
                        <a:pt x="12" y="13"/>
                      </a:lnTo>
                      <a:lnTo>
                        <a:pt x="12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" name="Freeform 281"/>
                <p:cNvSpPr>
                  <a:spLocks/>
                </p:cNvSpPr>
                <p:nvPr/>
              </p:nvSpPr>
              <p:spPr bwMode="auto">
                <a:xfrm>
                  <a:off x="1401" y="3174"/>
                  <a:ext cx="15" cy="12"/>
                </a:xfrm>
                <a:custGeom>
                  <a:avLst/>
                  <a:gdLst>
                    <a:gd name="T0" fmla="*/ 12 w 15"/>
                    <a:gd name="T1" fmla="*/ 12 h 12"/>
                    <a:gd name="T2" fmla="*/ 12 w 15"/>
                    <a:gd name="T3" fmla="*/ 12 h 12"/>
                    <a:gd name="T4" fmla="*/ 15 w 15"/>
                    <a:gd name="T5" fmla="*/ 4 h 12"/>
                    <a:gd name="T6" fmla="*/ 3 w 15"/>
                    <a:gd name="T7" fmla="*/ 0 h 12"/>
                    <a:gd name="T8" fmla="*/ 0 w 15"/>
                    <a:gd name="T9" fmla="*/ 8 h 12"/>
                    <a:gd name="T10" fmla="*/ 0 w 15"/>
                    <a:gd name="T11" fmla="*/ 8 h 12"/>
                    <a:gd name="T12" fmla="*/ 12 w 15"/>
                    <a:gd name="T13" fmla="*/ 12 h 12"/>
                    <a:gd name="T14" fmla="*/ 12 w 15"/>
                    <a:gd name="T15" fmla="*/ 12 h 12"/>
                    <a:gd name="T16" fmla="*/ 12 w 15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" name="Freeform 282"/>
                <p:cNvSpPr>
                  <a:spLocks/>
                </p:cNvSpPr>
                <p:nvPr/>
              </p:nvSpPr>
              <p:spPr bwMode="auto">
                <a:xfrm>
                  <a:off x="1398" y="3182"/>
                  <a:ext cx="15" cy="16"/>
                </a:xfrm>
                <a:custGeom>
                  <a:avLst/>
                  <a:gdLst>
                    <a:gd name="T0" fmla="*/ 15 w 15"/>
                    <a:gd name="T1" fmla="*/ 16 h 16"/>
                    <a:gd name="T2" fmla="*/ 15 w 15"/>
                    <a:gd name="T3" fmla="*/ 16 h 16"/>
                    <a:gd name="T4" fmla="*/ 15 w 15"/>
                    <a:gd name="T5" fmla="*/ 4 h 16"/>
                    <a:gd name="T6" fmla="*/ 3 w 15"/>
                    <a:gd name="T7" fmla="*/ 0 h 16"/>
                    <a:gd name="T8" fmla="*/ 0 w 15"/>
                    <a:gd name="T9" fmla="*/ 8 h 16"/>
                    <a:gd name="T10" fmla="*/ 0 w 15"/>
                    <a:gd name="T11" fmla="*/ 8 h 16"/>
                    <a:gd name="T12" fmla="*/ 15 w 15"/>
                    <a:gd name="T13" fmla="*/ 16 h 16"/>
                    <a:gd name="T14" fmla="*/ 15 w 15"/>
                    <a:gd name="T15" fmla="*/ 16 h 16"/>
                    <a:gd name="T16" fmla="*/ 15 w 15"/>
                    <a:gd name="T1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15" y="16"/>
                      </a:moveTo>
                      <a:lnTo>
                        <a:pt x="15" y="16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5" y="16"/>
                      </a:lnTo>
                      <a:lnTo>
                        <a:pt x="15" y="16"/>
                      </a:lnTo>
                      <a:lnTo>
                        <a:pt x="15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" name="Freeform 283"/>
                <p:cNvSpPr>
                  <a:spLocks/>
                </p:cNvSpPr>
                <p:nvPr/>
              </p:nvSpPr>
              <p:spPr bwMode="auto">
                <a:xfrm>
                  <a:off x="1395" y="3190"/>
                  <a:ext cx="18" cy="17"/>
                </a:xfrm>
                <a:custGeom>
                  <a:avLst/>
                  <a:gdLst>
                    <a:gd name="T0" fmla="*/ 12 w 18"/>
                    <a:gd name="T1" fmla="*/ 17 h 17"/>
                    <a:gd name="T2" fmla="*/ 15 w 18"/>
                    <a:gd name="T3" fmla="*/ 17 h 17"/>
                    <a:gd name="T4" fmla="*/ 18 w 18"/>
                    <a:gd name="T5" fmla="*/ 8 h 17"/>
                    <a:gd name="T6" fmla="*/ 3 w 18"/>
                    <a:gd name="T7" fmla="*/ 0 h 17"/>
                    <a:gd name="T8" fmla="*/ 0 w 18"/>
                    <a:gd name="T9" fmla="*/ 8 h 17"/>
                    <a:gd name="T10" fmla="*/ 0 w 18"/>
                    <a:gd name="T11" fmla="*/ 8 h 17"/>
                    <a:gd name="T12" fmla="*/ 12 w 18"/>
                    <a:gd name="T13" fmla="*/ 17 h 17"/>
                    <a:gd name="T14" fmla="*/ 12 w 18"/>
                    <a:gd name="T15" fmla="*/ 17 h 17"/>
                    <a:gd name="T16" fmla="*/ 15 w 18"/>
                    <a:gd name="T17" fmla="*/ 17 h 17"/>
                    <a:gd name="T18" fmla="*/ 12 w 18"/>
                    <a:gd name="T1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7">
                      <a:moveTo>
                        <a:pt x="12" y="17"/>
                      </a:moveTo>
                      <a:lnTo>
                        <a:pt x="15" y="17"/>
                      </a:lnTo>
                      <a:lnTo>
                        <a:pt x="18" y="8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5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" name="Freeform 284"/>
                <p:cNvSpPr>
                  <a:spLocks/>
                </p:cNvSpPr>
                <p:nvPr/>
              </p:nvSpPr>
              <p:spPr bwMode="auto">
                <a:xfrm>
                  <a:off x="1392" y="3198"/>
                  <a:ext cx="15" cy="17"/>
                </a:xfrm>
                <a:custGeom>
                  <a:avLst/>
                  <a:gdLst>
                    <a:gd name="T0" fmla="*/ 12 w 15"/>
                    <a:gd name="T1" fmla="*/ 17 h 17"/>
                    <a:gd name="T2" fmla="*/ 12 w 15"/>
                    <a:gd name="T3" fmla="*/ 17 h 17"/>
                    <a:gd name="T4" fmla="*/ 15 w 15"/>
                    <a:gd name="T5" fmla="*/ 9 h 17"/>
                    <a:gd name="T6" fmla="*/ 3 w 15"/>
                    <a:gd name="T7" fmla="*/ 0 h 17"/>
                    <a:gd name="T8" fmla="*/ 0 w 15"/>
                    <a:gd name="T9" fmla="*/ 9 h 17"/>
                    <a:gd name="T10" fmla="*/ 0 w 15"/>
                    <a:gd name="T11" fmla="*/ 4 h 17"/>
                    <a:gd name="T12" fmla="*/ 12 w 15"/>
                    <a:gd name="T13" fmla="*/ 17 h 17"/>
                    <a:gd name="T14" fmla="*/ 12 w 15"/>
                    <a:gd name="T15" fmla="*/ 17 h 17"/>
                    <a:gd name="T16" fmla="*/ 12 w 15"/>
                    <a:gd name="T1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2" y="17"/>
                      </a:moveTo>
                      <a:lnTo>
                        <a:pt x="12" y="17"/>
                      </a:lnTo>
                      <a:lnTo>
                        <a:pt x="15" y="9"/>
                      </a:ln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0" y="4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" name="Freeform 285"/>
                <p:cNvSpPr>
                  <a:spLocks/>
                </p:cNvSpPr>
                <p:nvPr/>
              </p:nvSpPr>
              <p:spPr bwMode="auto">
                <a:xfrm>
                  <a:off x="1389" y="3202"/>
                  <a:ext cx="15" cy="21"/>
                </a:xfrm>
                <a:custGeom>
                  <a:avLst/>
                  <a:gdLst>
                    <a:gd name="T0" fmla="*/ 9 w 15"/>
                    <a:gd name="T1" fmla="*/ 21 h 21"/>
                    <a:gd name="T2" fmla="*/ 12 w 15"/>
                    <a:gd name="T3" fmla="*/ 21 h 21"/>
                    <a:gd name="T4" fmla="*/ 15 w 15"/>
                    <a:gd name="T5" fmla="*/ 13 h 21"/>
                    <a:gd name="T6" fmla="*/ 3 w 15"/>
                    <a:gd name="T7" fmla="*/ 0 h 21"/>
                    <a:gd name="T8" fmla="*/ 0 w 15"/>
                    <a:gd name="T9" fmla="*/ 9 h 21"/>
                    <a:gd name="T10" fmla="*/ 0 w 15"/>
                    <a:gd name="T11" fmla="*/ 9 h 21"/>
                    <a:gd name="T12" fmla="*/ 9 w 15"/>
                    <a:gd name="T13" fmla="*/ 21 h 21"/>
                    <a:gd name="T14" fmla="*/ 12 w 15"/>
                    <a:gd name="T15" fmla="*/ 21 h 21"/>
                    <a:gd name="T16" fmla="*/ 12 w 15"/>
                    <a:gd name="T17" fmla="*/ 21 h 21"/>
                    <a:gd name="T18" fmla="*/ 9 w 15"/>
                    <a:gd name="T1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9" y="21"/>
                      </a:moveTo>
                      <a:lnTo>
                        <a:pt x="12" y="21"/>
                      </a:lnTo>
                      <a:lnTo>
                        <a:pt x="15" y="13"/>
                      </a:ln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9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9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" name="Freeform 286"/>
                <p:cNvSpPr>
                  <a:spLocks/>
                </p:cNvSpPr>
                <p:nvPr/>
              </p:nvSpPr>
              <p:spPr bwMode="auto">
                <a:xfrm>
                  <a:off x="1386" y="3211"/>
                  <a:ext cx="12" cy="20"/>
                </a:xfrm>
                <a:custGeom>
                  <a:avLst/>
                  <a:gdLst>
                    <a:gd name="T0" fmla="*/ 9 w 12"/>
                    <a:gd name="T1" fmla="*/ 20 h 20"/>
                    <a:gd name="T2" fmla="*/ 9 w 12"/>
                    <a:gd name="T3" fmla="*/ 20 h 20"/>
                    <a:gd name="T4" fmla="*/ 12 w 12"/>
                    <a:gd name="T5" fmla="*/ 12 h 20"/>
                    <a:gd name="T6" fmla="*/ 3 w 12"/>
                    <a:gd name="T7" fmla="*/ 0 h 20"/>
                    <a:gd name="T8" fmla="*/ 0 w 12"/>
                    <a:gd name="T9" fmla="*/ 8 h 20"/>
                    <a:gd name="T10" fmla="*/ 0 w 12"/>
                    <a:gd name="T11" fmla="*/ 8 h 20"/>
                    <a:gd name="T12" fmla="*/ 9 w 12"/>
                    <a:gd name="T13" fmla="*/ 20 h 20"/>
                    <a:gd name="T14" fmla="*/ 9 w 12"/>
                    <a:gd name="T15" fmla="*/ 20 h 20"/>
                    <a:gd name="T16" fmla="*/ 9 w 12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9" y="20"/>
                      </a:moveTo>
                      <a:lnTo>
                        <a:pt x="9" y="20"/>
                      </a:lnTo>
                      <a:lnTo>
                        <a:pt x="12" y="12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" name="Freeform 287"/>
                <p:cNvSpPr>
                  <a:spLocks/>
                </p:cNvSpPr>
                <p:nvPr/>
              </p:nvSpPr>
              <p:spPr bwMode="auto">
                <a:xfrm>
                  <a:off x="1380" y="3219"/>
                  <a:ext cx="15" cy="20"/>
                </a:xfrm>
                <a:custGeom>
                  <a:avLst/>
                  <a:gdLst>
                    <a:gd name="T0" fmla="*/ 9 w 15"/>
                    <a:gd name="T1" fmla="*/ 20 h 20"/>
                    <a:gd name="T2" fmla="*/ 9 w 15"/>
                    <a:gd name="T3" fmla="*/ 20 h 20"/>
                    <a:gd name="T4" fmla="*/ 15 w 15"/>
                    <a:gd name="T5" fmla="*/ 12 h 20"/>
                    <a:gd name="T6" fmla="*/ 6 w 15"/>
                    <a:gd name="T7" fmla="*/ 0 h 20"/>
                    <a:gd name="T8" fmla="*/ 0 w 15"/>
                    <a:gd name="T9" fmla="*/ 4 h 20"/>
                    <a:gd name="T10" fmla="*/ 0 w 15"/>
                    <a:gd name="T11" fmla="*/ 4 h 20"/>
                    <a:gd name="T12" fmla="*/ 9 w 15"/>
                    <a:gd name="T13" fmla="*/ 20 h 20"/>
                    <a:gd name="T14" fmla="*/ 9 w 15"/>
                    <a:gd name="T15" fmla="*/ 20 h 20"/>
                    <a:gd name="T16" fmla="*/ 9 w 15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9" y="20"/>
                      </a:moveTo>
                      <a:lnTo>
                        <a:pt x="9" y="20"/>
                      </a:lnTo>
                      <a:lnTo>
                        <a:pt x="15" y="12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" name="Freeform 288"/>
                <p:cNvSpPr>
                  <a:spLocks/>
                </p:cNvSpPr>
                <p:nvPr/>
              </p:nvSpPr>
              <p:spPr bwMode="auto">
                <a:xfrm>
                  <a:off x="1374" y="3223"/>
                  <a:ext cx="15" cy="25"/>
                </a:xfrm>
                <a:custGeom>
                  <a:avLst/>
                  <a:gdLst>
                    <a:gd name="T0" fmla="*/ 9 w 15"/>
                    <a:gd name="T1" fmla="*/ 25 h 25"/>
                    <a:gd name="T2" fmla="*/ 9 w 15"/>
                    <a:gd name="T3" fmla="*/ 20 h 25"/>
                    <a:gd name="T4" fmla="*/ 15 w 15"/>
                    <a:gd name="T5" fmla="*/ 16 h 25"/>
                    <a:gd name="T6" fmla="*/ 6 w 15"/>
                    <a:gd name="T7" fmla="*/ 0 h 25"/>
                    <a:gd name="T8" fmla="*/ 0 w 15"/>
                    <a:gd name="T9" fmla="*/ 8 h 25"/>
                    <a:gd name="T10" fmla="*/ 0 w 15"/>
                    <a:gd name="T11" fmla="*/ 4 h 25"/>
                    <a:gd name="T12" fmla="*/ 9 w 15"/>
                    <a:gd name="T13" fmla="*/ 25 h 25"/>
                    <a:gd name="T14" fmla="*/ 9 w 15"/>
                    <a:gd name="T15" fmla="*/ 20 h 25"/>
                    <a:gd name="T16" fmla="*/ 9 w 15"/>
                    <a:gd name="T17" fmla="*/ 20 h 25"/>
                    <a:gd name="T18" fmla="*/ 9 w 15"/>
                    <a:gd name="T1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9" y="25"/>
                      </a:moveTo>
                      <a:lnTo>
                        <a:pt x="9" y="20"/>
                      </a:lnTo>
                      <a:lnTo>
                        <a:pt x="15" y="16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9" y="25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9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" name="Freeform 289"/>
                <p:cNvSpPr>
                  <a:spLocks/>
                </p:cNvSpPr>
                <p:nvPr/>
              </p:nvSpPr>
              <p:spPr bwMode="auto">
                <a:xfrm>
                  <a:off x="1368" y="3227"/>
                  <a:ext cx="15" cy="25"/>
                </a:xfrm>
                <a:custGeom>
                  <a:avLst/>
                  <a:gdLst>
                    <a:gd name="T0" fmla="*/ 6 w 15"/>
                    <a:gd name="T1" fmla="*/ 25 h 25"/>
                    <a:gd name="T2" fmla="*/ 9 w 15"/>
                    <a:gd name="T3" fmla="*/ 25 h 25"/>
                    <a:gd name="T4" fmla="*/ 15 w 15"/>
                    <a:gd name="T5" fmla="*/ 21 h 25"/>
                    <a:gd name="T6" fmla="*/ 6 w 15"/>
                    <a:gd name="T7" fmla="*/ 0 h 25"/>
                    <a:gd name="T8" fmla="*/ 0 w 15"/>
                    <a:gd name="T9" fmla="*/ 8 h 25"/>
                    <a:gd name="T10" fmla="*/ 3 w 15"/>
                    <a:gd name="T11" fmla="*/ 8 h 25"/>
                    <a:gd name="T12" fmla="*/ 6 w 15"/>
                    <a:gd name="T13" fmla="*/ 25 h 25"/>
                    <a:gd name="T14" fmla="*/ 9 w 15"/>
                    <a:gd name="T15" fmla="*/ 25 h 25"/>
                    <a:gd name="T16" fmla="*/ 9 w 15"/>
                    <a:gd name="T17" fmla="*/ 25 h 25"/>
                    <a:gd name="T18" fmla="*/ 6 w 15"/>
                    <a:gd name="T1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6" y="25"/>
                      </a:moveTo>
                      <a:lnTo>
                        <a:pt x="9" y="25"/>
                      </a:lnTo>
                      <a:lnTo>
                        <a:pt x="15" y="21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3" y="8"/>
                      </a:lnTo>
                      <a:lnTo>
                        <a:pt x="6" y="25"/>
                      </a:lnTo>
                      <a:lnTo>
                        <a:pt x="9" y="25"/>
                      </a:lnTo>
                      <a:lnTo>
                        <a:pt x="9" y="25"/>
                      </a:lnTo>
                      <a:lnTo>
                        <a:pt x="6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" name="Freeform 290"/>
                <p:cNvSpPr>
                  <a:spLocks/>
                </p:cNvSpPr>
                <p:nvPr/>
              </p:nvSpPr>
              <p:spPr bwMode="auto">
                <a:xfrm>
                  <a:off x="1365" y="3235"/>
                  <a:ext cx="9" cy="21"/>
                </a:xfrm>
                <a:custGeom>
                  <a:avLst/>
                  <a:gdLst>
                    <a:gd name="T0" fmla="*/ 3 w 9"/>
                    <a:gd name="T1" fmla="*/ 21 h 21"/>
                    <a:gd name="T2" fmla="*/ 3 w 9"/>
                    <a:gd name="T3" fmla="*/ 21 h 21"/>
                    <a:gd name="T4" fmla="*/ 9 w 9"/>
                    <a:gd name="T5" fmla="*/ 17 h 21"/>
                    <a:gd name="T6" fmla="*/ 6 w 9"/>
                    <a:gd name="T7" fmla="*/ 0 h 21"/>
                    <a:gd name="T8" fmla="*/ 0 w 9"/>
                    <a:gd name="T9" fmla="*/ 4 h 21"/>
                    <a:gd name="T10" fmla="*/ 0 w 9"/>
                    <a:gd name="T11" fmla="*/ 4 h 21"/>
                    <a:gd name="T12" fmla="*/ 3 w 9"/>
                    <a:gd name="T13" fmla="*/ 21 h 21"/>
                    <a:gd name="T14" fmla="*/ 3 w 9"/>
                    <a:gd name="T15" fmla="*/ 21 h 21"/>
                    <a:gd name="T16" fmla="*/ 3 w 9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3" y="21"/>
                      </a:moveTo>
                      <a:lnTo>
                        <a:pt x="3" y="21"/>
                      </a:lnTo>
                      <a:lnTo>
                        <a:pt x="9" y="17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" name="Freeform 291"/>
                <p:cNvSpPr>
                  <a:spLocks/>
                </p:cNvSpPr>
                <p:nvPr/>
              </p:nvSpPr>
              <p:spPr bwMode="auto">
                <a:xfrm>
                  <a:off x="1356" y="3239"/>
                  <a:ext cx="12" cy="21"/>
                </a:xfrm>
                <a:custGeom>
                  <a:avLst/>
                  <a:gdLst>
                    <a:gd name="T0" fmla="*/ 6 w 12"/>
                    <a:gd name="T1" fmla="*/ 21 h 21"/>
                    <a:gd name="T2" fmla="*/ 6 w 12"/>
                    <a:gd name="T3" fmla="*/ 21 h 21"/>
                    <a:gd name="T4" fmla="*/ 12 w 12"/>
                    <a:gd name="T5" fmla="*/ 17 h 21"/>
                    <a:gd name="T6" fmla="*/ 9 w 12"/>
                    <a:gd name="T7" fmla="*/ 0 h 21"/>
                    <a:gd name="T8" fmla="*/ 0 w 12"/>
                    <a:gd name="T9" fmla="*/ 0 h 21"/>
                    <a:gd name="T10" fmla="*/ 3 w 12"/>
                    <a:gd name="T11" fmla="*/ 0 h 21"/>
                    <a:gd name="T12" fmla="*/ 6 w 12"/>
                    <a:gd name="T13" fmla="*/ 21 h 21"/>
                    <a:gd name="T14" fmla="*/ 6 w 12"/>
                    <a:gd name="T15" fmla="*/ 21 h 21"/>
                    <a:gd name="T16" fmla="*/ 6 w 12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6" y="21"/>
                      </a:moveTo>
                      <a:lnTo>
                        <a:pt x="6" y="21"/>
                      </a:lnTo>
                      <a:lnTo>
                        <a:pt x="12" y="17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" name="Freeform 292"/>
                <p:cNvSpPr>
                  <a:spLocks/>
                </p:cNvSpPr>
                <p:nvPr/>
              </p:nvSpPr>
              <p:spPr bwMode="auto">
                <a:xfrm>
                  <a:off x="1350" y="3239"/>
                  <a:ext cx="12" cy="21"/>
                </a:xfrm>
                <a:custGeom>
                  <a:avLst/>
                  <a:gdLst>
                    <a:gd name="T0" fmla="*/ 3 w 12"/>
                    <a:gd name="T1" fmla="*/ 21 h 21"/>
                    <a:gd name="T2" fmla="*/ 6 w 12"/>
                    <a:gd name="T3" fmla="*/ 21 h 21"/>
                    <a:gd name="T4" fmla="*/ 12 w 12"/>
                    <a:gd name="T5" fmla="*/ 21 h 21"/>
                    <a:gd name="T6" fmla="*/ 9 w 12"/>
                    <a:gd name="T7" fmla="*/ 0 h 21"/>
                    <a:gd name="T8" fmla="*/ 0 w 12"/>
                    <a:gd name="T9" fmla="*/ 4 h 21"/>
                    <a:gd name="T10" fmla="*/ 3 w 12"/>
                    <a:gd name="T11" fmla="*/ 4 h 21"/>
                    <a:gd name="T12" fmla="*/ 3 w 12"/>
                    <a:gd name="T13" fmla="*/ 21 h 21"/>
                    <a:gd name="T14" fmla="*/ 3 w 12"/>
                    <a:gd name="T15" fmla="*/ 21 h 21"/>
                    <a:gd name="T16" fmla="*/ 6 w 12"/>
                    <a:gd name="T17" fmla="*/ 21 h 21"/>
                    <a:gd name="T18" fmla="*/ 3 w 12"/>
                    <a:gd name="T1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1">
                      <a:moveTo>
                        <a:pt x="3" y="21"/>
                      </a:moveTo>
                      <a:lnTo>
                        <a:pt x="6" y="21"/>
                      </a:lnTo>
                      <a:lnTo>
                        <a:pt x="12" y="21"/>
                      </a:lnTo>
                      <a:lnTo>
                        <a:pt x="9" y="0"/>
                      </a:lnTo>
                      <a:lnTo>
                        <a:pt x="0" y="4"/>
                      </a:lnTo>
                      <a:lnTo>
                        <a:pt x="3" y="4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6" y="21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" name="Freeform 293"/>
                <p:cNvSpPr>
                  <a:spLocks/>
                </p:cNvSpPr>
                <p:nvPr/>
              </p:nvSpPr>
              <p:spPr bwMode="auto">
                <a:xfrm>
                  <a:off x="1344" y="3243"/>
                  <a:ext cx="9" cy="21"/>
                </a:xfrm>
                <a:custGeom>
                  <a:avLst/>
                  <a:gdLst>
                    <a:gd name="T0" fmla="*/ 3 w 9"/>
                    <a:gd name="T1" fmla="*/ 21 h 21"/>
                    <a:gd name="T2" fmla="*/ 3 w 9"/>
                    <a:gd name="T3" fmla="*/ 21 h 21"/>
                    <a:gd name="T4" fmla="*/ 9 w 9"/>
                    <a:gd name="T5" fmla="*/ 17 h 21"/>
                    <a:gd name="T6" fmla="*/ 9 w 9"/>
                    <a:gd name="T7" fmla="*/ 0 h 21"/>
                    <a:gd name="T8" fmla="*/ 0 w 9"/>
                    <a:gd name="T9" fmla="*/ 0 h 21"/>
                    <a:gd name="T10" fmla="*/ 0 w 9"/>
                    <a:gd name="T11" fmla="*/ 0 h 21"/>
                    <a:gd name="T12" fmla="*/ 3 w 9"/>
                    <a:gd name="T13" fmla="*/ 21 h 21"/>
                    <a:gd name="T14" fmla="*/ 3 w 9"/>
                    <a:gd name="T15" fmla="*/ 21 h 21"/>
                    <a:gd name="T16" fmla="*/ 3 w 9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3" y="21"/>
                      </a:moveTo>
                      <a:lnTo>
                        <a:pt x="3" y="21"/>
                      </a:lnTo>
                      <a:lnTo>
                        <a:pt x="9" y="17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" name="Freeform 294"/>
                <p:cNvSpPr>
                  <a:spLocks/>
                </p:cNvSpPr>
                <p:nvPr/>
              </p:nvSpPr>
              <p:spPr bwMode="auto">
                <a:xfrm>
                  <a:off x="1338" y="3243"/>
                  <a:ext cx="9" cy="21"/>
                </a:xfrm>
                <a:custGeom>
                  <a:avLst/>
                  <a:gdLst>
                    <a:gd name="T0" fmla="*/ 0 w 9"/>
                    <a:gd name="T1" fmla="*/ 21 h 21"/>
                    <a:gd name="T2" fmla="*/ 0 w 9"/>
                    <a:gd name="T3" fmla="*/ 21 h 21"/>
                    <a:gd name="T4" fmla="*/ 9 w 9"/>
                    <a:gd name="T5" fmla="*/ 21 h 21"/>
                    <a:gd name="T6" fmla="*/ 6 w 9"/>
                    <a:gd name="T7" fmla="*/ 0 h 21"/>
                    <a:gd name="T8" fmla="*/ 0 w 9"/>
                    <a:gd name="T9" fmla="*/ 0 h 21"/>
                    <a:gd name="T10" fmla="*/ 0 w 9"/>
                    <a:gd name="T11" fmla="*/ 0 h 21"/>
                    <a:gd name="T12" fmla="*/ 0 w 9"/>
                    <a:gd name="T13" fmla="*/ 21 h 21"/>
                    <a:gd name="T14" fmla="*/ 0 w 9"/>
                    <a:gd name="T15" fmla="*/ 21 h 21"/>
                    <a:gd name="T16" fmla="*/ 0 w 9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0" y="21"/>
                      </a:moveTo>
                      <a:lnTo>
                        <a:pt x="0" y="21"/>
                      </a:lnTo>
                      <a:lnTo>
                        <a:pt x="9" y="21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" name="Freeform 295"/>
                <p:cNvSpPr>
                  <a:spLocks/>
                </p:cNvSpPr>
                <p:nvPr/>
              </p:nvSpPr>
              <p:spPr bwMode="auto">
                <a:xfrm>
                  <a:off x="537" y="3243"/>
                  <a:ext cx="801" cy="21"/>
                </a:xfrm>
                <a:custGeom>
                  <a:avLst/>
                  <a:gdLst>
                    <a:gd name="T0" fmla="*/ 0 w 801"/>
                    <a:gd name="T1" fmla="*/ 21 h 21"/>
                    <a:gd name="T2" fmla="*/ 0 w 801"/>
                    <a:gd name="T3" fmla="*/ 21 h 21"/>
                    <a:gd name="T4" fmla="*/ 801 w 801"/>
                    <a:gd name="T5" fmla="*/ 21 h 21"/>
                    <a:gd name="T6" fmla="*/ 801 w 801"/>
                    <a:gd name="T7" fmla="*/ 0 h 21"/>
                    <a:gd name="T8" fmla="*/ 0 w 801"/>
                    <a:gd name="T9" fmla="*/ 0 h 21"/>
                    <a:gd name="T10" fmla="*/ 3 w 801"/>
                    <a:gd name="T11" fmla="*/ 0 h 21"/>
                    <a:gd name="T12" fmla="*/ 0 w 801"/>
                    <a:gd name="T13" fmla="*/ 21 h 21"/>
                    <a:gd name="T14" fmla="*/ 0 w 801"/>
                    <a:gd name="T15" fmla="*/ 21 h 21"/>
                    <a:gd name="T16" fmla="*/ 0 w 801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1" h="21">
                      <a:moveTo>
                        <a:pt x="0" y="21"/>
                      </a:moveTo>
                      <a:lnTo>
                        <a:pt x="0" y="21"/>
                      </a:lnTo>
                      <a:lnTo>
                        <a:pt x="801" y="21"/>
                      </a:ln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" name="Freeform 296"/>
                <p:cNvSpPr>
                  <a:spLocks/>
                </p:cNvSpPr>
                <p:nvPr/>
              </p:nvSpPr>
              <p:spPr bwMode="auto">
                <a:xfrm>
                  <a:off x="531" y="3243"/>
                  <a:ext cx="9" cy="21"/>
                </a:xfrm>
                <a:custGeom>
                  <a:avLst/>
                  <a:gdLst>
                    <a:gd name="T0" fmla="*/ 0 w 9"/>
                    <a:gd name="T1" fmla="*/ 21 h 21"/>
                    <a:gd name="T2" fmla="*/ 0 w 9"/>
                    <a:gd name="T3" fmla="*/ 21 h 21"/>
                    <a:gd name="T4" fmla="*/ 6 w 9"/>
                    <a:gd name="T5" fmla="*/ 21 h 21"/>
                    <a:gd name="T6" fmla="*/ 9 w 9"/>
                    <a:gd name="T7" fmla="*/ 0 h 21"/>
                    <a:gd name="T8" fmla="*/ 0 w 9"/>
                    <a:gd name="T9" fmla="*/ 0 h 21"/>
                    <a:gd name="T10" fmla="*/ 0 w 9"/>
                    <a:gd name="T11" fmla="*/ 0 h 21"/>
                    <a:gd name="T12" fmla="*/ 0 w 9"/>
                    <a:gd name="T13" fmla="*/ 21 h 21"/>
                    <a:gd name="T14" fmla="*/ 0 w 9"/>
                    <a:gd name="T15" fmla="*/ 21 h 21"/>
                    <a:gd name="T16" fmla="*/ 0 w 9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0" y="21"/>
                      </a:move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" name="Freeform 297"/>
                <p:cNvSpPr>
                  <a:spLocks/>
                </p:cNvSpPr>
                <p:nvPr/>
              </p:nvSpPr>
              <p:spPr bwMode="auto">
                <a:xfrm>
                  <a:off x="521" y="3243"/>
                  <a:ext cx="10" cy="21"/>
                </a:xfrm>
                <a:custGeom>
                  <a:avLst/>
                  <a:gdLst>
                    <a:gd name="T0" fmla="*/ 0 w 10"/>
                    <a:gd name="T1" fmla="*/ 17 h 21"/>
                    <a:gd name="T2" fmla="*/ 0 w 10"/>
                    <a:gd name="T3" fmla="*/ 17 h 21"/>
                    <a:gd name="T4" fmla="*/ 10 w 10"/>
                    <a:gd name="T5" fmla="*/ 21 h 21"/>
                    <a:gd name="T6" fmla="*/ 10 w 10"/>
                    <a:gd name="T7" fmla="*/ 0 h 21"/>
                    <a:gd name="T8" fmla="*/ 4 w 10"/>
                    <a:gd name="T9" fmla="*/ 0 h 21"/>
                    <a:gd name="T10" fmla="*/ 4 w 10"/>
                    <a:gd name="T11" fmla="*/ 0 h 21"/>
                    <a:gd name="T12" fmla="*/ 0 w 10"/>
                    <a:gd name="T13" fmla="*/ 17 h 21"/>
                    <a:gd name="T14" fmla="*/ 0 w 10"/>
                    <a:gd name="T15" fmla="*/ 17 h 21"/>
                    <a:gd name="T16" fmla="*/ 0 w 10"/>
                    <a:gd name="T17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21">
                      <a:moveTo>
                        <a:pt x="0" y="17"/>
                      </a:moveTo>
                      <a:lnTo>
                        <a:pt x="0" y="17"/>
                      </a:lnTo>
                      <a:lnTo>
                        <a:pt x="10" y="21"/>
                      </a:lnTo>
                      <a:lnTo>
                        <a:pt x="1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" name="Freeform 298"/>
                <p:cNvSpPr>
                  <a:spLocks/>
                </p:cNvSpPr>
                <p:nvPr/>
              </p:nvSpPr>
              <p:spPr bwMode="auto">
                <a:xfrm>
                  <a:off x="512" y="3239"/>
                  <a:ext cx="13" cy="21"/>
                </a:xfrm>
                <a:custGeom>
                  <a:avLst/>
                  <a:gdLst>
                    <a:gd name="T0" fmla="*/ 0 w 13"/>
                    <a:gd name="T1" fmla="*/ 21 h 21"/>
                    <a:gd name="T2" fmla="*/ 3 w 13"/>
                    <a:gd name="T3" fmla="*/ 21 h 21"/>
                    <a:gd name="T4" fmla="*/ 9 w 13"/>
                    <a:gd name="T5" fmla="*/ 21 h 21"/>
                    <a:gd name="T6" fmla="*/ 13 w 13"/>
                    <a:gd name="T7" fmla="*/ 4 h 21"/>
                    <a:gd name="T8" fmla="*/ 6 w 13"/>
                    <a:gd name="T9" fmla="*/ 0 h 21"/>
                    <a:gd name="T10" fmla="*/ 6 w 13"/>
                    <a:gd name="T11" fmla="*/ 0 h 21"/>
                    <a:gd name="T12" fmla="*/ 0 w 13"/>
                    <a:gd name="T13" fmla="*/ 21 h 21"/>
                    <a:gd name="T14" fmla="*/ 3 w 13"/>
                    <a:gd name="T15" fmla="*/ 21 h 21"/>
                    <a:gd name="T16" fmla="*/ 3 w 13"/>
                    <a:gd name="T17" fmla="*/ 21 h 21"/>
                    <a:gd name="T18" fmla="*/ 0 w 13"/>
                    <a:gd name="T1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" h="21">
                      <a:moveTo>
                        <a:pt x="0" y="21"/>
                      </a:moveTo>
                      <a:lnTo>
                        <a:pt x="3" y="21"/>
                      </a:lnTo>
                      <a:lnTo>
                        <a:pt x="9" y="21"/>
                      </a:lnTo>
                      <a:lnTo>
                        <a:pt x="13" y="4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" name="Freeform 299"/>
                <p:cNvSpPr>
                  <a:spLocks/>
                </p:cNvSpPr>
                <p:nvPr/>
              </p:nvSpPr>
              <p:spPr bwMode="auto">
                <a:xfrm>
                  <a:off x="506" y="3239"/>
                  <a:ext cx="12" cy="21"/>
                </a:xfrm>
                <a:custGeom>
                  <a:avLst/>
                  <a:gdLst>
                    <a:gd name="T0" fmla="*/ 0 w 12"/>
                    <a:gd name="T1" fmla="*/ 17 h 21"/>
                    <a:gd name="T2" fmla="*/ 0 w 12"/>
                    <a:gd name="T3" fmla="*/ 17 h 21"/>
                    <a:gd name="T4" fmla="*/ 6 w 12"/>
                    <a:gd name="T5" fmla="*/ 21 h 21"/>
                    <a:gd name="T6" fmla="*/ 12 w 12"/>
                    <a:gd name="T7" fmla="*/ 0 h 21"/>
                    <a:gd name="T8" fmla="*/ 6 w 12"/>
                    <a:gd name="T9" fmla="*/ 0 h 21"/>
                    <a:gd name="T10" fmla="*/ 6 w 12"/>
                    <a:gd name="T11" fmla="*/ 0 h 21"/>
                    <a:gd name="T12" fmla="*/ 0 w 12"/>
                    <a:gd name="T13" fmla="*/ 17 h 21"/>
                    <a:gd name="T14" fmla="*/ 0 w 12"/>
                    <a:gd name="T15" fmla="*/ 17 h 21"/>
                    <a:gd name="T16" fmla="*/ 0 w 12"/>
                    <a:gd name="T17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0" y="17"/>
                      </a:move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" name="Freeform 300"/>
                <p:cNvSpPr>
                  <a:spLocks/>
                </p:cNvSpPr>
                <p:nvPr/>
              </p:nvSpPr>
              <p:spPr bwMode="auto">
                <a:xfrm>
                  <a:off x="500" y="3235"/>
                  <a:ext cx="12" cy="21"/>
                </a:xfrm>
                <a:custGeom>
                  <a:avLst/>
                  <a:gdLst>
                    <a:gd name="T0" fmla="*/ 0 w 12"/>
                    <a:gd name="T1" fmla="*/ 17 h 21"/>
                    <a:gd name="T2" fmla="*/ 0 w 12"/>
                    <a:gd name="T3" fmla="*/ 17 h 21"/>
                    <a:gd name="T4" fmla="*/ 6 w 12"/>
                    <a:gd name="T5" fmla="*/ 21 h 21"/>
                    <a:gd name="T6" fmla="*/ 12 w 12"/>
                    <a:gd name="T7" fmla="*/ 4 h 21"/>
                    <a:gd name="T8" fmla="*/ 6 w 12"/>
                    <a:gd name="T9" fmla="*/ 0 h 21"/>
                    <a:gd name="T10" fmla="*/ 6 w 12"/>
                    <a:gd name="T11" fmla="*/ 0 h 21"/>
                    <a:gd name="T12" fmla="*/ 0 w 12"/>
                    <a:gd name="T13" fmla="*/ 17 h 21"/>
                    <a:gd name="T14" fmla="*/ 0 w 12"/>
                    <a:gd name="T15" fmla="*/ 17 h 21"/>
                    <a:gd name="T16" fmla="*/ 0 w 12"/>
                    <a:gd name="T17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0" y="17"/>
                      </a:move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" name="Freeform 301"/>
                <p:cNvSpPr>
                  <a:spLocks/>
                </p:cNvSpPr>
                <p:nvPr/>
              </p:nvSpPr>
              <p:spPr bwMode="auto">
                <a:xfrm>
                  <a:off x="491" y="3227"/>
                  <a:ext cx="15" cy="25"/>
                </a:xfrm>
                <a:custGeom>
                  <a:avLst/>
                  <a:gdLst>
                    <a:gd name="T0" fmla="*/ 0 w 15"/>
                    <a:gd name="T1" fmla="*/ 16 h 25"/>
                    <a:gd name="T2" fmla="*/ 3 w 15"/>
                    <a:gd name="T3" fmla="*/ 21 h 25"/>
                    <a:gd name="T4" fmla="*/ 9 w 15"/>
                    <a:gd name="T5" fmla="*/ 25 h 25"/>
                    <a:gd name="T6" fmla="*/ 15 w 15"/>
                    <a:gd name="T7" fmla="*/ 8 h 25"/>
                    <a:gd name="T8" fmla="*/ 9 w 15"/>
                    <a:gd name="T9" fmla="*/ 0 h 25"/>
                    <a:gd name="T10" fmla="*/ 9 w 15"/>
                    <a:gd name="T11" fmla="*/ 4 h 25"/>
                    <a:gd name="T12" fmla="*/ 0 w 15"/>
                    <a:gd name="T13" fmla="*/ 16 h 25"/>
                    <a:gd name="T14" fmla="*/ 3 w 15"/>
                    <a:gd name="T15" fmla="*/ 16 h 25"/>
                    <a:gd name="T16" fmla="*/ 3 w 15"/>
                    <a:gd name="T17" fmla="*/ 21 h 25"/>
                    <a:gd name="T18" fmla="*/ 0 w 15"/>
                    <a:gd name="T19" fmla="*/ 16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0" y="16"/>
                      </a:moveTo>
                      <a:lnTo>
                        <a:pt x="3" y="21"/>
                      </a:lnTo>
                      <a:lnTo>
                        <a:pt x="9" y="25"/>
                      </a:ln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9" y="4"/>
                      </a:lnTo>
                      <a:lnTo>
                        <a:pt x="0" y="16"/>
                      </a:lnTo>
                      <a:lnTo>
                        <a:pt x="3" y="16"/>
                      </a:lnTo>
                      <a:lnTo>
                        <a:pt x="3" y="21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" name="Freeform 302"/>
                <p:cNvSpPr>
                  <a:spLocks/>
                </p:cNvSpPr>
                <p:nvPr/>
              </p:nvSpPr>
              <p:spPr bwMode="auto">
                <a:xfrm>
                  <a:off x="485" y="3223"/>
                  <a:ext cx="15" cy="20"/>
                </a:xfrm>
                <a:custGeom>
                  <a:avLst/>
                  <a:gdLst>
                    <a:gd name="T0" fmla="*/ 0 w 15"/>
                    <a:gd name="T1" fmla="*/ 16 h 20"/>
                    <a:gd name="T2" fmla="*/ 3 w 15"/>
                    <a:gd name="T3" fmla="*/ 16 h 20"/>
                    <a:gd name="T4" fmla="*/ 6 w 15"/>
                    <a:gd name="T5" fmla="*/ 20 h 20"/>
                    <a:gd name="T6" fmla="*/ 15 w 15"/>
                    <a:gd name="T7" fmla="*/ 8 h 20"/>
                    <a:gd name="T8" fmla="*/ 9 w 15"/>
                    <a:gd name="T9" fmla="*/ 0 h 20"/>
                    <a:gd name="T10" fmla="*/ 12 w 15"/>
                    <a:gd name="T11" fmla="*/ 0 h 20"/>
                    <a:gd name="T12" fmla="*/ 0 w 15"/>
                    <a:gd name="T13" fmla="*/ 16 h 20"/>
                    <a:gd name="T14" fmla="*/ 3 w 15"/>
                    <a:gd name="T15" fmla="*/ 16 h 20"/>
                    <a:gd name="T16" fmla="*/ 3 w 15"/>
                    <a:gd name="T17" fmla="*/ 16 h 20"/>
                    <a:gd name="T18" fmla="*/ 0 w 15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0" y="16"/>
                      </a:moveTo>
                      <a:lnTo>
                        <a:pt x="3" y="16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0" y="16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" name="Freeform 303"/>
                <p:cNvSpPr>
                  <a:spLocks/>
                </p:cNvSpPr>
                <p:nvPr/>
              </p:nvSpPr>
              <p:spPr bwMode="auto">
                <a:xfrm>
                  <a:off x="482" y="3219"/>
                  <a:ext cx="15" cy="20"/>
                </a:xfrm>
                <a:custGeom>
                  <a:avLst/>
                  <a:gdLst>
                    <a:gd name="T0" fmla="*/ 0 w 15"/>
                    <a:gd name="T1" fmla="*/ 12 h 20"/>
                    <a:gd name="T2" fmla="*/ 0 w 15"/>
                    <a:gd name="T3" fmla="*/ 12 h 20"/>
                    <a:gd name="T4" fmla="*/ 3 w 15"/>
                    <a:gd name="T5" fmla="*/ 20 h 20"/>
                    <a:gd name="T6" fmla="*/ 15 w 15"/>
                    <a:gd name="T7" fmla="*/ 4 h 20"/>
                    <a:gd name="T8" fmla="*/ 9 w 15"/>
                    <a:gd name="T9" fmla="*/ 0 h 20"/>
                    <a:gd name="T10" fmla="*/ 9 w 15"/>
                    <a:gd name="T11" fmla="*/ 0 h 20"/>
                    <a:gd name="T12" fmla="*/ 0 w 15"/>
                    <a:gd name="T13" fmla="*/ 12 h 20"/>
                    <a:gd name="T14" fmla="*/ 0 w 15"/>
                    <a:gd name="T15" fmla="*/ 12 h 20"/>
                    <a:gd name="T16" fmla="*/ 0 w 15"/>
                    <a:gd name="T17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3" y="20"/>
                      </a:ln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" name="Freeform 304"/>
                <p:cNvSpPr>
                  <a:spLocks/>
                </p:cNvSpPr>
                <p:nvPr/>
              </p:nvSpPr>
              <p:spPr bwMode="auto">
                <a:xfrm>
                  <a:off x="476" y="3211"/>
                  <a:ext cx="15" cy="20"/>
                </a:xfrm>
                <a:custGeom>
                  <a:avLst/>
                  <a:gdLst>
                    <a:gd name="T0" fmla="*/ 0 w 15"/>
                    <a:gd name="T1" fmla="*/ 12 h 20"/>
                    <a:gd name="T2" fmla="*/ 0 w 15"/>
                    <a:gd name="T3" fmla="*/ 12 h 20"/>
                    <a:gd name="T4" fmla="*/ 6 w 15"/>
                    <a:gd name="T5" fmla="*/ 20 h 20"/>
                    <a:gd name="T6" fmla="*/ 15 w 15"/>
                    <a:gd name="T7" fmla="*/ 8 h 20"/>
                    <a:gd name="T8" fmla="*/ 9 w 15"/>
                    <a:gd name="T9" fmla="*/ 0 h 20"/>
                    <a:gd name="T10" fmla="*/ 12 w 15"/>
                    <a:gd name="T11" fmla="*/ 0 h 20"/>
                    <a:gd name="T12" fmla="*/ 0 w 15"/>
                    <a:gd name="T13" fmla="*/ 12 h 20"/>
                    <a:gd name="T14" fmla="*/ 0 w 15"/>
                    <a:gd name="T15" fmla="*/ 12 h 20"/>
                    <a:gd name="T16" fmla="*/ 0 w 15"/>
                    <a:gd name="T17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" name="Freeform 305"/>
                <p:cNvSpPr>
                  <a:spLocks/>
                </p:cNvSpPr>
                <p:nvPr/>
              </p:nvSpPr>
              <p:spPr bwMode="auto">
                <a:xfrm>
                  <a:off x="470" y="3202"/>
                  <a:ext cx="18" cy="21"/>
                </a:xfrm>
                <a:custGeom>
                  <a:avLst/>
                  <a:gdLst>
                    <a:gd name="T0" fmla="*/ 0 w 18"/>
                    <a:gd name="T1" fmla="*/ 13 h 21"/>
                    <a:gd name="T2" fmla="*/ 0 w 18"/>
                    <a:gd name="T3" fmla="*/ 13 h 21"/>
                    <a:gd name="T4" fmla="*/ 6 w 18"/>
                    <a:gd name="T5" fmla="*/ 21 h 21"/>
                    <a:gd name="T6" fmla="*/ 18 w 18"/>
                    <a:gd name="T7" fmla="*/ 9 h 21"/>
                    <a:gd name="T8" fmla="*/ 12 w 18"/>
                    <a:gd name="T9" fmla="*/ 0 h 21"/>
                    <a:gd name="T10" fmla="*/ 12 w 18"/>
                    <a:gd name="T11" fmla="*/ 5 h 21"/>
                    <a:gd name="T12" fmla="*/ 0 w 18"/>
                    <a:gd name="T13" fmla="*/ 13 h 21"/>
                    <a:gd name="T14" fmla="*/ 0 w 18"/>
                    <a:gd name="T15" fmla="*/ 13 h 21"/>
                    <a:gd name="T16" fmla="*/ 0 w 18"/>
                    <a:gd name="T17" fmla="*/ 13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21">
                      <a:moveTo>
                        <a:pt x="0" y="13"/>
                      </a:moveTo>
                      <a:lnTo>
                        <a:pt x="0" y="13"/>
                      </a:lnTo>
                      <a:lnTo>
                        <a:pt x="6" y="21"/>
                      </a:lnTo>
                      <a:lnTo>
                        <a:pt x="18" y="9"/>
                      </a:lnTo>
                      <a:lnTo>
                        <a:pt x="12" y="0"/>
                      </a:lnTo>
                      <a:lnTo>
                        <a:pt x="12" y="5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" name="Freeform 306"/>
                <p:cNvSpPr>
                  <a:spLocks/>
                </p:cNvSpPr>
                <p:nvPr/>
              </p:nvSpPr>
              <p:spPr bwMode="auto">
                <a:xfrm>
                  <a:off x="467" y="3198"/>
                  <a:ext cx="15" cy="17"/>
                </a:xfrm>
                <a:custGeom>
                  <a:avLst/>
                  <a:gdLst>
                    <a:gd name="T0" fmla="*/ 0 w 15"/>
                    <a:gd name="T1" fmla="*/ 9 h 17"/>
                    <a:gd name="T2" fmla="*/ 0 w 15"/>
                    <a:gd name="T3" fmla="*/ 9 h 17"/>
                    <a:gd name="T4" fmla="*/ 3 w 15"/>
                    <a:gd name="T5" fmla="*/ 17 h 17"/>
                    <a:gd name="T6" fmla="*/ 15 w 15"/>
                    <a:gd name="T7" fmla="*/ 9 h 17"/>
                    <a:gd name="T8" fmla="*/ 12 w 15"/>
                    <a:gd name="T9" fmla="*/ 0 h 17"/>
                    <a:gd name="T10" fmla="*/ 12 w 15"/>
                    <a:gd name="T11" fmla="*/ 0 h 17"/>
                    <a:gd name="T12" fmla="*/ 0 w 15"/>
                    <a:gd name="T13" fmla="*/ 9 h 17"/>
                    <a:gd name="T14" fmla="*/ 0 w 15"/>
                    <a:gd name="T15" fmla="*/ 9 h 17"/>
                    <a:gd name="T16" fmla="*/ 0 w 15"/>
                    <a:gd name="T17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15" y="9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" name="Freeform 307"/>
                <p:cNvSpPr>
                  <a:spLocks/>
                </p:cNvSpPr>
                <p:nvPr/>
              </p:nvSpPr>
              <p:spPr bwMode="auto">
                <a:xfrm>
                  <a:off x="464" y="3190"/>
                  <a:ext cx="15" cy="17"/>
                </a:xfrm>
                <a:custGeom>
                  <a:avLst/>
                  <a:gdLst>
                    <a:gd name="T0" fmla="*/ 0 w 15"/>
                    <a:gd name="T1" fmla="*/ 8 h 17"/>
                    <a:gd name="T2" fmla="*/ 0 w 15"/>
                    <a:gd name="T3" fmla="*/ 8 h 17"/>
                    <a:gd name="T4" fmla="*/ 3 w 15"/>
                    <a:gd name="T5" fmla="*/ 17 h 17"/>
                    <a:gd name="T6" fmla="*/ 15 w 15"/>
                    <a:gd name="T7" fmla="*/ 8 h 17"/>
                    <a:gd name="T8" fmla="*/ 12 w 15"/>
                    <a:gd name="T9" fmla="*/ 0 h 17"/>
                    <a:gd name="T10" fmla="*/ 12 w 15"/>
                    <a:gd name="T11" fmla="*/ 0 h 17"/>
                    <a:gd name="T12" fmla="*/ 0 w 15"/>
                    <a:gd name="T13" fmla="*/ 8 h 17"/>
                    <a:gd name="T14" fmla="*/ 0 w 15"/>
                    <a:gd name="T15" fmla="*/ 8 h 17"/>
                    <a:gd name="T16" fmla="*/ 0 w 15"/>
                    <a:gd name="T17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" name="Freeform 308"/>
                <p:cNvSpPr>
                  <a:spLocks/>
                </p:cNvSpPr>
                <p:nvPr/>
              </p:nvSpPr>
              <p:spPr bwMode="auto">
                <a:xfrm>
                  <a:off x="461" y="3182"/>
                  <a:ext cx="15" cy="16"/>
                </a:xfrm>
                <a:custGeom>
                  <a:avLst/>
                  <a:gdLst>
                    <a:gd name="T0" fmla="*/ 0 w 15"/>
                    <a:gd name="T1" fmla="*/ 4 h 16"/>
                    <a:gd name="T2" fmla="*/ 0 w 15"/>
                    <a:gd name="T3" fmla="*/ 4 h 16"/>
                    <a:gd name="T4" fmla="*/ 3 w 15"/>
                    <a:gd name="T5" fmla="*/ 16 h 16"/>
                    <a:gd name="T6" fmla="*/ 15 w 15"/>
                    <a:gd name="T7" fmla="*/ 8 h 16"/>
                    <a:gd name="T8" fmla="*/ 12 w 15"/>
                    <a:gd name="T9" fmla="*/ 0 h 16"/>
                    <a:gd name="T10" fmla="*/ 15 w 15"/>
                    <a:gd name="T11" fmla="*/ 0 h 16"/>
                    <a:gd name="T12" fmla="*/ 0 w 15"/>
                    <a:gd name="T13" fmla="*/ 4 h 16"/>
                    <a:gd name="T14" fmla="*/ 0 w 15"/>
                    <a:gd name="T15" fmla="*/ 4 h 16"/>
                    <a:gd name="T16" fmla="*/ 0 w 15"/>
                    <a:gd name="T17" fmla="*/ 4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3" y="16"/>
                      </a:ln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" name="Freeform 309"/>
                <p:cNvSpPr>
                  <a:spLocks/>
                </p:cNvSpPr>
                <p:nvPr/>
              </p:nvSpPr>
              <p:spPr bwMode="auto">
                <a:xfrm>
                  <a:off x="458" y="3174"/>
                  <a:ext cx="18" cy="12"/>
                </a:xfrm>
                <a:custGeom>
                  <a:avLst/>
                  <a:gdLst>
                    <a:gd name="T0" fmla="*/ 0 w 18"/>
                    <a:gd name="T1" fmla="*/ 4 h 12"/>
                    <a:gd name="T2" fmla="*/ 0 w 18"/>
                    <a:gd name="T3" fmla="*/ 4 h 12"/>
                    <a:gd name="T4" fmla="*/ 3 w 18"/>
                    <a:gd name="T5" fmla="*/ 12 h 12"/>
                    <a:gd name="T6" fmla="*/ 18 w 18"/>
                    <a:gd name="T7" fmla="*/ 8 h 12"/>
                    <a:gd name="T8" fmla="*/ 15 w 18"/>
                    <a:gd name="T9" fmla="*/ 0 h 12"/>
                    <a:gd name="T10" fmla="*/ 15 w 18"/>
                    <a:gd name="T11" fmla="*/ 0 h 12"/>
                    <a:gd name="T12" fmla="*/ 0 w 18"/>
                    <a:gd name="T13" fmla="*/ 4 h 12"/>
                    <a:gd name="T14" fmla="*/ 0 w 18"/>
                    <a:gd name="T15" fmla="*/ 4 h 12"/>
                    <a:gd name="T16" fmla="*/ 0 w 18"/>
                    <a:gd name="T17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12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3" y="12"/>
                      </a:lnTo>
                      <a:lnTo>
                        <a:pt x="18" y="8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" name="Freeform 310"/>
                <p:cNvSpPr>
                  <a:spLocks/>
                </p:cNvSpPr>
                <p:nvPr/>
              </p:nvSpPr>
              <p:spPr bwMode="auto">
                <a:xfrm>
                  <a:off x="458" y="3165"/>
                  <a:ext cx="15" cy="13"/>
                </a:xfrm>
                <a:custGeom>
                  <a:avLst/>
                  <a:gdLst>
                    <a:gd name="T0" fmla="*/ 0 w 15"/>
                    <a:gd name="T1" fmla="*/ 0 h 13"/>
                    <a:gd name="T2" fmla="*/ 0 w 15"/>
                    <a:gd name="T3" fmla="*/ 0 h 13"/>
                    <a:gd name="T4" fmla="*/ 0 w 15"/>
                    <a:gd name="T5" fmla="*/ 13 h 13"/>
                    <a:gd name="T6" fmla="*/ 15 w 15"/>
                    <a:gd name="T7" fmla="*/ 9 h 13"/>
                    <a:gd name="T8" fmla="*/ 15 w 15"/>
                    <a:gd name="T9" fmla="*/ 0 h 13"/>
                    <a:gd name="T10" fmla="*/ 15 w 15"/>
                    <a:gd name="T11" fmla="*/ 0 h 13"/>
                    <a:gd name="T12" fmla="*/ 0 w 15"/>
                    <a:gd name="T13" fmla="*/ 0 h 13"/>
                    <a:gd name="T14" fmla="*/ 0 w 15"/>
                    <a:gd name="T15" fmla="*/ 0 h 13"/>
                    <a:gd name="T16" fmla="*/ 0 w 15"/>
                    <a:gd name="T17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"/>
                      </a:lnTo>
                      <a:lnTo>
                        <a:pt x="15" y="9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" name="Freeform 311"/>
                <p:cNvSpPr>
                  <a:spLocks/>
                </p:cNvSpPr>
                <p:nvPr/>
              </p:nvSpPr>
              <p:spPr bwMode="auto">
                <a:xfrm>
                  <a:off x="458" y="3153"/>
                  <a:ext cx="15" cy="12"/>
                </a:xfrm>
                <a:custGeom>
                  <a:avLst/>
                  <a:gdLst>
                    <a:gd name="T0" fmla="*/ 0 w 15"/>
                    <a:gd name="T1" fmla="*/ 0 h 12"/>
                    <a:gd name="T2" fmla="*/ 0 w 15"/>
                    <a:gd name="T3" fmla="*/ 4 h 12"/>
                    <a:gd name="T4" fmla="*/ 0 w 15"/>
                    <a:gd name="T5" fmla="*/ 12 h 12"/>
                    <a:gd name="T6" fmla="*/ 15 w 15"/>
                    <a:gd name="T7" fmla="*/ 12 h 12"/>
                    <a:gd name="T8" fmla="*/ 15 w 15"/>
                    <a:gd name="T9" fmla="*/ 0 h 12"/>
                    <a:gd name="T10" fmla="*/ 15 w 15"/>
                    <a:gd name="T11" fmla="*/ 0 h 12"/>
                    <a:gd name="T12" fmla="*/ 0 w 15"/>
                    <a:gd name="T13" fmla="*/ 0 h 12"/>
                    <a:gd name="T14" fmla="*/ 0 w 15"/>
                    <a:gd name="T15" fmla="*/ 0 h 12"/>
                    <a:gd name="T16" fmla="*/ 0 w 15"/>
                    <a:gd name="T17" fmla="*/ 4 h 12"/>
                    <a:gd name="T18" fmla="*/ 0 w 15"/>
                    <a:gd name="T19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0" y="0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5" y="12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" name="Freeform 312"/>
                <p:cNvSpPr>
                  <a:spLocks/>
                </p:cNvSpPr>
                <p:nvPr/>
              </p:nvSpPr>
              <p:spPr bwMode="auto">
                <a:xfrm>
                  <a:off x="458" y="1597"/>
                  <a:ext cx="15" cy="1556"/>
                </a:xfrm>
                <a:custGeom>
                  <a:avLst/>
                  <a:gdLst>
                    <a:gd name="T0" fmla="*/ 0 w 15"/>
                    <a:gd name="T1" fmla="*/ 0 h 1556"/>
                    <a:gd name="T2" fmla="*/ 0 w 15"/>
                    <a:gd name="T3" fmla="*/ 0 h 1556"/>
                    <a:gd name="T4" fmla="*/ 0 w 15"/>
                    <a:gd name="T5" fmla="*/ 1556 h 1556"/>
                    <a:gd name="T6" fmla="*/ 15 w 15"/>
                    <a:gd name="T7" fmla="*/ 1556 h 1556"/>
                    <a:gd name="T8" fmla="*/ 15 w 15"/>
                    <a:gd name="T9" fmla="*/ 0 h 1556"/>
                    <a:gd name="T10" fmla="*/ 15 w 15"/>
                    <a:gd name="T11" fmla="*/ 0 h 1556"/>
                    <a:gd name="T12" fmla="*/ 0 w 15"/>
                    <a:gd name="T13" fmla="*/ 0 h 1556"/>
                    <a:gd name="T14" fmla="*/ 0 w 15"/>
                    <a:gd name="T15" fmla="*/ 0 h 1556"/>
                    <a:gd name="T16" fmla="*/ 0 w 15"/>
                    <a:gd name="T17" fmla="*/ 0 h 1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55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556"/>
                      </a:lnTo>
                      <a:lnTo>
                        <a:pt x="15" y="1556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" name="Freeform 313"/>
                <p:cNvSpPr>
                  <a:spLocks/>
                </p:cNvSpPr>
                <p:nvPr/>
              </p:nvSpPr>
              <p:spPr bwMode="auto">
                <a:xfrm>
                  <a:off x="458" y="1585"/>
                  <a:ext cx="15" cy="12"/>
                </a:xfrm>
                <a:custGeom>
                  <a:avLst/>
                  <a:gdLst>
                    <a:gd name="T0" fmla="*/ 0 w 15"/>
                    <a:gd name="T1" fmla="*/ 0 h 12"/>
                    <a:gd name="T2" fmla="*/ 0 w 15"/>
                    <a:gd name="T3" fmla="*/ 4 h 12"/>
                    <a:gd name="T4" fmla="*/ 0 w 15"/>
                    <a:gd name="T5" fmla="*/ 12 h 12"/>
                    <a:gd name="T6" fmla="*/ 15 w 15"/>
                    <a:gd name="T7" fmla="*/ 12 h 12"/>
                    <a:gd name="T8" fmla="*/ 15 w 15"/>
                    <a:gd name="T9" fmla="*/ 4 h 12"/>
                    <a:gd name="T10" fmla="*/ 15 w 15"/>
                    <a:gd name="T11" fmla="*/ 4 h 12"/>
                    <a:gd name="T12" fmla="*/ 0 w 15"/>
                    <a:gd name="T13" fmla="*/ 0 h 12"/>
                    <a:gd name="T14" fmla="*/ 0 w 15"/>
                    <a:gd name="T15" fmla="*/ 0 h 12"/>
                    <a:gd name="T16" fmla="*/ 0 w 15"/>
                    <a:gd name="T17" fmla="*/ 4 h 12"/>
                    <a:gd name="T18" fmla="*/ 0 w 15"/>
                    <a:gd name="T19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0" y="0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5" y="12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" name="Freeform 314"/>
                <p:cNvSpPr>
                  <a:spLocks/>
                </p:cNvSpPr>
                <p:nvPr/>
              </p:nvSpPr>
              <p:spPr bwMode="auto">
                <a:xfrm>
                  <a:off x="458" y="1577"/>
                  <a:ext cx="15" cy="12"/>
                </a:xfrm>
                <a:custGeom>
                  <a:avLst/>
                  <a:gdLst>
                    <a:gd name="T0" fmla="*/ 0 w 15"/>
                    <a:gd name="T1" fmla="*/ 0 h 12"/>
                    <a:gd name="T2" fmla="*/ 0 w 15"/>
                    <a:gd name="T3" fmla="*/ 0 h 12"/>
                    <a:gd name="T4" fmla="*/ 0 w 15"/>
                    <a:gd name="T5" fmla="*/ 8 h 12"/>
                    <a:gd name="T6" fmla="*/ 15 w 15"/>
                    <a:gd name="T7" fmla="*/ 12 h 12"/>
                    <a:gd name="T8" fmla="*/ 15 w 15"/>
                    <a:gd name="T9" fmla="*/ 4 h 12"/>
                    <a:gd name="T10" fmla="*/ 15 w 15"/>
                    <a:gd name="T11" fmla="*/ 4 h 12"/>
                    <a:gd name="T12" fmla="*/ 0 w 15"/>
                    <a:gd name="T13" fmla="*/ 0 h 12"/>
                    <a:gd name="T14" fmla="*/ 0 w 15"/>
                    <a:gd name="T15" fmla="*/ 0 h 12"/>
                    <a:gd name="T16" fmla="*/ 0 w 15"/>
                    <a:gd name="T1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15" y="12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" name="Freeform 315"/>
                <p:cNvSpPr>
                  <a:spLocks/>
                </p:cNvSpPr>
                <p:nvPr/>
              </p:nvSpPr>
              <p:spPr bwMode="auto">
                <a:xfrm>
                  <a:off x="458" y="1564"/>
                  <a:ext cx="18" cy="17"/>
                </a:xfrm>
                <a:custGeom>
                  <a:avLst/>
                  <a:gdLst>
                    <a:gd name="T0" fmla="*/ 3 w 18"/>
                    <a:gd name="T1" fmla="*/ 0 h 17"/>
                    <a:gd name="T2" fmla="*/ 3 w 18"/>
                    <a:gd name="T3" fmla="*/ 0 h 17"/>
                    <a:gd name="T4" fmla="*/ 0 w 18"/>
                    <a:gd name="T5" fmla="*/ 13 h 17"/>
                    <a:gd name="T6" fmla="*/ 15 w 18"/>
                    <a:gd name="T7" fmla="*/ 17 h 17"/>
                    <a:gd name="T8" fmla="*/ 18 w 18"/>
                    <a:gd name="T9" fmla="*/ 9 h 17"/>
                    <a:gd name="T10" fmla="*/ 15 w 18"/>
                    <a:gd name="T11" fmla="*/ 9 h 17"/>
                    <a:gd name="T12" fmla="*/ 3 w 18"/>
                    <a:gd name="T13" fmla="*/ 0 h 17"/>
                    <a:gd name="T14" fmla="*/ 3 w 18"/>
                    <a:gd name="T15" fmla="*/ 0 h 17"/>
                    <a:gd name="T16" fmla="*/ 3 w 18"/>
                    <a:gd name="T17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17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13"/>
                      </a:lnTo>
                      <a:lnTo>
                        <a:pt x="15" y="17"/>
                      </a:lnTo>
                      <a:lnTo>
                        <a:pt x="18" y="9"/>
                      </a:lnTo>
                      <a:lnTo>
                        <a:pt x="15" y="9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" name="Freeform 316"/>
                <p:cNvSpPr>
                  <a:spLocks/>
                </p:cNvSpPr>
                <p:nvPr/>
              </p:nvSpPr>
              <p:spPr bwMode="auto">
                <a:xfrm>
                  <a:off x="461" y="1556"/>
                  <a:ext cx="15" cy="17"/>
                </a:xfrm>
                <a:custGeom>
                  <a:avLst/>
                  <a:gdLst>
                    <a:gd name="T0" fmla="*/ 3 w 15"/>
                    <a:gd name="T1" fmla="*/ 0 h 17"/>
                    <a:gd name="T2" fmla="*/ 3 w 15"/>
                    <a:gd name="T3" fmla="*/ 0 h 17"/>
                    <a:gd name="T4" fmla="*/ 0 w 15"/>
                    <a:gd name="T5" fmla="*/ 8 h 17"/>
                    <a:gd name="T6" fmla="*/ 12 w 15"/>
                    <a:gd name="T7" fmla="*/ 17 h 17"/>
                    <a:gd name="T8" fmla="*/ 15 w 15"/>
                    <a:gd name="T9" fmla="*/ 8 h 17"/>
                    <a:gd name="T10" fmla="*/ 15 w 15"/>
                    <a:gd name="T11" fmla="*/ 8 h 17"/>
                    <a:gd name="T12" fmla="*/ 3 w 15"/>
                    <a:gd name="T13" fmla="*/ 0 h 17"/>
                    <a:gd name="T14" fmla="*/ 3 w 15"/>
                    <a:gd name="T15" fmla="*/ 0 h 17"/>
                    <a:gd name="T16" fmla="*/ 3 w 15"/>
                    <a:gd name="T17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2" y="17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" name="Freeform 317"/>
                <p:cNvSpPr>
                  <a:spLocks/>
                </p:cNvSpPr>
                <p:nvPr/>
              </p:nvSpPr>
              <p:spPr bwMode="auto">
                <a:xfrm>
                  <a:off x="464" y="1548"/>
                  <a:ext cx="15" cy="16"/>
                </a:xfrm>
                <a:custGeom>
                  <a:avLst/>
                  <a:gdLst>
                    <a:gd name="T0" fmla="*/ 3 w 15"/>
                    <a:gd name="T1" fmla="*/ 0 h 16"/>
                    <a:gd name="T2" fmla="*/ 3 w 15"/>
                    <a:gd name="T3" fmla="*/ 0 h 16"/>
                    <a:gd name="T4" fmla="*/ 0 w 15"/>
                    <a:gd name="T5" fmla="*/ 8 h 16"/>
                    <a:gd name="T6" fmla="*/ 12 w 15"/>
                    <a:gd name="T7" fmla="*/ 16 h 16"/>
                    <a:gd name="T8" fmla="*/ 15 w 15"/>
                    <a:gd name="T9" fmla="*/ 8 h 16"/>
                    <a:gd name="T10" fmla="*/ 15 w 15"/>
                    <a:gd name="T11" fmla="*/ 8 h 16"/>
                    <a:gd name="T12" fmla="*/ 3 w 15"/>
                    <a:gd name="T13" fmla="*/ 0 h 16"/>
                    <a:gd name="T14" fmla="*/ 3 w 15"/>
                    <a:gd name="T15" fmla="*/ 0 h 16"/>
                    <a:gd name="T16" fmla="*/ 3 w 15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2" y="16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" name="Freeform 318"/>
                <p:cNvSpPr>
                  <a:spLocks/>
                </p:cNvSpPr>
                <p:nvPr/>
              </p:nvSpPr>
              <p:spPr bwMode="auto">
                <a:xfrm>
                  <a:off x="467" y="1536"/>
                  <a:ext cx="15" cy="20"/>
                </a:xfrm>
                <a:custGeom>
                  <a:avLst/>
                  <a:gdLst>
                    <a:gd name="T0" fmla="*/ 3 w 15"/>
                    <a:gd name="T1" fmla="*/ 0 h 20"/>
                    <a:gd name="T2" fmla="*/ 3 w 15"/>
                    <a:gd name="T3" fmla="*/ 0 h 20"/>
                    <a:gd name="T4" fmla="*/ 0 w 15"/>
                    <a:gd name="T5" fmla="*/ 12 h 20"/>
                    <a:gd name="T6" fmla="*/ 12 w 15"/>
                    <a:gd name="T7" fmla="*/ 20 h 20"/>
                    <a:gd name="T8" fmla="*/ 15 w 15"/>
                    <a:gd name="T9" fmla="*/ 12 h 20"/>
                    <a:gd name="T10" fmla="*/ 15 w 15"/>
                    <a:gd name="T11" fmla="*/ 12 h 20"/>
                    <a:gd name="T12" fmla="*/ 3 w 15"/>
                    <a:gd name="T13" fmla="*/ 0 h 20"/>
                    <a:gd name="T14" fmla="*/ 3 w 15"/>
                    <a:gd name="T15" fmla="*/ 0 h 20"/>
                    <a:gd name="T16" fmla="*/ 3 w 15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12"/>
                      </a:lnTo>
                      <a:lnTo>
                        <a:pt x="12" y="20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" name="Freeform 319"/>
                <p:cNvSpPr>
                  <a:spLocks/>
                </p:cNvSpPr>
                <p:nvPr/>
              </p:nvSpPr>
              <p:spPr bwMode="auto">
                <a:xfrm>
                  <a:off x="470" y="1527"/>
                  <a:ext cx="18" cy="21"/>
                </a:xfrm>
                <a:custGeom>
                  <a:avLst/>
                  <a:gdLst>
                    <a:gd name="T0" fmla="*/ 6 w 18"/>
                    <a:gd name="T1" fmla="*/ 0 h 21"/>
                    <a:gd name="T2" fmla="*/ 6 w 18"/>
                    <a:gd name="T3" fmla="*/ 0 h 21"/>
                    <a:gd name="T4" fmla="*/ 0 w 18"/>
                    <a:gd name="T5" fmla="*/ 9 h 21"/>
                    <a:gd name="T6" fmla="*/ 12 w 18"/>
                    <a:gd name="T7" fmla="*/ 21 h 21"/>
                    <a:gd name="T8" fmla="*/ 18 w 18"/>
                    <a:gd name="T9" fmla="*/ 13 h 21"/>
                    <a:gd name="T10" fmla="*/ 15 w 18"/>
                    <a:gd name="T11" fmla="*/ 13 h 21"/>
                    <a:gd name="T12" fmla="*/ 6 w 18"/>
                    <a:gd name="T13" fmla="*/ 0 h 21"/>
                    <a:gd name="T14" fmla="*/ 6 w 18"/>
                    <a:gd name="T15" fmla="*/ 0 h 21"/>
                    <a:gd name="T16" fmla="*/ 6 w 18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2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9"/>
                      </a:lnTo>
                      <a:lnTo>
                        <a:pt x="12" y="21"/>
                      </a:lnTo>
                      <a:lnTo>
                        <a:pt x="18" y="13"/>
                      </a:lnTo>
                      <a:lnTo>
                        <a:pt x="15" y="13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" name="Freeform 320"/>
                <p:cNvSpPr>
                  <a:spLocks/>
                </p:cNvSpPr>
                <p:nvPr/>
              </p:nvSpPr>
              <p:spPr bwMode="auto">
                <a:xfrm>
                  <a:off x="476" y="1519"/>
                  <a:ext cx="15" cy="21"/>
                </a:xfrm>
                <a:custGeom>
                  <a:avLst/>
                  <a:gdLst>
                    <a:gd name="T0" fmla="*/ 6 w 15"/>
                    <a:gd name="T1" fmla="*/ 0 h 21"/>
                    <a:gd name="T2" fmla="*/ 6 w 15"/>
                    <a:gd name="T3" fmla="*/ 4 h 21"/>
                    <a:gd name="T4" fmla="*/ 0 w 15"/>
                    <a:gd name="T5" fmla="*/ 8 h 21"/>
                    <a:gd name="T6" fmla="*/ 9 w 15"/>
                    <a:gd name="T7" fmla="*/ 21 h 21"/>
                    <a:gd name="T8" fmla="*/ 15 w 15"/>
                    <a:gd name="T9" fmla="*/ 17 h 21"/>
                    <a:gd name="T10" fmla="*/ 15 w 15"/>
                    <a:gd name="T11" fmla="*/ 17 h 21"/>
                    <a:gd name="T12" fmla="*/ 6 w 15"/>
                    <a:gd name="T13" fmla="*/ 0 h 21"/>
                    <a:gd name="T14" fmla="*/ 6 w 15"/>
                    <a:gd name="T15" fmla="*/ 0 h 21"/>
                    <a:gd name="T16" fmla="*/ 6 w 15"/>
                    <a:gd name="T17" fmla="*/ 4 h 21"/>
                    <a:gd name="T18" fmla="*/ 6 w 15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6" y="0"/>
                      </a:moveTo>
                      <a:lnTo>
                        <a:pt x="6" y="4"/>
                      </a:lnTo>
                      <a:lnTo>
                        <a:pt x="0" y="8"/>
                      </a:lnTo>
                      <a:lnTo>
                        <a:pt x="9" y="21"/>
                      </a:lnTo>
                      <a:lnTo>
                        <a:pt x="15" y="17"/>
                      </a:lnTo>
                      <a:lnTo>
                        <a:pt x="15" y="17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" name="Freeform 321"/>
                <p:cNvSpPr>
                  <a:spLocks/>
                </p:cNvSpPr>
                <p:nvPr/>
              </p:nvSpPr>
              <p:spPr bwMode="auto">
                <a:xfrm>
                  <a:off x="482" y="1515"/>
                  <a:ext cx="15" cy="21"/>
                </a:xfrm>
                <a:custGeom>
                  <a:avLst/>
                  <a:gdLst>
                    <a:gd name="T0" fmla="*/ 6 w 15"/>
                    <a:gd name="T1" fmla="*/ 0 h 21"/>
                    <a:gd name="T2" fmla="*/ 3 w 15"/>
                    <a:gd name="T3" fmla="*/ 0 h 21"/>
                    <a:gd name="T4" fmla="*/ 0 w 15"/>
                    <a:gd name="T5" fmla="*/ 4 h 21"/>
                    <a:gd name="T6" fmla="*/ 9 w 15"/>
                    <a:gd name="T7" fmla="*/ 21 h 21"/>
                    <a:gd name="T8" fmla="*/ 15 w 15"/>
                    <a:gd name="T9" fmla="*/ 12 h 21"/>
                    <a:gd name="T10" fmla="*/ 12 w 15"/>
                    <a:gd name="T11" fmla="*/ 12 h 21"/>
                    <a:gd name="T12" fmla="*/ 6 w 15"/>
                    <a:gd name="T13" fmla="*/ 0 h 21"/>
                    <a:gd name="T14" fmla="*/ 6 w 15"/>
                    <a:gd name="T15" fmla="*/ 0 h 21"/>
                    <a:gd name="T16" fmla="*/ 3 w 15"/>
                    <a:gd name="T17" fmla="*/ 0 h 21"/>
                    <a:gd name="T18" fmla="*/ 6 w 15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6" y="0"/>
                      </a:moveTo>
                      <a:lnTo>
                        <a:pt x="3" y="0"/>
                      </a:lnTo>
                      <a:lnTo>
                        <a:pt x="0" y="4"/>
                      </a:lnTo>
                      <a:lnTo>
                        <a:pt x="9" y="21"/>
                      </a:lnTo>
                      <a:lnTo>
                        <a:pt x="15" y="12"/>
                      </a:lnTo>
                      <a:lnTo>
                        <a:pt x="12" y="12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" name="Freeform 322"/>
                <p:cNvSpPr>
                  <a:spLocks/>
                </p:cNvSpPr>
                <p:nvPr/>
              </p:nvSpPr>
              <p:spPr bwMode="auto">
                <a:xfrm>
                  <a:off x="488" y="1507"/>
                  <a:ext cx="12" cy="20"/>
                </a:xfrm>
                <a:custGeom>
                  <a:avLst/>
                  <a:gdLst>
                    <a:gd name="T0" fmla="*/ 6 w 12"/>
                    <a:gd name="T1" fmla="*/ 0 h 20"/>
                    <a:gd name="T2" fmla="*/ 3 w 12"/>
                    <a:gd name="T3" fmla="*/ 0 h 20"/>
                    <a:gd name="T4" fmla="*/ 0 w 12"/>
                    <a:gd name="T5" fmla="*/ 8 h 20"/>
                    <a:gd name="T6" fmla="*/ 6 w 12"/>
                    <a:gd name="T7" fmla="*/ 20 h 20"/>
                    <a:gd name="T8" fmla="*/ 12 w 12"/>
                    <a:gd name="T9" fmla="*/ 16 h 20"/>
                    <a:gd name="T10" fmla="*/ 12 w 12"/>
                    <a:gd name="T11" fmla="*/ 16 h 20"/>
                    <a:gd name="T12" fmla="*/ 6 w 12"/>
                    <a:gd name="T13" fmla="*/ 0 h 20"/>
                    <a:gd name="T14" fmla="*/ 6 w 12"/>
                    <a:gd name="T15" fmla="*/ 0 h 20"/>
                    <a:gd name="T16" fmla="*/ 3 w 12"/>
                    <a:gd name="T17" fmla="*/ 0 h 20"/>
                    <a:gd name="T18" fmla="*/ 6 w 12"/>
                    <a:gd name="T19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6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" name="Freeform 323"/>
                <p:cNvSpPr>
                  <a:spLocks/>
                </p:cNvSpPr>
                <p:nvPr/>
              </p:nvSpPr>
              <p:spPr bwMode="auto">
                <a:xfrm>
                  <a:off x="494" y="1503"/>
                  <a:ext cx="12" cy="20"/>
                </a:xfrm>
                <a:custGeom>
                  <a:avLst/>
                  <a:gdLst>
                    <a:gd name="T0" fmla="*/ 6 w 12"/>
                    <a:gd name="T1" fmla="*/ 0 h 20"/>
                    <a:gd name="T2" fmla="*/ 6 w 12"/>
                    <a:gd name="T3" fmla="*/ 0 h 20"/>
                    <a:gd name="T4" fmla="*/ 0 w 12"/>
                    <a:gd name="T5" fmla="*/ 4 h 20"/>
                    <a:gd name="T6" fmla="*/ 6 w 12"/>
                    <a:gd name="T7" fmla="*/ 20 h 20"/>
                    <a:gd name="T8" fmla="*/ 12 w 12"/>
                    <a:gd name="T9" fmla="*/ 16 h 20"/>
                    <a:gd name="T10" fmla="*/ 12 w 12"/>
                    <a:gd name="T11" fmla="*/ 16 h 20"/>
                    <a:gd name="T12" fmla="*/ 6 w 12"/>
                    <a:gd name="T13" fmla="*/ 0 h 20"/>
                    <a:gd name="T14" fmla="*/ 6 w 12"/>
                    <a:gd name="T15" fmla="*/ 0 h 20"/>
                    <a:gd name="T16" fmla="*/ 6 w 12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" name="Freeform 324"/>
                <p:cNvSpPr>
                  <a:spLocks/>
                </p:cNvSpPr>
                <p:nvPr/>
              </p:nvSpPr>
              <p:spPr bwMode="auto">
                <a:xfrm>
                  <a:off x="500" y="1499"/>
                  <a:ext cx="12" cy="20"/>
                </a:xfrm>
                <a:custGeom>
                  <a:avLst/>
                  <a:gdLst>
                    <a:gd name="T0" fmla="*/ 6 w 12"/>
                    <a:gd name="T1" fmla="*/ 0 h 20"/>
                    <a:gd name="T2" fmla="*/ 6 w 12"/>
                    <a:gd name="T3" fmla="*/ 0 h 20"/>
                    <a:gd name="T4" fmla="*/ 0 w 12"/>
                    <a:gd name="T5" fmla="*/ 4 h 20"/>
                    <a:gd name="T6" fmla="*/ 6 w 12"/>
                    <a:gd name="T7" fmla="*/ 20 h 20"/>
                    <a:gd name="T8" fmla="*/ 12 w 12"/>
                    <a:gd name="T9" fmla="*/ 16 h 20"/>
                    <a:gd name="T10" fmla="*/ 12 w 12"/>
                    <a:gd name="T11" fmla="*/ 16 h 20"/>
                    <a:gd name="T12" fmla="*/ 6 w 12"/>
                    <a:gd name="T13" fmla="*/ 0 h 20"/>
                    <a:gd name="T14" fmla="*/ 6 w 12"/>
                    <a:gd name="T15" fmla="*/ 0 h 20"/>
                    <a:gd name="T16" fmla="*/ 6 w 12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" name="Freeform 325"/>
                <p:cNvSpPr>
                  <a:spLocks/>
                </p:cNvSpPr>
                <p:nvPr/>
              </p:nvSpPr>
              <p:spPr bwMode="auto">
                <a:xfrm>
                  <a:off x="506" y="1495"/>
                  <a:ext cx="12" cy="20"/>
                </a:xfrm>
                <a:custGeom>
                  <a:avLst/>
                  <a:gdLst>
                    <a:gd name="T0" fmla="*/ 9 w 12"/>
                    <a:gd name="T1" fmla="*/ 0 h 20"/>
                    <a:gd name="T2" fmla="*/ 6 w 12"/>
                    <a:gd name="T3" fmla="*/ 0 h 20"/>
                    <a:gd name="T4" fmla="*/ 0 w 12"/>
                    <a:gd name="T5" fmla="*/ 4 h 20"/>
                    <a:gd name="T6" fmla="*/ 6 w 12"/>
                    <a:gd name="T7" fmla="*/ 20 h 20"/>
                    <a:gd name="T8" fmla="*/ 12 w 12"/>
                    <a:gd name="T9" fmla="*/ 16 h 20"/>
                    <a:gd name="T10" fmla="*/ 12 w 12"/>
                    <a:gd name="T11" fmla="*/ 16 h 20"/>
                    <a:gd name="T12" fmla="*/ 9 w 12"/>
                    <a:gd name="T13" fmla="*/ 0 h 20"/>
                    <a:gd name="T14" fmla="*/ 9 w 12"/>
                    <a:gd name="T15" fmla="*/ 0 h 20"/>
                    <a:gd name="T16" fmla="*/ 6 w 12"/>
                    <a:gd name="T17" fmla="*/ 0 h 20"/>
                    <a:gd name="T18" fmla="*/ 9 w 12"/>
                    <a:gd name="T19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9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" name="Freeform 326"/>
                <p:cNvSpPr>
                  <a:spLocks/>
                </p:cNvSpPr>
                <p:nvPr/>
              </p:nvSpPr>
              <p:spPr bwMode="auto">
                <a:xfrm>
                  <a:off x="515" y="1491"/>
                  <a:ext cx="10" cy="20"/>
                </a:xfrm>
                <a:custGeom>
                  <a:avLst/>
                  <a:gdLst>
                    <a:gd name="T0" fmla="*/ 6 w 10"/>
                    <a:gd name="T1" fmla="*/ 0 h 20"/>
                    <a:gd name="T2" fmla="*/ 6 w 10"/>
                    <a:gd name="T3" fmla="*/ 0 h 20"/>
                    <a:gd name="T4" fmla="*/ 0 w 10"/>
                    <a:gd name="T5" fmla="*/ 4 h 20"/>
                    <a:gd name="T6" fmla="*/ 3 w 10"/>
                    <a:gd name="T7" fmla="*/ 20 h 20"/>
                    <a:gd name="T8" fmla="*/ 10 w 10"/>
                    <a:gd name="T9" fmla="*/ 20 h 20"/>
                    <a:gd name="T10" fmla="*/ 10 w 10"/>
                    <a:gd name="T11" fmla="*/ 20 h 20"/>
                    <a:gd name="T12" fmla="*/ 6 w 10"/>
                    <a:gd name="T13" fmla="*/ 0 h 20"/>
                    <a:gd name="T14" fmla="*/ 6 w 10"/>
                    <a:gd name="T15" fmla="*/ 0 h 20"/>
                    <a:gd name="T16" fmla="*/ 6 w 10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20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3" y="20"/>
                      </a:lnTo>
                      <a:lnTo>
                        <a:pt x="10" y="20"/>
                      </a:lnTo>
                      <a:lnTo>
                        <a:pt x="10" y="2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" name="Freeform 327"/>
                <p:cNvSpPr>
                  <a:spLocks/>
                </p:cNvSpPr>
                <p:nvPr/>
              </p:nvSpPr>
              <p:spPr bwMode="auto">
                <a:xfrm>
                  <a:off x="521" y="1491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10 w 10"/>
                    <a:gd name="T3" fmla="*/ 0 h 20"/>
                    <a:gd name="T4" fmla="*/ 0 w 10"/>
                    <a:gd name="T5" fmla="*/ 0 h 20"/>
                    <a:gd name="T6" fmla="*/ 4 w 10"/>
                    <a:gd name="T7" fmla="*/ 20 h 20"/>
                    <a:gd name="T8" fmla="*/ 10 w 10"/>
                    <a:gd name="T9" fmla="*/ 16 h 20"/>
                    <a:gd name="T10" fmla="*/ 10 w 10"/>
                    <a:gd name="T11" fmla="*/ 16 h 20"/>
                    <a:gd name="T12" fmla="*/ 10 w 10"/>
                    <a:gd name="T13" fmla="*/ 0 h 20"/>
                    <a:gd name="T14" fmla="*/ 10 w 10"/>
                    <a:gd name="T15" fmla="*/ 0 h 20"/>
                    <a:gd name="T16" fmla="*/ 10 w 10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20">
                      <a:moveTo>
                        <a:pt x="10" y="0"/>
                      </a:moveTo>
                      <a:lnTo>
                        <a:pt x="10" y="0"/>
                      </a:lnTo>
                      <a:lnTo>
                        <a:pt x="0" y="0"/>
                      </a:lnTo>
                      <a:lnTo>
                        <a:pt x="4" y="20"/>
                      </a:lnTo>
                      <a:lnTo>
                        <a:pt x="10" y="16"/>
                      </a:lnTo>
                      <a:lnTo>
                        <a:pt x="10" y="16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" name="Freeform 328"/>
                <p:cNvSpPr>
                  <a:spLocks/>
                </p:cNvSpPr>
                <p:nvPr/>
              </p:nvSpPr>
              <p:spPr bwMode="auto">
                <a:xfrm>
                  <a:off x="531" y="1491"/>
                  <a:ext cx="9" cy="16"/>
                </a:xfrm>
                <a:custGeom>
                  <a:avLst/>
                  <a:gdLst>
                    <a:gd name="T0" fmla="*/ 6 w 9"/>
                    <a:gd name="T1" fmla="*/ 0 h 16"/>
                    <a:gd name="T2" fmla="*/ 6 w 9"/>
                    <a:gd name="T3" fmla="*/ 0 h 16"/>
                    <a:gd name="T4" fmla="*/ 0 w 9"/>
                    <a:gd name="T5" fmla="*/ 0 h 16"/>
                    <a:gd name="T6" fmla="*/ 0 w 9"/>
                    <a:gd name="T7" fmla="*/ 16 h 16"/>
                    <a:gd name="T8" fmla="*/ 9 w 9"/>
                    <a:gd name="T9" fmla="*/ 16 h 16"/>
                    <a:gd name="T10" fmla="*/ 6 w 9"/>
                    <a:gd name="T11" fmla="*/ 16 h 16"/>
                    <a:gd name="T12" fmla="*/ 6 w 9"/>
                    <a:gd name="T13" fmla="*/ 0 h 16"/>
                    <a:gd name="T14" fmla="*/ 6 w 9"/>
                    <a:gd name="T15" fmla="*/ 0 h 16"/>
                    <a:gd name="T16" fmla="*/ 6 w 9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6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6" y="16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" name="Rectangle 329"/>
                <p:cNvSpPr>
                  <a:spLocks noChangeArrowheads="1"/>
                </p:cNvSpPr>
                <p:nvPr/>
              </p:nvSpPr>
              <p:spPr bwMode="auto">
                <a:xfrm>
                  <a:off x="564" y="1692"/>
                  <a:ext cx="759" cy="69"/>
                </a:xfrm>
                <a:prstGeom prst="rect">
                  <a:avLst/>
                </a:pr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" name="Freeform 330"/>
                <p:cNvSpPr>
                  <a:spLocks/>
                </p:cNvSpPr>
                <p:nvPr/>
              </p:nvSpPr>
              <p:spPr bwMode="auto">
                <a:xfrm>
                  <a:off x="564" y="1864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2 h 70"/>
                    <a:gd name="T34" fmla="*/ 759 w 759"/>
                    <a:gd name="T35" fmla="*/ 37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29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2"/>
                      </a:lnTo>
                      <a:lnTo>
                        <a:pt x="759" y="21"/>
                      </a:lnTo>
                      <a:lnTo>
                        <a:pt x="759" y="37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45"/>
                      </a:lnTo>
                      <a:lnTo>
                        <a:pt x="0" y="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" name="Freeform 331"/>
                <p:cNvSpPr>
                  <a:spLocks/>
                </p:cNvSpPr>
                <p:nvPr/>
              </p:nvSpPr>
              <p:spPr bwMode="auto">
                <a:xfrm>
                  <a:off x="564" y="2032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3 h 70"/>
                    <a:gd name="T34" fmla="*/ 759 w 759"/>
                    <a:gd name="T35" fmla="*/ 41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33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3"/>
                      </a:lnTo>
                      <a:lnTo>
                        <a:pt x="759" y="25"/>
                      </a:lnTo>
                      <a:lnTo>
                        <a:pt x="759" y="41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50"/>
                      </a:lnTo>
                      <a:lnTo>
                        <a:pt x="0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" name="Freeform 332"/>
                <p:cNvSpPr>
                  <a:spLocks/>
                </p:cNvSpPr>
                <p:nvPr/>
              </p:nvSpPr>
              <p:spPr bwMode="auto">
                <a:xfrm>
                  <a:off x="564" y="2205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2 h 70"/>
                    <a:gd name="T34" fmla="*/ 759 w 759"/>
                    <a:gd name="T35" fmla="*/ 41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7 h 70"/>
                    <a:gd name="T70" fmla="*/ 0 w 759"/>
                    <a:gd name="T71" fmla="*/ 33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2"/>
                      </a:lnTo>
                      <a:lnTo>
                        <a:pt x="759" y="24"/>
                      </a:lnTo>
                      <a:lnTo>
                        <a:pt x="759" y="41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7"/>
                      </a:lnTo>
                      <a:lnTo>
                        <a:pt x="0" y="49"/>
                      </a:lnTo>
                      <a:lnTo>
                        <a:pt x="0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" name="Freeform 333"/>
                <p:cNvSpPr>
                  <a:spLocks/>
                </p:cNvSpPr>
                <p:nvPr/>
              </p:nvSpPr>
              <p:spPr bwMode="auto">
                <a:xfrm>
                  <a:off x="564" y="2377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3 h 70"/>
                    <a:gd name="T34" fmla="*/ 759 w 759"/>
                    <a:gd name="T35" fmla="*/ 41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29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3"/>
                      </a:lnTo>
                      <a:lnTo>
                        <a:pt x="759" y="25"/>
                      </a:lnTo>
                      <a:lnTo>
                        <a:pt x="759" y="41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45"/>
                      </a:lnTo>
                      <a:lnTo>
                        <a:pt x="0" y="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1" name="Freeform 334"/>
                <p:cNvSpPr>
                  <a:spLocks/>
                </p:cNvSpPr>
                <p:nvPr/>
              </p:nvSpPr>
              <p:spPr bwMode="auto">
                <a:xfrm>
                  <a:off x="564" y="2550"/>
                  <a:ext cx="759" cy="69"/>
                </a:xfrm>
                <a:custGeom>
                  <a:avLst/>
                  <a:gdLst>
                    <a:gd name="T0" fmla="*/ 24 w 759"/>
                    <a:gd name="T1" fmla="*/ 0 h 69"/>
                    <a:gd name="T2" fmla="*/ 63 w 759"/>
                    <a:gd name="T3" fmla="*/ 0 h 69"/>
                    <a:gd name="T4" fmla="*/ 100 w 759"/>
                    <a:gd name="T5" fmla="*/ 0 h 69"/>
                    <a:gd name="T6" fmla="*/ 130 w 759"/>
                    <a:gd name="T7" fmla="*/ 0 h 69"/>
                    <a:gd name="T8" fmla="*/ 157 w 759"/>
                    <a:gd name="T9" fmla="*/ 0 h 69"/>
                    <a:gd name="T10" fmla="*/ 184 w 759"/>
                    <a:gd name="T11" fmla="*/ 0 h 69"/>
                    <a:gd name="T12" fmla="*/ 211 w 759"/>
                    <a:gd name="T13" fmla="*/ 0 h 69"/>
                    <a:gd name="T14" fmla="*/ 239 w 759"/>
                    <a:gd name="T15" fmla="*/ 0 h 69"/>
                    <a:gd name="T16" fmla="*/ 269 w 759"/>
                    <a:gd name="T17" fmla="*/ 0 h 69"/>
                    <a:gd name="T18" fmla="*/ 305 w 759"/>
                    <a:gd name="T19" fmla="*/ 0 h 69"/>
                    <a:gd name="T20" fmla="*/ 350 w 759"/>
                    <a:gd name="T21" fmla="*/ 0 h 69"/>
                    <a:gd name="T22" fmla="*/ 399 w 759"/>
                    <a:gd name="T23" fmla="*/ 0 h 69"/>
                    <a:gd name="T24" fmla="*/ 459 w 759"/>
                    <a:gd name="T25" fmla="*/ 0 h 69"/>
                    <a:gd name="T26" fmla="*/ 529 w 759"/>
                    <a:gd name="T27" fmla="*/ 0 h 69"/>
                    <a:gd name="T28" fmla="*/ 610 w 759"/>
                    <a:gd name="T29" fmla="*/ 0 h 69"/>
                    <a:gd name="T30" fmla="*/ 704 w 759"/>
                    <a:gd name="T31" fmla="*/ 0 h 69"/>
                    <a:gd name="T32" fmla="*/ 759 w 759"/>
                    <a:gd name="T33" fmla="*/ 12 h 69"/>
                    <a:gd name="T34" fmla="*/ 759 w 759"/>
                    <a:gd name="T35" fmla="*/ 37 h 69"/>
                    <a:gd name="T36" fmla="*/ 734 w 759"/>
                    <a:gd name="T37" fmla="*/ 69 h 69"/>
                    <a:gd name="T38" fmla="*/ 695 w 759"/>
                    <a:gd name="T39" fmla="*/ 69 h 69"/>
                    <a:gd name="T40" fmla="*/ 662 w 759"/>
                    <a:gd name="T41" fmla="*/ 69 h 69"/>
                    <a:gd name="T42" fmla="*/ 632 w 759"/>
                    <a:gd name="T43" fmla="*/ 69 h 69"/>
                    <a:gd name="T44" fmla="*/ 601 w 759"/>
                    <a:gd name="T45" fmla="*/ 69 h 69"/>
                    <a:gd name="T46" fmla="*/ 577 w 759"/>
                    <a:gd name="T47" fmla="*/ 69 h 69"/>
                    <a:gd name="T48" fmla="*/ 550 w 759"/>
                    <a:gd name="T49" fmla="*/ 69 h 69"/>
                    <a:gd name="T50" fmla="*/ 520 w 759"/>
                    <a:gd name="T51" fmla="*/ 69 h 69"/>
                    <a:gd name="T52" fmla="*/ 490 w 759"/>
                    <a:gd name="T53" fmla="*/ 69 h 69"/>
                    <a:gd name="T54" fmla="*/ 453 w 759"/>
                    <a:gd name="T55" fmla="*/ 69 h 69"/>
                    <a:gd name="T56" fmla="*/ 411 w 759"/>
                    <a:gd name="T57" fmla="*/ 69 h 69"/>
                    <a:gd name="T58" fmla="*/ 360 w 759"/>
                    <a:gd name="T59" fmla="*/ 69 h 69"/>
                    <a:gd name="T60" fmla="*/ 302 w 759"/>
                    <a:gd name="T61" fmla="*/ 69 h 69"/>
                    <a:gd name="T62" fmla="*/ 233 w 759"/>
                    <a:gd name="T63" fmla="*/ 69 h 69"/>
                    <a:gd name="T64" fmla="*/ 151 w 759"/>
                    <a:gd name="T65" fmla="*/ 69 h 69"/>
                    <a:gd name="T66" fmla="*/ 54 w 759"/>
                    <a:gd name="T67" fmla="*/ 69 h 69"/>
                    <a:gd name="T68" fmla="*/ 0 w 759"/>
                    <a:gd name="T69" fmla="*/ 57 h 69"/>
                    <a:gd name="T70" fmla="*/ 0 w 759"/>
                    <a:gd name="T71" fmla="*/ 28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69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2"/>
                      </a:lnTo>
                      <a:lnTo>
                        <a:pt x="759" y="24"/>
                      </a:lnTo>
                      <a:lnTo>
                        <a:pt x="759" y="37"/>
                      </a:lnTo>
                      <a:lnTo>
                        <a:pt x="759" y="69"/>
                      </a:lnTo>
                      <a:lnTo>
                        <a:pt x="734" y="69"/>
                      </a:lnTo>
                      <a:lnTo>
                        <a:pt x="716" y="69"/>
                      </a:lnTo>
                      <a:lnTo>
                        <a:pt x="695" y="69"/>
                      </a:lnTo>
                      <a:lnTo>
                        <a:pt x="677" y="69"/>
                      </a:lnTo>
                      <a:lnTo>
                        <a:pt x="662" y="69"/>
                      </a:lnTo>
                      <a:lnTo>
                        <a:pt x="647" y="69"/>
                      </a:lnTo>
                      <a:lnTo>
                        <a:pt x="632" y="69"/>
                      </a:lnTo>
                      <a:lnTo>
                        <a:pt x="616" y="69"/>
                      </a:lnTo>
                      <a:lnTo>
                        <a:pt x="601" y="69"/>
                      </a:lnTo>
                      <a:lnTo>
                        <a:pt x="589" y="69"/>
                      </a:lnTo>
                      <a:lnTo>
                        <a:pt x="577" y="69"/>
                      </a:lnTo>
                      <a:lnTo>
                        <a:pt x="562" y="69"/>
                      </a:lnTo>
                      <a:lnTo>
                        <a:pt x="550" y="69"/>
                      </a:lnTo>
                      <a:lnTo>
                        <a:pt x="535" y="69"/>
                      </a:lnTo>
                      <a:lnTo>
                        <a:pt x="520" y="69"/>
                      </a:lnTo>
                      <a:lnTo>
                        <a:pt x="505" y="69"/>
                      </a:lnTo>
                      <a:lnTo>
                        <a:pt x="490" y="69"/>
                      </a:lnTo>
                      <a:lnTo>
                        <a:pt x="471" y="69"/>
                      </a:lnTo>
                      <a:lnTo>
                        <a:pt x="453" y="69"/>
                      </a:lnTo>
                      <a:lnTo>
                        <a:pt x="432" y="69"/>
                      </a:lnTo>
                      <a:lnTo>
                        <a:pt x="411" y="69"/>
                      </a:lnTo>
                      <a:lnTo>
                        <a:pt x="387" y="69"/>
                      </a:lnTo>
                      <a:lnTo>
                        <a:pt x="360" y="69"/>
                      </a:lnTo>
                      <a:lnTo>
                        <a:pt x="332" y="69"/>
                      </a:lnTo>
                      <a:lnTo>
                        <a:pt x="302" y="69"/>
                      </a:lnTo>
                      <a:lnTo>
                        <a:pt x="269" y="69"/>
                      </a:lnTo>
                      <a:lnTo>
                        <a:pt x="233" y="69"/>
                      </a:lnTo>
                      <a:lnTo>
                        <a:pt x="193" y="69"/>
                      </a:lnTo>
                      <a:lnTo>
                        <a:pt x="151" y="69"/>
                      </a:lnTo>
                      <a:lnTo>
                        <a:pt x="103" y="69"/>
                      </a:lnTo>
                      <a:lnTo>
                        <a:pt x="54" y="69"/>
                      </a:lnTo>
                      <a:lnTo>
                        <a:pt x="0" y="69"/>
                      </a:lnTo>
                      <a:lnTo>
                        <a:pt x="0" y="57"/>
                      </a:lnTo>
                      <a:lnTo>
                        <a:pt x="0" y="45"/>
                      </a:lnTo>
                      <a:lnTo>
                        <a:pt x="0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2" name="Freeform 335"/>
                <p:cNvSpPr>
                  <a:spLocks/>
                </p:cNvSpPr>
                <p:nvPr/>
              </p:nvSpPr>
              <p:spPr bwMode="auto">
                <a:xfrm>
                  <a:off x="564" y="2722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2 h 70"/>
                    <a:gd name="T34" fmla="*/ 759 w 759"/>
                    <a:gd name="T35" fmla="*/ 37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29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2"/>
                      </a:lnTo>
                      <a:lnTo>
                        <a:pt x="759" y="21"/>
                      </a:lnTo>
                      <a:lnTo>
                        <a:pt x="759" y="37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45"/>
                      </a:lnTo>
                      <a:lnTo>
                        <a:pt x="0" y="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" name="Freeform 336"/>
                <p:cNvSpPr>
                  <a:spLocks/>
                </p:cNvSpPr>
                <p:nvPr/>
              </p:nvSpPr>
              <p:spPr bwMode="auto">
                <a:xfrm>
                  <a:off x="564" y="2890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7 h 70"/>
                    <a:gd name="T34" fmla="*/ 759 w 759"/>
                    <a:gd name="T35" fmla="*/ 41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33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7"/>
                      </a:lnTo>
                      <a:lnTo>
                        <a:pt x="759" y="25"/>
                      </a:lnTo>
                      <a:lnTo>
                        <a:pt x="759" y="41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50"/>
                      </a:lnTo>
                      <a:lnTo>
                        <a:pt x="0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" name="Rectangle 337"/>
                <p:cNvSpPr>
                  <a:spLocks noChangeArrowheads="1"/>
                </p:cNvSpPr>
                <p:nvPr/>
              </p:nvSpPr>
              <p:spPr bwMode="auto">
                <a:xfrm>
                  <a:off x="564" y="3063"/>
                  <a:ext cx="759" cy="70"/>
                </a:xfrm>
                <a:prstGeom prst="rect">
                  <a:avLst/>
                </a:pr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5" name="Freeform 338"/>
                <p:cNvSpPr>
                  <a:spLocks/>
                </p:cNvSpPr>
                <p:nvPr/>
              </p:nvSpPr>
              <p:spPr bwMode="auto">
                <a:xfrm>
                  <a:off x="509" y="1400"/>
                  <a:ext cx="901" cy="107"/>
                </a:xfrm>
                <a:custGeom>
                  <a:avLst/>
                  <a:gdLst>
                    <a:gd name="T0" fmla="*/ 0 w 901"/>
                    <a:gd name="T1" fmla="*/ 107 h 107"/>
                    <a:gd name="T2" fmla="*/ 79 w 901"/>
                    <a:gd name="T3" fmla="*/ 4 h 107"/>
                    <a:gd name="T4" fmla="*/ 901 w 901"/>
                    <a:gd name="T5" fmla="*/ 0 h 107"/>
                    <a:gd name="T6" fmla="*/ 838 w 901"/>
                    <a:gd name="T7" fmla="*/ 99 h 107"/>
                    <a:gd name="T8" fmla="*/ 0 w 901"/>
                    <a:gd name="T9" fmla="*/ 107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1" h="107">
                      <a:moveTo>
                        <a:pt x="0" y="107"/>
                      </a:moveTo>
                      <a:lnTo>
                        <a:pt x="79" y="4"/>
                      </a:lnTo>
                      <a:lnTo>
                        <a:pt x="901" y="0"/>
                      </a:lnTo>
                      <a:lnTo>
                        <a:pt x="838" y="99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A3A27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6" name="Freeform 339"/>
                <p:cNvSpPr>
                  <a:spLocks/>
                </p:cNvSpPr>
                <p:nvPr/>
              </p:nvSpPr>
              <p:spPr bwMode="auto">
                <a:xfrm>
                  <a:off x="503" y="1396"/>
                  <a:ext cx="88" cy="119"/>
                </a:xfrm>
                <a:custGeom>
                  <a:avLst/>
                  <a:gdLst>
                    <a:gd name="T0" fmla="*/ 85 w 88"/>
                    <a:gd name="T1" fmla="*/ 0 h 119"/>
                    <a:gd name="T2" fmla="*/ 79 w 88"/>
                    <a:gd name="T3" fmla="*/ 4 h 119"/>
                    <a:gd name="T4" fmla="*/ 0 w 88"/>
                    <a:gd name="T5" fmla="*/ 103 h 119"/>
                    <a:gd name="T6" fmla="*/ 12 w 88"/>
                    <a:gd name="T7" fmla="*/ 119 h 119"/>
                    <a:gd name="T8" fmla="*/ 88 w 88"/>
                    <a:gd name="T9" fmla="*/ 17 h 119"/>
                    <a:gd name="T10" fmla="*/ 85 w 88"/>
                    <a:gd name="T11" fmla="*/ 21 h 119"/>
                    <a:gd name="T12" fmla="*/ 85 w 88"/>
                    <a:gd name="T13" fmla="*/ 0 h 119"/>
                    <a:gd name="T14" fmla="*/ 82 w 88"/>
                    <a:gd name="T15" fmla="*/ 0 h 119"/>
                    <a:gd name="T16" fmla="*/ 79 w 88"/>
                    <a:gd name="T17" fmla="*/ 4 h 119"/>
                    <a:gd name="T18" fmla="*/ 85 w 88"/>
                    <a:gd name="T19" fmla="*/ 0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119">
                      <a:moveTo>
                        <a:pt x="85" y="0"/>
                      </a:moveTo>
                      <a:lnTo>
                        <a:pt x="79" y="4"/>
                      </a:lnTo>
                      <a:lnTo>
                        <a:pt x="0" y="103"/>
                      </a:lnTo>
                      <a:lnTo>
                        <a:pt x="12" y="119"/>
                      </a:lnTo>
                      <a:lnTo>
                        <a:pt x="88" y="17"/>
                      </a:lnTo>
                      <a:lnTo>
                        <a:pt x="85" y="21"/>
                      </a:lnTo>
                      <a:lnTo>
                        <a:pt x="85" y="0"/>
                      </a:lnTo>
                      <a:lnTo>
                        <a:pt x="82" y="0"/>
                      </a:lnTo>
                      <a:lnTo>
                        <a:pt x="79" y="4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" name="Freeform 340"/>
                <p:cNvSpPr>
                  <a:spLocks/>
                </p:cNvSpPr>
                <p:nvPr/>
              </p:nvSpPr>
              <p:spPr bwMode="auto">
                <a:xfrm>
                  <a:off x="588" y="1392"/>
                  <a:ext cx="837" cy="25"/>
                </a:xfrm>
                <a:custGeom>
                  <a:avLst/>
                  <a:gdLst>
                    <a:gd name="T0" fmla="*/ 825 w 837"/>
                    <a:gd name="T1" fmla="*/ 16 h 25"/>
                    <a:gd name="T2" fmla="*/ 822 w 837"/>
                    <a:gd name="T3" fmla="*/ 0 h 25"/>
                    <a:gd name="T4" fmla="*/ 0 w 837"/>
                    <a:gd name="T5" fmla="*/ 4 h 25"/>
                    <a:gd name="T6" fmla="*/ 0 w 837"/>
                    <a:gd name="T7" fmla="*/ 25 h 25"/>
                    <a:gd name="T8" fmla="*/ 822 w 837"/>
                    <a:gd name="T9" fmla="*/ 21 h 25"/>
                    <a:gd name="T10" fmla="*/ 816 w 837"/>
                    <a:gd name="T11" fmla="*/ 4 h 25"/>
                    <a:gd name="T12" fmla="*/ 825 w 837"/>
                    <a:gd name="T13" fmla="*/ 16 h 25"/>
                    <a:gd name="T14" fmla="*/ 837 w 837"/>
                    <a:gd name="T15" fmla="*/ 0 h 25"/>
                    <a:gd name="T16" fmla="*/ 822 w 837"/>
                    <a:gd name="T17" fmla="*/ 0 h 25"/>
                    <a:gd name="T18" fmla="*/ 825 w 837"/>
                    <a:gd name="T19" fmla="*/ 16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37" h="25">
                      <a:moveTo>
                        <a:pt x="825" y="16"/>
                      </a:moveTo>
                      <a:lnTo>
                        <a:pt x="822" y="0"/>
                      </a:lnTo>
                      <a:lnTo>
                        <a:pt x="0" y="4"/>
                      </a:lnTo>
                      <a:lnTo>
                        <a:pt x="0" y="25"/>
                      </a:lnTo>
                      <a:lnTo>
                        <a:pt x="822" y="21"/>
                      </a:lnTo>
                      <a:lnTo>
                        <a:pt x="816" y="4"/>
                      </a:lnTo>
                      <a:lnTo>
                        <a:pt x="825" y="16"/>
                      </a:lnTo>
                      <a:lnTo>
                        <a:pt x="837" y="0"/>
                      </a:lnTo>
                      <a:lnTo>
                        <a:pt x="822" y="0"/>
                      </a:lnTo>
                      <a:lnTo>
                        <a:pt x="825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" name="Freeform 341"/>
                <p:cNvSpPr>
                  <a:spLocks/>
                </p:cNvSpPr>
                <p:nvPr/>
              </p:nvSpPr>
              <p:spPr bwMode="auto">
                <a:xfrm>
                  <a:off x="1341" y="1396"/>
                  <a:ext cx="72" cy="115"/>
                </a:xfrm>
                <a:custGeom>
                  <a:avLst/>
                  <a:gdLst>
                    <a:gd name="T0" fmla="*/ 6 w 72"/>
                    <a:gd name="T1" fmla="*/ 115 h 115"/>
                    <a:gd name="T2" fmla="*/ 9 w 72"/>
                    <a:gd name="T3" fmla="*/ 111 h 115"/>
                    <a:gd name="T4" fmla="*/ 72 w 72"/>
                    <a:gd name="T5" fmla="*/ 12 h 115"/>
                    <a:gd name="T6" fmla="*/ 63 w 72"/>
                    <a:gd name="T7" fmla="*/ 0 h 115"/>
                    <a:gd name="T8" fmla="*/ 0 w 72"/>
                    <a:gd name="T9" fmla="*/ 99 h 115"/>
                    <a:gd name="T10" fmla="*/ 6 w 72"/>
                    <a:gd name="T11" fmla="*/ 95 h 115"/>
                    <a:gd name="T12" fmla="*/ 6 w 72"/>
                    <a:gd name="T13" fmla="*/ 111 h 115"/>
                    <a:gd name="T14" fmla="*/ 9 w 72"/>
                    <a:gd name="T15" fmla="*/ 111 h 115"/>
                    <a:gd name="T16" fmla="*/ 9 w 72"/>
                    <a:gd name="T17" fmla="*/ 111 h 115"/>
                    <a:gd name="T18" fmla="*/ 6 w 72"/>
                    <a:gd name="T19" fmla="*/ 115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2" h="115">
                      <a:moveTo>
                        <a:pt x="6" y="115"/>
                      </a:moveTo>
                      <a:lnTo>
                        <a:pt x="9" y="111"/>
                      </a:lnTo>
                      <a:lnTo>
                        <a:pt x="72" y="12"/>
                      </a:lnTo>
                      <a:lnTo>
                        <a:pt x="63" y="0"/>
                      </a:lnTo>
                      <a:lnTo>
                        <a:pt x="0" y="99"/>
                      </a:lnTo>
                      <a:lnTo>
                        <a:pt x="6" y="95"/>
                      </a:lnTo>
                      <a:lnTo>
                        <a:pt x="6" y="111"/>
                      </a:lnTo>
                      <a:lnTo>
                        <a:pt x="9" y="111"/>
                      </a:lnTo>
                      <a:lnTo>
                        <a:pt x="9" y="111"/>
                      </a:lnTo>
                      <a:lnTo>
                        <a:pt x="6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9" name="Freeform 342"/>
                <p:cNvSpPr>
                  <a:spLocks/>
                </p:cNvSpPr>
                <p:nvPr/>
              </p:nvSpPr>
              <p:spPr bwMode="auto">
                <a:xfrm>
                  <a:off x="491" y="1491"/>
                  <a:ext cx="856" cy="24"/>
                </a:xfrm>
                <a:custGeom>
                  <a:avLst/>
                  <a:gdLst>
                    <a:gd name="T0" fmla="*/ 12 w 856"/>
                    <a:gd name="T1" fmla="*/ 8 h 24"/>
                    <a:gd name="T2" fmla="*/ 18 w 856"/>
                    <a:gd name="T3" fmla="*/ 24 h 24"/>
                    <a:gd name="T4" fmla="*/ 856 w 856"/>
                    <a:gd name="T5" fmla="*/ 20 h 24"/>
                    <a:gd name="T6" fmla="*/ 856 w 856"/>
                    <a:gd name="T7" fmla="*/ 0 h 24"/>
                    <a:gd name="T8" fmla="*/ 18 w 856"/>
                    <a:gd name="T9" fmla="*/ 8 h 24"/>
                    <a:gd name="T10" fmla="*/ 24 w 856"/>
                    <a:gd name="T11" fmla="*/ 24 h 24"/>
                    <a:gd name="T12" fmla="*/ 12 w 856"/>
                    <a:gd name="T13" fmla="*/ 8 h 24"/>
                    <a:gd name="T14" fmla="*/ 0 w 856"/>
                    <a:gd name="T15" fmla="*/ 24 h 24"/>
                    <a:gd name="T16" fmla="*/ 18 w 856"/>
                    <a:gd name="T17" fmla="*/ 24 h 24"/>
                    <a:gd name="T18" fmla="*/ 12 w 856"/>
                    <a:gd name="T19" fmla="*/ 8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56" h="24">
                      <a:moveTo>
                        <a:pt x="12" y="8"/>
                      </a:moveTo>
                      <a:lnTo>
                        <a:pt x="18" y="24"/>
                      </a:lnTo>
                      <a:lnTo>
                        <a:pt x="856" y="20"/>
                      </a:lnTo>
                      <a:lnTo>
                        <a:pt x="856" y="0"/>
                      </a:lnTo>
                      <a:lnTo>
                        <a:pt x="18" y="8"/>
                      </a:lnTo>
                      <a:lnTo>
                        <a:pt x="24" y="24"/>
                      </a:lnTo>
                      <a:lnTo>
                        <a:pt x="12" y="8"/>
                      </a:lnTo>
                      <a:lnTo>
                        <a:pt x="0" y="24"/>
                      </a:lnTo>
                      <a:lnTo>
                        <a:pt x="18" y="24"/>
                      </a:lnTo>
                      <a:lnTo>
                        <a:pt x="12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0" name="Freeform 343"/>
                <p:cNvSpPr>
                  <a:spLocks/>
                </p:cNvSpPr>
                <p:nvPr/>
              </p:nvSpPr>
              <p:spPr bwMode="auto">
                <a:xfrm>
                  <a:off x="198" y="1499"/>
                  <a:ext cx="1200" cy="1416"/>
                </a:xfrm>
                <a:custGeom>
                  <a:avLst/>
                  <a:gdLst>
                    <a:gd name="T0" fmla="*/ 1140 w 1200"/>
                    <a:gd name="T1" fmla="*/ 0 h 1416"/>
                    <a:gd name="T2" fmla="*/ 1155 w 1200"/>
                    <a:gd name="T3" fmla="*/ 0 h 1416"/>
                    <a:gd name="T4" fmla="*/ 1167 w 1200"/>
                    <a:gd name="T5" fmla="*/ 8 h 1416"/>
                    <a:gd name="T6" fmla="*/ 1179 w 1200"/>
                    <a:gd name="T7" fmla="*/ 12 h 1416"/>
                    <a:gd name="T8" fmla="*/ 1188 w 1200"/>
                    <a:gd name="T9" fmla="*/ 24 h 1416"/>
                    <a:gd name="T10" fmla="*/ 1194 w 1200"/>
                    <a:gd name="T11" fmla="*/ 37 h 1416"/>
                    <a:gd name="T12" fmla="*/ 1197 w 1200"/>
                    <a:gd name="T13" fmla="*/ 49 h 1416"/>
                    <a:gd name="T14" fmla="*/ 1200 w 1200"/>
                    <a:gd name="T15" fmla="*/ 65 h 1416"/>
                    <a:gd name="T16" fmla="*/ 1197 w 1200"/>
                    <a:gd name="T17" fmla="*/ 82 h 1416"/>
                    <a:gd name="T18" fmla="*/ 946 w 1200"/>
                    <a:gd name="T19" fmla="*/ 1346 h 1416"/>
                    <a:gd name="T20" fmla="*/ 940 w 1200"/>
                    <a:gd name="T21" fmla="*/ 1359 h 1416"/>
                    <a:gd name="T22" fmla="*/ 931 w 1200"/>
                    <a:gd name="T23" fmla="*/ 1375 h 1416"/>
                    <a:gd name="T24" fmla="*/ 922 w 1200"/>
                    <a:gd name="T25" fmla="*/ 1387 h 1416"/>
                    <a:gd name="T26" fmla="*/ 910 w 1200"/>
                    <a:gd name="T27" fmla="*/ 1400 h 1416"/>
                    <a:gd name="T28" fmla="*/ 898 w 1200"/>
                    <a:gd name="T29" fmla="*/ 1408 h 1416"/>
                    <a:gd name="T30" fmla="*/ 883 w 1200"/>
                    <a:gd name="T31" fmla="*/ 1412 h 1416"/>
                    <a:gd name="T32" fmla="*/ 868 w 1200"/>
                    <a:gd name="T33" fmla="*/ 1416 h 1416"/>
                    <a:gd name="T34" fmla="*/ 61 w 1200"/>
                    <a:gd name="T35" fmla="*/ 1416 h 1416"/>
                    <a:gd name="T36" fmla="*/ 45 w 1200"/>
                    <a:gd name="T37" fmla="*/ 1416 h 1416"/>
                    <a:gd name="T38" fmla="*/ 33 w 1200"/>
                    <a:gd name="T39" fmla="*/ 1412 h 1416"/>
                    <a:gd name="T40" fmla="*/ 21 w 1200"/>
                    <a:gd name="T41" fmla="*/ 1404 h 1416"/>
                    <a:gd name="T42" fmla="*/ 12 w 1200"/>
                    <a:gd name="T43" fmla="*/ 1391 h 1416"/>
                    <a:gd name="T44" fmla="*/ 6 w 1200"/>
                    <a:gd name="T45" fmla="*/ 1383 h 1416"/>
                    <a:gd name="T46" fmla="*/ 3 w 1200"/>
                    <a:gd name="T47" fmla="*/ 1367 h 1416"/>
                    <a:gd name="T48" fmla="*/ 0 w 1200"/>
                    <a:gd name="T49" fmla="*/ 1354 h 1416"/>
                    <a:gd name="T50" fmla="*/ 3 w 1200"/>
                    <a:gd name="T51" fmla="*/ 1338 h 1416"/>
                    <a:gd name="T52" fmla="*/ 254 w 1200"/>
                    <a:gd name="T53" fmla="*/ 74 h 1416"/>
                    <a:gd name="T54" fmla="*/ 260 w 1200"/>
                    <a:gd name="T55" fmla="*/ 57 h 1416"/>
                    <a:gd name="T56" fmla="*/ 266 w 1200"/>
                    <a:gd name="T57" fmla="*/ 41 h 1416"/>
                    <a:gd name="T58" fmla="*/ 278 w 1200"/>
                    <a:gd name="T59" fmla="*/ 28 h 1416"/>
                    <a:gd name="T60" fmla="*/ 290 w 1200"/>
                    <a:gd name="T61" fmla="*/ 16 h 1416"/>
                    <a:gd name="T62" fmla="*/ 302 w 1200"/>
                    <a:gd name="T63" fmla="*/ 8 h 1416"/>
                    <a:gd name="T64" fmla="*/ 317 w 1200"/>
                    <a:gd name="T65" fmla="*/ 4 h 1416"/>
                    <a:gd name="T66" fmla="*/ 333 w 1200"/>
                    <a:gd name="T67" fmla="*/ 0 h 14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200" h="1416">
                      <a:moveTo>
                        <a:pt x="339" y="0"/>
                      </a:moveTo>
                      <a:lnTo>
                        <a:pt x="1140" y="0"/>
                      </a:lnTo>
                      <a:lnTo>
                        <a:pt x="1149" y="0"/>
                      </a:lnTo>
                      <a:lnTo>
                        <a:pt x="1155" y="0"/>
                      </a:lnTo>
                      <a:lnTo>
                        <a:pt x="1161" y="4"/>
                      </a:lnTo>
                      <a:lnTo>
                        <a:pt x="1167" y="8"/>
                      </a:lnTo>
                      <a:lnTo>
                        <a:pt x="1173" y="8"/>
                      </a:lnTo>
                      <a:lnTo>
                        <a:pt x="1179" y="12"/>
                      </a:lnTo>
                      <a:lnTo>
                        <a:pt x="1182" y="16"/>
                      </a:lnTo>
                      <a:lnTo>
                        <a:pt x="1188" y="24"/>
                      </a:lnTo>
                      <a:lnTo>
                        <a:pt x="1191" y="28"/>
                      </a:lnTo>
                      <a:lnTo>
                        <a:pt x="1194" y="37"/>
                      </a:lnTo>
                      <a:lnTo>
                        <a:pt x="1197" y="41"/>
                      </a:lnTo>
                      <a:lnTo>
                        <a:pt x="1197" y="49"/>
                      </a:lnTo>
                      <a:lnTo>
                        <a:pt x="1197" y="57"/>
                      </a:lnTo>
                      <a:lnTo>
                        <a:pt x="1200" y="65"/>
                      </a:lnTo>
                      <a:lnTo>
                        <a:pt x="1197" y="74"/>
                      </a:lnTo>
                      <a:lnTo>
                        <a:pt x="1197" y="82"/>
                      </a:lnTo>
                      <a:lnTo>
                        <a:pt x="949" y="1338"/>
                      </a:lnTo>
                      <a:lnTo>
                        <a:pt x="946" y="1346"/>
                      </a:lnTo>
                      <a:lnTo>
                        <a:pt x="943" y="1354"/>
                      </a:lnTo>
                      <a:lnTo>
                        <a:pt x="940" y="1359"/>
                      </a:lnTo>
                      <a:lnTo>
                        <a:pt x="937" y="1367"/>
                      </a:lnTo>
                      <a:lnTo>
                        <a:pt x="931" y="1375"/>
                      </a:lnTo>
                      <a:lnTo>
                        <a:pt x="928" y="1383"/>
                      </a:lnTo>
                      <a:lnTo>
                        <a:pt x="922" y="1387"/>
                      </a:lnTo>
                      <a:lnTo>
                        <a:pt x="916" y="1391"/>
                      </a:lnTo>
                      <a:lnTo>
                        <a:pt x="910" y="1400"/>
                      </a:lnTo>
                      <a:lnTo>
                        <a:pt x="904" y="1404"/>
                      </a:lnTo>
                      <a:lnTo>
                        <a:pt x="898" y="1408"/>
                      </a:lnTo>
                      <a:lnTo>
                        <a:pt x="889" y="1412"/>
                      </a:lnTo>
                      <a:lnTo>
                        <a:pt x="883" y="1412"/>
                      </a:lnTo>
                      <a:lnTo>
                        <a:pt x="877" y="1416"/>
                      </a:lnTo>
                      <a:lnTo>
                        <a:pt x="868" y="1416"/>
                      </a:lnTo>
                      <a:lnTo>
                        <a:pt x="859" y="1416"/>
                      </a:lnTo>
                      <a:lnTo>
                        <a:pt x="61" y="1416"/>
                      </a:lnTo>
                      <a:lnTo>
                        <a:pt x="51" y="1416"/>
                      </a:lnTo>
                      <a:lnTo>
                        <a:pt x="45" y="1416"/>
                      </a:lnTo>
                      <a:lnTo>
                        <a:pt x="39" y="1412"/>
                      </a:lnTo>
                      <a:lnTo>
                        <a:pt x="33" y="1412"/>
                      </a:lnTo>
                      <a:lnTo>
                        <a:pt x="27" y="1408"/>
                      </a:lnTo>
                      <a:lnTo>
                        <a:pt x="21" y="1404"/>
                      </a:lnTo>
                      <a:lnTo>
                        <a:pt x="18" y="1400"/>
                      </a:lnTo>
                      <a:lnTo>
                        <a:pt x="12" y="1391"/>
                      </a:lnTo>
                      <a:lnTo>
                        <a:pt x="9" y="1387"/>
                      </a:lnTo>
                      <a:lnTo>
                        <a:pt x="6" y="1383"/>
                      </a:lnTo>
                      <a:lnTo>
                        <a:pt x="3" y="1375"/>
                      </a:lnTo>
                      <a:lnTo>
                        <a:pt x="3" y="1367"/>
                      </a:lnTo>
                      <a:lnTo>
                        <a:pt x="0" y="1359"/>
                      </a:lnTo>
                      <a:lnTo>
                        <a:pt x="0" y="1354"/>
                      </a:lnTo>
                      <a:lnTo>
                        <a:pt x="3" y="1346"/>
                      </a:lnTo>
                      <a:lnTo>
                        <a:pt x="3" y="1338"/>
                      </a:lnTo>
                      <a:lnTo>
                        <a:pt x="251" y="82"/>
                      </a:lnTo>
                      <a:lnTo>
                        <a:pt x="254" y="74"/>
                      </a:lnTo>
                      <a:lnTo>
                        <a:pt x="257" y="65"/>
                      </a:lnTo>
                      <a:lnTo>
                        <a:pt x="260" y="57"/>
                      </a:lnTo>
                      <a:lnTo>
                        <a:pt x="263" y="49"/>
                      </a:lnTo>
                      <a:lnTo>
                        <a:pt x="266" y="41"/>
                      </a:lnTo>
                      <a:lnTo>
                        <a:pt x="272" y="37"/>
                      </a:lnTo>
                      <a:lnTo>
                        <a:pt x="278" y="28"/>
                      </a:lnTo>
                      <a:lnTo>
                        <a:pt x="284" y="24"/>
                      </a:lnTo>
                      <a:lnTo>
                        <a:pt x="290" y="16"/>
                      </a:lnTo>
                      <a:lnTo>
                        <a:pt x="296" y="12"/>
                      </a:lnTo>
                      <a:lnTo>
                        <a:pt x="302" y="8"/>
                      </a:lnTo>
                      <a:lnTo>
                        <a:pt x="311" y="8"/>
                      </a:lnTo>
                      <a:lnTo>
                        <a:pt x="317" y="4"/>
                      </a:lnTo>
                      <a:lnTo>
                        <a:pt x="323" y="0"/>
                      </a:lnTo>
                      <a:lnTo>
                        <a:pt x="333" y="0"/>
                      </a:lnTo>
                      <a:lnTo>
                        <a:pt x="339" y="0"/>
                      </a:lnTo>
                      <a:close/>
                    </a:path>
                  </a:pathLst>
                </a:custGeom>
                <a:solidFill>
                  <a:srgbClr val="A3A27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1" name="Freeform 344"/>
                <p:cNvSpPr>
                  <a:spLocks/>
                </p:cNvSpPr>
                <p:nvPr/>
              </p:nvSpPr>
              <p:spPr bwMode="auto">
                <a:xfrm>
                  <a:off x="537" y="1491"/>
                  <a:ext cx="801" cy="16"/>
                </a:xfrm>
                <a:custGeom>
                  <a:avLst/>
                  <a:gdLst>
                    <a:gd name="T0" fmla="*/ 801 w 801"/>
                    <a:gd name="T1" fmla="*/ 0 h 16"/>
                    <a:gd name="T2" fmla="*/ 801 w 801"/>
                    <a:gd name="T3" fmla="*/ 0 h 16"/>
                    <a:gd name="T4" fmla="*/ 0 w 801"/>
                    <a:gd name="T5" fmla="*/ 0 h 16"/>
                    <a:gd name="T6" fmla="*/ 0 w 801"/>
                    <a:gd name="T7" fmla="*/ 16 h 16"/>
                    <a:gd name="T8" fmla="*/ 801 w 801"/>
                    <a:gd name="T9" fmla="*/ 16 h 16"/>
                    <a:gd name="T10" fmla="*/ 801 w 801"/>
                    <a:gd name="T11" fmla="*/ 16 h 16"/>
                    <a:gd name="T12" fmla="*/ 801 w 801"/>
                    <a:gd name="T13" fmla="*/ 0 h 16"/>
                    <a:gd name="T14" fmla="*/ 801 w 801"/>
                    <a:gd name="T15" fmla="*/ 0 h 16"/>
                    <a:gd name="T16" fmla="*/ 801 w 801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1" h="16">
                      <a:moveTo>
                        <a:pt x="801" y="0"/>
                      </a:move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801" y="16"/>
                      </a:lnTo>
                      <a:lnTo>
                        <a:pt x="801" y="16"/>
                      </a:lnTo>
                      <a:lnTo>
                        <a:pt x="801" y="0"/>
                      </a:lnTo>
                      <a:lnTo>
                        <a:pt x="801" y="0"/>
                      </a:lnTo>
                      <a:lnTo>
                        <a:pt x="8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2" name="Freeform 345"/>
                <p:cNvSpPr>
                  <a:spLocks/>
                </p:cNvSpPr>
                <p:nvPr/>
              </p:nvSpPr>
              <p:spPr bwMode="auto">
                <a:xfrm>
                  <a:off x="1338" y="1491"/>
                  <a:ext cx="9" cy="16"/>
                </a:xfrm>
                <a:custGeom>
                  <a:avLst/>
                  <a:gdLst>
                    <a:gd name="T0" fmla="*/ 9 w 9"/>
                    <a:gd name="T1" fmla="*/ 0 h 16"/>
                    <a:gd name="T2" fmla="*/ 9 w 9"/>
                    <a:gd name="T3" fmla="*/ 0 h 16"/>
                    <a:gd name="T4" fmla="*/ 0 w 9"/>
                    <a:gd name="T5" fmla="*/ 0 h 16"/>
                    <a:gd name="T6" fmla="*/ 0 w 9"/>
                    <a:gd name="T7" fmla="*/ 16 h 16"/>
                    <a:gd name="T8" fmla="*/ 6 w 9"/>
                    <a:gd name="T9" fmla="*/ 16 h 16"/>
                    <a:gd name="T10" fmla="*/ 6 w 9"/>
                    <a:gd name="T11" fmla="*/ 16 h 16"/>
                    <a:gd name="T12" fmla="*/ 9 w 9"/>
                    <a:gd name="T13" fmla="*/ 0 h 16"/>
                    <a:gd name="T14" fmla="*/ 9 w 9"/>
                    <a:gd name="T15" fmla="*/ 0 h 16"/>
                    <a:gd name="T16" fmla="*/ 9 w 9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6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6" y="16"/>
                      </a:lnTo>
                      <a:lnTo>
                        <a:pt x="6" y="16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3" name="Freeform 346"/>
                <p:cNvSpPr>
                  <a:spLocks/>
                </p:cNvSpPr>
                <p:nvPr/>
              </p:nvSpPr>
              <p:spPr bwMode="auto">
                <a:xfrm>
                  <a:off x="1344" y="1491"/>
                  <a:ext cx="9" cy="20"/>
                </a:xfrm>
                <a:custGeom>
                  <a:avLst/>
                  <a:gdLst>
                    <a:gd name="T0" fmla="*/ 9 w 9"/>
                    <a:gd name="T1" fmla="*/ 0 h 20"/>
                    <a:gd name="T2" fmla="*/ 9 w 9"/>
                    <a:gd name="T3" fmla="*/ 0 h 20"/>
                    <a:gd name="T4" fmla="*/ 3 w 9"/>
                    <a:gd name="T5" fmla="*/ 0 h 20"/>
                    <a:gd name="T6" fmla="*/ 0 w 9"/>
                    <a:gd name="T7" fmla="*/ 16 h 20"/>
                    <a:gd name="T8" fmla="*/ 9 w 9"/>
                    <a:gd name="T9" fmla="*/ 20 h 20"/>
                    <a:gd name="T10" fmla="*/ 6 w 9"/>
                    <a:gd name="T11" fmla="*/ 20 h 20"/>
                    <a:gd name="T12" fmla="*/ 9 w 9"/>
                    <a:gd name="T13" fmla="*/ 0 h 20"/>
                    <a:gd name="T14" fmla="*/ 9 w 9"/>
                    <a:gd name="T15" fmla="*/ 0 h 20"/>
                    <a:gd name="T16" fmla="*/ 9 w 9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0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6" y="2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4" name="Freeform 347"/>
                <p:cNvSpPr>
                  <a:spLocks/>
                </p:cNvSpPr>
                <p:nvPr/>
              </p:nvSpPr>
              <p:spPr bwMode="auto">
                <a:xfrm>
                  <a:off x="1350" y="1491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9 w 12"/>
                    <a:gd name="T3" fmla="*/ 4 h 20"/>
                    <a:gd name="T4" fmla="*/ 3 w 12"/>
                    <a:gd name="T5" fmla="*/ 0 h 20"/>
                    <a:gd name="T6" fmla="*/ 0 w 12"/>
                    <a:gd name="T7" fmla="*/ 20 h 20"/>
                    <a:gd name="T8" fmla="*/ 6 w 12"/>
                    <a:gd name="T9" fmla="*/ 20 h 20"/>
                    <a:gd name="T10" fmla="*/ 6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9 w 12"/>
                    <a:gd name="T17" fmla="*/ 4 h 20"/>
                    <a:gd name="T18" fmla="*/ 12 w 12"/>
                    <a:gd name="T19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9" y="4"/>
                      </a:lnTo>
                      <a:lnTo>
                        <a:pt x="3" y="0"/>
                      </a:lnTo>
                      <a:lnTo>
                        <a:pt x="0" y="20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9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5" name="Freeform 348"/>
                <p:cNvSpPr>
                  <a:spLocks/>
                </p:cNvSpPr>
                <p:nvPr/>
              </p:nvSpPr>
              <p:spPr bwMode="auto">
                <a:xfrm>
                  <a:off x="1356" y="1495"/>
                  <a:ext cx="12" cy="20"/>
                </a:xfrm>
                <a:custGeom>
                  <a:avLst/>
                  <a:gdLst>
                    <a:gd name="T0" fmla="*/ 12 w 12"/>
                    <a:gd name="T1" fmla="*/ 0 h 20"/>
                    <a:gd name="T2" fmla="*/ 12 w 12"/>
                    <a:gd name="T3" fmla="*/ 0 h 20"/>
                    <a:gd name="T4" fmla="*/ 6 w 12"/>
                    <a:gd name="T5" fmla="*/ 0 h 20"/>
                    <a:gd name="T6" fmla="*/ 0 w 12"/>
                    <a:gd name="T7" fmla="*/ 16 h 20"/>
                    <a:gd name="T8" fmla="*/ 6 w 12"/>
                    <a:gd name="T9" fmla="*/ 20 h 20"/>
                    <a:gd name="T10" fmla="*/ 6 w 12"/>
                    <a:gd name="T11" fmla="*/ 20 h 20"/>
                    <a:gd name="T12" fmla="*/ 12 w 12"/>
                    <a:gd name="T13" fmla="*/ 0 h 20"/>
                    <a:gd name="T14" fmla="*/ 12 w 12"/>
                    <a:gd name="T15" fmla="*/ 0 h 20"/>
                    <a:gd name="T16" fmla="*/ 12 w 12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12" y="0"/>
                      </a:move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6" name="Freeform 349"/>
                <p:cNvSpPr>
                  <a:spLocks/>
                </p:cNvSpPr>
                <p:nvPr/>
              </p:nvSpPr>
              <p:spPr bwMode="auto">
                <a:xfrm>
                  <a:off x="1362" y="1495"/>
                  <a:ext cx="12" cy="24"/>
                </a:xfrm>
                <a:custGeom>
                  <a:avLst/>
                  <a:gdLst>
                    <a:gd name="T0" fmla="*/ 12 w 12"/>
                    <a:gd name="T1" fmla="*/ 4 h 24"/>
                    <a:gd name="T2" fmla="*/ 12 w 12"/>
                    <a:gd name="T3" fmla="*/ 4 h 24"/>
                    <a:gd name="T4" fmla="*/ 6 w 12"/>
                    <a:gd name="T5" fmla="*/ 0 h 24"/>
                    <a:gd name="T6" fmla="*/ 0 w 12"/>
                    <a:gd name="T7" fmla="*/ 20 h 24"/>
                    <a:gd name="T8" fmla="*/ 6 w 12"/>
                    <a:gd name="T9" fmla="*/ 24 h 24"/>
                    <a:gd name="T10" fmla="*/ 6 w 12"/>
                    <a:gd name="T11" fmla="*/ 20 h 24"/>
                    <a:gd name="T12" fmla="*/ 12 w 12"/>
                    <a:gd name="T13" fmla="*/ 4 h 24"/>
                    <a:gd name="T14" fmla="*/ 12 w 12"/>
                    <a:gd name="T15" fmla="*/ 4 h 24"/>
                    <a:gd name="T16" fmla="*/ 12 w 12"/>
                    <a:gd name="T17" fmla="*/ 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4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20"/>
                      </a:lnTo>
                      <a:lnTo>
                        <a:pt x="6" y="24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7" name="Freeform 350"/>
                <p:cNvSpPr>
                  <a:spLocks/>
                </p:cNvSpPr>
                <p:nvPr/>
              </p:nvSpPr>
              <p:spPr bwMode="auto">
                <a:xfrm>
                  <a:off x="1368" y="1499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12 w 12"/>
                    <a:gd name="T3" fmla="*/ 4 h 20"/>
                    <a:gd name="T4" fmla="*/ 6 w 12"/>
                    <a:gd name="T5" fmla="*/ 0 h 20"/>
                    <a:gd name="T6" fmla="*/ 0 w 12"/>
                    <a:gd name="T7" fmla="*/ 16 h 20"/>
                    <a:gd name="T8" fmla="*/ 6 w 12"/>
                    <a:gd name="T9" fmla="*/ 20 h 20"/>
                    <a:gd name="T10" fmla="*/ 3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12 w 12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3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" name="Freeform 351"/>
                <p:cNvSpPr>
                  <a:spLocks/>
                </p:cNvSpPr>
                <p:nvPr/>
              </p:nvSpPr>
              <p:spPr bwMode="auto">
                <a:xfrm>
                  <a:off x="1371" y="1503"/>
                  <a:ext cx="15" cy="20"/>
                </a:xfrm>
                <a:custGeom>
                  <a:avLst/>
                  <a:gdLst>
                    <a:gd name="T0" fmla="*/ 15 w 15"/>
                    <a:gd name="T1" fmla="*/ 8 h 20"/>
                    <a:gd name="T2" fmla="*/ 15 w 15"/>
                    <a:gd name="T3" fmla="*/ 8 h 20"/>
                    <a:gd name="T4" fmla="*/ 9 w 15"/>
                    <a:gd name="T5" fmla="*/ 0 h 20"/>
                    <a:gd name="T6" fmla="*/ 0 w 15"/>
                    <a:gd name="T7" fmla="*/ 16 h 20"/>
                    <a:gd name="T8" fmla="*/ 6 w 15"/>
                    <a:gd name="T9" fmla="*/ 20 h 20"/>
                    <a:gd name="T10" fmla="*/ 6 w 15"/>
                    <a:gd name="T11" fmla="*/ 20 h 20"/>
                    <a:gd name="T12" fmla="*/ 15 w 15"/>
                    <a:gd name="T13" fmla="*/ 8 h 20"/>
                    <a:gd name="T14" fmla="*/ 15 w 15"/>
                    <a:gd name="T15" fmla="*/ 8 h 20"/>
                    <a:gd name="T16" fmla="*/ 15 w 15"/>
                    <a:gd name="T17" fmla="*/ 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9" name="Freeform 352"/>
                <p:cNvSpPr>
                  <a:spLocks/>
                </p:cNvSpPr>
                <p:nvPr/>
              </p:nvSpPr>
              <p:spPr bwMode="auto">
                <a:xfrm>
                  <a:off x="1377" y="1511"/>
                  <a:ext cx="12" cy="16"/>
                </a:xfrm>
                <a:custGeom>
                  <a:avLst/>
                  <a:gdLst>
                    <a:gd name="T0" fmla="*/ 12 w 12"/>
                    <a:gd name="T1" fmla="*/ 4 h 16"/>
                    <a:gd name="T2" fmla="*/ 12 w 12"/>
                    <a:gd name="T3" fmla="*/ 4 h 16"/>
                    <a:gd name="T4" fmla="*/ 9 w 12"/>
                    <a:gd name="T5" fmla="*/ 0 h 16"/>
                    <a:gd name="T6" fmla="*/ 0 w 12"/>
                    <a:gd name="T7" fmla="*/ 12 h 16"/>
                    <a:gd name="T8" fmla="*/ 3 w 12"/>
                    <a:gd name="T9" fmla="*/ 16 h 16"/>
                    <a:gd name="T10" fmla="*/ 3 w 12"/>
                    <a:gd name="T11" fmla="*/ 16 h 16"/>
                    <a:gd name="T12" fmla="*/ 12 w 12"/>
                    <a:gd name="T13" fmla="*/ 4 h 16"/>
                    <a:gd name="T14" fmla="*/ 12 w 12"/>
                    <a:gd name="T15" fmla="*/ 4 h 16"/>
                    <a:gd name="T16" fmla="*/ 12 w 12"/>
                    <a:gd name="T17" fmla="*/ 4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6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0" name="Freeform 353"/>
                <p:cNvSpPr>
                  <a:spLocks/>
                </p:cNvSpPr>
                <p:nvPr/>
              </p:nvSpPr>
              <p:spPr bwMode="auto">
                <a:xfrm>
                  <a:off x="1380" y="1515"/>
                  <a:ext cx="15" cy="21"/>
                </a:xfrm>
                <a:custGeom>
                  <a:avLst/>
                  <a:gdLst>
                    <a:gd name="T0" fmla="*/ 15 w 15"/>
                    <a:gd name="T1" fmla="*/ 8 h 21"/>
                    <a:gd name="T2" fmla="*/ 15 w 15"/>
                    <a:gd name="T3" fmla="*/ 8 h 21"/>
                    <a:gd name="T4" fmla="*/ 9 w 15"/>
                    <a:gd name="T5" fmla="*/ 0 h 21"/>
                    <a:gd name="T6" fmla="*/ 0 w 15"/>
                    <a:gd name="T7" fmla="*/ 12 h 21"/>
                    <a:gd name="T8" fmla="*/ 3 w 15"/>
                    <a:gd name="T9" fmla="*/ 21 h 21"/>
                    <a:gd name="T10" fmla="*/ 3 w 15"/>
                    <a:gd name="T11" fmla="*/ 17 h 21"/>
                    <a:gd name="T12" fmla="*/ 15 w 15"/>
                    <a:gd name="T13" fmla="*/ 8 h 21"/>
                    <a:gd name="T14" fmla="*/ 15 w 15"/>
                    <a:gd name="T15" fmla="*/ 8 h 21"/>
                    <a:gd name="T16" fmla="*/ 15 w 15"/>
                    <a:gd name="T17" fmla="*/ 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1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3" y="21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1" name="Freeform 354"/>
                <p:cNvSpPr>
                  <a:spLocks/>
                </p:cNvSpPr>
                <p:nvPr/>
              </p:nvSpPr>
              <p:spPr bwMode="auto">
                <a:xfrm>
                  <a:off x="1383" y="1523"/>
                  <a:ext cx="15" cy="17"/>
                </a:xfrm>
                <a:custGeom>
                  <a:avLst/>
                  <a:gdLst>
                    <a:gd name="T0" fmla="*/ 15 w 15"/>
                    <a:gd name="T1" fmla="*/ 9 h 17"/>
                    <a:gd name="T2" fmla="*/ 15 w 15"/>
                    <a:gd name="T3" fmla="*/ 4 h 17"/>
                    <a:gd name="T4" fmla="*/ 12 w 15"/>
                    <a:gd name="T5" fmla="*/ 0 h 17"/>
                    <a:gd name="T6" fmla="*/ 0 w 15"/>
                    <a:gd name="T7" fmla="*/ 9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9 h 17"/>
                    <a:gd name="T14" fmla="*/ 15 w 15"/>
                    <a:gd name="T15" fmla="*/ 4 h 17"/>
                    <a:gd name="T16" fmla="*/ 15 w 15"/>
                    <a:gd name="T17" fmla="*/ 4 h 17"/>
                    <a:gd name="T18" fmla="*/ 15 w 15"/>
                    <a:gd name="T19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15" y="9"/>
                      </a:moveTo>
                      <a:lnTo>
                        <a:pt x="15" y="4"/>
                      </a:lnTo>
                      <a:lnTo>
                        <a:pt x="12" y="0"/>
                      </a:ln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9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2" name="Freeform 355"/>
                <p:cNvSpPr>
                  <a:spLocks/>
                </p:cNvSpPr>
                <p:nvPr/>
              </p:nvSpPr>
              <p:spPr bwMode="auto">
                <a:xfrm>
                  <a:off x="1386" y="1532"/>
                  <a:ext cx="15" cy="12"/>
                </a:xfrm>
                <a:custGeom>
                  <a:avLst/>
                  <a:gdLst>
                    <a:gd name="T0" fmla="*/ 15 w 15"/>
                    <a:gd name="T1" fmla="*/ 4 h 12"/>
                    <a:gd name="T2" fmla="*/ 15 w 15"/>
                    <a:gd name="T3" fmla="*/ 4 h 12"/>
                    <a:gd name="T4" fmla="*/ 12 w 15"/>
                    <a:gd name="T5" fmla="*/ 0 h 12"/>
                    <a:gd name="T6" fmla="*/ 0 w 15"/>
                    <a:gd name="T7" fmla="*/ 8 h 12"/>
                    <a:gd name="T8" fmla="*/ 0 w 15"/>
                    <a:gd name="T9" fmla="*/ 12 h 12"/>
                    <a:gd name="T10" fmla="*/ 0 w 15"/>
                    <a:gd name="T11" fmla="*/ 12 h 12"/>
                    <a:gd name="T12" fmla="*/ 15 w 15"/>
                    <a:gd name="T13" fmla="*/ 4 h 12"/>
                    <a:gd name="T14" fmla="*/ 15 w 15"/>
                    <a:gd name="T15" fmla="*/ 4 h 12"/>
                    <a:gd name="T16" fmla="*/ 15 w 15"/>
                    <a:gd name="T17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5" y="4"/>
                      </a:moveTo>
                      <a:lnTo>
                        <a:pt x="15" y="4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" name="Freeform 356"/>
                <p:cNvSpPr>
                  <a:spLocks/>
                </p:cNvSpPr>
                <p:nvPr/>
              </p:nvSpPr>
              <p:spPr bwMode="auto">
                <a:xfrm>
                  <a:off x="1386" y="1536"/>
                  <a:ext cx="18" cy="16"/>
                </a:xfrm>
                <a:custGeom>
                  <a:avLst/>
                  <a:gdLst>
                    <a:gd name="T0" fmla="*/ 18 w 18"/>
                    <a:gd name="T1" fmla="*/ 12 h 16"/>
                    <a:gd name="T2" fmla="*/ 15 w 18"/>
                    <a:gd name="T3" fmla="*/ 8 h 16"/>
                    <a:gd name="T4" fmla="*/ 15 w 18"/>
                    <a:gd name="T5" fmla="*/ 0 h 16"/>
                    <a:gd name="T6" fmla="*/ 0 w 18"/>
                    <a:gd name="T7" fmla="*/ 8 h 16"/>
                    <a:gd name="T8" fmla="*/ 3 w 18"/>
                    <a:gd name="T9" fmla="*/ 16 h 16"/>
                    <a:gd name="T10" fmla="*/ 3 w 18"/>
                    <a:gd name="T11" fmla="*/ 12 h 16"/>
                    <a:gd name="T12" fmla="*/ 18 w 18"/>
                    <a:gd name="T13" fmla="*/ 12 h 16"/>
                    <a:gd name="T14" fmla="*/ 18 w 18"/>
                    <a:gd name="T15" fmla="*/ 12 h 16"/>
                    <a:gd name="T16" fmla="*/ 15 w 18"/>
                    <a:gd name="T17" fmla="*/ 8 h 16"/>
                    <a:gd name="T18" fmla="*/ 18 w 18"/>
                    <a:gd name="T19" fmla="*/ 12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6">
                      <a:moveTo>
                        <a:pt x="18" y="12"/>
                      </a:move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3" y="12"/>
                      </a:lnTo>
                      <a:lnTo>
                        <a:pt x="18" y="12"/>
                      </a:lnTo>
                      <a:lnTo>
                        <a:pt x="18" y="12"/>
                      </a:lnTo>
                      <a:lnTo>
                        <a:pt x="15" y="8"/>
                      </a:lnTo>
                      <a:lnTo>
                        <a:pt x="1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4" name="Freeform 357"/>
                <p:cNvSpPr>
                  <a:spLocks/>
                </p:cNvSpPr>
                <p:nvPr/>
              </p:nvSpPr>
              <p:spPr bwMode="auto">
                <a:xfrm>
                  <a:off x="1389" y="1548"/>
                  <a:ext cx="15" cy="8"/>
                </a:xfrm>
                <a:custGeom>
                  <a:avLst/>
                  <a:gdLst>
                    <a:gd name="T0" fmla="*/ 15 w 15"/>
                    <a:gd name="T1" fmla="*/ 8 h 8"/>
                    <a:gd name="T2" fmla="*/ 15 w 15"/>
                    <a:gd name="T3" fmla="*/ 4 h 8"/>
                    <a:gd name="T4" fmla="*/ 15 w 15"/>
                    <a:gd name="T5" fmla="*/ 0 h 8"/>
                    <a:gd name="T6" fmla="*/ 0 w 15"/>
                    <a:gd name="T7" fmla="*/ 0 h 8"/>
                    <a:gd name="T8" fmla="*/ 0 w 15"/>
                    <a:gd name="T9" fmla="*/ 8 h 8"/>
                    <a:gd name="T10" fmla="*/ 0 w 15"/>
                    <a:gd name="T11" fmla="*/ 8 h 8"/>
                    <a:gd name="T12" fmla="*/ 15 w 15"/>
                    <a:gd name="T13" fmla="*/ 8 h 8"/>
                    <a:gd name="T14" fmla="*/ 15 w 15"/>
                    <a:gd name="T15" fmla="*/ 8 h 8"/>
                    <a:gd name="T16" fmla="*/ 15 w 15"/>
                    <a:gd name="T17" fmla="*/ 4 h 8"/>
                    <a:gd name="T18" fmla="*/ 15 w 15"/>
                    <a:gd name="T19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8">
                      <a:moveTo>
                        <a:pt x="15" y="8"/>
                      </a:move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4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5" name="Freeform 358"/>
                <p:cNvSpPr>
                  <a:spLocks/>
                </p:cNvSpPr>
                <p:nvPr/>
              </p:nvSpPr>
              <p:spPr bwMode="auto">
                <a:xfrm>
                  <a:off x="1389" y="1556"/>
                  <a:ext cx="15" cy="8"/>
                </a:xfrm>
                <a:custGeom>
                  <a:avLst/>
                  <a:gdLst>
                    <a:gd name="T0" fmla="*/ 15 w 15"/>
                    <a:gd name="T1" fmla="*/ 8 h 8"/>
                    <a:gd name="T2" fmla="*/ 15 w 15"/>
                    <a:gd name="T3" fmla="*/ 4 h 8"/>
                    <a:gd name="T4" fmla="*/ 15 w 15"/>
                    <a:gd name="T5" fmla="*/ 0 h 8"/>
                    <a:gd name="T6" fmla="*/ 0 w 15"/>
                    <a:gd name="T7" fmla="*/ 0 h 8"/>
                    <a:gd name="T8" fmla="*/ 0 w 15"/>
                    <a:gd name="T9" fmla="*/ 8 h 8"/>
                    <a:gd name="T10" fmla="*/ 0 w 15"/>
                    <a:gd name="T11" fmla="*/ 4 h 8"/>
                    <a:gd name="T12" fmla="*/ 15 w 15"/>
                    <a:gd name="T13" fmla="*/ 8 h 8"/>
                    <a:gd name="T14" fmla="*/ 15 w 15"/>
                    <a:gd name="T15" fmla="*/ 8 h 8"/>
                    <a:gd name="T16" fmla="*/ 15 w 15"/>
                    <a:gd name="T17" fmla="*/ 4 h 8"/>
                    <a:gd name="T18" fmla="*/ 15 w 15"/>
                    <a:gd name="T19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8">
                      <a:moveTo>
                        <a:pt x="15" y="8"/>
                      </a:move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4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6" name="Freeform 359"/>
                <p:cNvSpPr>
                  <a:spLocks/>
                </p:cNvSpPr>
                <p:nvPr/>
              </p:nvSpPr>
              <p:spPr bwMode="auto">
                <a:xfrm>
                  <a:off x="1389" y="1560"/>
                  <a:ext cx="15" cy="13"/>
                </a:xfrm>
                <a:custGeom>
                  <a:avLst/>
                  <a:gdLst>
                    <a:gd name="T0" fmla="*/ 15 w 15"/>
                    <a:gd name="T1" fmla="*/ 13 h 13"/>
                    <a:gd name="T2" fmla="*/ 15 w 15"/>
                    <a:gd name="T3" fmla="*/ 13 h 13"/>
                    <a:gd name="T4" fmla="*/ 15 w 15"/>
                    <a:gd name="T5" fmla="*/ 4 h 13"/>
                    <a:gd name="T6" fmla="*/ 0 w 15"/>
                    <a:gd name="T7" fmla="*/ 0 h 13"/>
                    <a:gd name="T8" fmla="*/ 0 w 15"/>
                    <a:gd name="T9" fmla="*/ 9 h 13"/>
                    <a:gd name="T10" fmla="*/ 0 w 15"/>
                    <a:gd name="T11" fmla="*/ 9 h 13"/>
                    <a:gd name="T12" fmla="*/ 15 w 15"/>
                    <a:gd name="T13" fmla="*/ 13 h 13"/>
                    <a:gd name="T14" fmla="*/ 15 w 15"/>
                    <a:gd name="T15" fmla="*/ 13 h 13"/>
                    <a:gd name="T16" fmla="*/ 15 w 15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3">
                      <a:moveTo>
                        <a:pt x="15" y="13"/>
                      </a:moveTo>
                      <a:lnTo>
                        <a:pt x="15" y="13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7" name="Freeform 360"/>
                <p:cNvSpPr>
                  <a:spLocks/>
                </p:cNvSpPr>
                <p:nvPr/>
              </p:nvSpPr>
              <p:spPr bwMode="auto">
                <a:xfrm>
                  <a:off x="1389" y="1569"/>
                  <a:ext cx="15" cy="12"/>
                </a:xfrm>
                <a:custGeom>
                  <a:avLst/>
                  <a:gdLst>
                    <a:gd name="T0" fmla="*/ 12 w 15"/>
                    <a:gd name="T1" fmla="*/ 12 h 12"/>
                    <a:gd name="T2" fmla="*/ 12 w 15"/>
                    <a:gd name="T3" fmla="*/ 12 h 12"/>
                    <a:gd name="T4" fmla="*/ 15 w 15"/>
                    <a:gd name="T5" fmla="*/ 4 h 12"/>
                    <a:gd name="T6" fmla="*/ 0 w 15"/>
                    <a:gd name="T7" fmla="*/ 0 h 12"/>
                    <a:gd name="T8" fmla="*/ 0 w 15"/>
                    <a:gd name="T9" fmla="*/ 8 h 12"/>
                    <a:gd name="T10" fmla="*/ 0 w 15"/>
                    <a:gd name="T11" fmla="*/ 8 h 12"/>
                    <a:gd name="T12" fmla="*/ 12 w 15"/>
                    <a:gd name="T13" fmla="*/ 12 h 12"/>
                    <a:gd name="T14" fmla="*/ 12 w 15"/>
                    <a:gd name="T15" fmla="*/ 12 h 12"/>
                    <a:gd name="T16" fmla="*/ 12 w 15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" name="Freeform 361"/>
                <p:cNvSpPr>
                  <a:spLocks/>
                </p:cNvSpPr>
                <p:nvPr/>
              </p:nvSpPr>
              <p:spPr bwMode="auto">
                <a:xfrm>
                  <a:off x="1141" y="1577"/>
                  <a:ext cx="260" cy="1260"/>
                </a:xfrm>
                <a:custGeom>
                  <a:avLst/>
                  <a:gdLst>
                    <a:gd name="T0" fmla="*/ 12 w 260"/>
                    <a:gd name="T1" fmla="*/ 1260 h 1260"/>
                    <a:gd name="T2" fmla="*/ 12 w 260"/>
                    <a:gd name="T3" fmla="*/ 1260 h 1260"/>
                    <a:gd name="T4" fmla="*/ 260 w 260"/>
                    <a:gd name="T5" fmla="*/ 4 h 1260"/>
                    <a:gd name="T6" fmla="*/ 248 w 260"/>
                    <a:gd name="T7" fmla="*/ 0 h 1260"/>
                    <a:gd name="T8" fmla="*/ 0 w 260"/>
                    <a:gd name="T9" fmla="*/ 1256 h 1260"/>
                    <a:gd name="T10" fmla="*/ 0 w 260"/>
                    <a:gd name="T11" fmla="*/ 1256 h 1260"/>
                    <a:gd name="T12" fmla="*/ 12 w 260"/>
                    <a:gd name="T13" fmla="*/ 1260 h 1260"/>
                    <a:gd name="T14" fmla="*/ 12 w 260"/>
                    <a:gd name="T15" fmla="*/ 1260 h 1260"/>
                    <a:gd name="T16" fmla="*/ 12 w 260"/>
                    <a:gd name="T17" fmla="*/ 1260 h 1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0" h="1260">
                      <a:moveTo>
                        <a:pt x="12" y="1260"/>
                      </a:moveTo>
                      <a:lnTo>
                        <a:pt x="12" y="1260"/>
                      </a:lnTo>
                      <a:lnTo>
                        <a:pt x="260" y="4"/>
                      </a:lnTo>
                      <a:lnTo>
                        <a:pt x="248" y="0"/>
                      </a:lnTo>
                      <a:lnTo>
                        <a:pt x="0" y="1256"/>
                      </a:lnTo>
                      <a:lnTo>
                        <a:pt x="0" y="1256"/>
                      </a:lnTo>
                      <a:lnTo>
                        <a:pt x="12" y="1260"/>
                      </a:lnTo>
                      <a:lnTo>
                        <a:pt x="12" y="1260"/>
                      </a:lnTo>
                      <a:lnTo>
                        <a:pt x="12" y="12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" name="Freeform 362"/>
                <p:cNvSpPr>
                  <a:spLocks/>
                </p:cNvSpPr>
                <p:nvPr/>
              </p:nvSpPr>
              <p:spPr bwMode="auto">
                <a:xfrm>
                  <a:off x="1138" y="2833"/>
                  <a:ext cx="15" cy="16"/>
                </a:xfrm>
                <a:custGeom>
                  <a:avLst/>
                  <a:gdLst>
                    <a:gd name="T0" fmla="*/ 12 w 15"/>
                    <a:gd name="T1" fmla="*/ 16 h 16"/>
                    <a:gd name="T2" fmla="*/ 15 w 15"/>
                    <a:gd name="T3" fmla="*/ 12 h 16"/>
                    <a:gd name="T4" fmla="*/ 15 w 15"/>
                    <a:gd name="T5" fmla="*/ 4 h 16"/>
                    <a:gd name="T6" fmla="*/ 3 w 15"/>
                    <a:gd name="T7" fmla="*/ 0 h 16"/>
                    <a:gd name="T8" fmla="*/ 0 w 15"/>
                    <a:gd name="T9" fmla="*/ 8 h 16"/>
                    <a:gd name="T10" fmla="*/ 0 w 15"/>
                    <a:gd name="T11" fmla="*/ 8 h 16"/>
                    <a:gd name="T12" fmla="*/ 12 w 15"/>
                    <a:gd name="T13" fmla="*/ 16 h 16"/>
                    <a:gd name="T14" fmla="*/ 12 w 15"/>
                    <a:gd name="T15" fmla="*/ 16 h 16"/>
                    <a:gd name="T16" fmla="*/ 15 w 15"/>
                    <a:gd name="T17" fmla="*/ 12 h 16"/>
                    <a:gd name="T18" fmla="*/ 12 w 15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6">
                      <a:moveTo>
                        <a:pt x="12" y="16"/>
                      </a:moveTo>
                      <a:lnTo>
                        <a:pt x="15" y="12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15" y="12"/>
                      </a:lnTo>
                      <a:lnTo>
                        <a:pt x="12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0" name="Freeform 363"/>
                <p:cNvSpPr>
                  <a:spLocks/>
                </p:cNvSpPr>
                <p:nvPr/>
              </p:nvSpPr>
              <p:spPr bwMode="auto">
                <a:xfrm>
                  <a:off x="1135" y="2841"/>
                  <a:ext cx="15" cy="17"/>
                </a:xfrm>
                <a:custGeom>
                  <a:avLst/>
                  <a:gdLst>
                    <a:gd name="T0" fmla="*/ 12 w 15"/>
                    <a:gd name="T1" fmla="*/ 17 h 17"/>
                    <a:gd name="T2" fmla="*/ 12 w 15"/>
                    <a:gd name="T3" fmla="*/ 17 h 17"/>
                    <a:gd name="T4" fmla="*/ 15 w 15"/>
                    <a:gd name="T5" fmla="*/ 8 h 17"/>
                    <a:gd name="T6" fmla="*/ 3 w 15"/>
                    <a:gd name="T7" fmla="*/ 0 h 17"/>
                    <a:gd name="T8" fmla="*/ 0 w 15"/>
                    <a:gd name="T9" fmla="*/ 8 h 17"/>
                    <a:gd name="T10" fmla="*/ 0 w 15"/>
                    <a:gd name="T11" fmla="*/ 4 h 17"/>
                    <a:gd name="T12" fmla="*/ 12 w 15"/>
                    <a:gd name="T13" fmla="*/ 17 h 17"/>
                    <a:gd name="T14" fmla="*/ 12 w 15"/>
                    <a:gd name="T15" fmla="*/ 17 h 17"/>
                    <a:gd name="T16" fmla="*/ 12 w 15"/>
                    <a:gd name="T1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2" y="17"/>
                      </a:moveTo>
                      <a:lnTo>
                        <a:pt x="12" y="17"/>
                      </a:lnTo>
                      <a:lnTo>
                        <a:pt x="15" y="8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1" name="Freeform 364"/>
                <p:cNvSpPr>
                  <a:spLocks/>
                </p:cNvSpPr>
                <p:nvPr/>
              </p:nvSpPr>
              <p:spPr bwMode="auto">
                <a:xfrm>
                  <a:off x="1132" y="2845"/>
                  <a:ext cx="15" cy="21"/>
                </a:xfrm>
                <a:custGeom>
                  <a:avLst/>
                  <a:gdLst>
                    <a:gd name="T0" fmla="*/ 12 w 15"/>
                    <a:gd name="T1" fmla="*/ 21 h 21"/>
                    <a:gd name="T2" fmla="*/ 12 w 15"/>
                    <a:gd name="T3" fmla="*/ 21 h 21"/>
                    <a:gd name="T4" fmla="*/ 15 w 15"/>
                    <a:gd name="T5" fmla="*/ 13 h 21"/>
                    <a:gd name="T6" fmla="*/ 3 w 15"/>
                    <a:gd name="T7" fmla="*/ 0 h 21"/>
                    <a:gd name="T8" fmla="*/ 0 w 15"/>
                    <a:gd name="T9" fmla="*/ 8 h 21"/>
                    <a:gd name="T10" fmla="*/ 0 w 15"/>
                    <a:gd name="T11" fmla="*/ 8 h 21"/>
                    <a:gd name="T12" fmla="*/ 12 w 15"/>
                    <a:gd name="T13" fmla="*/ 21 h 21"/>
                    <a:gd name="T14" fmla="*/ 12 w 15"/>
                    <a:gd name="T15" fmla="*/ 21 h 21"/>
                    <a:gd name="T16" fmla="*/ 12 w 15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1">
                      <a:moveTo>
                        <a:pt x="12" y="21"/>
                      </a:moveTo>
                      <a:lnTo>
                        <a:pt x="12" y="21"/>
                      </a:lnTo>
                      <a:lnTo>
                        <a:pt x="15" y="13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2" name="Freeform 365"/>
                <p:cNvSpPr>
                  <a:spLocks/>
                </p:cNvSpPr>
                <p:nvPr/>
              </p:nvSpPr>
              <p:spPr bwMode="auto">
                <a:xfrm>
                  <a:off x="1129" y="2853"/>
                  <a:ext cx="15" cy="21"/>
                </a:xfrm>
                <a:custGeom>
                  <a:avLst/>
                  <a:gdLst>
                    <a:gd name="T0" fmla="*/ 12 w 15"/>
                    <a:gd name="T1" fmla="*/ 21 h 21"/>
                    <a:gd name="T2" fmla="*/ 12 w 15"/>
                    <a:gd name="T3" fmla="*/ 21 h 21"/>
                    <a:gd name="T4" fmla="*/ 15 w 15"/>
                    <a:gd name="T5" fmla="*/ 13 h 21"/>
                    <a:gd name="T6" fmla="*/ 3 w 15"/>
                    <a:gd name="T7" fmla="*/ 0 h 21"/>
                    <a:gd name="T8" fmla="*/ 0 w 15"/>
                    <a:gd name="T9" fmla="*/ 9 h 21"/>
                    <a:gd name="T10" fmla="*/ 0 w 15"/>
                    <a:gd name="T11" fmla="*/ 9 h 21"/>
                    <a:gd name="T12" fmla="*/ 12 w 15"/>
                    <a:gd name="T13" fmla="*/ 21 h 21"/>
                    <a:gd name="T14" fmla="*/ 12 w 15"/>
                    <a:gd name="T15" fmla="*/ 21 h 21"/>
                    <a:gd name="T16" fmla="*/ 12 w 15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1">
                      <a:moveTo>
                        <a:pt x="12" y="21"/>
                      </a:moveTo>
                      <a:lnTo>
                        <a:pt x="12" y="21"/>
                      </a:lnTo>
                      <a:lnTo>
                        <a:pt x="15" y="13"/>
                      </a:ln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3" name="Freeform 366"/>
                <p:cNvSpPr>
                  <a:spLocks/>
                </p:cNvSpPr>
                <p:nvPr/>
              </p:nvSpPr>
              <p:spPr bwMode="auto">
                <a:xfrm>
                  <a:off x="1126" y="2862"/>
                  <a:ext cx="15" cy="20"/>
                </a:xfrm>
                <a:custGeom>
                  <a:avLst/>
                  <a:gdLst>
                    <a:gd name="T0" fmla="*/ 9 w 15"/>
                    <a:gd name="T1" fmla="*/ 20 h 20"/>
                    <a:gd name="T2" fmla="*/ 9 w 15"/>
                    <a:gd name="T3" fmla="*/ 16 h 20"/>
                    <a:gd name="T4" fmla="*/ 15 w 15"/>
                    <a:gd name="T5" fmla="*/ 12 h 20"/>
                    <a:gd name="T6" fmla="*/ 3 w 15"/>
                    <a:gd name="T7" fmla="*/ 0 h 20"/>
                    <a:gd name="T8" fmla="*/ 0 w 15"/>
                    <a:gd name="T9" fmla="*/ 8 h 20"/>
                    <a:gd name="T10" fmla="*/ 0 w 15"/>
                    <a:gd name="T11" fmla="*/ 4 h 20"/>
                    <a:gd name="T12" fmla="*/ 9 w 15"/>
                    <a:gd name="T13" fmla="*/ 20 h 20"/>
                    <a:gd name="T14" fmla="*/ 9 w 15"/>
                    <a:gd name="T15" fmla="*/ 20 h 20"/>
                    <a:gd name="T16" fmla="*/ 9 w 15"/>
                    <a:gd name="T17" fmla="*/ 16 h 20"/>
                    <a:gd name="T18" fmla="*/ 9 w 15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9" y="20"/>
                      </a:moveTo>
                      <a:lnTo>
                        <a:pt x="9" y="16"/>
                      </a:lnTo>
                      <a:lnTo>
                        <a:pt x="15" y="12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9" y="16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4" name="Freeform 367"/>
                <p:cNvSpPr>
                  <a:spLocks/>
                </p:cNvSpPr>
                <p:nvPr/>
              </p:nvSpPr>
              <p:spPr bwMode="auto">
                <a:xfrm>
                  <a:off x="1120" y="2866"/>
                  <a:ext cx="15" cy="20"/>
                </a:xfrm>
                <a:custGeom>
                  <a:avLst/>
                  <a:gdLst>
                    <a:gd name="T0" fmla="*/ 9 w 15"/>
                    <a:gd name="T1" fmla="*/ 20 h 20"/>
                    <a:gd name="T2" fmla="*/ 9 w 15"/>
                    <a:gd name="T3" fmla="*/ 20 h 20"/>
                    <a:gd name="T4" fmla="*/ 15 w 15"/>
                    <a:gd name="T5" fmla="*/ 16 h 20"/>
                    <a:gd name="T6" fmla="*/ 6 w 15"/>
                    <a:gd name="T7" fmla="*/ 0 h 20"/>
                    <a:gd name="T8" fmla="*/ 0 w 15"/>
                    <a:gd name="T9" fmla="*/ 8 h 20"/>
                    <a:gd name="T10" fmla="*/ 0 w 15"/>
                    <a:gd name="T11" fmla="*/ 8 h 20"/>
                    <a:gd name="T12" fmla="*/ 9 w 15"/>
                    <a:gd name="T13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" h="20">
                      <a:moveTo>
                        <a:pt x="9" y="20"/>
                      </a:moveTo>
                      <a:lnTo>
                        <a:pt x="9" y="20"/>
                      </a:lnTo>
                      <a:lnTo>
                        <a:pt x="15" y="16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5" name="Freeform 368"/>
                <p:cNvSpPr>
                  <a:spLocks/>
                </p:cNvSpPr>
                <p:nvPr/>
              </p:nvSpPr>
              <p:spPr bwMode="auto">
                <a:xfrm>
                  <a:off x="1117" y="2874"/>
                  <a:ext cx="12" cy="21"/>
                </a:xfrm>
                <a:custGeom>
                  <a:avLst/>
                  <a:gdLst>
                    <a:gd name="T0" fmla="*/ 6 w 12"/>
                    <a:gd name="T1" fmla="*/ 21 h 21"/>
                    <a:gd name="T2" fmla="*/ 9 w 12"/>
                    <a:gd name="T3" fmla="*/ 21 h 21"/>
                    <a:gd name="T4" fmla="*/ 12 w 12"/>
                    <a:gd name="T5" fmla="*/ 12 h 21"/>
                    <a:gd name="T6" fmla="*/ 3 w 12"/>
                    <a:gd name="T7" fmla="*/ 0 h 21"/>
                    <a:gd name="T8" fmla="*/ 0 w 12"/>
                    <a:gd name="T9" fmla="*/ 4 h 21"/>
                    <a:gd name="T10" fmla="*/ 0 w 12"/>
                    <a:gd name="T11" fmla="*/ 4 h 21"/>
                    <a:gd name="T12" fmla="*/ 6 w 12"/>
                    <a:gd name="T13" fmla="*/ 21 h 21"/>
                    <a:gd name="T14" fmla="*/ 9 w 12"/>
                    <a:gd name="T15" fmla="*/ 21 h 21"/>
                    <a:gd name="T16" fmla="*/ 9 w 12"/>
                    <a:gd name="T17" fmla="*/ 21 h 21"/>
                    <a:gd name="T18" fmla="*/ 6 w 12"/>
                    <a:gd name="T1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1">
                      <a:moveTo>
                        <a:pt x="6" y="21"/>
                      </a:moveTo>
                      <a:lnTo>
                        <a:pt x="9" y="21"/>
                      </a:lnTo>
                      <a:lnTo>
                        <a:pt x="12" y="12"/>
                      </a:lnTo>
                      <a:lnTo>
                        <a:pt x="3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6" y="21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6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6" name="Freeform 369"/>
                <p:cNvSpPr>
                  <a:spLocks/>
                </p:cNvSpPr>
                <p:nvPr/>
              </p:nvSpPr>
              <p:spPr bwMode="auto">
                <a:xfrm>
                  <a:off x="1111" y="2878"/>
                  <a:ext cx="12" cy="25"/>
                </a:xfrm>
                <a:custGeom>
                  <a:avLst/>
                  <a:gdLst>
                    <a:gd name="T0" fmla="*/ 6 w 12"/>
                    <a:gd name="T1" fmla="*/ 25 h 25"/>
                    <a:gd name="T2" fmla="*/ 9 w 12"/>
                    <a:gd name="T3" fmla="*/ 21 h 25"/>
                    <a:gd name="T4" fmla="*/ 12 w 12"/>
                    <a:gd name="T5" fmla="*/ 17 h 25"/>
                    <a:gd name="T6" fmla="*/ 6 w 12"/>
                    <a:gd name="T7" fmla="*/ 0 h 25"/>
                    <a:gd name="T8" fmla="*/ 0 w 12"/>
                    <a:gd name="T9" fmla="*/ 8 h 25"/>
                    <a:gd name="T10" fmla="*/ 0 w 12"/>
                    <a:gd name="T11" fmla="*/ 4 h 25"/>
                    <a:gd name="T12" fmla="*/ 6 w 12"/>
                    <a:gd name="T13" fmla="*/ 25 h 25"/>
                    <a:gd name="T14" fmla="*/ 9 w 12"/>
                    <a:gd name="T15" fmla="*/ 21 h 25"/>
                    <a:gd name="T16" fmla="*/ 9 w 12"/>
                    <a:gd name="T17" fmla="*/ 21 h 25"/>
                    <a:gd name="T18" fmla="*/ 6 w 12"/>
                    <a:gd name="T1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5">
                      <a:moveTo>
                        <a:pt x="6" y="25"/>
                      </a:moveTo>
                      <a:lnTo>
                        <a:pt x="9" y="21"/>
                      </a:lnTo>
                      <a:lnTo>
                        <a:pt x="12" y="17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6" y="25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6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7" name="Freeform 370"/>
                <p:cNvSpPr>
                  <a:spLocks/>
                </p:cNvSpPr>
                <p:nvPr/>
              </p:nvSpPr>
              <p:spPr bwMode="auto">
                <a:xfrm>
                  <a:off x="1105" y="2882"/>
                  <a:ext cx="12" cy="25"/>
                </a:xfrm>
                <a:custGeom>
                  <a:avLst/>
                  <a:gdLst>
                    <a:gd name="T0" fmla="*/ 6 w 12"/>
                    <a:gd name="T1" fmla="*/ 25 h 25"/>
                    <a:gd name="T2" fmla="*/ 6 w 12"/>
                    <a:gd name="T3" fmla="*/ 25 h 25"/>
                    <a:gd name="T4" fmla="*/ 12 w 12"/>
                    <a:gd name="T5" fmla="*/ 21 h 25"/>
                    <a:gd name="T6" fmla="*/ 6 w 12"/>
                    <a:gd name="T7" fmla="*/ 0 h 25"/>
                    <a:gd name="T8" fmla="*/ 0 w 12"/>
                    <a:gd name="T9" fmla="*/ 8 h 25"/>
                    <a:gd name="T10" fmla="*/ 0 w 12"/>
                    <a:gd name="T11" fmla="*/ 8 h 25"/>
                    <a:gd name="T12" fmla="*/ 6 w 12"/>
                    <a:gd name="T13" fmla="*/ 25 h 25"/>
                    <a:gd name="T14" fmla="*/ 6 w 12"/>
                    <a:gd name="T15" fmla="*/ 25 h 25"/>
                    <a:gd name="T16" fmla="*/ 6 w 12"/>
                    <a:gd name="T17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5">
                      <a:moveTo>
                        <a:pt x="6" y="25"/>
                      </a:moveTo>
                      <a:lnTo>
                        <a:pt x="6" y="25"/>
                      </a:lnTo>
                      <a:lnTo>
                        <a:pt x="12" y="21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6" y="25"/>
                      </a:lnTo>
                      <a:lnTo>
                        <a:pt x="6" y="25"/>
                      </a:lnTo>
                      <a:lnTo>
                        <a:pt x="6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" name="Freeform 371"/>
                <p:cNvSpPr>
                  <a:spLocks/>
                </p:cNvSpPr>
                <p:nvPr/>
              </p:nvSpPr>
              <p:spPr bwMode="auto">
                <a:xfrm>
                  <a:off x="1099" y="2890"/>
                  <a:ext cx="12" cy="21"/>
                </a:xfrm>
                <a:custGeom>
                  <a:avLst/>
                  <a:gdLst>
                    <a:gd name="T0" fmla="*/ 6 w 12"/>
                    <a:gd name="T1" fmla="*/ 21 h 21"/>
                    <a:gd name="T2" fmla="*/ 6 w 12"/>
                    <a:gd name="T3" fmla="*/ 21 h 21"/>
                    <a:gd name="T4" fmla="*/ 12 w 12"/>
                    <a:gd name="T5" fmla="*/ 17 h 21"/>
                    <a:gd name="T6" fmla="*/ 6 w 12"/>
                    <a:gd name="T7" fmla="*/ 0 h 21"/>
                    <a:gd name="T8" fmla="*/ 0 w 12"/>
                    <a:gd name="T9" fmla="*/ 5 h 21"/>
                    <a:gd name="T10" fmla="*/ 0 w 12"/>
                    <a:gd name="T11" fmla="*/ 5 h 21"/>
                    <a:gd name="T12" fmla="*/ 6 w 12"/>
                    <a:gd name="T13" fmla="*/ 21 h 21"/>
                    <a:gd name="T14" fmla="*/ 6 w 12"/>
                    <a:gd name="T15" fmla="*/ 21 h 21"/>
                    <a:gd name="T16" fmla="*/ 6 w 12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6" y="21"/>
                      </a:moveTo>
                      <a:lnTo>
                        <a:pt x="6" y="21"/>
                      </a:lnTo>
                      <a:lnTo>
                        <a:pt x="12" y="17"/>
                      </a:lnTo>
                      <a:lnTo>
                        <a:pt x="6" y="0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" name="Freeform 372"/>
                <p:cNvSpPr>
                  <a:spLocks/>
                </p:cNvSpPr>
                <p:nvPr/>
              </p:nvSpPr>
              <p:spPr bwMode="auto">
                <a:xfrm>
                  <a:off x="1093" y="2895"/>
                  <a:ext cx="12" cy="20"/>
                </a:xfrm>
                <a:custGeom>
                  <a:avLst/>
                  <a:gdLst>
                    <a:gd name="T0" fmla="*/ 3 w 12"/>
                    <a:gd name="T1" fmla="*/ 20 h 20"/>
                    <a:gd name="T2" fmla="*/ 6 w 12"/>
                    <a:gd name="T3" fmla="*/ 20 h 20"/>
                    <a:gd name="T4" fmla="*/ 12 w 12"/>
                    <a:gd name="T5" fmla="*/ 16 h 20"/>
                    <a:gd name="T6" fmla="*/ 6 w 12"/>
                    <a:gd name="T7" fmla="*/ 0 h 20"/>
                    <a:gd name="T8" fmla="*/ 0 w 12"/>
                    <a:gd name="T9" fmla="*/ 4 h 20"/>
                    <a:gd name="T10" fmla="*/ 0 w 12"/>
                    <a:gd name="T11" fmla="*/ 4 h 20"/>
                    <a:gd name="T12" fmla="*/ 3 w 12"/>
                    <a:gd name="T13" fmla="*/ 20 h 20"/>
                    <a:gd name="T14" fmla="*/ 6 w 12"/>
                    <a:gd name="T15" fmla="*/ 20 h 20"/>
                    <a:gd name="T16" fmla="*/ 6 w 12"/>
                    <a:gd name="T17" fmla="*/ 20 h 20"/>
                    <a:gd name="T18" fmla="*/ 3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3" y="20"/>
                      </a:move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20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0" name="Freeform 373"/>
                <p:cNvSpPr>
                  <a:spLocks/>
                </p:cNvSpPr>
                <p:nvPr/>
              </p:nvSpPr>
              <p:spPr bwMode="auto">
                <a:xfrm>
                  <a:off x="1087" y="2899"/>
                  <a:ext cx="9" cy="20"/>
                </a:xfrm>
                <a:custGeom>
                  <a:avLst/>
                  <a:gdLst>
                    <a:gd name="T0" fmla="*/ 3 w 9"/>
                    <a:gd name="T1" fmla="*/ 20 h 20"/>
                    <a:gd name="T2" fmla="*/ 3 w 9"/>
                    <a:gd name="T3" fmla="*/ 20 h 20"/>
                    <a:gd name="T4" fmla="*/ 9 w 9"/>
                    <a:gd name="T5" fmla="*/ 16 h 20"/>
                    <a:gd name="T6" fmla="*/ 6 w 9"/>
                    <a:gd name="T7" fmla="*/ 0 h 20"/>
                    <a:gd name="T8" fmla="*/ 0 w 9"/>
                    <a:gd name="T9" fmla="*/ 4 h 20"/>
                    <a:gd name="T10" fmla="*/ 0 w 9"/>
                    <a:gd name="T11" fmla="*/ 0 h 20"/>
                    <a:gd name="T12" fmla="*/ 3 w 9"/>
                    <a:gd name="T13" fmla="*/ 20 h 20"/>
                    <a:gd name="T14" fmla="*/ 3 w 9"/>
                    <a:gd name="T15" fmla="*/ 20 h 20"/>
                    <a:gd name="T16" fmla="*/ 3 w 9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0">
                      <a:moveTo>
                        <a:pt x="3" y="20"/>
                      </a:moveTo>
                      <a:lnTo>
                        <a:pt x="3" y="20"/>
                      </a:lnTo>
                      <a:lnTo>
                        <a:pt x="9" y="16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1" name="Freeform 374"/>
                <p:cNvSpPr>
                  <a:spLocks/>
                </p:cNvSpPr>
                <p:nvPr/>
              </p:nvSpPr>
              <p:spPr bwMode="auto">
                <a:xfrm>
                  <a:off x="1078" y="2899"/>
                  <a:ext cx="12" cy="24"/>
                </a:xfrm>
                <a:custGeom>
                  <a:avLst/>
                  <a:gdLst>
                    <a:gd name="T0" fmla="*/ 3 w 12"/>
                    <a:gd name="T1" fmla="*/ 24 h 24"/>
                    <a:gd name="T2" fmla="*/ 6 w 12"/>
                    <a:gd name="T3" fmla="*/ 24 h 24"/>
                    <a:gd name="T4" fmla="*/ 12 w 12"/>
                    <a:gd name="T5" fmla="*/ 20 h 24"/>
                    <a:gd name="T6" fmla="*/ 9 w 12"/>
                    <a:gd name="T7" fmla="*/ 0 h 24"/>
                    <a:gd name="T8" fmla="*/ 0 w 12"/>
                    <a:gd name="T9" fmla="*/ 4 h 24"/>
                    <a:gd name="T10" fmla="*/ 0 w 12"/>
                    <a:gd name="T11" fmla="*/ 4 h 24"/>
                    <a:gd name="T12" fmla="*/ 3 w 12"/>
                    <a:gd name="T13" fmla="*/ 24 h 24"/>
                    <a:gd name="T14" fmla="*/ 6 w 12"/>
                    <a:gd name="T15" fmla="*/ 24 h 24"/>
                    <a:gd name="T16" fmla="*/ 6 w 12"/>
                    <a:gd name="T17" fmla="*/ 24 h 24"/>
                    <a:gd name="T18" fmla="*/ 3 w 12"/>
                    <a:gd name="T19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4">
                      <a:moveTo>
                        <a:pt x="3" y="24"/>
                      </a:moveTo>
                      <a:lnTo>
                        <a:pt x="6" y="24"/>
                      </a:lnTo>
                      <a:lnTo>
                        <a:pt x="12" y="20"/>
                      </a:lnTo>
                      <a:lnTo>
                        <a:pt x="9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24"/>
                      </a:lnTo>
                      <a:lnTo>
                        <a:pt x="6" y="24"/>
                      </a:lnTo>
                      <a:lnTo>
                        <a:pt x="6" y="24"/>
                      </a:lnTo>
                      <a:lnTo>
                        <a:pt x="3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2" name="Freeform 375"/>
                <p:cNvSpPr>
                  <a:spLocks/>
                </p:cNvSpPr>
                <p:nvPr/>
              </p:nvSpPr>
              <p:spPr bwMode="auto">
                <a:xfrm>
                  <a:off x="1072" y="2903"/>
                  <a:ext cx="9" cy="20"/>
                </a:xfrm>
                <a:custGeom>
                  <a:avLst/>
                  <a:gdLst>
                    <a:gd name="T0" fmla="*/ 3 w 9"/>
                    <a:gd name="T1" fmla="*/ 20 h 20"/>
                    <a:gd name="T2" fmla="*/ 3 w 9"/>
                    <a:gd name="T3" fmla="*/ 20 h 20"/>
                    <a:gd name="T4" fmla="*/ 9 w 9"/>
                    <a:gd name="T5" fmla="*/ 20 h 20"/>
                    <a:gd name="T6" fmla="*/ 6 w 9"/>
                    <a:gd name="T7" fmla="*/ 0 h 20"/>
                    <a:gd name="T8" fmla="*/ 0 w 9"/>
                    <a:gd name="T9" fmla="*/ 4 h 20"/>
                    <a:gd name="T10" fmla="*/ 0 w 9"/>
                    <a:gd name="T11" fmla="*/ 4 h 20"/>
                    <a:gd name="T12" fmla="*/ 3 w 9"/>
                    <a:gd name="T13" fmla="*/ 20 h 20"/>
                    <a:gd name="T14" fmla="*/ 3 w 9"/>
                    <a:gd name="T15" fmla="*/ 20 h 20"/>
                    <a:gd name="T16" fmla="*/ 3 w 9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0">
                      <a:moveTo>
                        <a:pt x="3" y="20"/>
                      </a:moveTo>
                      <a:lnTo>
                        <a:pt x="3" y="20"/>
                      </a:lnTo>
                      <a:lnTo>
                        <a:pt x="9" y="2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3" name="Freeform 376"/>
                <p:cNvSpPr>
                  <a:spLocks/>
                </p:cNvSpPr>
                <p:nvPr/>
              </p:nvSpPr>
              <p:spPr bwMode="auto">
                <a:xfrm>
                  <a:off x="1066" y="2907"/>
                  <a:ext cx="9" cy="20"/>
                </a:xfrm>
                <a:custGeom>
                  <a:avLst/>
                  <a:gdLst>
                    <a:gd name="T0" fmla="*/ 0 w 9"/>
                    <a:gd name="T1" fmla="*/ 16 h 20"/>
                    <a:gd name="T2" fmla="*/ 0 w 9"/>
                    <a:gd name="T3" fmla="*/ 16 h 20"/>
                    <a:gd name="T4" fmla="*/ 9 w 9"/>
                    <a:gd name="T5" fmla="*/ 16 h 20"/>
                    <a:gd name="T6" fmla="*/ 6 w 9"/>
                    <a:gd name="T7" fmla="*/ 0 h 20"/>
                    <a:gd name="T8" fmla="*/ 0 w 9"/>
                    <a:gd name="T9" fmla="*/ 0 h 20"/>
                    <a:gd name="T10" fmla="*/ 0 w 9"/>
                    <a:gd name="T11" fmla="*/ 0 h 20"/>
                    <a:gd name="T12" fmla="*/ 0 w 9"/>
                    <a:gd name="T13" fmla="*/ 20 h 20"/>
                    <a:gd name="T14" fmla="*/ 0 w 9"/>
                    <a:gd name="T15" fmla="*/ 16 h 20"/>
                    <a:gd name="T16" fmla="*/ 0 w 9"/>
                    <a:gd name="T17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4" name="Freeform 377"/>
                <p:cNvSpPr>
                  <a:spLocks/>
                </p:cNvSpPr>
                <p:nvPr/>
              </p:nvSpPr>
              <p:spPr bwMode="auto">
                <a:xfrm>
                  <a:off x="1057" y="2907"/>
                  <a:ext cx="9" cy="20"/>
                </a:xfrm>
                <a:custGeom>
                  <a:avLst/>
                  <a:gdLst>
                    <a:gd name="T0" fmla="*/ 0 w 9"/>
                    <a:gd name="T1" fmla="*/ 20 h 20"/>
                    <a:gd name="T2" fmla="*/ 3 w 9"/>
                    <a:gd name="T3" fmla="*/ 20 h 20"/>
                    <a:gd name="T4" fmla="*/ 9 w 9"/>
                    <a:gd name="T5" fmla="*/ 16 h 20"/>
                    <a:gd name="T6" fmla="*/ 9 w 9"/>
                    <a:gd name="T7" fmla="*/ 0 h 20"/>
                    <a:gd name="T8" fmla="*/ 0 w 9"/>
                    <a:gd name="T9" fmla="*/ 0 h 20"/>
                    <a:gd name="T10" fmla="*/ 0 w 9"/>
                    <a:gd name="T11" fmla="*/ 0 h 20"/>
                    <a:gd name="T12" fmla="*/ 0 w 9"/>
                    <a:gd name="T13" fmla="*/ 20 h 20"/>
                    <a:gd name="T14" fmla="*/ 0 w 9"/>
                    <a:gd name="T15" fmla="*/ 20 h 20"/>
                    <a:gd name="T16" fmla="*/ 3 w 9"/>
                    <a:gd name="T17" fmla="*/ 20 h 20"/>
                    <a:gd name="T18" fmla="*/ 0 w 9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0">
                      <a:moveTo>
                        <a:pt x="0" y="20"/>
                      </a:moveTo>
                      <a:lnTo>
                        <a:pt x="3" y="20"/>
                      </a:lnTo>
                      <a:lnTo>
                        <a:pt x="9" y="16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3" y="2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5" name="Freeform 378"/>
                <p:cNvSpPr>
                  <a:spLocks/>
                </p:cNvSpPr>
                <p:nvPr/>
              </p:nvSpPr>
              <p:spPr bwMode="auto">
                <a:xfrm>
                  <a:off x="259" y="2907"/>
                  <a:ext cx="798" cy="20"/>
                </a:xfrm>
                <a:custGeom>
                  <a:avLst/>
                  <a:gdLst>
                    <a:gd name="T0" fmla="*/ 0 w 798"/>
                    <a:gd name="T1" fmla="*/ 20 h 20"/>
                    <a:gd name="T2" fmla="*/ 0 w 798"/>
                    <a:gd name="T3" fmla="*/ 20 h 20"/>
                    <a:gd name="T4" fmla="*/ 798 w 798"/>
                    <a:gd name="T5" fmla="*/ 20 h 20"/>
                    <a:gd name="T6" fmla="*/ 798 w 798"/>
                    <a:gd name="T7" fmla="*/ 0 h 20"/>
                    <a:gd name="T8" fmla="*/ 0 w 798"/>
                    <a:gd name="T9" fmla="*/ 0 h 20"/>
                    <a:gd name="T10" fmla="*/ 0 w 798"/>
                    <a:gd name="T11" fmla="*/ 0 h 20"/>
                    <a:gd name="T12" fmla="*/ 0 w 798"/>
                    <a:gd name="T13" fmla="*/ 20 h 20"/>
                    <a:gd name="T14" fmla="*/ 0 w 798"/>
                    <a:gd name="T15" fmla="*/ 20 h 20"/>
                    <a:gd name="T16" fmla="*/ 0 w 798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98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798" y="20"/>
                      </a:lnTo>
                      <a:lnTo>
                        <a:pt x="79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6" name="Freeform 379"/>
                <p:cNvSpPr>
                  <a:spLocks/>
                </p:cNvSpPr>
                <p:nvPr/>
              </p:nvSpPr>
              <p:spPr bwMode="auto">
                <a:xfrm>
                  <a:off x="249" y="2907"/>
                  <a:ext cx="10" cy="20"/>
                </a:xfrm>
                <a:custGeom>
                  <a:avLst/>
                  <a:gdLst>
                    <a:gd name="T0" fmla="*/ 0 w 10"/>
                    <a:gd name="T1" fmla="*/ 16 h 20"/>
                    <a:gd name="T2" fmla="*/ 0 w 10"/>
                    <a:gd name="T3" fmla="*/ 16 h 20"/>
                    <a:gd name="T4" fmla="*/ 10 w 10"/>
                    <a:gd name="T5" fmla="*/ 20 h 20"/>
                    <a:gd name="T6" fmla="*/ 10 w 10"/>
                    <a:gd name="T7" fmla="*/ 0 h 20"/>
                    <a:gd name="T8" fmla="*/ 3 w 10"/>
                    <a:gd name="T9" fmla="*/ 0 h 20"/>
                    <a:gd name="T10" fmla="*/ 3 w 10"/>
                    <a:gd name="T11" fmla="*/ 0 h 20"/>
                    <a:gd name="T12" fmla="*/ 0 w 10"/>
                    <a:gd name="T13" fmla="*/ 16 h 20"/>
                    <a:gd name="T14" fmla="*/ 0 w 10"/>
                    <a:gd name="T15" fmla="*/ 16 h 20"/>
                    <a:gd name="T16" fmla="*/ 0 w 10"/>
                    <a:gd name="T17" fmla="*/ 20 h 20"/>
                    <a:gd name="T18" fmla="*/ 0 w 10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10" y="20"/>
                      </a:lnTo>
                      <a:lnTo>
                        <a:pt x="10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2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7" name="Freeform 380"/>
                <p:cNvSpPr>
                  <a:spLocks/>
                </p:cNvSpPr>
                <p:nvPr/>
              </p:nvSpPr>
              <p:spPr bwMode="auto">
                <a:xfrm>
                  <a:off x="243" y="2907"/>
                  <a:ext cx="9" cy="16"/>
                </a:xfrm>
                <a:custGeom>
                  <a:avLst/>
                  <a:gdLst>
                    <a:gd name="T0" fmla="*/ 0 w 9"/>
                    <a:gd name="T1" fmla="*/ 16 h 16"/>
                    <a:gd name="T2" fmla="*/ 0 w 9"/>
                    <a:gd name="T3" fmla="*/ 16 h 16"/>
                    <a:gd name="T4" fmla="*/ 6 w 9"/>
                    <a:gd name="T5" fmla="*/ 16 h 16"/>
                    <a:gd name="T6" fmla="*/ 9 w 9"/>
                    <a:gd name="T7" fmla="*/ 0 h 16"/>
                    <a:gd name="T8" fmla="*/ 0 w 9"/>
                    <a:gd name="T9" fmla="*/ 0 h 16"/>
                    <a:gd name="T10" fmla="*/ 3 w 9"/>
                    <a:gd name="T11" fmla="*/ 0 h 16"/>
                    <a:gd name="T12" fmla="*/ 0 w 9"/>
                    <a:gd name="T13" fmla="*/ 16 h 16"/>
                    <a:gd name="T14" fmla="*/ 0 w 9"/>
                    <a:gd name="T15" fmla="*/ 16 h 16"/>
                    <a:gd name="T16" fmla="*/ 0 w 9"/>
                    <a:gd name="T1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6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16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" name="Freeform 381"/>
                <p:cNvSpPr>
                  <a:spLocks/>
                </p:cNvSpPr>
                <p:nvPr/>
              </p:nvSpPr>
              <p:spPr bwMode="auto">
                <a:xfrm>
                  <a:off x="234" y="2903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3 w 12"/>
                    <a:gd name="T3" fmla="*/ 20 h 20"/>
                    <a:gd name="T4" fmla="*/ 9 w 12"/>
                    <a:gd name="T5" fmla="*/ 20 h 20"/>
                    <a:gd name="T6" fmla="*/ 12 w 12"/>
                    <a:gd name="T7" fmla="*/ 4 h 20"/>
                    <a:gd name="T8" fmla="*/ 3 w 12"/>
                    <a:gd name="T9" fmla="*/ 0 h 20"/>
                    <a:gd name="T10" fmla="*/ 6 w 12"/>
                    <a:gd name="T11" fmla="*/ 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3 w 12"/>
                    <a:gd name="T17" fmla="*/ 20 h 20"/>
                    <a:gd name="T18" fmla="*/ 0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0" y="20"/>
                      </a:moveTo>
                      <a:lnTo>
                        <a:pt x="3" y="20"/>
                      </a:lnTo>
                      <a:lnTo>
                        <a:pt x="9" y="20"/>
                      </a:lnTo>
                      <a:lnTo>
                        <a:pt x="12" y="4"/>
                      </a:lnTo>
                      <a:lnTo>
                        <a:pt x="3" y="0"/>
                      </a:lnTo>
                      <a:lnTo>
                        <a:pt x="6" y="0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3" y="2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" name="Freeform 382"/>
                <p:cNvSpPr>
                  <a:spLocks/>
                </p:cNvSpPr>
                <p:nvPr/>
              </p:nvSpPr>
              <p:spPr bwMode="auto">
                <a:xfrm>
                  <a:off x="228" y="2903"/>
                  <a:ext cx="12" cy="20"/>
                </a:xfrm>
                <a:custGeom>
                  <a:avLst/>
                  <a:gdLst>
                    <a:gd name="T0" fmla="*/ 0 w 12"/>
                    <a:gd name="T1" fmla="*/ 16 h 20"/>
                    <a:gd name="T2" fmla="*/ 0 w 12"/>
                    <a:gd name="T3" fmla="*/ 16 h 20"/>
                    <a:gd name="T4" fmla="*/ 6 w 12"/>
                    <a:gd name="T5" fmla="*/ 20 h 20"/>
                    <a:gd name="T6" fmla="*/ 12 w 12"/>
                    <a:gd name="T7" fmla="*/ 0 h 20"/>
                    <a:gd name="T8" fmla="*/ 6 w 12"/>
                    <a:gd name="T9" fmla="*/ 0 h 20"/>
                    <a:gd name="T10" fmla="*/ 6 w 12"/>
                    <a:gd name="T11" fmla="*/ 0 h 20"/>
                    <a:gd name="T12" fmla="*/ 0 w 12"/>
                    <a:gd name="T13" fmla="*/ 16 h 20"/>
                    <a:gd name="T14" fmla="*/ 0 w 12"/>
                    <a:gd name="T15" fmla="*/ 16 h 20"/>
                    <a:gd name="T16" fmla="*/ 0 w 12"/>
                    <a:gd name="T17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0" name="Freeform 383"/>
                <p:cNvSpPr>
                  <a:spLocks/>
                </p:cNvSpPr>
                <p:nvPr/>
              </p:nvSpPr>
              <p:spPr bwMode="auto">
                <a:xfrm>
                  <a:off x="222" y="2899"/>
                  <a:ext cx="12" cy="20"/>
                </a:xfrm>
                <a:custGeom>
                  <a:avLst/>
                  <a:gdLst>
                    <a:gd name="T0" fmla="*/ 0 w 12"/>
                    <a:gd name="T1" fmla="*/ 16 h 20"/>
                    <a:gd name="T2" fmla="*/ 0 w 12"/>
                    <a:gd name="T3" fmla="*/ 16 h 20"/>
                    <a:gd name="T4" fmla="*/ 6 w 12"/>
                    <a:gd name="T5" fmla="*/ 20 h 20"/>
                    <a:gd name="T6" fmla="*/ 12 w 12"/>
                    <a:gd name="T7" fmla="*/ 4 h 20"/>
                    <a:gd name="T8" fmla="*/ 6 w 12"/>
                    <a:gd name="T9" fmla="*/ 0 h 20"/>
                    <a:gd name="T10" fmla="*/ 6 w 12"/>
                    <a:gd name="T11" fmla="*/ 0 h 20"/>
                    <a:gd name="T12" fmla="*/ 0 w 12"/>
                    <a:gd name="T13" fmla="*/ 16 h 20"/>
                    <a:gd name="T14" fmla="*/ 0 w 12"/>
                    <a:gd name="T15" fmla="*/ 16 h 20"/>
                    <a:gd name="T16" fmla="*/ 0 w 12"/>
                    <a:gd name="T17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1" name="Freeform 384"/>
                <p:cNvSpPr>
                  <a:spLocks/>
                </p:cNvSpPr>
                <p:nvPr/>
              </p:nvSpPr>
              <p:spPr bwMode="auto">
                <a:xfrm>
                  <a:off x="216" y="2895"/>
                  <a:ext cx="12" cy="20"/>
                </a:xfrm>
                <a:custGeom>
                  <a:avLst/>
                  <a:gdLst>
                    <a:gd name="T0" fmla="*/ 0 w 12"/>
                    <a:gd name="T1" fmla="*/ 16 h 20"/>
                    <a:gd name="T2" fmla="*/ 0 w 12"/>
                    <a:gd name="T3" fmla="*/ 16 h 20"/>
                    <a:gd name="T4" fmla="*/ 6 w 12"/>
                    <a:gd name="T5" fmla="*/ 20 h 20"/>
                    <a:gd name="T6" fmla="*/ 12 w 12"/>
                    <a:gd name="T7" fmla="*/ 4 h 20"/>
                    <a:gd name="T8" fmla="*/ 6 w 12"/>
                    <a:gd name="T9" fmla="*/ 0 h 20"/>
                    <a:gd name="T10" fmla="*/ 9 w 12"/>
                    <a:gd name="T11" fmla="*/ 0 h 20"/>
                    <a:gd name="T12" fmla="*/ 0 w 12"/>
                    <a:gd name="T13" fmla="*/ 16 h 20"/>
                    <a:gd name="T14" fmla="*/ 0 w 12"/>
                    <a:gd name="T15" fmla="*/ 16 h 20"/>
                    <a:gd name="T16" fmla="*/ 0 w 12"/>
                    <a:gd name="T17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2" name="Freeform 385"/>
                <p:cNvSpPr>
                  <a:spLocks/>
                </p:cNvSpPr>
                <p:nvPr/>
              </p:nvSpPr>
              <p:spPr bwMode="auto">
                <a:xfrm>
                  <a:off x="210" y="2890"/>
                  <a:ext cx="15" cy="21"/>
                </a:xfrm>
                <a:custGeom>
                  <a:avLst/>
                  <a:gdLst>
                    <a:gd name="T0" fmla="*/ 0 w 15"/>
                    <a:gd name="T1" fmla="*/ 13 h 21"/>
                    <a:gd name="T2" fmla="*/ 0 w 15"/>
                    <a:gd name="T3" fmla="*/ 17 h 21"/>
                    <a:gd name="T4" fmla="*/ 6 w 15"/>
                    <a:gd name="T5" fmla="*/ 21 h 21"/>
                    <a:gd name="T6" fmla="*/ 15 w 15"/>
                    <a:gd name="T7" fmla="*/ 5 h 21"/>
                    <a:gd name="T8" fmla="*/ 9 w 15"/>
                    <a:gd name="T9" fmla="*/ 0 h 21"/>
                    <a:gd name="T10" fmla="*/ 9 w 15"/>
                    <a:gd name="T11" fmla="*/ 0 h 21"/>
                    <a:gd name="T12" fmla="*/ 0 w 15"/>
                    <a:gd name="T13" fmla="*/ 13 h 21"/>
                    <a:gd name="T14" fmla="*/ 0 w 15"/>
                    <a:gd name="T15" fmla="*/ 17 h 21"/>
                    <a:gd name="T16" fmla="*/ 0 w 15"/>
                    <a:gd name="T17" fmla="*/ 17 h 21"/>
                    <a:gd name="T18" fmla="*/ 0 w 15"/>
                    <a:gd name="T19" fmla="*/ 13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0" y="13"/>
                      </a:move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15" y="5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3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3" name="Freeform 386"/>
                <p:cNvSpPr>
                  <a:spLocks/>
                </p:cNvSpPr>
                <p:nvPr/>
              </p:nvSpPr>
              <p:spPr bwMode="auto">
                <a:xfrm>
                  <a:off x="207" y="2886"/>
                  <a:ext cx="12" cy="17"/>
                </a:xfrm>
                <a:custGeom>
                  <a:avLst/>
                  <a:gdLst>
                    <a:gd name="T0" fmla="*/ 0 w 12"/>
                    <a:gd name="T1" fmla="*/ 13 h 17"/>
                    <a:gd name="T2" fmla="*/ 0 w 12"/>
                    <a:gd name="T3" fmla="*/ 13 h 17"/>
                    <a:gd name="T4" fmla="*/ 3 w 12"/>
                    <a:gd name="T5" fmla="*/ 17 h 17"/>
                    <a:gd name="T6" fmla="*/ 12 w 12"/>
                    <a:gd name="T7" fmla="*/ 4 h 17"/>
                    <a:gd name="T8" fmla="*/ 9 w 12"/>
                    <a:gd name="T9" fmla="*/ 0 h 17"/>
                    <a:gd name="T10" fmla="*/ 9 w 12"/>
                    <a:gd name="T11" fmla="*/ 0 h 17"/>
                    <a:gd name="T12" fmla="*/ 0 w 12"/>
                    <a:gd name="T13" fmla="*/ 13 h 17"/>
                    <a:gd name="T14" fmla="*/ 0 w 12"/>
                    <a:gd name="T15" fmla="*/ 13 h 17"/>
                    <a:gd name="T16" fmla="*/ 0 w 12"/>
                    <a:gd name="T17" fmla="*/ 1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7">
                      <a:moveTo>
                        <a:pt x="0" y="13"/>
                      </a:moveTo>
                      <a:lnTo>
                        <a:pt x="0" y="13"/>
                      </a:lnTo>
                      <a:lnTo>
                        <a:pt x="3" y="17"/>
                      </a:lnTo>
                      <a:lnTo>
                        <a:pt x="12" y="4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4" name="Freeform 387"/>
                <p:cNvSpPr>
                  <a:spLocks/>
                </p:cNvSpPr>
                <p:nvPr/>
              </p:nvSpPr>
              <p:spPr bwMode="auto">
                <a:xfrm>
                  <a:off x="201" y="2882"/>
                  <a:ext cx="15" cy="17"/>
                </a:xfrm>
                <a:custGeom>
                  <a:avLst/>
                  <a:gdLst>
                    <a:gd name="T0" fmla="*/ 0 w 15"/>
                    <a:gd name="T1" fmla="*/ 8 h 17"/>
                    <a:gd name="T2" fmla="*/ 0 w 15"/>
                    <a:gd name="T3" fmla="*/ 13 h 17"/>
                    <a:gd name="T4" fmla="*/ 6 w 15"/>
                    <a:gd name="T5" fmla="*/ 17 h 17"/>
                    <a:gd name="T6" fmla="*/ 15 w 15"/>
                    <a:gd name="T7" fmla="*/ 4 h 17"/>
                    <a:gd name="T8" fmla="*/ 12 w 15"/>
                    <a:gd name="T9" fmla="*/ 0 h 17"/>
                    <a:gd name="T10" fmla="*/ 12 w 15"/>
                    <a:gd name="T11" fmla="*/ 0 h 17"/>
                    <a:gd name="T12" fmla="*/ 0 w 15"/>
                    <a:gd name="T13" fmla="*/ 8 h 17"/>
                    <a:gd name="T14" fmla="*/ 0 w 15"/>
                    <a:gd name="T15" fmla="*/ 13 h 17"/>
                    <a:gd name="T16" fmla="*/ 0 w 15"/>
                    <a:gd name="T17" fmla="*/ 13 h 17"/>
                    <a:gd name="T18" fmla="*/ 0 w 15"/>
                    <a:gd name="T19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0" y="8"/>
                      </a:moveTo>
                      <a:lnTo>
                        <a:pt x="0" y="13"/>
                      </a:lnTo>
                      <a:lnTo>
                        <a:pt x="6" y="17"/>
                      </a:lnTo>
                      <a:lnTo>
                        <a:pt x="15" y="4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5" name="Freeform 388"/>
                <p:cNvSpPr>
                  <a:spLocks/>
                </p:cNvSpPr>
                <p:nvPr/>
              </p:nvSpPr>
              <p:spPr bwMode="auto">
                <a:xfrm>
                  <a:off x="198" y="2874"/>
                  <a:ext cx="15" cy="16"/>
                </a:xfrm>
                <a:custGeom>
                  <a:avLst/>
                  <a:gdLst>
                    <a:gd name="T0" fmla="*/ 0 w 15"/>
                    <a:gd name="T1" fmla="*/ 12 h 16"/>
                    <a:gd name="T2" fmla="*/ 0 w 15"/>
                    <a:gd name="T3" fmla="*/ 12 h 16"/>
                    <a:gd name="T4" fmla="*/ 3 w 15"/>
                    <a:gd name="T5" fmla="*/ 16 h 16"/>
                    <a:gd name="T6" fmla="*/ 15 w 15"/>
                    <a:gd name="T7" fmla="*/ 8 h 16"/>
                    <a:gd name="T8" fmla="*/ 12 w 15"/>
                    <a:gd name="T9" fmla="*/ 0 h 16"/>
                    <a:gd name="T10" fmla="*/ 12 w 15"/>
                    <a:gd name="T11" fmla="*/ 4 h 16"/>
                    <a:gd name="T12" fmla="*/ 0 w 15"/>
                    <a:gd name="T13" fmla="*/ 12 h 16"/>
                    <a:gd name="T14" fmla="*/ 0 w 15"/>
                    <a:gd name="T15" fmla="*/ 12 h 16"/>
                    <a:gd name="T16" fmla="*/ 0 w 15"/>
                    <a:gd name="T17" fmla="*/ 12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3" y="16"/>
                      </a:ln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12" y="4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6" name="Freeform 389"/>
                <p:cNvSpPr>
                  <a:spLocks/>
                </p:cNvSpPr>
                <p:nvPr/>
              </p:nvSpPr>
              <p:spPr bwMode="auto">
                <a:xfrm>
                  <a:off x="195" y="2870"/>
                  <a:ext cx="15" cy="16"/>
                </a:xfrm>
                <a:custGeom>
                  <a:avLst/>
                  <a:gdLst>
                    <a:gd name="T0" fmla="*/ 0 w 15"/>
                    <a:gd name="T1" fmla="*/ 8 h 16"/>
                    <a:gd name="T2" fmla="*/ 0 w 15"/>
                    <a:gd name="T3" fmla="*/ 8 h 16"/>
                    <a:gd name="T4" fmla="*/ 3 w 15"/>
                    <a:gd name="T5" fmla="*/ 16 h 16"/>
                    <a:gd name="T6" fmla="*/ 15 w 15"/>
                    <a:gd name="T7" fmla="*/ 8 h 16"/>
                    <a:gd name="T8" fmla="*/ 15 w 15"/>
                    <a:gd name="T9" fmla="*/ 0 h 16"/>
                    <a:gd name="T10" fmla="*/ 15 w 15"/>
                    <a:gd name="T11" fmla="*/ 0 h 16"/>
                    <a:gd name="T12" fmla="*/ 0 w 15"/>
                    <a:gd name="T13" fmla="*/ 8 h 16"/>
                    <a:gd name="T14" fmla="*/ 0 w 15"/>
                    <a:gd name="T15" fmla="*/ 8 h 16"/>
                    <a:gd name="T16" fmla="*/ 0 w 15"/>
                    <a:gd name="T17" fmla="*/ 8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7" name="Freeform 390"/>
                <p:cNvSpPr>
                  <a:spLocks/>
                </p:cNvSpPr>
                <p:nvPr/>
              </p:nvSpPr>
              <p:spPr bwMode="auto">
                <a:xfrm>
                  <a:off x="192" y="2866"/>
                  <a:ext cx="18" cy="12"/>
                </a:xfrm>
                <a:custGeom>
                  <a:avLst/>
                  <a:gdLst>
                    <a:gd name="T0" fmla="*/ 0 w 18"/>
                    <a:gd name="T1" fmla="*/ 4 h 12"/>
                    <a:gd name="T2" fmla="*/ 3 w 18"/>
                    <a:gd name="T3" fmla="*/ 4 h 12"/>
                    <a:gd name="T4" fmla="*/ 3 w 18"/>
                    <a:gd name="T5" fmla="*/ 12 h 12"/>
                    <a:gd name="T6" fmla="*/ 18 w 18"/>
                    <a:gd name="T7" fmla="*/ 4 h 12"/>
                    <a:gd name="T8" fmla="*/ 15 w 18"/>
                    <a:gd name="T9" fmla="*/ 0 h 12"/>
                    <a:gd name="T10" fmla="*/ 15 w 18"/>
                    <a:gd name="T11" fmla="*/ 0 h 12"/>
                    <a:gd name="T12" fmla="*/ 0 w 18"/>
                    <a:gd name="T13" fmla="*/ 4 h 12"/>
                    <a:gd name="T14" fmla="*/ 0 w 18"/>
                    <a:gd name="T15" fmla="*/ 4 h 12"/>
                    <a:gd name="T16" fmla="*/ 3 w 18"/>
                    <a:gd name="T17" fmla="*/ 4 h 12"/>
                    <a:gd name="T18" fmla="*/ 0 w 18"/>
                    <a:gd name="T19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2">
                      <a:moveTo>
                        <a:pt x="0" y="4"/>
                      </a:moveTo>
                      <a:lnTo>
                        <a:pt x="3" y="4"/>
                      </a:lnTo>
                      <a:lnTo>
                        <a:pt x="3" y="12"/>
                      </a:lnTo>
                      <a:lnTo>
                        <a:pt x="18" y="4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8" name="Freeform 391"/>
                <p:cNvSpPr>
                  <a:spLocks/>
                </p:cNvSpPr>
                <p:nvPr/>
              </p:nvSpPr>
              <p:spPr bwMode="auto">
                <a:xfrm>
                  <a:off x="192" y="2858"/>
                  <a:ext cx="15" cy="12"/>
                </a:xfrm>
                <a:custGeom>
                  <a:avLst/>
                  <a:gdLst>
                    <a:gd name="T0" fmla="*/ 0 w 15"/>
                    <a:gd name="T1" fmla="*/ 4 h 12"/>
                    <a:gd name="T2" fmla="*/ 0 w 15"/>
                    <a:gd name="T3" fmla="*/ 4 h 12"/>
                    <a:gd name="T4" fmla="*/ 0 w 15"/>
                    <a:gd name="T5" fmla="*/ 12 h 12"/>
                    <a:gd name="T6" fmla="*/ 15 w 15"/>
                    <a:gd name="T7" fmla="*/ 8 h 12"/>
                    <a:gd name="T8" fmla="*/ 15 w 15"/>
                    <a:gd name="T9" fmla="*/ 0 h 12"/>
                    <a:gd name="T10" fmla="*/ 15 w 15"/>
                    <a:gd name="T11" fmla="*/ 0 h 12"/>
                    <a:gd name="T12" fmla="*/ 0 w 15"/>
                    <a:gd name="T13" fmla="*/ 4 h 12"/>
                    <a:gd name="T14" fmla="*/ 0 w 15"/>
                    <a:gd name="T15" fmla="*/ 4 h 12"/>
                    <a:gd name="T16" fmla="*/ 0 w 15"/>
                    <a:gd name="T17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4" name="Freeform 393"/>
              <p:cNvSpPr>
                <a:spLocks/>
              </p:cNvSpPr>
              <p:nvPr/>
            </p:nvSpPr>
            <p:spPr bwMode="auto">
              <a:xfrm>
                <a:off x="192" y="2849"/>
                <a:ext cx="15" cy="13"/>
              </a:xfrm>
              <a:custGeom>
                <a:avLst/>
                <a:gdLst>
                  <a:gd name="T0" fmla="*/ 0 w 15"/>
                  <a:gd name="T1" fmla="*/ 0 h 13"/>
                  <a:gd name="T2" fmla="*/ 0 w 15"/>
                  <a:gd name="T3" fmla="*/ 4 h 13"/>
                  <a:gd name="T4" fmla="*/ 0 w 15"/>
                  <a:gd name="T5" fmla="*/ 13 h 13"/>
                  <a:gd name="T6" fmla="*/ 15 w 15"/>
                  <a:gd name="T7" fmla="*/ 9 h 13"/>
                  <a:gd name="T8" fmla="*/ 15 w 15"/>
                  <a:gd name="T9" fmla="*/ 4 h 13"/>
                  <a:gd name="T10" fmla="*/ 15 w 15"/>
                  <a:gd name="T11" fmla="*/ 4 h 13"/>
                  <a:gd name="T12" fmla="*/ 0 w 15"/>
                  <a:gd name="T13" fmla="*/ 0 h 13"/>
                  <a:gd name="T14" fmla="*/ 0 w 15"/>
                  <a:gd name="T15" fmla="*/ 4 h 13"/>
                  <a:gd name="T16" fmla="*/ 0 w 15"/>
                  <a:gd name="T17" fmla="*/ 4 h 13"/>
                  <a:gd name="T18" fmla="*/ 0 w 15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3">
                    <a:moveTo>
                      <a:pt x="0" y="0"/>
                    </a:moveTo>
                    <a:lnTo>
                      <a:pt x="0" y="4"/>
                    </a:lnTo>
                    <a:lnTo>
                      <a:pt x="0" y="13"/>
                    </a:lnTo>
                    <a:lnTo>
                      <a:pt x="15" y="9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394"/>
              <p:cNvSpPr>
                <a:spLocks/>
              </p:cNvSpPr>
              <p:nvPr/>
            </p:nvSpPr>
            <p:spPr bwMode="auto">
              <a:xfrm>
                <a:off x="192" y="2841"/>
                <a:ext cx="15" cy="12"/>
              </a:xfrm>
              <a:custGeom>
                <a:avLst/>
                <a:gdLst>
                  <a:gd name="T0" fmla="*/ 0 w 15"/>
                  <a:gd name="T1" fmla="*/ 0 h 12"/>
                  <a:gd name="T2" fmla="*/ 0 w 15"/>
                  <a:gd name="T3" fmla="*/ 0 h 12"/>
                  <a:gd name="T4" fmla="*/ 0 w 15"/>
                  <a:gd name="T5" fmla="*/ 8 h 12"/>
                  <a:gd name="T6" fmla="*/ 15 w 15"/>
                  <a:gd name="T7" fmla="*/ 12 h 12"/>
                  <a:gd name="T8" fmla="*/ 15 w 15"/>
                  <a:gd name="T9" fmla="*/ 4 h 12"/>
                  <a:gd name="T10" fmla="*/ 15 w 15"/>
                  <a:gd name="T11" fmla="*/ 4 h 12"/>
                  <a:gd name="T12" fmla="*/ 0 w 15"/>
                  <a:gd name="T13" fmla="*/ 0 h 12"/>
                  <a:gd name="T14" fmla="*/ 0 w 15"/>
                  <a:gd name="T15" fmla="*/ 0 h 12"/>
                  <a:gd name="T16" fmla="*/ 0 w 15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15" y="12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Freeform 395"/>
              <p:cNvSpPr>
                <a:spLocks/>
              </p:cNvSpPr>
              <p:nvPr/>
            </p:nvSpPr>
            <p:spPr bwMode="auto">
              <a:xfrm>
                <a:off x="192" y="2833"/>
                <a:ext cx="15" cy="12"/>
              </a:xfrm>
              <a:custGeom>
                <a:avLst/>
                <a:gdLst>
                  <a:gd name="T0" fmla="*/ 3 w 15"/>
                  <a:gd name="T1" fmla="*/ 0 h 12"/>
                  <a:gd name="T2" fmla="*/ 3 w 15"/>
                  <a:gd name="T3" fmla="*/ 0 h 12"/>
                  <a:gd name="T4" fmla="*/ 0 w 15"/>
                  <a:gd name="T5" fmla="*/ 8 h 12"/>
                  <a:gd name="T6" fmla="*/ 15 w 15"/>
                  <a:gd name="T7" fmla="*/ 12 h 12"/>
                  <a:gd name="T8" fmla="*/ 15 w 15"/>
                  <a:gd name="T9" fmla="*/ 4 h 12"/>
                  <a:gd name="T10" fmla="*/ 15 w 15"/>
                  <a:gd name="T11" fmla="*/ 4 h 12"/>
                  <a:gd name="T12" fmla="*/ 3 w 15"/>
                  <a:gd name="T13" fmla="*/ 0 h 12"/>
                  <a:gd name="T14" fmla="*/ 3 w 15"/>
                  <a:gd name="T15" fmla="*/ 0 h 12"/>
                  <a:gd name="T16" fmla="*/ 3 w 15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2">
                    <a:moveTo>
                      <a:pt x="3" y="0"/>
                    </a:moveTo>
                    <a:lnTo>
                      <a:pt x="3" y="0"/>
                    </a:lnTo>
                    <a:lnTo>
                      <a:pt x="0" y="8"/>
                    </a:lnTo>
                    <a:lnTo>
                      <a:pt x="15" y="12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396"/>
              <p:cNvSpPr>
                <a:spLocks/>
              </p:cNvSpPr>
              <p:nvPr/>
            </p:nvSpPr>
            <p:spPr bwMode="auto">
              <a:xfrm>
                <a:off x="195" y="1577"/>
                <a:ext cx="260" cy="1260"/>
              </a:xfrm>
              <a:custGeom>
                <a:avLst/>
                <a:gdLst>
                  <a:gd name="T0" fmla="*/ 248 w 260"/>
                  <a:gd name="T1" fmla="*/ 0 h 1260"/>
                  <a:gd name="T2" fmla="*/ 248 w 260"/>
                  <a:gd name="T3" fmla="*/ 0 h 1260"/>
                  <a:gd name="T4" fmla="*/ 0 w 260"/>
                  <a:gd name="T5" fmla="*/ 1256 h 1260"/>
                  <a:gd name="T6" fmla="*/ 12 w 260"/>
                  <a:gd name="T7" fmla="*/ 1260 h 1260"/>
                  <a:gd name="T8" fmla="*/ 260 w 260"/>
                  <a:gd name="T9" fmla="*/ 4 h 1260"/>
                  <a:gd name="T10" fmla="*/ 260 w 260"/>
                  <a:gd name="T11" fmla="*/ 4 h 1260"/>
                  <a:gd name="T12" fmla="*/ 248 w 260"/>
                  <a:gd name="T13" fmla="*/ 0 h 1260"/>
                  <a:gd name="T14" fmla="*/ 248 w 260"/>
                  <a:gd name="T15" fmla="*/ 0 h 1260"/>
                  <a:gd name="T16" fmla="*/ 248 w 260"/>
                  <a:gd name="T17" fmla="*/ 0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0" h="1260">
                    <a:moveTo>
                      <a:pt x="248" y="0"/>
                    </a:moveTo>
                    <a:lnTo>
                      <a:pt x="248" y="0"/>
                    </a:lnTo>
                    <a:lnTo>
                      <a:pt x="0" y="1256"/>
                    </a:lnTo>
                    <a:lnTo>
                      <a:pt x="12" y="1260"/>
                    </a:lnTo>
                    <a:lnTo>
                      <a:pt x="260" y="4"/>
                    </a:lnTo>
                    <a:lnTo>
                      <a:pt x="260" y="4"/>
                    </a:lnTo>
                    <a:lnTo>
                      <a:pt x="248" y="0"/>
                    </a:lnTo>
                    <a:lnTo>
                      <a:pt x="248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397"/>
              <p:cNvSpPr>
                <a:spLocks/>
              </p:cNvSpPr>
              <p:nvPr/>
            </p:nvSpPr>
            <p:spPr bwMode="auto">
              <a:xfrm>
                <a:off x="443" y="1569"/>
                <a:ext cx="15" cy="12"/>
              </a:xfrm>
              <a:custGeom>
                <a:avLst/>
                <a:gdLst>
                  <a:gd name="T0" fmla="*/ 3 w 15"/>
                  <a:gd name="T1" fmla="*/ 0 h 12"/>
                  <a:gd name="T2" fmla="*/ 3 w 15"/>
                  <a:gd name="T3" fmla="*/ 0 h 12"/>
                  <a:gd name="T4" fmla="*/ 0 w 15"/>
                  <a:gd name="T5" fmla="*/ 8 h 12"/>
                  <a:gd name="T6" fmla="*/ 12 w 15"/>
                  <a:gd name="T7" fmla="*/ 12 h 12"/>
                  <a:gd name="T8" fmla="*/ 15 w 15"/>
                  <a:gd name="T9" fmla="*/ 4 h 12"/>
                  <a:gd name="T10" fmla="*/ 15 w 15"/>
                  <a:gd name="T11" fmla="*/ 4 h 12"/>
                  <a:gd name="T12" fmla="*/ 3 w 15"/>
                  <a:gd name="T13" fmla="*/ 0 h 12"/>
                  <a:gd name="T14" fmla="*/ 3 w 15"/>
                  <a:gd name="T15" fmla="*/ 0 h 12"/>
                  <a:gd name="T16" fmla="*/ 3 w 15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2">
                    <a:moveTo>
                      <a:pt x="3" y="0"/>
                    </a:moveTo>
                    <a:lnTo>
                      <a:pt x="3" y="0"/>
                    </a:lnTo>
                    <a:lnTo>
                      <a:pt x="0" y="8"/>
                    </a:lnTo>
                    <a:lnTo>
                      <a:pt x="12" y="12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398"/>
              <p:cNvSpPr>
                <a:spLocks/>
              </p:cNvSpPr>
              <p:nvPr/>
            </p:nvSpPr>
            <p:spPr bwMode="auto">
              <a:xfrm>
                <a:off x="446" y="1556"/>
                <a:ext cx="15" cy="17"/>
              </a:xfrm>
              <a:custGeom>
                <a:avLst/>
                <a:gdLst>
                  <a:gd name="T0" fmla="*/ 0 w 15"/>
                  <a:gd name="T1" fmla="*/ 0 h 17"/>
                  <a:gd name="T2" fmla="*/ 0 w 15"/>
                  <a:gd name="T3" fmla="*/ 4 h 17"/>
                  <a:gd name="T4" fmla="*/ 0 w 15"/>
                  <a:gd name="T5" fmla="*/ 13 h 17"/>
                  <a:gd name="T6" fmla="*/ 12 w 15"/>
                  <a:gd name="T7" fmla="*/ 17 h 17"/>
                  <a:gd name="T8" fmla="*/ 15 w 15"/>
                  <a:gd name="T9" fmla="*/ 13 h 17"/>
                  <a:gd name="T10" fmla="*/ 15 w 15"/>
                  <a:gd name="T11" fmla="*/ 13 h 17"/>
                  <a:gd name="T12" fmla="*/ 0 w 15"/>
                  <a:gd name="T13" fmla="*/ 0 h 17"/>
                  <a:gd name="T14" fmla="*/ 0 w 15"/>
                  <a:gd name="T15" fmla="*/ 4 h 17"/>
                  <a:gd name="T16" fmla="*/ 0 w 15"/>
                  <a:gd name="T17" fmla="*/ 4 h 17"/>
                  <a:gd name="T18" fmla="*/ 0 w 15"/>
                  <a:gd name="T1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7">
                    <a:moveTo>
                      <a:pt x="0" y="0"/>
                    </a:moveTo>
                    <a:lnTo>
                      <a:pt x="0" y="4"/>
                    </a:lnTo>
                    <a:lnTo>
                      <a:pt x="0" y="13"/>
                    </a:lnTo>
                    <a:lnTo>
                      <a:pt x="12" y="17"/>
                    </a:lnTo>
                    <a:lnTo>
                      <a:pt x="15" y="13"/>
                    </a:lnTo>
                    <a:lnTo>
                      <a:pt x="15" y="13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399"/>
              <p:cNvSpPr>
                <a:spLocks/>
              </p:cNvSpPr>
              <p:nvPr/>
            </p:nvSpPr>
            <p:spPr bwMode="auto">
              <a:xfrm>
                <a:off x="446" y="1548"/>
                <a:ext cx="18" cy="21"/>
              </a:xfrm>
              <a:custGeom>
                <a:avLst/>
                <a:gdLst>
                  <a:gd name="T0" fmla="*/ 6 w 18"/>
                  <a:gd name="T1" fmla="*/ 0 h 21"/>
                  <a:gd name="T2" fmla="*/ 6 w 18"/>
                  <a:gd name="T3" fmla="*/ 4 h 21"/>
                  <a:gd name="T4" fmla="*/ 0 w 18"/>
                  <a:gd name="T5" fmla="*/ 8 h 21"/>
                  <a:gd name="T6" fmla="*/ 15 w 18"/>
                  <a:gd name="T7" fmla="*/ 21 h 21"/>
                  <a:gd name="T8" fmla="*/ 18 w 18"/>
                  <a:gd name="T9" fmla="*/ 12 h 21"/>
                  <a:gd name="T10" fmla="*/ 18 w 18"/>
                  <a:gd name="T11" fmla="*/ 12 h 21"/>
                  <a:gd name="T12" fmla="*/ 6 w 18"/>
                  <a:gd name="T13" fmla="*/ 0 h 21"/>
                  <a:gd name="T14" fmla="*/ 6 w 18"/>
                  <a:gd name="T15" fmla="*/ 0 h 21"/>
                  <a:gd name="T16" fmla="*/ 6 w 18"/>
                  <a:gd name="T17" fmla="*/ 4 h 21"/>
                  <a:gd name="T18" fmla="*/ 6 w 18"/>
                  <a:gd name="T1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" h="21">
                    <a:moveTo>
                      <a:pt x="6" y="0"/>
                    </a:moveTo>
                    <a:lnTo>
                      <a:pt x="6" y="4"/>
                    </a:lnTo>
                    <a:lnTo>
                      <a:pt x="0" y="8"/>
                    </a:lnTo>
                    <a:lnTo>
                      <a:pt x="15" y="21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400"/>
              <p:cNvSpPr>
                <a:spLocks/>
              </p:cNvSpPr>
              <p:nvPr/>
            </p:nvSpPr>
            <p:spPr bwMode="auto">
              <a:xfrm>
                <a:off x="452" y="1540"/>
                <a:ext cx="15" cy="20"/>
              </a:xfrm>
              <a:custGeom>
                <a:avLst/>
                <a:gdLst>
                  <a:gd name="T0" fmla="*/ 3 w 15"/>
                  <a:gd name="T1" fmla="*/ 0 h 20"/>
                  <a:gd name="T2" fmla="*/ 3 w 15"/>
                  <a:gd name="T3" fmla="*/ 4 h 20"/>
                  <a:gd name="T4" fmla="*/ 0 w 15"/>
                  <a:gd name="T5" fmla="*/ 8 h 20"/>
                  <a:gd name="T6" fmla="*/ 12 w 15"/>
                  <a:gd name="T7" fmla="*/ 20 h 20"/>
                  <a:gd name="T8" fmla="*/ 15 w 15"/>
                  <a:gd name="T9" fmla="*/ 12 h 20"/>
                  <a:gd name="T10" fmla="*/ 15 w 15"/>
                  <a:gd name="T11" fmla="*/ 16 h 20"/>
                  <a:gd name="T12" fmla="*/ 3 w 15"/>
                  <a:gd name="T13" fmla="*/ 0 h 20"/>
                  <a:gd name="T14" fmla="*/ 3 w 15"/>
                  <a:gd name="T15" fmla="*/ 4 h 20"/>
                  <a:gd name="T16" fmla="*/ 3 w 15"/>
                  <a:gd name="T17" fmla="*/ 4 h 20"/>
                  <a:gd name="T18" fmla="*/ 3 w 15"/>
                  <a:gd name="T1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20">
                    <a:moveTo>
                      <a:pt x="3" y="0"/>
                    </a:moveTo>
                    <a:lnTo>
                      <a:pt x="3" y="4"/>
                    </a:lnTo>
                    <a:lnTo>
                      <a:pt x="0" y="8"/>
                    </a:lnTo>
                    <a:lnTo>
                      <a:pt x="12" y="20"/>
                    </a:lnTo>
                    <a:lnTo>
                      <a:pt x="15" y="12"/>
                    </a:lnTo>
                    <a:lnTo>
                      <a:pt x="15" y="16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401"/>
              <p:cNvSpPr>
                <a:spLocks/>
              </p:cNvSpPr>
              <p:nvPr/>
            </p:nvSpPr>
            <p:spPr bwMode="auto">
              <a:xfrm>
                <a:off x="455" y="1536"/>
                <a:ext cx="15" cy="20"/>
              </a:xfrm>
              <a:custGeom>
                <a:avLst/>
                <a:gdLst>
                  <a:gd name="T0" fmla="*/ 6 w 15"/>
                  <a:gd name="T1" fmla="*/ 0 h 20"/>
                  <a:gd name="T2" fmla="*/ 6 w 15"/>
                  <a:gd name="T3" fmla="*/ 0 h 20"/>
                  <a:gd name="T4" fmla="*/ 0 w 15"/>
                  <a:gd name="T5" fmla="*/ 4 h 20"/>
                  <a:gd name="T6" fmla="*/ 12 w 15"/>
                  <a:gd name="T7" fmla="*/ 20 h 20"/>
                  <a:gd name="T8" fmla="*/ 15 w 15"/>
                  <a:gd name="T9" fmla="*/ 12 h 20"/>
                  <a:gd name="T10" fmla="*/ 15 w 15"/>
                  <a:gd name="T11" fmla="*/ 12 h 20"/>
                  <a:gd name="T12" fmla="*/ 6 w 15"/>
                  <a:gd name="T13" fmla="*/ 0 h 20"/>
                  <a:gd name="T14" fmla="*/ 6 w 15"/>
                  <a:gd name="T15" fmla="*/ 0 h 20"/>
                  <a:gd name="T16" fmla="*/ 6 w 15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0">
                    <a:moveTo>
                      <a:pt x="6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12" y="20"/>
                    </a:lnTo>
                    <a:lnTo>
                      <a:pt x="15" y="12"/>
                    </a:lnTo>
                    <a:lnTo>
                      <a:pt x="15" y="1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402"/>
              <p:cNvSpPr>
                <a:spLocks/>
              </p:cNvSpPr>
              <p:nvPr/>
            </p:nvSpPr>
            <p:spPr bwMode="auto">
              <a:xfrm>
                <a:off x="461" y="1527"/>
                <a:ext cx="15" cy="21"/>
              </a:xfrm>
              <a:custGeom>
                <a:avLst/>
                <a:gdLst>
                  <a:gd name="T0" fmla="*/ 3 w 15"/>
                  <a:gd name="T1" fmla="*/ 0 h 21"/>
                  <a:gd name="T2" fmla="*/ 3 w 15"/>
                  <a:gd name="T3" fmla="*/ 0 h 21"/>
                  <a:gd name="T4" fmla="*/ 0 w 15"/>
                  <a:gd name="T5" fmla="*/ 9 h 21"/>
                  <a:gd name="T6" fmla="*/ 9 w 15"/>
                  <a:gd name="T7" fmla="*/ 21 h 21"/>
                  <a:gd name="T8" fmla="*/ 15 w 15"/>
                  <a:gd name="T9" fmla="*/ 13 h 21"/>
                  <a:gd name="T10" fmla="*/ 15 w 15"/>
                  <a:gd name="T11" fmla="*/ 13 h 21"/>
                  <a:gd name="T12" fmla="*/ 3 w 15"/>
                  <a:gd name="T13" fmla="*/ 0 h 21"/>
                  <a:gd name="T14" fmla="*/ 3 w 15"/>
                  <a:gd name="T15" fmla="*/ 0 h 21"/>
                  <a:gd name="T16" fmla="*/ 3 w 15"/>
                  <a:gd name="T1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1">
                    <a:moveTo>
                      <a:pt x="3" y="0"/>
                    </a:moveTo>
                    <a:lnTo>
                      <a:pt x="3" y="0"/>
                    </a:lnTo>
                    <a:lnTo>
                      <a:pt x="0" y="9"/>
                    </a:lnTo>
                    <a:lnTo>
                      <a:pt x="9" y="21"/>
                    </a:lnTo>
                    <a:lnTo>
                      <a:pt x="15" y="13"/>
                    </a:lnTo>
                    <a:lnTo>
                      <a:pt x="15" y="1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Freeform 403"/>
              <p:cNvSpPr>
                <a:spLocks/>
              </p:cNvSpPr>
              <p:nvPr/>
            </p:nvSpPr>
            <p:spPr bwMode="auto">
              <a:xfrm>
                <a:off x="464" y="1519"/>
                <a:ext cx="15" cy="21"/>
              </a:xfrm>
              <a:custGeom>
                <a:avLst/>
                <a:gdLst>
                  <a:gd name="T0" fmla="*/ 9 w 15"/>
                  <a:gd name="T1" fmla="*/ 0 h 21"/>
                  <a:gd name="T2" fmla="*/ 6 w 15"/>
                  <a:gd name="T3" fmla="*/ 0 h 21"/>
                  <a:gd name="T4" fmla="*/ 0 w 15"/>
                  <a:gd name="T5" fmla="*/ 8 h 21"/>
                  <a:gd name="T6" fmla="*/ 12 w 15"/>
                  <a:gd name="T7" fmla="*/ 21 h 21"/>
                  <a:gd name="T8" fmla="*/ 15 w 15"/>
                  <a:gd name="T9" fmla="*/ 17 h 21"/>
                  <a:gd name="T10" fmla="*/ 15 w 15"/>
                  <a:gd name="T11" fmla="*/ 17 h 21"/>
                  <a:gd name="T12" fmla="*/ 9 w 15"/>
                  <a:gd name="T13" fmla="*/ 0 h 21"/>
                  <a:gd name="T14" fmla="*/ 6 w 15"/>
                  <a:gd name="T15" fmla="*/ 0 h 21"/>
                  <a:gd name="T16" fmla="*/ 6 w 15"/>
                  <a:gd name="T17" fmla="*/ 0 h 21"/>
                  <a:gd name="T18" fmla="*/ 9 w 15"/>
                  <a:gd name="T1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21">
                    <a:moveTo>
                      <a:pt x="9" y="0"/>
                    </a:moveTo>
                    <a:lnTo>
                      <a:pt x="6" y="0"/>
                    </a:lnTo>
                    <a:lnTo>
                      <a:pt x="0" y="8"/>
                    </a:lnTo>
                    <a:lnTo>
                      <a:pt x="12" y="21"/>
                    </a:lnTo>
                    <a:lnTo>
                      <a:pt x="15" y="17"/>
                    </a:lnTo>
                    <a:lnTo>
                      <a:pt x="15" y="17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Freeform 404"/>
              <p:cNvSpPr>
                <a:spLocks/>
              </p:cNvSpPr>
              <p:nvPr/>
            </p:nvSpPr>
            <p:spPr bwMode="auto">
              <a:xfrm>
                <a:off x="473" y="1515"/>
                <a:ext cx="12" cy="21"/>
              </a:xfrm>
              <a:custGeom>
                <a:avLst/>
                <a:gdLst>
                  <a:gd name="T0" fmla="*/ 6 w 12"/>
                  <a:gd name="T1" fmla="*/ 0 h 21"/>
                  <a:gd name="T2" fmla="*/ 3 w 12"/>
                  <a:gd name="T3" fmla="*/ 0 h 21"/>
                  <a:gd name="T4" fmla="*/ 0 w 12"/>
                  <a:gd name="T5" fmla="*/ 4 h 21"/>
                  <a:gd name="T6" fmla="*/ 6 w 12"/>
                  <a:gd name="T7" fmla="*/ 21 h 21"/>
                  <a:gd name="T8" fmla="*/ 12 w 12"/>
                  <a:gd name="T9" fmla="*/ 17 h 21"/>
                  <a:gd name="T10" fmla="*/ 12 w 12"/>
                  <a:gd name="T11" fmla="*/ 17 h 21"/>
                  <a:gd name="T12" fmla="*/ 6 w 12"/>
                  <a:gd name="T13" fmla="*/ 0 h 21"/>
                  <a:gd name="T14" fmla="*/ 3 w 12"/>
                  <a:gd name="T15" fmla="*/ 0 h 21"/>
                  <a:gd name="T16" fmla="*/ 3 w 12"/>
                  <a:gd name="T17" fmla="*/ 0 h 21"/>
                  <a:gd name="T18" fmla="*/ 6 w 12"/>
                  <a:gd name="T1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21">
                    <a:moveTo>
                      <a:pt x="6" y="0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6" y="21"/>
                    </a:lnTo>
                    <a:lnTo>
                      <a:pt x="12" y="17"/>
                    </a:lnTo>
                    <a:lnTo>
                      <a:pt x="12" y="17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405"/>
              <p:cNvSpPr>
                <a:spLocks/>
              </p:cNvSpPr>
              <p:nvPr/>
            </p:nvSpPr>
            <p:spPr bwMode="auto">
              <a:xfrm>
                <a:off x="479" y="1507"/>
                <a:ext cx="12" cy="25"/>
              </a:xfrm>
              <a:custGeom>
                <a:avLst/>
                <a:gdLst>
                  <a:gd name="T0" fmla="*/ 6 w 12"/>
                  <a:gd name="T1" fmla="*/ 0 h 25"/>
                  <a:gd name="T2" fmla="*/ 6 w 12"/>
                  <a:gd name="T3" fmla="*/ 0 h 25"/>
                  <a:gd name="T4" fmla="*/ 0 w 12"/>
                  <a:gd name="T5" fmla="*/ 8 h 25"/>
                  <a:gd name="T6" fmla="*/ 6 w 12"/>
                  <a:gd name="T7" fmla="*/ 25 h 25"/>
                  <a:gd name="T8" fmla="*/ 12 w 12"/>
                  <a:gd name="T9" fmla="*/ 16 h 25"/>
                  <a:gd name="T10" fmla="*/ 12 w 12"/>
                  <a:gd name="T11" fmla="*/ 16 h 25"/>
                  <a:gd name="T12" fmla="*/ 6 w 12"/>
                  <a:gd name="T13" fmla="*/ 0 h 25"/>
                  <a:gd name="T14" fmla="*/ 6 w 12"/>
                  <a:gd name="T15" fmla="*/ 0 h 25"/>
                  <a:gd name="T16" fmla="*/ 6 w 12"/>
                  <a:gd name="T1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5">
                    <a:moveTo>
                      <a:pt x="6" y="0"/>
                    </a:moveTo>
                    <a:lnTo>
                      <a:pt x="6" y="0"/>
                    </a:lnTo>
                    <a:lnTo>
                      <a:pt x="0" y="8"/>
                    </a:lnTo>
                    <a:lnTo>
                      <a:pt x="6" y="25"/>
                    </a:lnTo>
                    <a:lnTo>
                      <a:pt x="12" y="16"/>
                    </a:lnTo>
                    <a:lnTo>
                      <a:pt x="12" y="16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Freeform 406"/>
              <p:cNvSpPr>
                <a:spLocks/>
              </p:cNvSpPr>
              <p:nvPr/>
            </p:nvSpPr>
            <p:spPr bwMode="auto">
              <a:xfrm>
                <a:off x="485" y="1503"/>
                <a:ext cx="12" cy="20"/>
              </a:xfrm>
              <a:custGeom>
                <a:avLst/>
                <a:gdLst>
                  <a:gd name="T0" fmla="*/ 6 w 12"/>
                  <a:gd name="T1" fmla="*/ 0 h 20"/>
                  <a:gd name="T2" fmla="*/ 6 w 12"/>
                  <a:gd name="T3" fmla="*/ 0 h 20"/>
                  <a:gd name="T4" fmla="*/ 0 w 12"/>
                  <a:gd name="T5" fmla="*/ 4 h 20"/>
                  <a:gd name="T6" fmla="*/ 6 w 12"/>
                  <a:gd name="T7" fmla="*/ 20 h 20"/>
                  <a:gd name="T8" fmla="*/ 12 w 12"/>
                  <a:gd name="T9" fmla="*/ 16 h 20"/>
                  <a:gd name="T10" fmla="*/ 12 w 12"/>
                  <a:gd name="T11" fmla="*/ 20 h 20"/>
                  <a:gd name="T12" fmla="*/ 6 w 12"/>
                  <a:gd name="T13" fmla="*/ 0 h 20"/>
                  <a:gd name="T14" fmla="*/ 6 w 12"/>
                  <a:gd name="T15" fmla="*/ 0 h 20"/>
                  <a:gd name="T16" fmla="*/ 6 w 12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0">
                    <a:moveTo>
                      <a:pt x="6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6" y="20"/>
                    </a:lnTo>
                    <a:lnTo>
                      <a:pt x="12" y="16"/>
                    </a:lnTo>
                    <a:lnTo>
                      <a:pt x="12" y="2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Freeform 407"/>
              <p:cNvSpPr>
                <a:spLocks/>
              </p:cNvSpPr>
              <p:nvPr/>
            </p:nvSpPr>
            <p:spPr bwMode="auto">
              <a:xfrm>
                <a:off x="491" y="1499"/>
                <a:ext cx="12" cy="24"/>
              </a:xfrm>
              <a:custGeom>
                <a:avLst/>
                <a:gdLst>
                  <a:gd name="T0" fmla="*/ 9 w 12"/>
                  <a:gd name="T1" fmla="*/ 0 h 24"/>
                  <a:gd name="T2" fmla="*/ 6 w 12"/>
                  <a:gd name="T3" fmla="*/ 0 h 24"/>
                  <a:gd name="T4" fmla="*/ 0 w 12"/>
                  <a:gd name="T5" fmla="*/ 4 h 24"/>
                  <a:gd name="T6" fmla="*/ 6 w 12"/>
                  <a:gd name="T7" fmla="*/ 24 h 24"/>
                  <a:gd name="T8" fmla="*/ 12 w 12"/>
                  <a:gd name="T9" fmla="*/ 20 h 24"/>
                  <a:gd name="T10" fmla="*/ 12 w 12"/>
                  <a:gd name="T11" fmla="*/ 20 h 24"/>
                  <a:gd name="T12" fmla="*/ 9 w 12"/>
                  <a:gd name="T13" fmla="*/ 0 h 24"/>
                  <a:gd name="T14" fmla="*/ 6 w 12"/>
                  <a:gd name="T15" fmla="*/ 0 h 24"/>
                  <a:gd name="T16" fmla="*/ 6 w 12"/>
                  <a:gd name="T17" fmla="*/ 0 h 24"/>
                  <a:gd name="T18" fmla="*/ 9 w 12"/>
                  <a:gd name="T1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24">
                    <a:moveTo>
                      <a:pt x="9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6" y="24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Freeform 408"/>
              <p:cNvSpPr>
                <a:spLocks/>
              </p:cNvSpPr>
              <p:nvPr/>
            </p:nvSpPr>
            <p:spPr bwMode="auto">
              <a:xfrm>
                <a:off x="500" y="1495"/>
                <a:ext cx="9" cy="24"/>
              </a:xfrm>
              <a:custGeom>
                <a:avLst/>
                <a:gdLst>
                  <a:gd name="T0" fmla="*/ 6 w 9"/>
                  <a:gd name="T1" fmla="*/ 0 h 24"/>
                  <a:gd name="T2" fmla="*/ 6 w 9"/>
                  <a:gd name="T3" fmla="*/ 0 h 24"/>
                  <a:gd name="T4" fmla="*/ 0 w 9"/>
                  <a:gd name="T5" fmla="*/ 4 h 24"/>
                  <a:gd name="T6" fmla="*/ 3 w 9"/>
                  <a:gd name="T7" fmla="*/ 24 h 24"/>
                  <a:gd name="T8" fmla="*/ 9 w 9"/>
                  <a:gd name="T9" fmla="*/ 20 h 24"/>
                  <a:gd name="T10" fmla="*/ 9 w 9"/>
                  <a:gd name="T11" fmla="*/ 20 h 24"/>
                  <a:gd name="T12" fmla="*/ 6 w 9"/>
                  <a:gd name="T13" fmla="*/ 0 h 24"/>
                  <a:gd name="T14" fmla="*/ 6 w 9"/>
                  <a:gd name="T15" fmla="*/ 0 h 24"/>
                  <a:gd name="T16" fmla="*/ 6 w 9"/>
                  <a:gd name="T1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24">
                    <a:moveTo>
                      <a:pt x="6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3" y="24"/>
                    </a:lnTo>
                    <a:lnTo>
                      <a:pt x="9" y="20"/>
                    </a:lnTo>
                    <a:lnTo>
                      <a:pt x="9" y="2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Freeform 409"/>
              <p:cNvSpPr>
                <a:spLocks/>
              </p:cNvSpPr>
              <p:nvPr/>
            </p:nvSpPr>
            <p:spPr bwMode="auto">
              <a:xfrm>
                <a:off x="506" y="1495"/>
                <a:ext cx="12" cy="20"/>
              </a:xfrm>
              <a:custGeom>
                <a:avLst/>
                <a:gdLst>
                  <a:gd name="T0" fmla="*/ 9 w 12"/>
                  <a:gd name="T1" fmla="*/ 0 h 20"/>
                  <a:gd name="T2" fmla="*/ 6 w 12"/>
                  <a:gd name="T3" fmla="*/ 0 h 20"/>
                  <a:gd name="T4" fmla="*/ 0 w 12"/>
                  <a:gd name="T5" fmla="*/ 0 h 20"/>
                  <a:gd name="T6" fmla="*/ 3 w 12"/>
                  <a:gd name="T7" fmla="*/ 20 h 20"/>
                  <a:gd name="T8" fmla="*/ 12 w 12"/>
                  <a:gd name="T9" fmla="*/ 16 h 20"/>
                  <a:gd name="T10" fmla="*/ 12 w 12"/>
                  <a:gd name="T11" fmla="*/ 16 h 20"/>
                  <a:gd name="T12" fmla="*/ 9 w 12"/>
                  <a:gd name="T13" fmla="*/ 0 h 20"/>
                  <a:gd name="T14" fmla="*/ 6 w 12"/>
                  <a:gd name="T15" fmla="*/ 0 h 20"/>
                  <a:gd name="T16" fmla="*/ 6 w 12"/>
                  <a:gd name="T17" fmla="*/ 0 h 20"/>
                  <a:gd name="T18" fmla="*/ 9 w 12"/>
                  <a:gd name="T1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20">
                    <a:moveTo>
                      <a:pt x="9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3" y="20"/>
                    </a:lnTo>
                    <a:lnTo>
                      <a:pt x="12" y="16"/>
                    </a:lnTo>
                    <a:lnTo>
                      <a:pt x="12" y="16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410"/>
              <p:cNvSpPr>
                <a:spLocks/>
              </p:cNvSpPr>
              <p:nvPr/>
            </p:nvSpPr>
            <p:spPr bwMode="auto">
              <a:xfrm>
                <a:off x="515" y="1491"/>
                <a:ext cx="10" cy="20"/>
              </a:xfrm>
              <a:custGeom>
                <a:avLst/>
                <a:gdLst>
                  <a:gd name="T0" fmla="*/ 6 w 10"/>
                  <a:gd name="T1" fmla="*/ 0 h 20"/>
                  <a:gd name="T2" fmla="*/ 6 w 10"/>
                  <a:gd name="T3" fmla="*/ 0 h 20"/>
                  <a:gd name="T4" fmla="*/ 0 w 10"/>
                  <a:gd name="T5" fmla="*/ 4 h 20"/>
                  <a:gd name="T6" fmla="*/ 3 w 10"/>
                  <a:gd name="T7" fmla="*/ 20 h 20"/>
                  <a:gd name="T8" fmla="*/ 10 w 10"/>
                  <a:gd name="T9" fmla="*/ 20 h 20"/>
                  <a:gd name="T10" fmla="*/ 10 w 10"/>
                  <a:gd name="T11" fmla="*/ 20 h 20"/>
                  <a:gd name="T12" fmla="*/ 6 w 10"/>
                  <a:gd name="T13" fmla="*/ 0 h 20"/>
                  <a:gd name="T14" fmla="*/ 6 w 10"/>
                  <a:gd name="T15" fmla="*/ 0 h 20"/>
                  <a:gd name="T16" fmla="*/ 6 w 10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20">
                    <a:moveTo>
                      <a:pt x="6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3" y="20"/>
                    </a:lnTo>
                    <a:lnTo>
                      <a:pt x="10" y="20"/>
                    </a:lnTo>
                    <a:lnTo>
                      <a:pt x="10" y="2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411"/>
              <p:cNvSpPr>
                <a:spLocks/>
              </p:cNvSpPr>
              <p:nvPr/>
            </p:nvSpPr>
            <p:spPr bwMode="auto">
              <a:xfrm>
                <a:off x="521" y="1491"/>
                <a:ext cx="10" cy="20"/>
              </a:xfrm>
              <a:custGeom>
                <a:avLst/>
                <a:gdLst>
                  <a:gd name="T0" fmla="*/ 10 w 10"/>
                  <a:gd name="T1" fmla="*/ 0 h 20"/>
                  <a:gd name="T2" fmla="*/ 10 w 10"/>
                  <a:gd name="T3" fmla="*/ 0 h 20"/>
                  <a:gd name="T4" fmla="*/ 0 w 10"/>
                  <a:gd name="T5" fmla="*/ 0 h 20"/>
                  <a:gd name="T6" fmla="*/ 4 w 10"/>
                  <a:gd name="T7" fmla="*/ 20 h 20"/>
                  <a:gd name="T8" fmla="*/ 10 w 10"/>
                  <a:gd name="T9" fmla="*/ 16 h 20"/>
                  <a:gd name="T10" fmla="*/ 10 w 10"/>
                  <a:gd name="T11" fmla="*/ 16 h 20"/>
                  <a:gd name="T12" fmla="*/ 10 w 10"/>
                  <a:gd name="T13" fmla="*/ 0 h 20"/>
                  <a:gd name="T14" fmla="*/ 10 w 10"/>
                  <a:gd name="T15" fmla="*/ 0 h 20"/>
                  <a:gd name="T16" fmla="*/ 10 w 10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20">
                    <a:moveTo>
                      <a:pt x="10" y="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4" y="20"/>
                    </a:lnTo>
                    <a:lnTo>
                      <a:pt x="10" y="16"/>
                    </a:lnTo>
                    <a:lnTo>
                      <a:pt x="10" y="16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Freeform 412"/>
              <p:cNvSpPr>
                <a:spLocks/>
              </p:cNvSpPr>
              <p:nvPr/>
            </p:nvSpPr>
            <p:spPr bwMode="auto">
              <a:xfrm>
                <a:off x="531" y="1491"/>
                <a:ext cx="9" cy="16"/>
              </a:xfrm>
              <a:custGeom>
                <a:avLst/>
                <a:gdLst>
                  <a:gd name="T0" fmla="*/ 6 w 9"/>
                  <a:gd name="T1" fmla="*/ 0 h 16"/>
                  <a:gd name="T2" fmla="*/ 6 w 9"/>
                  <a:gd name="T3" fmla="*/ 0 h 16"/>
                  <a:gd name="T4" fmla="*/ 0 w 9"/>
                  <a:gd name="T5" fmla="*/ 0 h 16"/>
                  <a:gd name="T6" fmla="*/ 0 w 9"/>
                  <a:gd name="T7" fmla="*/ 16 h 16"/>
                  <a:gd name="T8" fmla="*/ 9 w 9"/>
                  <a:gd name="T9" fmla="*/ 16 h 16"/>
                  <a:gd name="T10" fmla="*/ 6 w 9"/>
                  <a:gd name="T11" fmla="*/ 16 h 16"/>
                  <a:gd name="T12" fmla="*/ 6 w 9"/>
                  <a:gd name="T13" fmla="*/ 0 h 16"/>
                  <a:gd name="T14" fmla="*/ 6 w 9"/>
                  <a:gd name="T15" fmla="*/ 0 h 16"/>
                  <a:gd name="T16" fmla="*/ 6 w 9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16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9" y="16"/>
                    </a:lnTo>
                    <a:lnTo>
                      <a:pt x="6" y="16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AutoShape 418"/>
              <p:cNvSpPr>
                <a:spLocks noChangeArrowheads="1"/>
              </p:cNvSpPr>
              <p:nvPr/>
            </p:nvSpPr>
            <p:spPr bwMode="auto">
              <a:xfrm>
                <a:off x="384" y="2112"/>
                <a:ext cx="765" cy="576"/>
              </a:xfrm>
              <a:prstGeom prst="parallelogram">
                <a:avLst>
                  <a:gd name="adj" fmla="val 20315"/>
                </a:avLst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" name="AutoShape 191"/>
              <p:cNvSpPr>
                <a:spLocks noChangeArrowheads="1"/>
              </p:cNvSpPr>
              <p:nvPr/>
            </p:nvSpPr>
            <p:spPr bwMode="auto">
              <a:xfrm rot="178329">
                <a:off x="480" y="2256"/>
                <a:ext cx="528" cy="288"/>
              </a:xfrm>
              <a:prstGeom prst="parallelogram">
                <a:avLst>
                  <a:gd name="adj" fmla="val 15626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1400" dirty="0">
                  <a:solidFill>
                    <a:srgbClr val="4C4D4F"/>
                  </a:solidFill>
                  <a:latin typeface="+mn-ea"/>
                </a:endParaRPr>
              </a:p>
            </p:txBody>
          </p:sp>
        </p:grpSp>
        <p:sp>
          <p:nvSpPr>
            <p:cNvPr id="739" name="Rectangle 111"/>
            <p:cNvSpPr>
              <a:spLocks noChangeArrowheads="1"/>
            </p:cNvSpPr>
            <p:nvPr/>
          </p:nvSpPr>
          <p:spPr bwMode="auto">
            <a:xfrm>
              <a:off x="5408949" y="4127002"/>
              <a:ext cx="1622240" cy="425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订单</a:t>
              </a:r>
              <a:r>
                <a:rPr lang="en-US" altLang="zh-CN" sz="1200" b="1" i="1" dirty="0" smtClean="0">
                  <a:solidFill>
                    <a:srgbClr val="0033CC"/>
                  </a:solidFill>
                </a:rPr>
                <a:t>BOM(</a:t>
              </a:r>
              <a:r>
                <a:rPr lang="zh-CN" altLang="en-US" sz="1200" b="1" i="1" dirty="0" smtClean="0">
                  <a:solidFill>
                    <a:srgbClr val="0033CC"/>
                  </a:solidFill>
                </a:rPr>
                <a:t>实例</a:t>
              </a:r>
              <a:r>
                <a:rPr lang="en-US" altLang="zh-CN" sz="1200" b="1" i="1" dirty="0" smtClean="0">
                  <a:solidFill>
                    <a:srgbClr val="0033CC"/>
                  </a:solidFill>
                </a:rPr>
                <a:t>BOM</a:t>
              </a:r>
              <a:r>
                <a:rPr lang="en-US" altLang="zh-CN" sz="1200" b="1" i="1" dirty="0">
                  <a:solidFill>
                    <a:srgbClr val="0033CC"/>
                  </a:solidFill>
                </a:rPr>
                <a:t>)</a:t>
              </a:r>
              <a:endParaRPr lang="en-US" altLang="zh-CN" sz="1200" b="1" i="1" dirty="0" smtClean="0">
                <a:solidFill>
                  <a:srgbClr val="0033CC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物料需求计划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233776" y="1947283"/>
            <a:ext cx="1113665" cy="2650711"/>
            <a:chOff x="4233776" y="1947283"/>
            <a:chExt cx="1113665" cy="2650711"/>
          </a:xfrm>
        </p:grpSpPr>
        <p:grpSp>
          <p:nvGrpSpPr>
            <p:cNvPr id="12" name="组合 11"/>
            <p:cNvGrpSpPr/>
            <p:nvPr/>
          </p:nvGrpSpPr>
          <p:grpSpPr>
            <a:xfrm>
              <a:off x="4233776" y="3997345"/>
              <a:ext cx="596292" cy="600649"/>
              <a:chOff x="4233776" y="3997345"/>
              <a:chExt cx="596292" cy="600649"/>
            </a:xfrm>
          </p:grpSpPr>
          <p:sp>
            <p:nvSpPr>
              <p:cNvPr id="641" name="AutoShape 23"/>
              <p:cNvSpPr>
                <a:spLocks noChangeArrowheads="1"/>
              </p:cNvSpPr>
              <p:nvPr/>
            </p:nvSpPr>
            <p:spPr bwMode="auto">
              <a:xfrm>
                <a:off x="4233776" y="3997345"/>
                <a:ext cx="596292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642" name="TextBox 641"/>
              <p:cNvSpPr txBox="1"/>
              <p:nvPr/>
            </p:nvSpPr>
            <p:spPr>
              <a:xfrm>
                <a:off x="4250251" y="4105551"/>
                <a:ext cx="56334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cxnSp>
          <p:nvCxnSpPr>
            <p:cNvPr id="6" name="肘形连接符 5"/>
            <p:cNvCxnSpPr>
              <a:stCxn id="471" idx="2"/>
              <a:endCxn id="641" idx="3"/>
            </p:cNvCxnSpPr>
            <p:nvPr/>
          </p:nvCxnSpPr>
          <p:spPr>
            <a:xfrm rot="5400000">
              <a:off x="3865555" y="2911796"/>
              <a:ext cx="2309102" cy="380075"/>
            </a:xfrm>
            <a:prstGeom prst="bentConnector2">
              <a:avLst/>
            </a:prstGeom>
            <a:ln w="57150">
              <a:solidFill>
                <a:schemeClr val="accent3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4" name="AutoShape 397"/>
            <p:cNvSpPr>
              <a:spLocks noChangeArrowheads="1"/>
            </p:cNvSpPr>
            <p:nvPr/>
          </p:nvSpPr>
          <p:spPr bwMode="auto">
            <a:xfrm rot="5400000">
              <a:off x="4789609" y="2843423"/>
              <a:ext cx="852849" cy="262815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pPr marL="171450" indent="-171450" algn="ctr"/>
              <a:r>
                <a:rPr lang="zh-CN" altLang="en-US" sz="900" b="1" dirty="0">
                  <a:latin typeface="宋体" pitchFamily="2" charset="-122"/>
                  <a:ea typeface="宋体" pitchFamily="2" charset="-122"/>
                </a:rPr>
                <a:t>发放</a:t>
              </a:r>
              <a:endParaRPr lang="en-US" altLang="zh-CN" sz="900" b="1" dirty="0"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743200" y="3838590"/>
            <a:ext cx="2401390" cy="2585109"/>
            <a:chOff x="1743200" y="3838590"/>
            <a:chExt cx="2401390" cy="2585109"/>
          </a:xfrm>
        </p:grpSpPr>
        <p:grpSp>
          <p:nvGrpSpPr>
            <p:cNvPr id="554" name="组合 553"/>
            <p:cNvGrpSpPr/>
            <p:nvPr/>
          </p:nvGrpSpPr>
          <p:grpSpPr>
            <a:xfrm>
              <a:off x="1743200" y="4119442"/>
              <a:ext cx="2401390" cy="2304257"/>
              <a:chOff x="5606909" y="1335608"/>
              <a:chExt cx="2401390" cy="2304257"/>
            </a:xfrm>
          </p:grpSpPr>
          <p:grpSp>
            <p:nvGrpSpPr>
              <p:cNvPr id="556" name="组合 555"/>
              <p:cNvGrpSpPr/>
              <p:nvPr/>
            </p:nvGrpSpPr>
            <p:grpSpPr>
              <a:xfrm>
                <a:off x="5606909" y="1335608"/>
                <a:ext cx="2401390" cy="2304257"/>
                <a:chOff x="5606909" y="1335608"/>
                <a:chExt cx="2401390" cy="2304257"/>
              </a:xfrm>
            </p:grpSpPr>
            <p:grpSp>
              <p:nvGrpSpPr>
                <p:cNvPr id="600" name="组合 599"/>
                <p:cNvGrpSpPr/>
                <p:nvPr/>
              </p:nvGrpSpPr>
              <p:grpSpPr>
                <a:xfrm>
                  <a:off x="5606909" y="1335608"/>
                  <a:ext cx="2401390" cy="2304257"/>
                  <a:chOff x="5606909" y="1335608"/>
                  <a:chExt cx="2401390" cy="2304257"/>
                </a:xfrm>
              </p:grpSpPr>
              <p:sp>
                <p:nvSpPr>
                  <p:cNvPr id="602" name="Text Box 281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6067658" y="2598667"/>
                    <a:ext cx="1688270" cy="78505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 algn="ctr">
                    <a:solidFill>
                      <a:srgbClr val="FF6600"/>
                    </a:solidFill>
                    <a:miter lim="800000"/>
                    <a:headEnd/>
                    <a:tailEnd/>
                  </a:ln>
                </p:spPr>
                <p:txBody>
                  <a:bodyPr lIns="92075" tIns="46038" rIns="92075" bIns="46038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de-DE" sz="11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603" name="组合 602"/>
                  <p:cNvGrpSpPr/>
                  <p:nvPr/>
                </p:nvGrpSpPr>
                <p:grpSpPr>
                  <a:xfrm>
                    <a:off x="5606909" y="1335608"/>
                    <a:ext cx="2401390" cy="2304257"/>
                    <a:chOff x="1329855" y="2222932"/>
                    <a:chExt cx="2590965" cy="2835451"/>
                  </a:xfrm>
                </p:grpSpPr>
                <p:grpSp>
                  <p:nvGrpSpPr>
                    <p:cNvPr id="605" name="组合 604"/>
                    <p:cNvGrpSpPr/>
                    <p:nvPr/>
                  </p:nvGrpSpPr>
                  <p:grpSpPr>
                    <a:xfrm>
                      <a:off x="1519787" y="2222932"/>
                      <a:ext cx="2401033" cy="2447968"/>
                      <a:chOff x="1519787" y="2222932"/>
                      <a:chExt cx="2401033" cy="2447968"/>
                    </a:xfrm>
                  </p:grpSpPr>
                  <p:sp>
                    <p:nvSpPr>
                      <p:cNvPr id="632" name="AutoShape 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19787" y="2222932"/>
                        <a:ext cx="2401033" cy="2447968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FFFF99"/>
                      </a:solidFill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lIns="92075" tIns="46038" rIns="92075" bIns="46038" anchor="ctr"/>
                      <a:lstStyle/>
                      <a:p>
                        <a:pPr marL="171450" indent="-171450">
                          <a:buFontTx/>
                          <a:buChar char="•"/>
                        </a:pPr>
                        <a:endParaRPr lang="zh-CN" altLang="zh-CN" sz="1200" b="1"/>
                      </a:p>
                    </p:txBody>
                  </p:sp>
                  <p:pic>
                    <p:nvPicPr>
                      <p:cNvPr id="633" name="Picture 212" descr="structure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4384" y="2359962"/>
                        <a:ext cx="193132" cy="1444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634" name="Text Box 2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09247" y="2291293"/>
                        <a:ext cx="1432830" cy="384721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 eaLnBrk="0" hangingPunct="0">
                          <a:defRPr/>
                        </a:pP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装载机</a:t>
                        </a:r>
                        <a:r>
                          <a:rPr lang="en-US" altLang="zh-CN" sz="900" b="1" kern="0" dirty="0" smtClean="0">
                            <a:solidFill>
                              <a:sysClr val="windowText" lastClr="000000"/>
                            </a:solidFill>
                            <a:ea typeface="宋体" pitchFamily="2" charset="-122"/>
                          </a:rPr>
                          <a:t>64F0282</a:t>
                        </a: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系列</a:t>
                        </a:r>
                        <a:endParaRPr lang="en-US" altLang="zh-CN" sz="900" b="1" kern="0" dirty="0">
                          <a:solidFill>
                            <a:sysClr val="windowText" lastClr="000000"/>
                          </a:solidFill>
                          <a:latin typeface="宋体" pitchFamily="2" charset="-122"/>
                          <a:ea typeface="宋体" pitchFamily="2" charset="-122"/>
                        </a:endParaRPr>
                      </a:p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606" name="AutoShape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29855" y="2538919"/>
                      <a:ext cx="2401033" cy="2519464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FFFF99"/>
                    </a:solidFill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2075" tIns="46038" rIns="92075" bIns="46038" anchor="ctr"/>
                    <a:lstStyle/>
                    <a:p>
                      <a:pPr marL="171450" indent="-171450">
                        <a:buFontTx/>
                        <a:buChar char="•"/>
                      </a:pPr>
                      <a:endParaRPr lang="zh-CN" altLang="zh-CN" sz="1200" b="1"/>
                    </a:p>
                  </p:txBody>
                </p:sp>
                <p:grpSp>
                  <p:nvGrpSpPr>
                    <p:cNvPr id="607" name="组合 606"/>
                    <p:cNvGrpSpPr/>
                    <p:nvPr/>
                  </p:nvGrpSpPr>
                  <p:grpSpPr>
                    <a:xfrm>
                      <a:off x="1446261" y="2641928"/>
                      <a:ext cx="2284627" cy="2326543"/>
                      <a:chOff x="1446261" y="2641928"/>
                      <a:chExt cx="2284627" cy="2326543"/>
                    </a:xfrm>
                  </p:grpSpPr>
                  <p:cxnSp>
                    <p:nvCxnSpPr>
                      <p:cNvPr id="608" name="AutoShape 181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457433" y="3593542"/>
                        <a:ext cx="131947" cy="895101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cxnSp>
                    <p:nvCxnSpPr>
                      <p:cNvPr id="609" name="AutoShape 182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331910" y="3719065"/>
                        <a:ext cx="406951" cy="919062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grpSp>
                    <p:nvGrpSpPr>
                      <p:cNvPr id="610" name="Group 19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91514" y="4545971"/>
                        <a:ext cx="636670" cy="230560"/>
                        <a:chOff x="4637" y="2608"/>
                        <a:chExt cx="372" cy="166"/>
                      </a:xfrm>
                    </p:grpSpPr>
                    <p:pic>
                      <p:nvPicPr>
                        <p:cNvPr id="630" name="Picture 184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7" y="2617"/>
                          <a:ext cx="153" cy="1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631" name="Text Box 185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66" y="2608"/>
                          <a:ext cx="243" cy="166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900" kern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侧卸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611" name="Group 19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94944" y="4275138"/>
                        <a:ext cx="628113" cy="254173"/>
                        <a:chOff x="4651" y="2805"/>
                        <a:chExt cx="367" cy="183"/>
                      </a:xfrm>
                    </p:grpSpPr>
                    <p:pic>
                      <p:nvPicPr>
                        <p:cNvPr id="628" name="Picture 187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1" y="2816"/>
                          <a:ext cx="153" cy="1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629" name="Text Box 188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54" y="2805"/>
                          <a:ext cx="264" cy="183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05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</a:rPr>
                            <a:t> </a:t>
                          </a:r>
                          <a:r>
                            <a:rPr lang="zh-CN" altLang="en-US" sz="900" kern="0" noProof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抱叉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cxnSp>
                    <p:nvCxnSpPr>
                      <p:cNvPr id="612" name="AutoShape 189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194571" y="3856568"/>
                        <a:ext cx="683344" cy="919062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grpSp>
                    <p:nvGrpSpPr>
                      <p:cNvPr id="613" name="Group 19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84683" y="4008453"/>
                        <a:ext cx="746205" cy="254170"/>
                        <a:chOff x="4651" y="3009"/>
                        <a:chExt cx="436" cy="183"/>
                      </a:xfrm>
                    </p:grpSpPr>
                    <p:pic>
                      <p:nvPicPr>
                        <p:cNvPr id="626" name="Picture 191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1" y="3015"/>
                          <a:ext cx="152" cy="1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627" name="Text Box 192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55" y="3009"/>
                          <a:ext cx="332" cy="183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05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</a:rPr>
                            <a:t> </a:t>
                          </a:r>
                          <a:r>
                            <a:rPr lang="zh-CN" altLang="en-US" sz="900" kern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除雪铲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sp>
                    <p:nvSpPr>
                      <p:cNvPr id="614" name="Text Box 20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161262" y="3780556"/>
                        <a:ext cx="761747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noProof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三联阀属具</a:t>
                        </a:r>
                        <a:endParaRPr kumimoji="0" lang="en-US" sz="9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cxnSp>
                    <p:nvCxnSpPr>
                      <p:cNvPr id="615" name="AutoShape 202"/>
                      <p:cNvCxnSpPr>
                        <a:cxnSpLocks noChangeShapeType="1"/>
                        <a:endCxn id="616" idx="1"/>
                      </p:cNvCxnSpPr>
                      <p:nvPr/>
                    </p:nvCxnSpPr>
                    <p:spPr bwMode="auto">
                      <a:xfrm rot="16200000" flipH="1">
                        <a:off x="1245883" y="3189460"/>
                        <a:ext cx="1000016" cy="406127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616" name="Picture 204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8954" y="3809858"/>
                        <a:ext cx="224636" cy="16534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cxnSp>
                    <p:nvCxnSpPr>
                      <p:cNvPr id="617" name="AutoShape 210"/>
                      <p:cNvCxnSpPr>
                        <a:cxnSpLocks noChangeShapeType="1"/>
                        <a:stCxn id="618" idx="2"/>
                        <a:endCxn id="624" idx="1"/>
                      </p:cNvCxnSpPr>
                      <p:nvPr/>
                    </p:nvCxnSpPr>
                    <p:spPr bwMode="auto">
                      <a:xfrm rot="16200000" flipH="1">
                        <a:off x="1541006" y="2837381"/>
                        <a:ext cx="385113" cy="381470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618" name="Picture 212" descr="structure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61" y="2691141"/>
                        <a:ext cx="193132" cy="1444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619" name="Text Box 2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570852" y="2641928"/>
                        <a:ext cx="1432830" cy="384721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 eaLnBrk="0" hangingPunct="0">
                          <a:defRPr/>
                        </a:pP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装载机</a:t>
                        </a:r>
                        <a:r>
                          <a:rPr lang="en-US" altLang="zh-CN" sz="900" b="1" kern="0" dirty="0">
                            <a:solidFill>
                              <a:sysClr val="windowText" lastClr="000000"/>
                            </a:solidFill>
                            <a:ea typeface="宋体" pitchFamily="2" charset="-122"/>
                          </a:rPr>
                          <a:t>64F0281</a:t>
                        </a:r>
                        <a:r>
                          <a:rPr lang="zh-CN" altLang="en-US" sz="900" b="1" kern="0" dirty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系列</a:t>
                        </a:r>
                        <a:endParaRPr lang="en-US" altLang="zh-CN" sz="900" b="1" kern="0" dirty="0">
                          <a:solidFill>
                            <a:sysClr val="windowText" lastClr="000000"/>
                          </a:solidFill>
                          <a:latin typeface="宋体" pitchFamily="2" charset="-122"/>
                          <a:ea typeface="宋体" pitchFamily="2" charset="-122"/>
                        </a:endParaRPr>
                      </a:p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cxnSp>
                    <p:nvCxnSpPr>
                      <p:cNvPr id="620" name="AutoShape 217"/>
                      <p:cNvCxnSpPr>
                        <a:cxnSpLocks noChangeShapeType="1"/>
                        <a:stCxn id="618" idx="2"/>
                      </p:cNvCxnSpPr>
                      <p:nvPr/>
                    </p:nvCxnSpPr>
                    <p:spPr bwMode="auto">
                      <a:xfrm rot="16200000" flipH="1">
                        <a:off x="618286" y="3760100"/>
                        <a:ext cx="2060706" cy="211625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621" name="Picture 221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818" y="3365092"/>
                        <a:ext cx="224636" cy="166395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622" name="Text Box 22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93794" y="3340395"/>
                        <a:ext cx="877163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转向油缸总成</a:t>
                        </a:r>
                        <a:endPara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sp>
                    <p:nvSpPr>
                      <p:cNvPr id="623" name="Text Box 22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105103" y="3123348"/>
                        <a:ext cx="877163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转向阀及管路</a:t>
                        </a:r>
                        <a:endPara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pic>
                    <p:nvPicPr>
                      <p:cNvPr id="624" name="Picture 224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298" y="3137999"/>
                        <a:ext cx="224636" cy="16534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625" name="Text Box 22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61291" y="4730444"/>
                        <a:ext cx="699819" cy="238027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400" kern="0" noProof="0" dirty="0" smtClean="0">
                            <a:solidFill>
                              <a:sysClr val="windowText" lastClr="000000"/>
                            </a:solidFill>
                          </a:rPr>
                          <a:t>……….</a:t>
                        </a:r>
                        <a:endPara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sp>
                <p:nvSpPr>
                  <p:cNvPr id="604" name="AutoShape 119"/>
                  <p:cNvSpPr>
                    <a:spLocks noChangeArrowheads="1"/>
                  </p:cNvSpPr>
                  <p:nvPr/>
                </p:nvSpPr>
                <p:spPr bwMode="auto">
                  <a:xfrm>
                    <a:off x="6108347" y="2813154"/>
                    <a:ext cx="411903" cy="410294"/>
                  </a:xfrm>
                  <a:prstGeom prst="foldedCorner">
                    <a:avLst>
                      <a:gd name="adj" fmla="val 12500"/>
                    </a:avLst>
                  </a:prstGeom>
                  <a:solidFill>
                    <a:srgbClr val="FFFF99"/>
                  </a:solidFill>
                  <a:ln w="12700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 anchor="ctr"/>
                  <a:lstStyle/>
                  <a:p>
                    <a:pPr marL="171450" indent="-171450" algn="ctr"/>
                    <a:r>
                      <a:rPr lang="en-US" altLang="zh-CN" sz="1000" b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宋体" pitchFamily="2" charset="-122"/>
                        <a:ea typeface="宋体" pitchFamily="2" charset="-122"/>
                      </a:rPr>
                      <a:t>OD</a:t>
                    </a:r>
                  </a:p>
                  <a:p>
                    <a:pPr marL="171450" indent="-171450" algn="ctr"/>
                    <a:r>
                      <a:rPr lang="zh-CN" altLang="en-US" sz="900" b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宋体" pitchFamily="2" charset="-122"/>
                        <a:ea typeface="宋体" pitchFamily="2" charset="-122"/>
                      </a:rPr>
                      <a:t>关系</a:t>
                    </a:r>
                    <a:endParaRPr lang="en-US" altLang="zh-CN" sz="9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</p:grpSp>
            <p:pic>
              <p:nvPicPr>
                <p:cNvPr id="601" name="Picture 224" descr="basicnode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989364" y="3467329"/>
                  <a:ext cx="208200" cy="1343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cxnSp>
            <p:nvCxnSpPr>
              <p:cNvPr id="599" name="AutoShape 210"/>
              <p:cNvCxnSpPr>
                <a:cxnSpLocks noChangeShapeType="1"/>
              </p:cNvCxnSpPr>
              <p:nvPr/>
            </p:nvCxnSpPr>
            <p:spPr bwMode="auto">
              <a:xfrm rot="16200000" flipH="1">
                <a:off x="5725049" y="1913405"/>
                <a:ext cx="498974" cy="337030"/>
              </a:xfrm>
              <a:prstGeom prst="bentConnector2">
                <a:avLst/>
              </a:prstGeom>
              <a:noFill/>
              <a:ln w="19050">
                <a:solidFill>
                  <a:srgbClr val="40637A"/>
                </a:solidFill>
                <a:miter lim="800000"/>
                <a:headEnd/>
                <a:tailEnd/>
              </a:ln>
            </p:spPr>
          </p:cxnSp>
        </p:grpSp>
        <p:sp>
          <p:nvSpPr>
            <p:cNvPr id="555" name="Rectangle 8"/>
            <p:cNvSpPr>
              <a:spLocks noChangeArrowheads="1"/>
            </p:cNvSpPr>
            <p:nvPr/>
          </p:nvSpPr>
          <p:spPr bwMode="auto">
            <a:xfrm>
              <a:off x="2367081" y="3838590"/>
              <a:ext cx="1109599" cy="2585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超级   </a:t>
              </a:r>
              <a:r>
                <a:rPr lang="en-US" altLang="zh-CN" sz="1200" b="1" i="1" dirty="0" smtClean="0">
                  <a:solidFill>
                    <a:srgbClr val="0033CC"/>
                  </a:solidFill>
                </a:rPr>
                <a:t>MBOM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044847" y="4119442"/>
            <a:ext cx="1863354" cy="1627790"/>
            <a:chOff x="7044847" y="4119442"/>
            <a:chExt cx="1863354" cy="1627790"/>
          </a:xfrm>
        </p:grpSpPr>
        <p:grpSp>
          <p:nvGrpSpPr>
            <p:cNvPr id="740" name="Group 65"/>
            <p:cNvGrpSpPr>
              <a:grpSpLocks/>
            </p:cNvGrpSpPr>
            <p:nvPr/>
          </p:nvGrpSpPr>
          <p:grpSpPr bwMode="auto">
            <a:xfrm>
              <a:off x="7614388" y="4586769"/>
              <a:ext cx="1293813" cy="1160463"/>
              <a:chOff x="3341" y="2970"/>
              <a:chExt cx="815" cy="731"/>
            </a:xfrm>
          </p:grpSpPr>
          <p:grpSp>
            <p:nvGrpSpPr>
              <p:cNvPr id="741" name="Group 66"/>
              <p:cNvGrpSpPr>
                <a:grpSpLocks/>
              </p:cNvGrpSpPr>
              <p:nvPr/>
            </p:nvGrpSpPr>
            <p:grpSpPr bwMode="auto">
              <a:xfrm>
                <a:off x="3341" y="2970"/>
                <a:ext cx="815" cy="561"/>
                <a:chOff x="3131" y="2346"/>
                <a:chExt cx="1133" cy="957"/>
              </a:xfrm>
            </p:grpSpPr>
            <p:sp>
              <p:nvSpPr>
                <p:cNvPr id="743" name="Freeform 67"/>
                <p:cNvSpPr>
                  <a:spLocks/>
                </p:cNvSpPr>
                <p:nvPr/>
              </p:nvSpPr>
              <p:spPr bwMode="auto">
                <a:xfrm>
                  <a:off x="3131" y="2346"/>
                  <a:ext cx="1133" cy="957"/>
                </a:xfrm>
                <a:custGeom>
                  <a:avLst/>
                  <a:gdLst>
                    <a:gd name="T0" fmla="*/ 272 w 2400"/>
                    <a:gd name="T1" fmla="*/ 766 h 2197"/>
                    <a:gd name="T2" fmla="*/ 295 w 2400"/>
                    <a:gd name="T3" fmla="*/ 749 h 2197"/>
                    <a:gd name="T4" fmla="*/ 318 w 2400"/>
                    <a:gd name="T5" fmla="*/ 736 h 2197"/>
                    <a:gd name="T6" fmla="*/ 344 w 2400"/>
                    <a:gd name="T7" fmla="*/ 720 h 2197"/>
                    <a:gd name="T8" fmla="*/ 375 w 2400"/>
                    <a:gd name="T9" fmla="*/ 709 h 2197"/>
                    <a:gd name="T10" fmla="*/ 405 w 2400"/>
                    <a:gd name="T11" fmla="*/ 698 h 2197"/>
                    <a:gd name="T12" fmla="*/ 435 w 2400"/>
                    <a:gd name="T13" fmla="*/ 692 h 2197"/>
                    <a:gd name="T14" fmla="*/ 464 w 2400"/>
                    <a:gd name="T15" fmla="*/ 694 h 2197"/>
                    <a:gd name="T16" fmla="*/ 493 w 2400"/>
                    <a:gd name="T17" fmla="*/ 703 h 2197"/>
                    <a:gd name="T18" fmla="*/ 513 w 2400"/>
                    <a:gd name="T19" fmla="*/ 722 h 2197"/>
                    <a:gd name="T20" fmla="*/ 531 w 2400"/>
                    <a:gd name="T21" fmla="*/ 753 h 2197"/>
                    <a:gd name="T22" fmla="*/ 540 w 2400"/>
                    <a:gd name="T23" fmla="*/ 798 h 2197"/>
                    <a:gd name="T24" fmla="*/ 799 w 2400"/>
                    <a:gd name="T25" fmla="*/ 775 h 2197"/>
                    <a:gd name="T26" fmla="*/ 829 w 2400"/>
                    <a:gd name="T27" fmla="*/ 758 h 2197"/>
                    <a:gd name="T28" fmla="*/ 852 w 2400"/>
                    <a:gd name="T29" fmla="*/ 749 h 2197"/>
                    <a:gd name="T30" fmla="*/ 879 w 2400"/>
                    <a:gd name="T31" fmla="*/ 737 h 2197"/>
                    <a:gd name="T32" fmla="*/ 909 w 2400"/>
                    <a:gd name="T33" fmla="*/ 730 h 2197"/>
                    <a:gd name="T34" fmla="*/ 936 w 2400"/>
                    <a:gd name="T35" fmla="*/ 724 h 2197"/>
                    <a:gd name="T36" fmla="*/ 964 w 2400"/>
                    <a:gd name="T37" fmla="*/ 724 h 2197"/>
                    <a:gd name="T38" fmla="*/ 989 w 2400"/>
                    <a:gd name="T39" fmla="*/ 730 h 2197"/>
                    <a:gd name="T40" fmla="*/ 1019 w 2400"/>
                    <a:gd name="T41" fmla="*/ 751 h 2197"/>
                    <a:gd name="T42" fmla="*/ 1036 w 2400"/>
                    <a:gd name="T43" fmla="*/ 779 h 2197"/>
                    <a:gd name="T44" fmla="*/ 1048 w 2400"/>
                    <a:gd name="T45" fmla="*/ 817 h 2197"/>
                    <a:gd name="T46" fmla="*/ 1284 w 2400"/>
                    <a:gd name="T47" fmla="*/ 819 h 2197"/>
                    <a:gd name="T48" fmla="*/ 1314 w 2400"/>
                    <a:gd name="T49" fmla="*/ 798 h 2197"/>
                    <a:gd name="T50" fmla="*/ 1339 w 2400"/>
                    <a:gd name="T51" fmla="*/ 785 h 2197"/>
                    <a:gd name="T52" fmla="*/ 1365 w 2400"/>
                    <a:gd name="T53" fmla="*/ 772 h 2197"/>
                    <a:gd name="T54" fmla="*/ 1394 w 2400"/>
                    <a:gd name="T55" fmla="*/ 760 h 2197"/>
                    <a:gd name="T56" fmla="*/ 1422 w 2400"/>
                    <a:gd name="T57" fmla="*/ 753 h 2197"/>
                    <a:gd name="T58" fmla="*/ 1449 w 2400"/>
                    <a:gd name="T59" fmla="*/ 751 h 2197"/>
                    <a:gd name="T60" fmla="*/ 1474 w 2400"/>
                    <a:gd name="T61" fmla="*/ 756 h 2197"/>
                    <a:gd name="T62" fmla="*/ 1500 w 2400"/>
                    <a:gd name="T63" fmla="*/ 777 h 2197"/>
                    <a:gd name="T64" fmla="*/ 1514 w 2400"/>
                    <a:gd name="T65" fmla="*/ 806 h 2197"/>
                    <a:gd name="T66" fmla="*/ 1546 w 2400"/>
                    <a:gd name="T67" fmla="*/ 485 h 2197"/>
                    <a:gd name="T68" fmla="*/ 1573 w 2400"/>
                    <a:gd name="T69" fmla="*/ 106 h 2197"/>
                    <a:gd name="T70" fmla="*/ 1580 w 2400"/>
                    <a:gd name="T71" fmla="*/ 82 h 2197"/>
                    <a:gd name="T72" fmla="*/ 1596 w 2400"/>
                    <a:gd name="T73" fmla="*/ 57 h 2197"/>
                    <a:gd name="T74" fmla="*/ 1618 w 2400"/>
                    <a:gd name="T75" fmla="*/ 32 h 2197"/>
                    <a:gd name="T76" fmla="*/ 1647 w 2400"/>
                    <a:gd name="T77" fmla="*/ 21 h 2197"/>
                    <a:gd name="T78" fmla="*/ 1672 w 2400"/>
                    <a:gd name="T79" fmla="*/ 17 h 2197"/>
                    <a:gd name="T80" fmla="*/ 1698 w 2400"/>
                    <a:gd name="T81" fmla="*/ 17 h 2197"/>
                    <a:gd name="T82" fmla="*/ 2377 w 2400"/>
                    <a:gd name="T83" fmla="*/ 1057 h 2197"/>
                    <a:gd name="T84" fmla="*/ 2389 w 2400"/>
                    <a:gd name="T85" fmla="*/ 1085 h 2197"/>
                    <a:gd name="T86" fmla="*/ 2396 w 2400"/>
                    <a:gd name="T87" fmla="*/ 1121 h 2197"/>
                    <a:gd name="T88" fmla="*/ 2398 w 2400"/>
                    <a:gd name="T89" fmla="*/ 1152 h 2197"/>
                    <a:gd name="T90" fmla="*/ 2390 w 2400"/>
                    <a:gd name="T91" fmla="*/ 1178 h 2197"/>
                    <a:gd name="T92" fmla="*/ 2377 w 2400"/>
                    <a:gd name="T93" fmla="*/ 1205 h 2197"/>
                    <a:gd name="T94" fmla="*/ 2354 w 2400"/>
                    <a:gd name="T95" fmla="*/ 1226 h 2197"/>
                    <a:gd name="T96" fmla="*/ 2326 w 2400"/>
                    <a:gd name="T97" fmla="*/ 1243 h 2197"/>
                    <a:gd name="T98" fmla="*/ 2286 w 2400"/>
                    <a:gd name="T99" fmla="*/ 1256 h 2197"/>
                    <a:gd name="T100" fmla="*/ 2343 w 2400"/>
                    <a:gd name="T101" fmla="*/ 2047 h 2197"/>
                    <a:gd name="T102" fmla="*/ 2293 w 2400"/>
                    <a:gd name="T103" fmla="*/ 2053 h 2197"/>
                    <a:gd name="T104" fmla="*/ 2198 w 2400"/>
                    <a:gd name="T105" fmla="*/ 2064 h 2197"/>
                    <a:gd name="T106" fmla="*/ 2061 w 2400"/>
                    <a:gd name="T107" fmla="*/ 2079 h 2197"/>
                    <a:gd name="T108" fmla="*/ 1890 w 2400"/>
                    <a:gd name="T109" fmla="*/ 2098 h 2197"/>
                    <a:gd name="T110" fmla="*/ 1691 w 2400"/>
                    <a:gd name="T111" fmla="*/ 2117 h 2197"/>
                    <a:gd name="T112" fmla="*/ 1472 w 2400"/>
                    <a:gd name="T113" fmla="*/ 2138 h 2197"/>
                    <a:gd name="T114" fmla="*/ 1236 w 2400"/>
                    <a:gd name="T115" fmla="*/ 2155 h 2197"/>
                    <a:gd name="T116" fmla="*/ 995 w 2400"/>
                    <a:gd name="T117" fmla="*/ 2172 h 2197"/>
                    <a:gd name="T118" fmla="*/ 753 w 2400"/>
                    <a:gd name="T119" fmla="*/ 2186 h 2197"/>
                    <a:gd name="T120" fmla="*/ 515 w 2400"/>
                    <a:gd name="T121" fmla="*/ 2195 h 2197"/>
                    <a:gd name="T122" fmla="*/ 291 w 2400"/>
                    <a:gd name="T123" fmla="*/ 2197 h 2197"/>
                    <a:gd name="T124" fmla="*/ 87 w 2400"/>
                    <a:gd name="T125" fmla="*/ 2193 h 2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2400" h="2197">
                      <a:moveTo>
                        <a:pt x="0" y="2054"/>
                      </a:moveTo>
                      <a:lnTo>
                        <a:pt x="0" y="983"/>
                      </a:lnTo>
                      <a:lnTo>
                        <a:pt x="270" y="768"/>
                      </a:lnTo>
                      <a:lnTo>
                        <a:pt x="270" y="768"/>
                      </a:lnTo>
                      <a:lnTo>
                        <a:pt x="272" y="766"/>
                      </a:lnTo>
                      <a:lnTo>
                        <a:pt x="274" y="762"/>
                      </a:lnTo>
                      <a:lnTo>
                        <a:pt x="280" y="760"/>
                      </a:lnTo>
                      <a:lnTo>
                        <a:pt x="285" y="755"/>
                      </a:lnTo>
                      <a:lnTo>
                        <a:pt x="293" y="751"/>
                      </a:lnTo>
                      <a:lnTo>
                        <a:pt x="295" y="749"/>
                      </a:lnTo>
                      <a:lnTo>
                        <a:pt x="300" y="747"/>
                      </a:lnTo>
                      <a:lnTo>
                        <a:pt x="304" y="743"/>
                      </a:lnTo>
                      <a:lnTo>
                        <a:pt x="310" y="741"/>
                      </a:lnTo>
                      <a:lnTo>
                        <a:pt x="314" y="737"/>
                      </a:lnTo>
                      <a:lnTo>
                        <a:pt x="318" y="736"/>
                      </a:lnTo>
                      <a:lnTo>
                        <a:pt x="323" y="732"/>
                      </a:lnTo>
                      <a:lnTo>
                        <a:pt x="329" y="730"/>
                      </a:lnTo>
                      <a:lnTo>
                        <a:pt x="333" y="726"/>
                      </a:lnTo>
                      <a:lnTo>
                        <a:pt x="339" y="724"/>
                      </a:lnTo>
                      <a:lnTo>
                        <a:pt x="344" y="720"/>
                      </a:lnTo>
                      <a:lnTo>
                        <a:pt x="350" y="718"/>
                      </a:lnTo>
                      <a:lnTo>
                        <a:pt x="356" y="717"/>
                      </a:lnTo>
                      <a:lnTo>
                        <a:pt x="361" y="713"/>
                      </a:lnTo>
                      <a:lnTo>
                        <a:pt x="367" y="711"/>
                      </a:lnTo>
                      <a:lnTo>
                        <a:pt x="375" y="709"/>
                      </a:lnTo>
                      <a:lnTo>
                        <a:pt x="380" y="705"/>
                      </a:lnTo>
                      <a:lnTo>
                        <a:pt x="386" y="703"/>
                      </a:lnTo>
                      <a:lnTo>
                        <a:pt x="392" y="701"/>
                      </a:lnTo>
                      <a:lnTo>
                        <a:pt x="399" y="701"/>
                      </a:lnTo>
                      <a:lnTo>
                        <a:pt x="405" y="698"/>
                      </a:lnTo>
                      <a:lnTo>
                        <a:pt x="411" y="696"/>
                      </a:lnTo>
                      <a:lnTo>
                        <a:pt x="416" y="694"/>
                      </a:lnTo>
                      <a:lnTo>
                        <a:pt x="424" y="694"/>
                      </a:lnTo>
                      <a:lnTo>
                        <a:pt x="430" y="694"/>
                      </a:lnTo>
                      <a:lnTo>
                        <a:pt x="435" y="692"/>
                      </a:lnTo>
                      <a:lnTo>
                        <a:pt x="441" y="692"/>
                      </a:lnTo>
                      <a:lnTo>
                        <a:pt x="449" y="692"/>
                      </a:lnTo>
                      <a:lnTo>
                        <a:pt x="453" y="692"/>
                      </a:lnTo>
                      <a:lnTo>
                        <a:pt x="460" y="692"/>
                      </a:lnTo>
                      <a:lnTo>
                        <a:pt x="464" y="694"/>
                      </a:lnTo>
                      <a:lnTo>
                        <a:pt x="472" y="696"/>
                      </a:lnTo>
                      <a:lnTo>
                        <a:pt x="475" y="696"/>
                      </a:lnTo>
                      <a:lnTo>
                        <a:pt x="481" y="698"/>
                      </a:lnTo>
                      <a:lnTo>
                        <a:pt x="487" y="701"/>
                      </a:lnTo>
                      <a:lnTo>
                        <a:pt x="493" y="703"/>
                      </a:lnTo>
                      <a:lnTo>
                        <a:pt x="496" y="705"/>
                      </a:lnTo>
                      <a:lnTo>
                        <a:pt x="502" y="709"/>
                      </a:lnTo>
                      <a:lnTo>
                        <a:pt x="506" y="713"/>
                      </a:lnTo>
                      <a:lnTo>
                        <a:pt x="510" y="718"/>
                      </a:lnTo>
                      <a:lnTo>
                        <a:pt x="513" y="722"/>
                      </a:lnTo>
                      <a:lnTo>
                        <a:pt x="517" y="728"/>
                      </a:lnTo>
                      <a:lnTo>
                        <a:pt x="521" y="732"/>
                      </a:lnTo>
                      <a:lnTo>
                        <a:pt x="525" y="739"/>
                      </a:lnTo>
                      <a:lnTo>
                        <a:pt x="527" y="745"/>
                      </a:lnTo>
                      <a:lnTo>
                        <a:pt x="531" y="753"/>
                      </a:lnTo>
                      <a:lnTo>
                        <a:pt x="532" y="760"/>
                      </a:lnTo>
                      <a:lnTo>
                        <a:pt x="534" y="770"/>
                      </a:lnTo>
                      <a:lnTo>
                        <a:pt x="536" y="779"/>
                      </a:lnTo>
                      <a:lnTo>
                        <a:pt x="538" y="789"/>
                      </a:lnTo>
                      <a:lnTo>
                        <a:pt x="540" y="798"/>
                      </a:lnTo>
                      <a:lnTo>
                        <a:pt x="542" y="810"/>
                      </a:lnTo>
                      <a:lnTo>
                        <a:pt x="563" y="946"/>
                      </a:lnTo>
                      <a:lnTo>
                        <a:pt x="791" y="783"/>
                      </a:lnTo>
                      <a:lnTo>
                        <a:pt x="793" y="779"/>
                      </a:lnTo>
                      <a:lnTo>
                        <a:pt x="799" y="775"/>
                      </a:lnTo>
                      <a:lnTo>
                        <a:pt x="804" y="772"/>
                      </a:lnTo>
                      <a:lnTo>
                        <a:pt x="810" y="768"/>
                      </a:lnTo>
                      <a:lnTo>
                        <a:pt x="818" y="764"/>
                      </a:lnTo>
                      <a:lnTo>
                        <a:pt x="825" y="760"/>
                      </a:lnTo>
                      <a:lnTo>
                        <a:pt x="829" y="758"/>
                      </a:lnTo>
                      <a:lnTo>
                        <a:pt x="833" y="756"/>
                      </a:lnTo>
                      <a:lnTo>
                        <a:pt x="839" y="755"/>
                      </a:lnTo>
                      <a:lnTo>
                        <a:pt x="842" y="753"/>
                      </a:lnTo>
                      <a:lnTo>
                        <a:pt x="848" y="749"/>
                      </a:lnTo>
                      <a:lnTo>
                        <a:pt x="852" y="749"/>
                      </a:lnTo>
                      <a:lnTo>
                        <a:pt x="858" y="745"/>
                      </a:lnTo>
                      <a:lnTo>
                        <a:pt x="863" y="743"/>
                      </a:lnTo>
                      <a:lnTo>
                        <a:pt x="869" y="741"/>
                      </a:lnTo>
                      <a:lnTo>
                        <a:pt x="873" y="739"/>
                      </a:lnTo>
                      <a:lnTo>
                        <a:pt x="879" y="737"/>
                      </a:lnTo>
                      <a:lnTo>
                        <a:pt x="884" y="736"/>
                      </a:lnTo>
                      <a:lnTo>
                        <a:pt x="890" y="734"/>
                      </a:lnTo>
                      <a:lnTo>
                        <a:pt x="896" y="732"/>
                      </a:lnTo>
                      <a:lnTo>
                        <a:pt x="901" y="730"/>
                      </a:lnTo>
                      <a:lnTo>
                        <a:pt x="909" y="730"/>
                      </a:lnTo>
                      <a:lnTo>
                        <a:pt x="913" y="728"/>
                      </a:lnTo>
                      <a:lnTo>
                        <a:pt x="919" y="726"/>
                      </a:lnTo>
                      <a:lnTo>
                        <a:pt x="924" y="724"/>
                      </a:lnTo>
                      <a:lnTo>
                        <a:pt x="930" y="724"/>
                      </a:lnTo>
                      <a:lnTo>
                        <a:pt x="936" y="724"/>
                      </a:lnTo>
                      <a:lnTo>
                        <a:pt x="941" y="724"/>
                      </a:lnTo>
                      <a:lnTo>
                        <a:pt x="947" y="724"/>
                      </a:lnTo>
                      <a:lnTo>
                        <a:pt x="953" y="724"/>
                      </a:lnTo>
                      <a:lnTo>
                        <a:pt x="958" y="724"/>
                      </a:lnTo>
                      <a:lnTo>
                        <a:pt x="964" y="724"/>
                      </a:lnTo>
                      <a:lnTo>
                        <a:pt x="970" y="724"/>
                      </a:lnTo>
                      <a:lnTo>
                        <a:pt x="976" y="726"/>
                      </a:lnTo>
                      <a:lnTo>
                        <a:pt x="979" y="726"/>
                      </a:lnTo>
                      <a:lnTo>
                        <a:pt x="985" y="728"/>
                      </a:lnTo>
                      <a:lnTo>
                        <a:pt x="989" y="730"/>
                      </a:lnTo>
                      <a:lnTo>
                        <a:pt x="995" y="734"/>
                      </a:lnTo>
                      <a:lnTo>
                        <a:pt x="1004" y="737"/>
                      </a:lnTo>
                      <a:lnTo>
                        <a:pt x="1012" y="743"/>
                      </a:lnTo>
                      <a:lnTo>
                        <a:pt x="1016" y="747"/>
                      </a:lnTo>
                      <a:lnTo>
                        <a:pt x="1019" y="751"/>
                      </a:lnTo>
                      <a:lnTo>
                        <a:pt x="1025" y="756"/>
                      </a:lnTo>
                      <a:lnTo>
                        <a:pt x="1029" y="762"/>
                      </a:lnTo>
                      <a:lnTo>
                        <a:pt x="1031" y="766"/>
                      </a:lnTo>
                      <a:lnTo>
                        <a:pt x="1035" y="772"/>
                      </a:lnTo>
                      <a:lnTo>
                        <a:pt x="1036" y="779"/>
                      </a:lnTo>
                      <a:lnTo>
                        <a:pt x="1040" y="785"/>
                      </a:lnTo>
                      <a:lnTo>
                        <a:pt x="1042" y="793"/>
                      </a:lnTo>
                      <a:lnTo>
                        <a:pt x="1044" y="800"/>
                      </a:lnTo>
                      <a:lnTo>
                        <a:pt x="1046" y="808"/>
                      </a:lnTo>
                      <a:lnTo>
                        <a:pt x="1048" y="817"/>
                      </a:lnTo>
                      <a:lnTo>
                        <a:pt x="1084" y="975"/>
                      </a:lnTo>
                      <a:lnTo>
                        <a:pt x="1270" y="832"/>
                      </a:lnTo>
                      <a:lnTo>
                        <a:pt x="1272" y="829"/>
                      </a:lnTo>
                      <a:lnTo>
                        <a:pt x="1280" y="823"/>
                      </a:lnTo>
                      <a:lnTo>
                        <a:pt x="1284" y="819"/>
                      </a:lnTo>
                      <a:lnTo>
                        <a:pt x="1291" y="815"/>
                      </a:lnTo>
                      <a:lnTo>
                        <a:pt x="1297" y="810"/>
                      </a:lnTo>
                      <a:lnTo>
                        <a:pt x="1306" y="806"/>
                      </a:lnTo>
                      <a:lnTo>
                        <a:pt x="1310" y="802"/>
                      </a:lnTo>
                      <a:lnTo>
                        <a:pt x="1314" y="798"/>
                      </a:lnTo>
                      <a:lnTo>
                        <a:pt x="1318" y="796"/>
                      </a:lnTo>
                      <a:lnTo>
                        <a:pt x="1324" y="794"/>
                      </a:lnTo>
                      <a:lnTo>
                        <a:pt x="1327" y="791"/>
                      </a:lnTo>
                      <a:lnTo>
                        <a:pt x="1333" y="787"/>
                      </a:lnTo>
                      <a:lnTo>
                        <a:pt x="1339" y="785"/>
                      </a:lnTo>
                      <a:lnTo>
                        <a:pt x="1345" y="783"/>
                      </a:lnTo>
                      <a:lnTo>
                        <a:pt x="1348" y="779"/>
                      </a:lnTo>
                      <a:lnTo>
                        <a:pt x="1354" y="777"/>
                      </a:lnTo>
                      <a:lnTo>
                        <a:pt x="1360" y="774"/>
                      </a:lnTo>
                      <a:lnTo>
                        <a:pt x="1365" y="772"/>
                      </a:lnTo>
                      <a:lnTo>
                        <a:pt x="1371" y="768"/>
                      </a:lnTo>
                      <a:lnTo>
                        <a:pt x="1377" y="766"/>
                      </a:lnTo>
                      <a:lnTo>
                        <a:pt x="1383" y="764"/>
                      </a:lnTo>
                      <a:lnTo>
                        <a:pt x="1388" y="762"/>
                      </a:lnTo>
                      <a:lnTo>
                        <a:pt x="1394" y="760"/>
                      </a:lnTo>
                      <a:lnTo>
                        <a:pt x="1400" y="758"/>
                      </a:lnTo>
                      <a:lnTo>
                        <a:pt x="1405" y="756"/>
                      </a:lnTo>
                      <a:lnTo>
                        <a:pt x="1411" y="755"/>
                      </a:lnTo>
                      <a:lnTo>
                        <a:pt x="1415" y="753"/>
                      </a:lnTo>
                      <a:lnTo>
                        <a:pt x="1422" y="753"/>
                      </a:lnTo>
                      <a:lnTo>
                        <a:pt x="1428" y="751"/>
                      </a:lnTo>
                      <a:lnTo>
                        <a:pt x="1434" y="751"/>
                      </a:lnTo>
                      <a:lnTo>
                        <a:pt x="1440" y="751"/>
                      </a:lnTo>
                      <a:lnTo>
                        <a:pt x="1443" y="751"/>
                      </a:lnTo>
                      <a:lnTo>
                        <a:pt x="1449" y="751"/>
                      </a:lnTo>
                      <a:lnTo>
                        <a:pt x="1455" y="751"/>
                      </a:lnTo>
                      <a:lnTo>
                        <a:pt x="1459" y="751"/>
                      </a:lnTo>
                      <a:lnTo>
                        <a:pt x="1464" y="753"/>
                      </a:lnTo>
                      <a:lnTo>
                        <a:pt x="1470" y="755"/>
                      </a:lnTo>
                      <a:lnTo>
                        <a:pt x="1474" y="756"/>
                      </a:lnTo>
                      <a:lnTo>
                        <a:pt x="1481" y="760"/>
                      </a:lnTo>
                      <a:lnTo>
                        <a:pt x="1491" y="766"/>
                      </a:lnTo>
                      <a:lnTo>
                        <a:pt x="1493" y="768"/>
                      </a:lnTo>
                      <a:lnTo>
                        <a:pt x="1499" y="772"/>
                      </a:lnTo>
                      <a:lnTo>
                        <a:pt x="1500" y="777"/>
                      </a:lnTo>
                      <a:lnTo>
                        <a:pt x="1504" y="783"/>
                      </a:lnTo>
                      <a:lnTo>
                        <a:pt x="1506" y="787"/>
                      </a:lnTo>
                      <a:lnTo>
                        <a:pt x="1510" y="793"/>
                      </a:lnTo>
                      <a:lnTo>
                        <a:pt x="1512" y="798"/>
                      </a:lnTo>
                      <a:lnTo>
                        <a:pt x="1514" y="806"/>
                      </a:lnTo>
                      <a:lnTo>
                        <a:pt x="1516" y="813"/>
                      </a:lnTo>
                      <a:lnTo>
                        <a:pt x="1518" y="821"/>
                      </a:lnTo>
                      <a:lnTo>
                        <a:pt x="1519" y="829"/>
                      </a:lnTo>
                      <a:lnTo>
                        <a:pt x="1521" y="838"/>
                      </a:lnTo>
                      <a:lnTo>
                        <a:pt x="1546" y="485"/>
                      </a:lnTo>
                      <a:lnTo>
                        <a:pt x="1571" y="124"/>
                      </a:lnTo>
                      <a:lnTo>
                        <a:pt x="1571" y="122"/>
                      </a:lnTo>
                      <a:lnTo>
                        <a:pt x="1571" y="118"/>
                      </a:lnTo>
                      <a:lnTo>
                        <a:pt x="1571" y="112"/>
                      </a:lnTo>
                      <a:lnTo>
                        <a:pt x="1573" y="106"/>
                      </a:lnTo>
                      <a:lnTo>
                        <a:pt x="1573" y="101"/>
                      </a:lnTo>
                      <a:lnTo>
                        <a:pt x="1575" y="97"/>
                      </a:lnTo>
                      <a:lnTo>
                        <a:pt x="1577" y="91"/>
                      </a:lnTo>
                      <a:lnTo>
                        <a:pt x="1578" y="87"/>
                      </a:lnTo>
                      <a:lnTo>
                        <a:pt x="1580" y="82"/>
                      </a:lnTo>
                      <a:lnTo>
                        <a:pt x="1582" y="78"/>
                      </a:lnTo>
                      <a:lnTo>
                        <a:pt x="1584" y="72"/>
                      </a:lnTo>
                      <a:lnTo>
                        <a:pt x="1588" y="67"/>
                      </a:lnTo>
                      <a:lnTo>
                        <a:pt x="1592" y="61"/>
                      </a:lnTo>
                      <a:lnTo>
                        <a:pt x="1596" y="57"/>
                      </a:lnTo>
                      <a:lnTo>
                        <a:pt x="1599" y="51"/>
                      </a:lnTo>
                      <a:lnTo>
                        <a:pt x="1603" y="48"/>
                      </a:lnTo>
                      <a:lnTo>
                        <a:pt x="1609" y="42"/>
                      </a:lnTo>
                      <a:lnTo>
                        <a:pt x="1613" y="36"/>
                      </a:lnTo>
                      <a:lnTo>
                        <a:pt x="1618" y="32"/>
                      </a:lnTo>
                      <a:lnTo>
                        <a:pt x="1626" y="30"/>
                      </a:lnTo>
                      <a:lnTo>
                        <a:pt x="1634" y="25"/>
                      </a:lnTo>
                      <a:lnTo>
                        <a:pt x="1641" y="23"/>
                      </a:lnTo>
                      <a:lnTo>
                        <a:pt x="1643" y="21"/>
                      </a:lnTo>
                      <a:lnTo>
                        <a:pt x="1647" y="21"/>
                      </a:lnTo>
                      <a:lnTo>
                        <a:pt x="1653" y="19"/>
                      </a:lnTo>
                      <a:lnTo>
                        <a:pt x="1658" y="19"/>
                      </a:lnTo>
                      <a:lnTo>
                        <a:pt x="1662" y="17"/>
                      </a:lnTo>
                      <a:lnTo>
                        <a:pt x="1666" y="17"/>
                      </a:lnTo>
                      <a:lnTo>
                        <a:pt x="1672" y="17"/>
                      </a:lnTo>
                      <a:lnTo>
                        <a:pt x="1677" y="17"/>
                      </a:lnTo>
                      <a:lnTo>
                        <a:pt x="1681" y="15"/>
                      </a:lnTo>
                      <a:lnTo>
                        <a:pt x="1687" y="15"/>
                      </a:lnTo>
                      <a:lnTo>
                        <a:pt x="1693" y="15"/>
                      </a:lnTo>
                      <a:lnTo>
                        <a:pt x="1698" y="17"/>
                      </a:lnTo>
                      <a:lnTo>
                        <a:pt x="2168" y="0"/>
                      </a:lnTo>
                      <a:lnTo>
                        <a:pt x="2370" y="1047"/>
                      </a:lnTo>
                      <a:lnTo>
                        <a:pt x="2371" y="1047"/>
                      </a:lnTo>
                      <a:lnTo>
                        <a:pt x="2375" y="1053"/>
                      </a:lnTo>
                      <a:lnTo>
                        <a:pt x="2377" y="1057"/>
                      </a:lnTo>
                      <a:lnTo>
                        <a:pt x="2379" y="1061"/>
                      </a:lnTo>
                      <a:lnTo>
                        <a:pt x="2381" y="1066"/>
                      </a:lnTo>
                      <a:lnTo>
                        <a:pt x="2383" y="1072"/>
                      </a:lnTo>
                      <a:lnTo>
                        <a:pt x="2385" y="1078"/>
                      </a:lnTo>
                      <a:lnTo>
                        <a:pt x="2389" y="1085"/>
                      </a:lnTo>
                      <a:lnTo>
                        <a:pt x="2390" y="1093"/>
                      </a:lnTo>
                      <a:lnTo>
                        <a:pt x="2392" y="1100"/>
                      </a:lnTo>
                      <a:lnTo>
                        <a:pt x="2394" y="1108"/>
                      </a:lnTo>
                      <a:lnTo>
                        <a:pt x="2396" y="1118"/>
                      </a:lnTo>
                      <a:lnTo>
                        <a:pt x="2396" y="1121"/>
                      </a:lnTo>
                      <a:lnTo>
                        <a:pt x="2398" y="1125"/>
                      </a:lnTo>
                      <a:lnTo>
                        <a:pt x="2398" y="1131"/>
                      </a:lnTo>
                      <a:lnTo>
                        <a:pt x="2400" y="1135"/>
                      </a:lnTo>
                      <a:lnTo>
                        <a:pt x="2398" y="1142"/>
                      </a:lnTo>
                      <a:lnTo>
                        <a:pt x="2398" y="1152"/>
                      </a:lnTo>
                      <a:lnTo>
                        <a:pt x="2396" y="1156"/>
                      </a:lnTo>
                      <a:lnTo>
                        <a:pt x="2396" y="1161"/>
                      </a:lnTo>
                      <a:lnTo>
                        <a:pt x="2394" y="1165"/>
                      </a:lnTo>
                      <a:lnTo>
                        <a:pt x="2394" y="1171"/>
                      </a:lnTo>
                      <a:lnTo>
                        <a:pt x="2390" y="1178"/>
                      </a:lnTo>
                      <a:lnTo>
                        <a:pt x="2387" y="1188"/>
                      </a:lnTo>
                      <a:lnTo>
                        <a:pt x="2385" y="1192"/>
                      </a:lnTo>
                      <a:lnTo>
                        <a:pt x="2383" y="1197"/>
                      </a:lnTo>
                      <a:lnTo>
                        <a:pt x="2379" y="1201"/>
                      </a:lnTo>
                      <a:lnTo>
                        <a:pt x="2377" y="1205"/>
                      </a:lnTo>
                      <a:lnTo>
                        <a:pt x="2371" y="1209"/>
                      </a:lnTo>
                      <a:lnTo>
                        <a:pt x="2368" y="1214"/>
                      </a:lnTo>
                      <a:lnTo>
                        <a:pt x="2364" y="1216"/>
                      </a:lnTo>
                      <a:lnTo>
                        <a:pt x="2360" y="1222"/>
                      </a:lnTo>
                      <a:lnTo>
                        <a:pt x="2354" y="1226"/>
                      </a:lnTo>
                      <a:lnTo>
                        <a:pt x="2349" y="1230"/>
                      </a:lnTo>
                      <a:lnTo>
                        <a:pt x="2343" y="1232"/>
                      </a:lnTo>
                      <a:lnTo>
                        <a:pt x="2339" y="1237"/>
                      </a:lnTo>
                      <a:lnTo>
                        <a:pt x="2332" y="1239"/>
                      </a:lnTo>
                      <a:lnTo>
                        <a:pt x="2326" y="1243"/>
                      </a:lnTo>
                      <a:lnTo>
                        <a:pt x="2318" y="1245"/>
                      </a:lnTo>
                      <a:lnTo>
                        <a:pt x="2311" y="1249"/>
                      </a:lnTo>
                      <a:lnTo>
                        <a:pt x="2303" y="1251"/>
                      </a:lnTo>
                      <a:lnTo>
                        <a:pt x="2295" y="1254"/>
                      </a:lnTo>
                      <a:lnTo>
                        <a:pt x="2286" y="1256"/>
                      </a:lnTo>
                      <a:lnTo>
                        <a:pt x="2278" y="1260"/>
                      </a:lnTo>
                      <a:lnTo>
                        <a:pt x="2383" y="1532"/>
                      </a:lnTo>
                      <a:lnTo>
                        <a:pt x="2349" y="2047"/>
                      </a:lnTo>
                      <a:lnTo>
                        <a:pt x="2347" y="2047"/>
                      </a:lnTo>
                      <a:lnTo>
                        <a:pt x="2343" y="2047"/>
                      </a:lnTo>
                      <a:lnTo>
                        <a:pt x="2337" y="2047"/>
                      </a:lnTo>
                      <a:lnTo>
                        <a:pt x="2330" y="2049"/>
                      </a:lnTo>
                      <a:lnTo>
                        <a:pt x="2320" y="2049"/>
                      </a:lnTo>
                      <a:lnTo>
                        <a:pt x="2309" y="2051"/>
                      </a:lnTo>
                      <a:lnTo>
                        <a:pt x="2293" y="2053"/>
                      </a:lnTo>
                      <a:lnTo>
                        <a:pt x="2280" y="2054"/>
                      </a:lnTo>
                      <a:lnTo>
                        <a:pt x="2261" y="2056"/>
                      </a:lnTo>
                      <a:lnTo>
                        <a:pt x="2242" y="2058"/>
                      </a:lnTo>
                      <a:lnTo>
                        <a:pt x="2221" y="2060"/>
                      </a:lnTo>
                      <a:lnTo>
                        <a:pt x="2198" y="2064"/>
                      </a:lnTo>
                      <a:lnTo>
                        <a:pt x="2174" y="2066"/>
                      </a:lnTo>
                      <a:lnTo>
                        <a:pt x="2147" y="2070"/>
                      </a:lnTo>
                      <a:lnTo>
                        <a:pt x="2120" y="2072"/>
                      </a:lnTo>
                      <a:lnTo>
                        <a:pt x="2092" y="2075"/>
                      </a:lnTo>
                      <a:lnTo>
                        <a:pt x="2061" y="2079"/>
                      </a:lnTo>
                      <a:lnTo>
                        <a:pt x="2029" y="2083"/>
                      </a:lnTo>
                      <a:lnTo>
                        <a:pt x="1995" y="2087"/>
                      </a:lnTo>
                      <a:lnTo>
                        <a:pt x="1963" y="2091"/>
                      </a:lnTo>
                      <a:lnTo>
                        <a:pt x="1926" y="2094"/>
                      </a:lnTo>
                      <a:lnTo>
                        <a:pt x="1890" y="2098"/>
                      </a:lnTo>
                      <a:lnTo>
                        <a:pt x="1852" y="2100"/>
                      </a:lnTo>
                      <a:lnTo>
                        <a:pt x="1814" y="2106"/>
                      </a:lnTo>
                      <a:lnTo>
                        <a:pt x="1772" y="2110"/>
                      </a:lnTo>
                      <a:lnTo>
                        <a:pt x="1732" y="2113"/>
                      </a:lnTo>
                      <a:lnTo>
                        <a:pt x="1691" y="2117"/>
                      </a:lnTo>
                      <a:lnTo>
                        <a:pt x="1649" y="2121"/>
                      </a:lnTo>
                      <a:lnTo>
                        <a:pt x="1605" y="2125"/>
                      </a:lnTo>
                      <a:lnTo>
                        <a:pt x="1561" y="2129"/>
                      </a:lnTo>
                      <a:lnTo>
                        <a:pt x="1516" y="2132"/>
                      </a:lnTo>
                      <a:lnTo>
                        <a:pt x="1472" y="2138"/>
                      </a:lnTo>
                      <a:lnTo>
                        <a:pt x="1424" y="2142"/>
                      </a:lnTo>
                      <a:lnTo>
                        <a:pt x="1379" y="2144"/>
                      </a:lnTo>
                      <a:lnTo>
                        <a:pt x="1331" y="2148"/>
                      </a:lnTo>
                      <a:lnTo>
                        <a:pt x="1286" y="2151"/>
                      </a:lnTo>
                      <a:lnTo>
                        <a:pt x="1236" y="2155"/>
                      </a:lnTo>
                      <a:lnTo>
                        <a:pt x="1189" y="2159"/>
                      </a:lnTo>
                      <a:lnTo>
                        <a:pt x="1141" y="2163"/>
                      </a:lnTo>
                      <a:lnTo>
                        <a:pt x="1093" y="2167"/>
                      </a:lnTo>
                      <a:lnTo>
                        <a:pt x="1044" y="2168"/>
                      </a:lnTo>
                      <a:lnTo>
                        <a:pt x="995" y="2172"/>
                      </a:lnTo>
                      <a:lnTo>
                        <a:pt x="947" y="2176"/>
                      </a:lnTo>
                      <a:lnTo>
                        <a:pt x="898" y="2178"/>
                      </a:lnTo>
                      <a:lnTo>
                        <a:pt x="848" y="2182"/>
                      </a:lnTo>
                      <a:lnTo>
                        <a:pt x="801" y="2184"/>
                      </a:lnTo>
                      <a:lnTo>
                        <a:pt x="753" y="2186"/>
                      </a:lnTo>
                      <a:lnTo>
                        <a:pt x="706" y="2189"/>
                      </a:lnTo>
                      <a:lnTo>
                        <a:pt x="656" y="2189"/>
                      </a:lnTo>
                      <a:lnTo>
                        <a:pt x="609" y="2191"/>
                      </a:lnTo>
                      <a:lnTo>
                        <a:pt x="563" y="2193"/>
                      </a:lnTo>
                      <a:lnTo>
                        <a:pt x="515" y="2195"/>
                      </a:lnTo>
                      <a:lnTo>
                        <a:pt x="470" y="2195"/>
                      </a:lnTo>
                      <a:lnTo>
                        <a:pt x="424" y="2197"/>
                      </a:lnTo>
                      <a:lnTo>
                        <a:pt x="378" y="2197"/>
                      </a:lnTo>
                      <a:lnTo>
                        <a:pt x="337" y="2197"/>
                      </a:lnTo>
                      <a:lnTo>
                        <a:pt x="291" y="2197"/>
                      </a:lnTo>
                      <a:lnTo>
                        <a:pt x="249" y="2197"/>
                      </a:lnTo>
                      <a:lnTo>
                        <a:pt x="207" y="2195"/>
                      </a:lnTo>
                      <a:lnTo>
                        <a:pt x="165" y="2195"/>
                      </a:lnTo>
                      <a:lnTo>
                        <a:pt x="126" y="2195"/>
                      </a:lnTo>
                      <a:lnTo>
                        <a:pt x="87" y="2193"/>
                      </a:lnTo>
                      <a:lnTo>
                        <a:pt x="49" y="2191"/>
                      </a:lnTo>
                      <a:lnTo>
                        <a:pt x="13" y="2189"/>
                      </a:lnTo>
                      <a:lnTo>
                        <a:pt x="0" y="2054"/>
                      </a:lnTo>
                      <a:lnTo>
                        <a:pt x="0" y="2054"/>
                      </a:lnTo>
                      <a:close/>
                    </a:path>
                  </a:pathLst>
                </a:custGeom>
                <a:solidFill>
                  <a:srgbClr val="DEDED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4" name="Freeform 68"/>
                <p:cNvSpPr>
                  <a:spLocks/>
                </p:cNvSpPr>
                <p:nvPr/>
              </p:nvSpPr>
              <p:spPr bwMode="auto">
                <a:xfrm>
                  <a:off x="3942" y="2382"/>
                  <a:ext cx="80" cy="26"/>
                </a:xfrm>
                <a:custGeom>
                  <a:avLst/>
                  <a:gdLst>
                    <a:gd name="T0" fmla="*/ 0 w 171"/>
                    <a:gd name="T1" fmla="*/ 5 h 59"/>
                    <a:gd name="T2" fmla="*/ 2 w 171"/>
                    <a:gd name="T3" fmla="*/ 3 h 59"/>
                    <a:gd name="T4" fmla="*/ 6 w 171"/>
                    <a:gd name="T5" fmla="*/ 3 h 59"/>
                    <a:gd name="T6" fmla="*/ 10 w 171"/>
                    <a:gd name="T7" fmla="*/ 2 h 59"/>
                    <a:gd name="T8" fmla="*/ 14 w 171"/>
                    <a:gd name="T9" fmla="*/ 2 h 59"/>
                    <a:gd name="T10" fmla="*/ 19 w 171"/>
                    <a:gd name="T11" fmla="*/ 2 h 59"/>
                    <a:gd name="T12" fmla="*/ 25 w 171"/>
                    <a:gd name="T13" fmla="*/ 2 h 59"/>
                    <a:gd name="T14" fmla="*/ 31 w 171"/>
                    <a:gd name="T15" fmla="*/ 2 h 59"/>
                    <a:gd name="T16" fmla="*/ 36 w 171"/>
                    <a:gd name="T17" fmla="*/ 2 h 59"/>
                    <a:gd name="T18" fmla="*/ 42 w 171"/>
                    <a:gd name="T19" fmla="*/ 0 h 59"/>
                    <a:gd name="T20" fmla="*/ 50 w 171"/>
                    <a:gd name="T21" fmla="*/ 0 h 59"/>
                    <a:gd name="T22" fmla="*/ 57 w 171"/>
                    <a:gd name="T23" fmla="*/ 0 h 59"/>
                    <a:gd name="T24" fmla="*/ 65 w 171"/>
                    <a:gd name="T25" fmla="*/ 0 h 59"/>
                    <a:gd name="T26" fmla="*/ 73 w 171"/>
                    <a:gd name="T27" fmla="*/ 0 h 59"/>
                    <a:gd name="T28" fmla="*/ 78 w 171"/>
                    <a:gd name="T29" fmla="*/ 0 h 59"/>
                    <a:gd name="T30" fmla="*/ 86 w 171"/>
                    <a:gd name="T31" fmla="*/ 0 h 59"/>
                    <a:gd name="T32" fmla="*/ 95 w 171"/>
                    <a:gd name="T33" fmla="*/ 0 h 59"/>
                    <a:gd name="T34" fmla="*/ 101 w 171"/>
                    <a:gd name="T35" fmla="*/ 0 h 59"/>
                    <a:gd name="T36" fmla="*/ 109 w 171"/>
                    <a:gd name="T37" fmla="*/ 0 h 59"/>
                    <a:gd name="T38" fmla="*/ 114 w 171"/>
                    <a:gd name="T39" fmla="*/ 0 h 59"/>
                    <a:gd name="T40" fmla="*/ 122 w 171"/>
                    <a:gd name="T41" fmla="*/ 0 h 59"/>
                    <a:gd name="T42" fmla="*/ 128 w 171"/>
                    <a:gd name="T43" fmla="*/ 0 h 59"/>
                    <a:gd name="T44" fmla="*/ 135 w 171"/>
                    <a:gd name="T45" fmla="*/ 0 h 59"/>
                    <a:gd name="T46" fmla="*/ 141 w 171"/>
                    <a:gd name="T47" fmla="*/ 0 h 59"/>
                    <a:gd name="T48" fmla="*/ 147 w 171"/>
                    <a:gd name="T49" fmla="*/ 0 h 59"/>
                    <a:gd name="T50" fmla="*/ 150 w 171"/>
                    <a:gd name="T51" fmla="*/ 0 h 59"/>
                    <a:gd name="T52" fmla="*/ 156 w 171"/>
                    <a:gd name="T53" fmla="*/ 0 h 59"/>
                    <a:gd name="T54" fmla="*/ 160 w 171"/>
                    <a:gd name="T55" fmla="*/ 0 h 59"/>
                    <a:gd name="T56" fmla="*/ 164 w 171"/>
                    <a:gd name="T57" fmla="*/ 0 h 59"/>
                    <a:gd name="T58" fmla="*/ 168 w 171"/>
                    <a:gd name="T59" fmla="*/ 0 h 59"/>
                    <a:gd name="T60" fmla="*/ 171 w 171"/>
                    <a:gd name="T61" fmla="*/ 0 h 59"/>
                    <a:gd name="T62" fmla="*/ 128 w 171"/>
                    <a:gd name="T63" fmla="*/ 49 h 59"/>
                    <a:gd name="T64" fmla="*/ 67 w 171"/>
                    <a:gd name="T65" fmla="*/ 59 h 59"/>
                    <a:gd name="T66" fmla="*/ 12 w 171"/>
                    <a:gd name="T67" fmla="*/ 30 h 59"/>
                    <a:gd name="T68" fmla="*/ 0 w 171"/>
                    <a:gd name="T69" fmla="*/ 5 h 59"/>
                    <a:gd name="T70" fmla="*/ 0 w 171"/>
                    <a:gd name="T71" fmla="*/ 5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71" h="59">
                      <a:moveTo>
                        <a:pt x="0" y="5"/>
                      </a:moveTo>
                      <a:lnTo>
                        <a:pt x="2" y="3"/>
                      </a:lnTo>
                      <a:lnTo>
                        <a:pt x="6" y="3"/>
                      </a:lnTo>
                      <a:lnTo>
                        <a:pt x="10" y="2"/>
                      </a:lnTo>
                      <a:lnTo>
                        <a:pt x="14" y="2"/>
                      </a:lnTo>
                      <a:lnTo>
                        <a:pt x="19" y="2"/>
                      </a:lnTo>
                      <a:lnTo>
                        <a:pt x="25" y="2"/>
                      </a:lnTo>
                      <a:lnTo>
                        <a:pt x="31" y="2"/>
                      </a:lnTo>
                      <a:lnTo>
                        <a:pt x="36" y="2"/>
                      </a:lnTo>
                      <a:lnTo>
                        <a:pt x="42" y="0"/>
                      </a:lnTo>
                      <a:lnTo>
                        <a:pt x="50" y="0"/>
                      </a:lnTo>
                      <a:lnTo>
                        <a:pt x="57" y="0"/>
                      </a:lnTo>
                      <a:lnTo>
                        <a:pt x="65" y="0"/>
                      </a:lnTo>
                      <a:lnTo>
                        <a:pt x="73" y="0"/>
                      </a:lnTo>
                      <a:lnTo>
                        <a:pt x="78" y="0"/>
                      </a:lnTo>
                      <a:lnTo>
                        <a:pt x="86" y="0"/>
                      </a:lnTo>
                      <a:lnTo>
                        <a:pt x="95" y="0"/>
                      </a:lnTo>
                      <a:lnTo>
                        <a:pt x="101" y="0"/>
                      </a:lnTo>
                      <a:lnTo>
                        <a:pt x="109" y="0"/>
                      </a:lnTo>
                      <a:lnTo>
                        <a:pt x="114" y="0"/>
                      </a:lnTo>
                      <a:lnTo>
                        <a:pt x="122" y="0"/>
                      </a:lnTo>
                      <a:lnTo>
                        <a:pt x="128" y="0"/>
                      </a:lnTo>
                      <a:lnTo>
                        <a:pt x="135" y="0"/>
                      </a:lnTo>
                      <a:lnTo>
                        <a:pt x="141" y="0"/>
                      </a:lnTo>
                      <a:lnTo>
                        <a:pt x="147" y="0"/>
                      </a:lnTo>
                      <a:lnTo>
                        <a:pt x="150" y="0"/>
                      </a:lnTo>
                      <a:lnTo>
                        <a:pt x="156" y="0"/>
                      </a:lnTo>
                      <a:lnTo>
                        <a:pt x="160" y="0"/>
                      </a:lnTo>
                      <a:lnTo>
                        <a:pt x="164" y="0"/>
                      </a:lnTo>
                      <a:lnTo>
                        <a:pt x="168" y="0"/>
                      </a:lnTo>
                      <a:lnTo>
                        <a:pt x="171" y="0"/>
                      </a:lnTo>
                      <a:lnTo>
                        <a:pt x="128" y="49"/>
                      </a:lnTo>
                      <a:lnTo>
                        <a:pt x="67" y="59"/>
                      </a:lnTo>
                      <a:lnTo>
                        <a:pt x="12" y="30"/>
                      </a:lnTo>
                      <a:lnTo>
                        <a:pt x="0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BDC77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5" name="Freeform 69"/>
                <p:cNvSpPr>
                  <a:spLocks/>
                </p:cNvSpPr>
                <p:nvPr/>
              </p:nvSpPr>
              <p:spPr bwMode="auto">
                <a:xfrm>
                  <a:off x="3913" y="2382"/>
                  <a:ext cx="156" cy="52"/>
                </a:xfrm>
                <a:custGeom>
                  <a:avLst/>
                  <a:gdLst>
                    <a:gd name="T0" fmla="*/ 38 w 329"/>
                    <a:gd name="T1" fmla="*/ 0 h 119"/>
                    <a:gd name="T2" fmla="*/ 94 w 329"/>
                    <a:gd name="T3" fmla="*/ 51 h 119"/>
                    <a:gd name="T4" fmla="*/ 183 w 329"/>
                    <a:gd name="T5" fmla="*/ 60 h 119"/>
                    <a:gd name="T6" fmla="*/ 240 w 329"/>
                    <a:gd name="T7" fmla="*/ 5 h 119"/>
                    <a:gd name="T8" fmla="*/ 329 w 329"/>
                    <a:gd name="T9" fmla="*/ 5 h 119"/>
                    <a:gd name="T10" fmla="*/ 259 w 329"/>
                    <a:gd name="T11" fmla="*/ 85 h 119"/>
                    <a:gd name="T12" fmla="*/ 189 w 329"/>
                    <a:gd name="T13" fmla="*/ 119 h 119"/>
                    <a:gd name="T14" fmla="*/ 111 w 329"/>
                    <a:gd name="T15" fmla="*/ 119 h 119"/>
                    <a:gd name="T16" fmla="*/ 0 w 329"/>
                    <a:gd name="T17" fmla="*/ 43 h 119"/>
                    <a:gd name="T18" fmla="*/ 38 w 329"/>
                    <a:gd name="T19" fmla="*/ 0 h 119"/>
                    <a:gd name="T20" fmla="*/ 38 w 329"/>
                    <a:gd name="T21" fmla="*/ 0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29" h="119">
                      <a:moveTo>
                        <a:pt x="38" y="0"/>
                      </a:moveTo>
                      <a:lnTo>
                        <a:pt x="94" y="51"/>
                      </a:lnTo>
                      <a:lnTo>
                        <a:pt x="183" y="60"/>
                      </a:lnTo>
                      <a:lnTo>
                        <a:pt x="240" y="5"/>
                      </a:lnTo>
                      <a:lnTo>
                        <a:pt x="329" y="5"/>
                      </a:lnTo>
                      <a:lnTo>
                        <a:pt x="259" y="85"/>
                      </a:lnTo>
                      <a:lnTo>
                        <a:pt x="189" y="119"/>
                      </a:lnTo>
                      <a:lnTo>
                        <a:pt x="111" y="119"/>
                      </a:lnTo>
                      <a:lnTo>
                        <a:pt x="0" y="43"/>
                      </a:lnTo>
                      <a:lnTo>
                        <a:pt x="38" y="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E69E9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6" name="Freeform 70"/>
                <p:cNvSpPr>
                  <a:spLocks/>
                </p:cNvSpPr>
                <p:nvPr/>
              </p:nvSpPr>
              <p:spPr bwMode="auto">
                <a:xfrm>
                  <a:off x="3902" y="2387"/>
                  <a:ext cx="195" cy="170"/>
                </a:xfrm>
                <a:custGeom>
                  <a:avLst/>
                  <a:gdLst>
                    <a:gd name="T0" fmla="*/ 0 w 412"/>
                    <a:gd name="T1" fmla="*/ 350 h 390"/>
                    <a:gd name="T2" fmla="*/ 30 w 412"/>
                    <a:gd name="T3" fmla="*/ 27 h 390"/>
                    <a:gd name="T4" fmla="*/ 79 w 412"/>
                    <a:gd name="T5" fmla="*/ 84 h 390"/>
                    <a:gd name="T6" fmla="*/ 169 w 412"/>
                    <a:gd name="T7" fmla="*/ 124 h 390"/>
                    <a:gd name="T8" fmla="*/ 270 w 412"/>
                    <a:gd name="T9" fmla="*/ 91 h 390"/>
                    <a:gd name="T10" fmla="*/ 369 w 412"/>
                    <a:gd name="T11" fmla="*/ 0 h 390"/>
                    <a:gd name="T12" fmla="*/ 412 w 412"/>
                    <a:gd name="T13" fmla="*/ 319 h 390"/>
                    <a:gd name="T14" fmla="*/ 289 w 412"/>
                    <a:gd name="T15" fmla="*/ 373 h 390"/>
                    <a:gd name="T16" fmla="*/ 165 w 412"/>
                    <a:gd name="T17" fmla="*/ 390 h 390"/>
                    <a:gd name="T18" fmla="*/ 0 w 412"/>
                    <a:gd name="T19" fmla="*/ 350 h 390"/>
                    <a:gd name="T20" fmla="*/ 0 w 412"/>
                    <a:gd name="T21" fmla="*/ 35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12" h="390">
                      <a:moveTo>
                        <a:pt x="0" y="350"/>
                      </a:moveTo>
                      <a:lnTo>
                        <a:pt x="30" y="27"/>
                      </a:lnTo>
                      <a:lnTo>
                        <a:pt x="79" y="84"/>
                      </a:lnTo>
                      <a:lnTo>
                        <a:pt x="169" y="124"/>
                      </a:lnTo>
                      <a:lnTo>
                        <a:pt x="270" y="91"/>
                      </a:lnTo>
                      <a:lnTo>
                        <a:pt x="369" y="0"/>
                      </a:lnTo>
                      <a:lnTo>
                        <a:pt x="412" y="319"/>
                      </a:lnTo>
                      <a:lnTo>
                        <a:pt x="289" y="373"/>
                      </a:lnTo>
                      <a:lnTo>
                        <a:pt x="165" y="390"/>
                      </a:lnTo>
                      <a:lnTo>
                        <a:pt x="0" y="350"/>
                      </a:lnTo>
                      <a:lnTo>
                        <a:pt x="0" y="350"/>
                      </a:lnTo>
                      <a:close/>
                    </a:path>
                  </a:pathLst>
                </a:custGeom>
                <a:solidFill>
                  <a:srgbClr val="BDC9D4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7" name="Freeform 71"/>
                <p:cNvSpPr>
                  <a:spLocks/>
                </p:cNvSpPr>
                <p:nvPr/>
              </p:nvSpPr>
              <p:spPr bwMode="auto">
                <a:xfrm>
                  <a:off x="3892" y="2521"/>
                  <a:ext cx="229" cy="210"/>
                </a:xfrm>
                <a:custGeom>
                  <a:avLst/>
                  <a:gdLst>
                    <a:gd name="T0" fmla="*/ 0 w 485"/>
                    <a:gd name="T1" fmla="*/ 466 h 483"/>
                    <a:gd name="T2" fmla="*/ 21 w 485"/>
                    <a:gd name="T3" fmla="*/ 49 h 483"/>
                    <a:gd name="T4" fmla="*/ 129 w 485"/>
                    <a:gd name="T5" fmla="*/ 72 h 483"/>
                    <a:gd name="T6" fmla="*/ 275 w 485"/>
                    <a:gd name="T7" fmla="*/ 74 h 483"/>
                    <a:gd name="T8" fmla="*/ 437 w 485"/>
                    <a:gd name="T9" fmla="*/ 0 h 483"/>
                    <a:gd name="T10" fmla="*/ 485 w 485"/>
                    <a:gd name="T11" fmla="*/ 388 h 483"/>
                    <a:gd name="T12" fmla="*/ 331 w 485"/>
                    <a:gd name="T13" fmla="*/ 467 h 483"/>
                    <a:gd name="T14" fmla="*/ 146 w 485"/>
                    <a:gd name="T15" fmla="*/ 483 h 483"/>
                    <a:gd name="T16" fmla="*/ 0 w 485"/>
                    <a:gd name="T17" fmla="*/ 466 h 483"/>
                    <a:gd name="T18" fmla="*/ 0 w 485"/>
                    <a:gd name="T19" fmla="*/ 466 h 4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85" h="483">
                      <a:moveTo>
                        <a:pt x="0" y="466"/>
                      </a:moveTo>
                      <a:lnTo>
                        <a:pt x="21" y="49"/>
                      </a:lnTo>
                      <a:lnTo>
                        <a:pt x="129" y="72"/>
                      </a:lnTo>
                      <a:lnTo>
                        <a:pt x="275" y="74"/>
                      </a:lnTo>
                      <a:lnTo>
                        <a:pt x="437" y="0"/>
                      </a:lnTo>
                      <a:lnTo>
                        <a:pt x="485" y="388"/>
                      </a:lnTo>
                      <a:lnTo>
                        <a:pt x="331" y="467"/>
                      </a:lnTo>
                      <a:lnTo>
                        <a:pt x="146" y="483"/>
                      </a:lnTo>
                      <a:lnTo>
                        <a:pt x="0" y="466"/>
                      </a:lnTo>
                      <a:lnTo>
                        <a:pt x="0" y="466"/>
                      </a:lnTo>
                      <a:close/>
                    </a:path>
                  </a:pathLst>
                </a:custGeom>
                <a:solidFill>
                  <a:srgbClr val="E6FFE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8" name="Freeform 72"/>
                <p:cNvSpPr>
                  <a:spLocks/>
                </p:cNvSpPr>
                <p:nvPr/>
              </p:nvSpPr>
              <p:spPr bwMode="auto">
                <a:xfrm>
                  <a:off x="3892" y="2690"/>
                  <a:ext cx="254" cy="217"/>
                </a:xfrm>
                <a:custGeom>
                  <a:avLst/>
                  <a:gdLst>
                    <a:gd name="T0" fmla="*/ 0 w 538"/>
                    <a:gd name="T1" fmla="*/ 444 h 498"/>
                    <a:gd name="T2" fmla="*/ 15 w 538"/>
                    <a:gd name="T3" fmla="*/ 70 h 498"/>
                    <a:gd name="T4" fmla="*/ 196 w 538"/>
                    <a:gd name="T5" fmla="*/ 102 h 498"/>
                    <a:gd name="T6" fmla="*/ 357 w 538"/>
                    <a:gd name="T7" fmla="*/ 70 h 498"/>
                    <a:gd name="T8" fmla="*/ 485 w 538"/>
                    <a:gd name="T9" fmla="*/ 0 h 498"/>
                    <a:gd name="T10" fmla="*/ 538 w 538"/>
                    <a:gd name="T11" fmla="*/ 423 h 498"/>
                    <a:gd name="T12" fmla="*/ 397 w 538"/>
                    <a:gd name="T13" fmla="*/ 490 h 498"/>
                    <a:gd name="T14" fmla="*/ 167 w 538"/>
                    <a:gd name="T15" fmla="*/ 498 h 498"/>
                    <a:gd name="T16" fmla="*/ 0 w 538"/>
                    <a:gd name="T17" fmla="*/ 444 h 498"/>
                    <a:gd name="T18" fmla="*/ 0 w 538"/>
                    <a:gd name="T19" fmla="*/ 444 h 4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8" h="498">
                      <a:moveTo>
                        <a:pt x="0" y="444"/>
                      </a:moveTo>
                      <a:lnTo>
                        <a:pt x="15" y="70"/>
                      </a:lnTo>
                      <a:lnTo>
                        <a:pt x="196" y="102"/>
                      </a:lnTo>
                      <a:lnTo>
                        <a:pt x="357" y="70"/>
                      </a:lnTo>
                      <a:lnTo>
                        <a:pt x="485" y="0"/>
                      </a:lnTo>
                      <a:lnTo>
                        <a:pt x="538" y="423"/>
                      </a:lnTo>
                      <a:lnTo>
                        <a:pt x="397" y="490"/>
                      </a:lnTo>
                      <a:lnTo>
                        <a:pt x="167" y="498"/>
                      </a:lnTo>
                      <a:lnTo>
                        <a:pt x="0" y="444"/>
                      </a:lnTo>
                      <a:lnTo>
                        <a:pt x="0" y="444"/>
                      </a:lnTo>
                      <a:close/>
                    </a:path>
                  </a:pathLst>
                </a:custGeom>
                <a:solidFill>
                  <a:srgbClr val="E6E6B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9" name="Freeform 73"/>
                <p:cNvSpPr>
                  <a:spLocks/>
                </p:cNvSpPr>
                <p:nvPr/>
              </p:nvSpPr>
              <p:spPr bwMode="auto">
                <a:xfrm>
                  <a:off x="4085" y="2404"/>
                  <a:ext cx="124" cy="471"/>
                </a:xfrm>
                <a:custGeom>
                  <a:avLst/>
                  <a:gdLst>
                    <a:gd name="T0" fmla="*/ 137 w 264"/>
                    <a:gd name="T1" fmla="*/ 1079 h 1079"/>
                    <a:gd name="T2" fmla="*/ 0 w 264"/>
                    <a:gd name="T3" fmla="*/ 40 h 1079"/>
                    <a:gd name="T4" fmla="*/ 68 w 264"/>
                    <a:gd name="T5" fmla="*/ 0 h 1079"/>
                    <a:gd name="T6" fmla="*/ 264 w 264"/>
                    <a:gd name="T7" fmla="*/ 1026 h 1079"/>
                    <a:gd name="T8" fmla="*/ 137 w 264"/>
                    <a:gd name="T9" fmla="*/ 1079 h 1079"/>
                    <a:gd name="T10" fmla="*/ 137 w 264"/>
                    <a:gd name="T11" fmla="*/ 1079 h 10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4" h="1079">
                      <a:moveTo>
                        <a:pt x="137" y="1079"/>
                      </a:moveTo>
                      <a:lnTo>
                        <a:pt x="0" y="40"/>
                      </a:lnTo>
                      <a:lnTo>
                        <a:pt x="68" y="0"/>
                      </a:lnTo>
                      <a:lnTo>
                        <a:pt x="264" y="1026"/>
                      </a:lnTo>
                      <a:lnTo>
                        <a:pt x="137" y="1079"/>
                      </a:lnTo>
                      <a:lnTo>
                        <a:pt x="137" y="1079"/>
                      </a:lnTo>
                      <a:close/>
                    </a:path>
                  </a:pathLst>
                </a:custGeom>
                <a:solidFill>
                  <a:srgbClr val="F5DB85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0" name="Freeform 74"/>
                <p:cNvSpPr>
                  <a:spLocks/>
                </p:cNvSpPr>
                <p:nvPr/>
              </p:nvSpPr>
              <p:spPr bwMode="auto">
                <a:xfrm>
                  <a:off x="3174" y="3030"/>
                  <a:ext cx="780" cy="232"/>
                </a:xfrm>
                <a:custGeom>
                  <a:avLst/>
                  <a:gdLst>
                    <a:gd name="T0" fmla="*/ 12 w 1653"/>
                    <a:gd name="T1" fmla="*/ 127 h 532"/>
                    <a:gd name="T2" fmla="*/ 1071 w 1653"/>
                    <a:gd name="T3" fmla="*/ 85 h 532"/>
                    <a:gd name="T4" fmla="*/ 1567 w 1653"/>
                    <a:gd name="T5" fmla="*/ 0 h 532"/>
                    <a:gd name="T6" fmla="*/ 1653 w 1653"/>
                    <a:gd name="T7" fmla="*/ 2 h 532"/>
                    <a:gd name="T8" fmla="*/ 1651 w 1653"/>
                    <a:gd name="T9" fmla="*/ 9 h 532"/>
                    <a:gd name="T10" fmla="*/ 1651 w 1653"/>
                    <a:gd name="T11" fmla="*/ 23 h 532"/>
                    <a:gd name="T12" fmla="*/ 1649 w 1653"/>
                    <a:gd name="T13" fmla="*/ 32 h 532"/>
                    <a:gd name="T14" fmla="*/ 1649 w 1653"/>
                    <a:gd name="T15" fmla="*/ 45 h 532"/>
                    <a:gd name="T16" fmla="*/ 1647 w 1653"/>
                    <a:gd name="T17" fmla="*/ 59 h 532"/>
                    <a:gd name="T18" fmla="*/ 1645 w 1653"/>
                    <a:gd name="T19" fmla="*/ 74 h 532"/>
                    <a:gd name="T20" fmla="*/ 1645 w 1653"/>
                    <a:gd name="T21" fmla="*/ 91 h 532"/>
                    <a:gd name="T22" fmla="*/ 1643 w 1653"/>
                    <a:gd name="T23" fmla="*/ 108 h 532"/>
                    <a:gd name="T24" fmla="*/ 1641 w 1653"/>
                    <a:gd name="T25" fmla="*/ 127 h 532"/>
                    <a:gd name="T26" fmla="*/ 1640 w 1653"/>
                    <a:gd name="T27" fmla="*/ 146 h 532"/>
                    <a:gd name="T28" fmla="*/ 1638 w 1653"/>
                    <a:gd name="T29" fmla="*/ 165 h 532"/>
                    <a:gd name="T30" fmla="*/ 1636 w 1653"/>
                    <a:gd name="T31" fmla="*/ 186 h 532"/>
                    <a:gd name="T32" fmla="*/ 1634 w 1653"/>
                    <a:gd name="T33" fmla="*/ 207 h 532"/>
                    <a:gd name="T34" fmla="*/ 1632 w 1653"/>
                    <a:gd name="T35" fmla="*/ 228 h 532"/>
                    <a:gd name="T36" fmla="*/ 1630 w 1653"/>
                    <a:gd name="T37" fmla="*/ 247 h 532"/>
                    <a:gd name="T38" fmla="*/ 1628 w 1653"/>
                    <a:gd name="T39" fmla="*/ 268 h 532"/>
                    <a:gd name="T40" fmla="*/ 1626 w 1653"/>
                    <a:gd name="T41" fmla="*/ 287 h 532"/>
                    <a:gd name="T42" fmla="*/ 1622 w 1653"/>
                    <a:gd name="T43" fmla="*/ 306 h 532"/>
                    <a:gd name="T44" fmla="*/ 1621 w 1653"/>
                    <a:gd name="T45" fmla="*/ 325 h 532"/>
                    <a:gd name="T46" fmla="*/ 1619 w 1653"/>
                    <a:gd name="T47" fmla="*/ 342 h 532"/>
                    <a:gd name="T48" fmla="*/ 1617 w 1653"/>
                    <a:gd name="T49" fmla="*/ 359 h 532"/>
                    <a:gd name="T50" fmla="*/ 1615 w 1653"/>
                    <a:gd name="T51" fmla="*/ 372 h 532"/>
                    <a:gd name="T52" fmla="*/ 1611 w 1653"/>
                    <a:gd name="T53" fmla="*/ 387 h 532"/>
                    <a:gd name="T54" fmla="*/ 1609 w 1653"/>
                    <a:gd name="T55" fmla="*/ 401 h 532"/>
                    <a:gd name="T56" fmla="*/ 1607 w 1653"/>
                    <a:gd name="T57" fmla="*/ 410 h 532"/>
                    <a:gd name="T58" fmla="*/ 1603 w 1653"/>
                    <a:gd name="T59" fmla="*/ 424 h 532"/>
                    <a:gd name="T60" fmla="*/ 1598 w 1653"/>
                    <a:gd name="T61" fmla="*/ 433 h 532"/>
                    <a:gd name="T62" fmla="*/ 1592 w 1653"/>
                    <a:gd name="T63" fmla="*/ 435 h 532"/>
                    <a:gd name="T64" fmla="*/ 1583 w 1653"/>
                    <a:gd name="T65" fmla="*/ 435 h 532"/>
                    <a:gd name="T66" fmla="*/ 1575 w 1653"/>
                    <a:gd name="T67" fmla="*/ 437 h 532"/>
                    <a:gd name="T68" fmla="*/ 1563 w 1653"/>
                    <a:gd name="T69" fmla="*/ 437 h 532"/>
                    <a:gd name="T70" fmla="*/ 1550 w 1653"/>
                    <a:gd name="T71" fmla="*/ 439 h 532"/>
                    <a:gd name="T72" fmla="*/ 1539 w 1653"/>
                    <a:gd name="T73" fmla="*/ 439 h 532"/>
                    <a:gd name="T74" fmla="*/ 1524 w 1653"/>
                    <a:gd name="T75" fmla="*/ 441 h 532"/>
                    <a:gd name="T76" fmla="*/ 1506 w 1653"/>
                    <a:gd name="T77" fmla="*/ 443 h 532"/>
                    <a:gd name="T78" fmla="*/ 1489 w 1653"/>
                    <a:gd name="T79" fmla="*/ 444 h 532"/>
                    <a:gd name="T80" fmla="*/ 1470 w 1653"/>
                    <a:gd name="T81" fmla="*/ 446 h 532"/>
                    <a:gd name="T82" fmla="*/ 1451 w 1653"/>
                    <a:gd name="T83" fmla="*/ 448 h 532"/>
                    <a:gd name="T84" fmla="*/ 1432 w 1653"/>
                    <a:gd name="T85" fmla="*/ 450 h 532"/>
                    <a:gd name="T86" fmla="*/ 1413 w 1653"/>
                    <a:gd name="T87" fmla="*/ 452 h 532"/>
                    <a:gd name="T88" fmla="*/ 1392 w 1653"/>
                    <a:gd name="T89" fmla="*/ 456 h 532"/>
                    <a:gd name="T90" fmla="*/ 1371 w 1653"/>
                    <a:gd name="T91" fmla="*/ 458 h 532"/>
                    <a:gd name="T92" fmla="*/ 1352 w 1653"/>
                    <a:gd name="T93" fmla="*/ 460 h 532"/>
                    <a:gd name="T94" fmla="*/ 1331 w 1653"/>
                    <a:gd name="T95" fmla="*/ 462 h 532"/>
                    <a:gd name="T96" fmla="*/ 1311 w 1653"/>
                    <a:gd name="T97" fmla="*/ 463 h 532"/>
                    <a:gd name="T98" fmla="*/ 1292 w 1653"/>
                    <a:gd name="T99" fmla="*/ 465 h 532"/>
                    <a:gd name="T100" fmla="*/ 1273 w 1653"/>
                    <a:gd name="T101" fmla="*/ 467 h 532"/>
                    <a:gd name="T102" fmla="*/ 1254 w 1653"/>
                    <a:gd name="T103" fmla="*/ 469 h 532"/>
                    <a:gd name="T104" fmla="*/ 1236 w 1653"/>
                    <a:gd name="T105" fmla="*/ 471 h 532"/>
                    <a:gd name="T106" fmla="*/ 1221 w 1653"/>
                    <a:gd name="T107" fmla="*/ 473 h 532"/>
                    <a:gd name="T108" fmla="*/ 1206 w 1653"/>
                    <a:gd name="T109" fmla="*/ 475 h 532"/>
                    <a:gd name="T110" fmla="*/ 1191 w 1653"/>
                    <a:gd name="T111" fmla="*/ 477 h 532"/>
                    <a:gd name="T112" fmla="*/ 1179 w 1653"/>
                    <a:gd name="T113" fmla="*/ 479 h 532"/>
                    <a:gd name="T114" fmla="*/ 1170 w 1653"/>
                    <a:gd name="T115" fmla="*/ 481 h 532"/>
                    <a:gd name="T116" fmla="*/ 1157 w 1653"/>
                    <a:gd name="T117" fmla="*/ 481 h 532"/>
                    <a:gd name="T118" fmla="*/ 1147 w 1653"/>
                    <a:gd name="T119" fmla="*/ 482 h 532"/>
                    <a:gd name="T120" fmla="*/ 744 w 1653"/>
                    <a:gd name="T121" fmla="*/ 511 h 532"/>
                    <a:gd name="T122" fmla="*/ 0 w 1653"/>
                    <a:gd name="T123" fmla="*/ 532 h 5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1653" h="532">
                      <a:moveTo>
                        <a:pt x="0" y="532"/>
                      </a:moveTo>
                      <a:lnTo>
                        <a:pt x="12" y="127"/>
                      </a:lnTo>
                      <a:lnTo>
                        <a:pt x="578" y="106"/>
                      </a:lnTo>
                      <a:lnTo>
                        <a:pt x="1071" y="85"/>
                      </a:lnTo>
                      <a:lnTo>
                        <a:pt x="1579" y="57"/>
                      </a:lnTo>
                      <a:lnTo>
                        <a:pt x="1567" y="0"/>
                      </a:lnTo>
                      <a:lnTo>
                        <a:pt x="1653" y="0"/>
                      </a:lnTo>
                      <a:lnTo>
                        <a:pt x="1653" y="2"/>
                      </a:lnTo>
                      <a:lnTo>
                        <a:pt x="1653" y="4"/>
                      </a:lnTo>
                      <a:lnTo>
                        <a:pt x="1651" y="9"/>
                      </a:lnTo>
                      <a:lnTo>
                        <a:pt x="1651" y="19"/>
                      </a:lnTo>
                      <a:lnTo>
                        <a:pt x="1651" y="23"/>
                      </a:lnTo>
                      <a:lnTo>
                        <a:pt x="1651" y="26"/>
                      </a:lnTo>
                      <a:lnTo>
                        <a:pt x="1649" y="32"/>
                      </a:lnTo>
                      <a:lnTo>
                        <a:pt x="1649" y="40"/>
                      </a:lnTo>
                      <a:lnTo>
                        <a:pt x="1649" y="45"/>
                      </a:lnTo>
                      <a:lnTo>
                        <a:pt x="1649" y="51"/>
                      </a:lnTo>
                      <a:lnTo>
                        <a:pt x="1647" y="59"/>
                      </a:lnTo>
                      <a:lnTo>
                        <a:pt x="1647" y="68"/>
                      </a:lnTo>
                      <a:lnTo>
                        <a:pt x="1645" y="74"/>
                      </a:lnTo>
                      <a:lnTo>
                        <a:pt x="1645" y="83"/>
                      </a:lnTo>
                      <a:lnTo>
                        <a:pt x="1645" y="91"/>
                      </a:lnTo>
                      <a:lnTo>
                        <a:pt x="1645" y="100"/>
                      </a:lnTo>
                      <a:lnTo>
                        <a:pt x="1643" y="108"/>
                      </a:lnTo>
                      <a:lnTo>
                        <a:pt x="1643" y="118"/>
                      </a:lnTo>
                      <a:lnTo>
                        <a:pt x="1641" y="127"/>
                      </a:lnTo>
                      <a:lnTo>
                        <a:pt x="1641" y="137"/>
                      </a:lnTo>
                      <a:lnTo>
                        <a:pt x="1640" y="146"/>
                      </a:lnTo>
                      <a:lnTo>
                        <a:pt x="1640" y="156"/>
                      </a:lnTo>
                      <a:lnTo>
                        <a:pt x="1638" y="165"/>
                      </a:lnTo>
                      <a:lnTo>
                        <a:pt x="1638" y="175"/>
                      </a:lnTo>
                      <a:lnTo>
                        <a:pt x="1636" y="186"/>
                      </a:lnTo>
                      <a:lnTo>
                        <a:pt x="1636" y="195"/>
                      </a:lnTo>
                      <a:lnTo>
                        <a:pt x="1634" y="207"/>
                      </a:lnTo>
                      <a:lnTo>
                        <a:pt x="1634" y="216"/>
                      </a:lnTo>
                      <a:lnTo>
                        <a:pt x="1632" y="228"/>
                      </a:lnTo>
                      <a:lnTo>
                        <a:pt x="1632" y="237"/>
                      </a:lnTo>
                      <a:lnTo>
                        <a:pt x="1630" y="247"/>
                      </a:lnTo>
                      <a:lnTo>
                        <a:pt x="1628" y="258"/>
                      </a:lnTo>
                      <a:lnTo>
                        <a:pt x="1628" y="268"/>
                      </a:lnTo>
                      <a:lnTo>
                        <a:pt x="1626" y="277"/>
                      </a:lnTo>
                      <a:lnTo>
                        <a:pt x="1626" y="287"/>
                      </a:lnTo>
                      <a:lnTo>
                        <a:pt x="1624" y="296"/>
                      </a:lnTo>
                      <a:lnTo>
                        <a:pt x="1622" y="306"/>
                      </a:lnTo>
                      <a:lnTo>
                        <a:pt x="1622" y="315"/>
                      </a:lnTo>
                      <a:lnTo>
                        <a:pt x="1621" y="325"/>
                      </a:lnTo>
                      <a:lnTo>
                        <a:pt x="1621" y="332"/>
                      </a:lnTo>
                      <a:lnTo>
                        <a:pt x="1619" y="342"/>
                      </a:lnTo>
                      <a:lnTo>
                        <a:pt x="1617" y="349"/>
                      </a:lnTo>
                      <a:lnTo>
                        <a:pt x="1617" y="359"/>
                      </a:lnTo>
                      <a:lnTo>
                        <a:pt x="1615" y="367"/>
                      </a:lnTo>
                      <a:lnTo>
                        <a:pt x="1615" y="372"/>
                      </a:lnTo>
                      <a:lnTo>
                        <a:pt x="1613" y="380"/>
                      </a:lnTo>
                      <a:lnTo>
                        <a:pt x="1611" y="387"/>
                      </a:lnTo>
                      <a:lnTo>
                        <a:pt x="1611" y="395"/>
                      </a:lnTo>
                      <a:lnTo>
                        <a:pt x="1609" y="401"/>
                      </a:lnTo>
                      <a:lnTo>
                        <a:pt x="1609" y="406"/>
                      </a:lnTo>
                      <a:lnTo>
                        <a:pt x="1607" y="410"/>
                      </a:lnTo>
                      <a:lnTo>
                        <a:pt x="1605" y="416"/>
                      </a:lnTo>
                      <a:lnTo>
                        <a:pt x="1603" y="424"/>
                      </a:lnTo>
                      <a:lnTo>
                        <a:pt x="1602" y="429"/>
                      </a:lnTo>
                      <a:lnTo>
                        <a:pt x="1598" y="433"/>
                      </a:lnTo>
                      <a:lnTo>
                        <a:pt x="1598" y="435"/>
                      </a:lnTo>
                      <a:lnTo>
                        <a:pt x="1592" y="435"/>
                      </a:lnTo>
                      <a:lnTo>
                        <a:pt x="1586" y="435"/>
                      </a:lnTo>
                      <a:lnTo>
                        <a:pt x="1583" y="435"/>
                      </a:lnTo>
                      <a:lnTo>
                        <a:pt x="1579" y="435"/>
                      </a:lnTo>
                      <a:lnTo>
                        <a:pt x="1575" y="437"/>
                      </a:lnTo>
                      <a:lnTo>
                        <a:pt x="1569" y="437"/>
                      </a:lnTo>
                      <a:lnTo>
                        <a:pt x="1563" y="437"/>
                      </a:lnTo>
                      <a:lnTo>
                        <a:pt x="1558" y="437"/>
                      </a:lnTo>
                      <a:lnTo>
                        <a:pt x="1550" y="439"/>
                      </a:lnTo>
                      <a:lnTo>
                        <a:pt x="1544" y="439"/>
                      </a:lnTo>
                      <a:lnTo>
                        <a:pt x="1539" y="439"/>
                      </a:lnTo>
                      <a:lnTo>
                        <a:pt x="1531" y="439"/>
                      </a:lnTo>
                      <a:lnTo>
                        <a:pt x="1524" y="441"/>
                      </a:lnTo>
                      <a:lnTo>
                        <a:pt x="1516" y="443"/>
                      </a:lnTo>
                      <a:lnTo>
                        <a:pt x="1506" y="443"/>
                      </a:lnTo>
                      <a:lnTo>
                        <a:pt x="1497" y="444"/>
                      </a:lnTo>
                      <a:lnTo>
                        <a:pt x="1489" y="444"/>
                      </a:lnTo>
                      <a:lnTo>
                        <a:pt x="1480" y="444"/>
                      </a:lnTo>
                      <a:lnTo>
                        <a:pt x="1470" y="446"/>
                      </a:lnTo>
                      <a:lnTo>
                        <a:pt x="1461" y="446"/>
                      </a:lnTo>
                      <a:lnTo>
                        <a:pt x="1451" y="448"/>
                      </a:lnTo>
                      <a:lnTo>
                        <a:pt x="1444" y="450"/>
                      </a:lnTo>
                      <a:lnTo>
                        <a:pt x="1432" y="450"/>
                      </a:lnTo>
                      <a:lnTo>
                        <a:pt x="1423" y="452"/>
                      </a:lnTo>
                      <a:lnTo>
                        <a:pt x="1413" y="452"/>
                      </a:lnTo>
                      <a:lnTo>
                        <a:pt x="1402" y="454"/>
                      </a:lnTo>
                      <a:lnTo>
                        <a:pt x="1392" y="456"/>
                      </a:lnTo>
                      <a:lnTo>
                        <a:pt x="1383" y="456"/>
                      </a:lnTo>
                      <a:lnTo>
                        <a:pt x="1371" y="458"/>
                      </a:lnTo>
                      <a:lnTo>
                        <a:pt x="1362" y="460"/>
                      </a:lnTo>
                      <a:lnTo>
                        <a:pt x="1352" y="460"/>
                      </a:lnTo>
                      <a:lnTo>
                        <a:pt x="1341" y="462"/>
                      </a:lnTo>
                      <a:lnTo>
                        <a:pt x="1331" y="462"/>
                      </a:lnTo>
                      <a:lnTo>
                        <a:pt x="1320" y="463"/>
                      </a:lnTo>
                      <a:lnTo>
                        <a:pt x="1311" y="463"/>
                      </a:lnTo>
                      <a:lnTo>
                        <a:pt x="1301" y="465"/>
                      </a:lnTo>
                      <a:lnTo>
                        <a:pt x="1292" y="465"/>
                      </a:lnTo>
                      <a:lnTo>
                        <a:pt x="1282" y="467"/>
                      </a:lnTo>
                      <a:lnTo>
                        <a:pt x="1273" y="467"/>
                      </a:lnTo>
                      <a:lnTo>
                        <a:pt x="1263" y="469"/>
                      </a:lnTo>
                      <a:lnTo>
                        <a:pt x="1254" y="469"/>
                      </a:lnTo>
                      <a:lnTo>
                        <a:pt x="1246" y="471"/>
                      </a:lnTo>
                      <a:lnTo>
                        <a:pt x="1236" y="471"/>
                      </a:lnTo>
                      <a:lnTo>
                        <a:pt x="1229" y="473"/>
                      </a:lnTo>
                      <a:lnTo>
                        <a:pt x="1221" y="473"/>
                      </a:lnTo>
                      <a:lnTo>
                        <a:pt x="1214" y="475"/>
                      </a:lnTo>
                      <a:lnTo>
                        <a:pt x="1206" y="475"/>
                      </a:lnTo>
                      <a:lnTo>
                        <a:pt x="1198" y="475"/>
                      </a:lnTo>
                      <a:lnTo>
                        <a:pt x="1191" y="477"/>
                      </a:lnTo>
                      <a:lnTo>
                        <a:pt x="1185" y="477"/>
                      </a:lnTo>
                      <a:lnTo>
                        <a:pt x="1179" y="479"/>
                      </a:lnTo>
                      <a:lnTo>
                        <a:pt x="1174" y="479"/>
                      </a:lnTo>
                      <a:lnTo>
                        <a:pt x="1170" y="481"/>
                      </a:lnTo>
                      <a:lnTo>
                        <a:pt x="1164" y="481"/>
                      </a:lnTo>
                      <a:lnTo>
                        <a:pt x="1157" y="481"/>
                      </a:lnTo>
                      <a:lnTo>
                        <a:pt x="1151" y="482"/>
                      </a:lnTo>
                      <a:lnTo>
                        <a:pt x="1147" y="482"/>
                      </a:lnTo>
                      <a:lnTo>
                        <a:pt x="1147" y="482"/>
                      </a:lnTo>
                      <a:lnTo>
                        <a:pt x="744" y="511"/>
                      </a:lnTo>
                      <a:lnTo>
                        <a:pt x="287" y="526"/>
                      </a:lnTo>
                      <a:lnTo>
                        <a:pt x="0" y="532"/>
                      </a:lnTo>
                      <a:lnTo>
                        <a:pt x="0" y="532"/>
                      </a:lnTo>
                      <a:close/>
                    </a:path>
                  </a:pathLst>
                </a:custGeom>
                <a:solidFill>
                  <a:srgbClr val="DB876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1" name="Freeform 75"/>
                <p:cNvSpPr>
                  <a:spLocks/>
                </p:cNvSpPr>
                <p:nvPr/>
              </p:nvSpPr>
              <p:spPr bwMode="auto">
                <a:xfrm>
                  <a:off x="3926" y="3012"/>
                  <a:ext cx="280" cy="206"/>
                </a:xfrm>
                <a:custGeom>
                  <a:avLst/>
                  <a:gdLst>
                    <a:gd name="T0" fmla="*/ 0 w 593"/>
                    <a:gd name="T1" fmla="*/ 473 h 473"/>
                    <a:gd name="T2" fmla="*/ 57 w 593"/>
                    <a:gd name="T3" fmla="*/ 42 h 473"/>
                    <a:gd name="T4" fmla="*/ 593 w 593"/>
                    <a:gd name="T5" fmla="*/ 0 h 473"/>
                    <a:gd name="T6" fmla="*/ 553 w 593"/>
                    <a:gd name="T7" fmla="*/ 428 h 473"/>
                    <a:gd name="T8" fmla="*/ 0 w 593"/>
                    <a:gd name="T9" fmla="*/ 473 h 473"/>
                    <a:gd name="T10" fmla="*/ 0 w 593"/>
                    <a:gd name="T11" fmla="*/ 473 h 4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93" h="473">
                      <a:moveTo>
                        <a:pt x="0" y="473"/>
                      </a:moveTo>
                      <a:lnTo>
                        <a:pt x="57" y="42"/>
                      </a:lnTo>
                      <a:lnTo>
                        <a:pt x="593" y="0"/>
                      </a:lnTo>
                      <a:lnTo>
                        <a:pt x="553" y="428"/>
                      </a:lnTo>
                      <a:lnTo>
                        <a:pt x="0" y="473"/>
                      </a:lnTo>
                      <a:lnTo>
                        <a:pt x="0" y="473"/>
                      </a:lnTo>
                      <a:close/>
                    </a:path>
                  </a:pathLst>
                </a:custGeom>
                <a:solidFill>
                  <a:srgbClr val="E69E9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2" name="Freeform 76"/>
                <p:cNvSpPr>
                  <a:spLocks/>
                </p:cNvSpPr>
                <p:nvPr/>
              </p:nvSpPr>
              <p:spPr bwMode="auto">
                <a:xfrm>
                  <a:off x="4003" y="3068"/>
                  <a:ext cx="112" cy="64"/>
                </a:xfrm>
                <a:custGeom>
                  <a:avLst/>
                  <a:gdLst>
                    <a:gd name="T0" fmla="*/ 0 w 236"/>
                    <a:gd name="T1" fmla="*/ 148 h 148"/>
                    <a:gd name="T2" fmla="*/ 16 w 236"/>
                    <a:gd name="T3" fmla="*/ 0 h 148"/>
                    <a:gd name="T4" fmla="*/ 236 w 236"/>
                    <a:gd name="T5" fmla="*/ 0 h 148"/>
                    <a:gd name="T6" fmla="*/ 215 w 236"/>
                    <a:gd name="T7" fmla="*/ 129 h 148"/>
                    <a:gd name="T8" fmla="*/ 0 w 236"/>
                    <a:gd name="T9" fmla="*/ 148 h 148"/>
                    <a:gd name="T10" fmla="*/ 0 w 236"/>
                    <a:gd name="T11" fmla="*/ 148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6" h="148">
                      <a:moveTo>
                        <a:pt x="0" y="148"/>
                      </a:moveTo>
                      <a:lnTo>
                        <a:pt x="16" y="0"/>
                      </a:lnTo>
                      <a:lnTo>
                        <a:pt x="236" y="0"/>
                      </a:lnTo>
                      <a:lnTo>
                        <a:pt x="215" y="129"/>
                      </a:lnTo>
                      <a:lnTo>
                        <a:pt x="0" y="148"/>
                      </a:lnTo>
                      <a:lnTo>
                        <a:pt x="0" y="148"/>
                      </a:lnTo>
                      <a:close/>
                    </a:path>
                  </a:pathLst>
                </a:custGeom>
                <a:solidFill>
                  <a:srgbClr val="E8E8D4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3" name="Freeform 77"/>
                <p:cNvSpPr>
                  <a:spLocks/>
                </p:cNvSpPr>
                <p:nvPr/>
              </p:nvSpPr>
              <p:spPr bwMode="auto">
                <a:xfrm>
                  <a:off x="3836" y="2810"/>
                  <a:ext cx="372" cy="220"/>
                </a:xfrm>
                <a:custGeom>
                  <a:avLst/>
                  <a:gdLst>
                    <a:gd name="T0" fmla="*/ 0 w 787"/>
                    <a:gd name="T1" fmla="*/ 0 h 508"/>
                    <a:gd name="T2" fmla="*/ 127 w 787"/>
                    <a:gd name="T3" fmla="*/ 0 h 508"/>
                    <a:gd name="T4" fmla="*/ 125 w 787"/>
                    <a:gd name="T5" fmla="*/ 166 h 508"/>
                    <a:gd name="T6" fmla="*/ 264 w 787"/>
                    <a:gd name="T7" fmla="*/ 215 h 508"/>
                    <a:gd name="T8" fmla="*/ 458 w 787"/>
                    <a:gd name="T9" fmla="*/ 225 h 508"/>
                    <a:gd name="T10" fmla="*/ 656 w 787"/>
                    <a:gd name="T11" fmla="*/ 158 h 508"/>
                    <a:gd name="T12" fmla="*/ 787 w 787"/>
                    <a:gd name="T13" fmla="*/ 466 h 508"/>
                    <a:gd name="T14" fmla="*/ 171 w 787"/>
                    <a:gd name="T15" fmla="*/ 508 h 508"/>
                    <a:gd name="T16" fmla="*/ 0 w 787"/>
                    <a:gd name="T17" fmla="*/ 0 h 508"/>
                    <a:gd name="T18" fmla="*/ 0 w 787"/>
                    <a:gd name="T19" fmla="*/ 0 h 5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87" h="508">
                      <a:moveTo>
                        <a:pt x="0" y="0"/>
                      </a:moveTo>
                      <a:lnTo>
                        <a:pt x="127" y="0"/>
                      </a:lnTo>
                      <a:lnTo>
                        <a:pt x="125" y="166"/>
                      </a:lnTo>
                      <a:lnTo>
                        <a:pt x="264" y="215"/>
                      </a:lnTo>
                      <a:lnTo>
                        <a:pt x="458" y="225"/>
                      </a:lnTo>
                      <a:lnTo>
                        <a:pt x="656" y="158"/>
                      </a:lnTo>
                      <a:lnTo>
                        <a:pt x="787" y="466"/>
                      </a:lnTo>
                      <a:lnTo>
                        <a:pt x="171" y="50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3B38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4" name="Freeform 78"/>
                <p:cNvSpPr>
                  <a:spLocks/>
                </p:cNvSpPr>
                <p:nvPr/>
              </p:nvSpPr>
              <p:spPr bwMode="auto">
                <a:xfrm>
                  <a:off x="3619" y="2722"/>
                  <a:ext cx="237" cy="333"/>
                </a:xfrm>
                <a:custGeom>
                  <a:avLst/>
                  <a:gdLst>
                    <a:gd name="T0" fmla="*/ 83 w 502"/>
                    <a:gd name="T1" fmla="*/ 764 h 764"/>
                    <a:gd name="T2" fmla="*/ 0 w 502"/>
                    <a:gd name="T3" fmla="*/ 287 h 764"/>
                    <a:gd name="T4" fmla="*/ 391 w 502"/>
                    <a:gd name="T5" fmla="*/ 0 h 764"/>
                    <a:gd name="T6" fmla="*/ 502 w 502"/>
                    <a:gd name="T7" fmla="*/ 315 h 764"/>
                    <a:gd name="T8" fmla="*/ 83 w 502"/>
                    <a:gd name="T9" fmla="*/ 764 h 764"/>
                    <a:gd name="T10" fmla="*/ 83 w 502"/>
                    <a:gd name="T11" fmla="*/ 764 h 7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2" h="764">
                      <a:moveTo>
                        <a:pt x="83" y="764"/>
                      </a:moveTo>
                      <a:lnTo>
                        <a:pt x="0" y="287"/>
                      </a:lnTo>
                      <a:lnTo>
                        <a:pt x="391" y="0"/>
                      </a:lnTo>
                      <a:lnTo>
                        <a:pt x="502" y="315"/>
                      </a:lnTo>
                      <a:lnTo>
                        <a:pt x="83" y="764"/>
                      </a:lnTo>
                      <a:lnTo>
                        <a:pt x="83" y="764"/>
                      </a:lnTo>
                      <a:close/>
                    </a:path>
                  </a:pathLst>
                </a:custGeom>
                <a:solidFill>
                  <a:srgbClr val="C2997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5" name="Freeform 79"/>
                <p:cNvSpPr>
                  <a:spLocks/>
                </p:cNvSpPr>
                <p:nvPr/>
              </p:nvSpPr>
              <p:spPr bwMode="auto">
                <a:xfrm>
                  <a:off x="3350" y="2710"/>
                  <a:ext cx="273" cy="353"/>
                </a:xfrm>
                <a:custGeom>
                  <a:avLst/>
                  <a:gdLst>
                    <a:gd name="T0" fmla="*/ 148 w 578"/>
                    <a:gd name="T1" fmla="*/ 812 h 812"/>
                    <a:gd name="T2" fmla="*/ 0 w 578"/>
                    <a:gd name="T3" fmla="*/ 302 h 812"/>
                    <a:gd name="T4" fmla="*/ 453 w 578"/>
                    <a:gd name="T5" fmla="*/ 0 h 812"/>
                    <a:gd name="T6" fmla="*/ 578 w 578"/>
                    <a:gd name="T7" fmla="*/ 373 h 812"/>
                    <a:gd name="T8" fmla="*/ 148 w 578"/>
                    <a:gd name="T9" fmla="*/ 812 h 812"/>
                    <a:gd name="T10" fmla="*/ 148 w 578"/>
                    <a:gd name="T11" fmla="*/ 812 h 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78" h="812">
                      <a:moveTo>
                        <a:pt x="148" y="812"/>
                      </a:moveTo>
                      <a:lnTo>
                        <a:pt x="0" y="302"/>
                      </a:lnTo>
                      <a:lnTo>
                        <a:pt x="453" y="0"/>
                      </a:lnTo>
                      <a:lnTo>
                        <a:pt x="578" y="373"/>
                      </a:lnTo>
                      <a:lnTo>
                        <a:pt x="148" y="812"/>
                      </a:lnTo>
                      <a:lnTo>
                        <a:pt x="148" y="812"/>
                      </a:lnTo>
                      <a:close/>
                    </a:path>
                  </a:pathLst>
                </a:custGeom>
                <a:solidFill>
                  <a:srgbClr val="BDC77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6" name="Freeform 80"/>
                <p:cNvSpPr>
                  <a:spLocks/>
                </p:cNvSpPr>
                <p:nvPr/>
              </p:nvSpPr>
              <p:spPr bwMode="auto">
                <a:xfrm>
                  <a:off x="3990" y="3126"/>
                  <a:ext cx="118" cy="92"/>
                </a:xfrm>
                <a:custGeom>
                  <a:avLst/>
                  <a:gdLst>
                    <a:gd name="T0" fmla="*/ 0 w 251"/>
                    <a:gd name="T1" fmla="*/ 213 h 213"/>
                    <a:gd name="T2" fmla="*/ 28 w 251"/>
                    <a:gd name="T3" fmla="*/ 15 h 213"/>
                    <a:gd name="T4" fmla="*/ 251 w 251"/>
                    <a:gd name="T5" fmla="*/ 0 h 213"/>
                    <a:gd name="T6" fmla="*/ 230 w 251"/>
                    <a:gd name="T7" fmla="*/ 196 h 213"/>
                    <a:gd name="T8" fmla="*/ 0 w 251"/>
                    <a:gd name="T9" fmla="*/ 213 h 213"/>
                    <a:gd name="T10" fmla="*/ 0 w 251"/>
                    <a:gd name="T11" fmla="*/ 213 h 2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51" h="213">
                      <a:moveTo>
                        <a:pt x="0" y="213"/>
                      </a:moveTo>
                      <a:lnTo>
                        <a:pt x="28" y="15"/>
                      </a:lnTo>
                      <a:lnTo>
                        <a:pt x="251" y="0"/>
                      </a:lnTo>
                      <a:lnTo>
                        <a:pt x="230" y="196"/>
                      </a:lnTo>
                      <a:lnTo>
                        <a:pt x="0" y="213"/>
                      </a:lnTo>
                      <a:lnTo>
                        <a:pt x="0" y="213"/>
                      </a:lnTo>
                      <a:close/>
                    </a:path>
                  </a:pathLst>
                </a:custGeom>
                <a:solidFill>
                  <a:srgbClr val="C2C2A8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7" name="Freeform 81"/>
                <p:cNvSpPr>
                  <a:spLocks/>
                </p:cNvSpPr>
                <p:nvPr/>
              </p:nvSpPr>
              <p:spPr bwMode="auto">
                <a:xfrm>
                  <a:off x="3176" y="2697"/>
                  <a:ext cx="182" cy="388"/>
                </a:xfrm>
                <a:custGeom>
                  <a:avLst/>
                  <a:gdLst>
                    <a:gd name="T0" fmla="*/ 2 w 384"/>
                    <a:gd name="T1" fmla="*/ 885 h 889"/>
                    <a:gd name="T2" fmla="*/ 2 w 384"/>
                    <a:gd name="T3" fmla="*/ 880 h 889"/>
                    <a:gd name="T4" fmla="*/ 0 w 384"/>
                    <a:gd name="T5" fmla="*/ 870 h 889"/>
                    <a:gd name="T6" fmla="*/ 0 w 384"/>
                    <a:gd name="T7" fmla="*/ 859 h 889"/>
                    <a:gd name="T8" fmla="*/ 0 w 384"/>
                    <a:gd name="T9" fmla="*/ 844 h 889"/>
                    <a:gd name="T10" fmla="*/ 0 w 384"/>
                    <a:gd name="T11" fmla="*/ 825 h 889"/>
                    <a:gd name="T12" fmla="*/ 0 w 384"/>
                    <a:gd name="T13" fmla="*/ 806 h 889"/>
                    <a:gd name="T14" fmla="*/ 0 w 384"/>
                    <a:gd name="T15" fmla="*/ 783 h 889"/>
                    <a:gd name="T16" fmla="*/ 0 w 384"/>
                    <a:gd name="T17" fmla="*/ 760 h 889"/>
                    <a:gd name="T18" fmla="*/ 0 w 384"/>
                    <a:gd name="T19" fmla="*/ 735 h 889"/>
                    <a:gd name="T20" fmla="*/ 0 w 384"/>
                    <a:gd name="T21" fmla="*/ 709 h 889"/>
                    <a:gd name="T22" fmla="*/ 0 w 384"/>
                    <a:gd name="T23" fmla="*/ 680 h 889"/>
                    <a:gd name="T24" fmla="*/ 0 w 384"/>
                    <a:gd name="T25" fmla="*/ 652 h 889"/>
                    <a:gd name="T26" fmla="*/ 0 w 384"/>
                    <a:gd name="T27" fmla="*/ 621 h 889"/>
                    <a:gd name="T28" fmla="*/ 0 w 384"/>
                    <a:gd name="T29" fmla="*/ 591 h 889"/>
                    <a:gd name="T30" fmla="*/ 0 w 384"/>
                    <a:gd name="T31" fmla="*/ 562 h 889"/>
                    <a:gd name="T32" fmla="*/ 0 w 384"/>
                    <a:gd name="T33" fmla="*/ 532 h 889"/>
                    <a:gd name="T34" fmla="*/ 0 w 384"/>
                    <a:gd name="T35" fmla="*/ 501 h 889"/>
                    <a:gd name="T36" fmla="*/ 0 w 384"/>
                    <a:gd name="T37" fmla="*/ 471 h 889"/>
                    <a:gd name="T38" fmla="*/ 0 w 384"/>
                    <a:gd name="T39" fmla="*/ 443 h 889"/>
                    <a:gd name="T40" fmla="*/ 0 w 384"/>
                    <a:gd name="T41" fmla="*/ 414 h 889"/>
                    <a:gd name="T42" fmla="*/ 0 w 384"/>
                    <a:gd name="T43" fmla="*/ 387 h 889"/>
                    <a:gd name="T44" fmla="*/ 0 w 384"/>
                    <a:gd name="T45" fmla="*/ 361 h 889"/>
                    <a:gd name="T46" fmla="*/ 0 w 384"/>
                    <a:gd name="T47" fmla="*/ 338 h 889"/>
                    <a:gd name="T48" fmla="*/ 0 w 384"/>
                    <a:gd name="T49" fmla="*/ 315 h 889"/>
                    <a:gd name="T50" fmla="*/ 0 w 384"/>
                    <a:gd name="T51" fmla="*/ 294 h 889"/>
                    <a:gd name="T52" fmla="*/ 0 w 384"/>
                    <a:gd name="T53" fmla="*/ 275 h 889"/>
                    <a:gd name="T54" fmla="*/ 0 w 384"/>
                    <a:gd name="T55" fmla="*/ 260 h 889"/>
                    <a:gd name="T56" fmla="*/ 0 w 384"/>
                    <a:gd name="T57" fmla="*/ 247 h 889"/>
                    <a:gd name="T58" fmla="*/ 0 w 384"/>
                    <a:gd name="T59" fmla="*/ 237 h 889"/>
                    <a:gd name="T60" fmla="*/ 0 w 384"/>
                    <a:gd name="T61" fmla="*/ 230 h 889"/>
                    <a:gd name="T62" fmla="*/ 318 w 384"/>
                    <a:gd name="T63" fmla="*/ 0 h 889"/>
                    <a:gd name="T64" fmla="*/ 2 w 384"/>
                    <a:gd name="T65" fmla="*/ 889 h 8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84" h="889">
                      <a:moveTo>
                        <a:pt x="2" y="889"/>
                      </a:moveTo>
                      <a:lnTo>
                        <a:pt x="2" y="885"/>
                      </a:lnTo>
                      <a:lnTo>
                        <a:pt x="2" y="883"/>
                      </a:lnTo>
                      <a:lnTo>
                        <a:pt x="2" y="880"/>
                      </a:lnTo>
                      <a:lnTo>
                        <a:pt x="2" y="876"/>
                      </a:lnTo>
                      <a:lnTo>
                        <a:pt x="0" y="870"/>
                      </a:lnTo>
                      <a:lnTo>
                        <a:pt x="0" y="864"/>
                      </a:lnTo>
                      <a:lnTo>
                        <a:pt x="0" y="859"/>
                      </a:lnTo>
                      <a:lnTo>
                        <a:pt x="0" y="851"/>
                      </a:lnTo>
                      <a:lnTo>
                        <a:pt x="0" y="844"/>
                      </a:lnTo>
                      <a:lnTo>
                        <a:pt x="0" y="836"/>
                      </a:lnTo>
                      <a:lnTo>
                        <a:pt x="0" y="825"/>
                      </a:lnTo>
                      <a:lnTo>
                        <a:pt x="0" y="817"/>
                      </a:lnTo>
                      <a:lnTo>
                        <a:pt x="0" y="806"/>
                      </a:lnTo>
                      <a:lnTo>
                        <a:pt x="0" y="796"/>
                      </a:lnTo>
                      <a:lnTo>
                        <a:pt x="0" y="783"/>
                      </a:lnTo>
                      <a:lnTo>
                        <a:pt x="0" y="773"/>
                      </a:lnTo>
                      <a:lnTo>
                        <a:pt x="0" y="760"/>
                      </a:lnTo>
                      <a:lnTo>
                        <a:pt x="0" y="747"/>
                      </a:lnTo>
                      <a:lnTo>
                        <a:pt x="0" y="735"/>
                      </a:lnTo>
                      <a:lnTo>
                        <a:pt x="0" y="722"/>
                      </a:lnTo>
                      <a:lnTo>
                        <a:pt x="0" y="709"/>
                      </a:lnTo>
                      <a:lnTo>
                        <a:pt x="0" y="693"/>
                      </a:lnTo>
                      <a:lnTo>
                        <a:pt x="0" y="680"/>
                      </a:lnTo>
                      <a:lnTo>
                        <a:pt x="0" y="667"/>
                      </a:lnTo>
                      <a:lnTo>
                        <a:pt x="0" y="652"/>
                      </a:lnTo>
                      <a:lnTo>
                        <a:pt x="0" y="636"/>
                      </a:lnTo>
                      <a:lnTo>
                        <a:pt x="0" y="621"/>
                      </a:lnTo>
                      <a:lnTo>
                        <a:pt x="0" y="608"/>
                      </a:lnTo>
                      <a:lnTo>
                        <a:pt x="0" y="591"/>
                      </a:lnTo>
                      <a:lnTo>
                        <a:pt x="0" y="577"/>
                      </a:lnTo>
                      <a:lnTo>
                        <a:pt x="0" y="562"/>
                      </a:lnTo>
                      <a:lnTo>
                        <a:pt x="0" y="547"/>
                      </a:lnTo>
                      <a:lnTo>
                        <a:pt x="0" y="532"/>
                      </a:lnTo>
                      <a:lnTo>
                        <a:pt x="0" y="517"/>
                      </a:lnTo>
                      <a:lnTo>
                        <a:pt x="0" y="501"/>
                      </a:lnTo>
                      <a:lnTo>
                        <a:pt x="0" y="486"/>
                      </a:lnTo>
                      <a:lnTo>
                        <a:pt x="0" y="471"/>
                      </a:lnTo>
                      <a:lnTo>
                        <a:pt x="0" y="456"/>
                      </a:lnTo>
                      <a:lnTo>
                        <a:pt x="0" y="443"/>
                      </a:lnTo>
                      <a:lnTo>
                        <a:pt x="0" y="429"/>
                      </a:lnTo>
                      <a:lnTo>
                        <a:pt x="0" y="414"/>
                      </a:lnTo>
                      <a:lnTo>
                        <a:pt x="0" y="401"/>
                      </a:lnTo>
                      <a:lnTo>
                        <a:pt x="0" y="387"/>
                      </a:lnTo>
                      <a:lnTo>
                        <a:pt x="0" y="374"/>
                      </a:lnTo>
                      <a:lnTo>
                        <a:pt x="0" y="361"/>
                      </a:lnTo>
                      <a:lnTo>
                        <a:pt x="0" y="349"/>
                      </a:lnTo>
                      <a:lnTo>
                        <a:pt x="0" y="338"/>
                      </a:lnTo>
                      <a:lnTo>
                        <a:pt x="0" y="327"/>
                      </a:lnTo>
                      <a:lnTo>
                        <a:pt x="0" y="315"/>
                      </a:lnTo>
                      <a:lnTo>
                        <a:pt x="0" y="306"/>
                      </a:lnTo>
                      <a:lnTo>
                        <a:pt x="0" y="294"/>
                      </a:lnTo>
                      <a:lnTo>
                        <a:pt x="0" y="287"/>
                      </a:lnTo>
                      <a:lnTo>
                        <a:pt x="0" y="275"/>
                      </a:lnTo>
                      <a:lnTo>
                        <a:pt x="0" y="270"/>
                      </a:lnTo>
                      <a:lnTo>
                        <a:pt x="0" y="260"/>
                      </a:lnTo>
                      <a:lnTo>
                        <a:pt x="0" y="254"/>
                      </a:lnTo>
                      <a:lnTo>
                        <a:pt x="0" y="247"/>
                      </a:lnTo>
                      <a:lnTo>
                        <a:pt x="0" y="243"/>
                      </a:lnTo>
                      <a:lnTo>
                        <a:pt x="0" y="237"/>
                      </a:lnTo>
                      <a:lnTo>
                        <a:pt x="0" y="234"/>
                      </a:lnTo>
                      <a:lnTo>
                        <a:pt x="0" y="230"/>
                      </a:lnTo>
                      <a:lnTo>
                        <a:pt x="0" y="228"/>
                      </a:lnTo>
                      <a:lnTo>
                        <a:pt x="318" y="0"/>
                      </a:lnTo>
                      <a:lnTo>
                        <a:pt x="384" y="384"/>
                      </a:lnTo>
                      <a:lnTo>
                        <a:pt x="2" y="889"/>
                      </a:lnTo>
                      <a:lnTo>
                        <a:pt x="2" y="889"/>
                      </a:lnTo>
                      <a:close/>
                    </a:path>
                  </a:pathLst>
                </a:custGeom>
                <a:solidFill>
                  <a:srgbClr val="C2C2A8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8" name="Freeform 82"/>
                <p:cNvSpPr>
                  <a:spLocks/>
                </p:cNvSpPr>
                <p:nvPr/>
              </p:nvSpPr>
              <p:spPr bwMode="auto">
                <a:xfrm>
                  <a:off x="3652" y="2858"/>
                  <a:ext cx="271" cy="205"/>
                </a:xfrm>
                <a:custGeom>
                  <a:avLst/>
                  <a:gdLst>
                    <a:gd name="T0" fmla="*/ 0 w 572"/>
                    <a:gd name="T1" fmla="*/ 472 h 472"/>
                    <a:gd name="T2" fmla="*/ 432 w 572"/>
                    <a:gd name="T3" fmla="*/ 0 h 472"/>
                    <a:gd name="T4" fmla="*/ 572 w 572"/>
                    <a:gd name="T5" fmla="*/ 464 h 472"/>
                    <a:gd name="T6" fmla="*/ 0 w 572"/>
                    <a:gd name="T7" fmla="*/ 472 h 472"/>
                    <a:gd name="T8" fmla="*/ 0 w 572"/>
                    <a:gd name="T9" fmla="*/ 472 h 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72" h="472">
                      <a:moveTo>
                        <a:pt x="0" y="472"/>
                      </a:moveTo>
                      <a:lnTo>
                        <a:pt x="432" y="0"/>
                      </a:lnTo>
                      <a:lnTo>
                        <a:pt x="572" y="464"/>
                      </a:lnTo>
                      <a:lnTo>
                        <a:pt x="0" y="472"/>
                      </a:lnTo>
                      <a:lnTo>
                        <a:pt x="0" y="472"/>
                      </a:lnTo>
                      <a:close/>
                    </a:path>
                  </a:pathLst>
                </a:custGeom>
                <a:solidFill>
                  <a:srgbClr val="FFE6B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9" name="Freeform 83"/>
                <p:cNvSpPr>
                  <a:spLocks/>
                </p:cNvSpPr>
                <p:nvPr/>
              </p:nvSpPr>
              <p:spPr bwMode="auto">
                <a:xfrm>
                  <a:off x="3418" y="2869"/>
                  <a:ext cx="236" cy="200"/>
                </a:xfrm>
                <a:custGeom>
                  <a:avLst/>
                  <a:gdLst>
                    <a:gd name="T0" fmla="*/ 0 w 500"/>
                    <a:gd name="T1" fmla="*/ 460 h 460"/>
                    <a:gd name="T2" fmla="*/ 439 w 500"/>
                    <a:gd name="T3" fmla="*/ 0 h 460"/>
                    <a:gd name="T4" fmla="*/ 500 w 500"/>
                    <a:gd name="T5" fmla="*/ 452 h 460"/>
                    <a:gd name="T6" fmla="*/ 0 w 500"/>
                    <a:gd name="T7" fmla="*/ 460 h 460"/>
                    <a:gd name="T8" fmla="*/ 0 w 500"/>
                    <a:gd name="T9" fmla="*/ 460 h 4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0" h="460">
                      <a:moveTo>
                        <a:pt x="0" y="460"/>
                      </a:moveTo>
                      <a:lnTo>
                        <a:pt x="439" y="0"/>
                      </a:lnTo>
                      <a:lnTo>
                        <a:pt x="500" y="452"/>
                      </a:lnTo>
                      <a:lnTo>
                        <a:pt x="0" y="460"/>
                      </a:lnTo>
                      <a:lnTo>
                        <a:pt x="0" y="460"/>
                      </a:lnTo>
                      <a:close/>
                    </a:path>
                  </a:pathLst>
                </a:custGeom>
                <a:solidFill>
                  <a:srgbClr val="E3C97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0" name="Freeform 84"/>
                <p:cNvSpPr>
                  <a:spLocks/>
                </p:cNvSpPr>
                <p:nvPr/>
              </p:nvSpPr>
              <p:spPr bwMode="auto">
                <a:xfrm>
                  <a:off x="3180" y="2875"/>
                  <a:ext cx="244" cy="202"/>
                </a:xfrm>
                <a:custGeom>
                  <a:avLst/>
                  <a:gdLst>
                    <a:gd name="T0" fmla="*/ 0 w 515"/>
                    <a:gd name="T1" fmla="*/ 464 h 464"/>
                    <a:gd name="T2" fmla="*/ 1 w 515"/>
                    <a:gd name="T3" fmla="*/ 460 h 464"/>
                    <a:gd name="T4" fmla="*/ 7 w 515"/>
                    <a:gd name="T5" fmla="*/ 455 h 464"/>
                    <a:gd name="T6" fmla="*/ 9 w 515"/>
                    <a:gd name="T7" fmla="*/ 451 h 464"/>
                    <a:gd name="T8" fmla="*/ 13 w 515"/>
                    <a:gd name="T9" fmla="*/ 447 h 464"/>
                    <a:gd name="T10" fmla="*/ 17 w 515"/>
                    <a:gd name="T11" fmla="*/ 441 h 464"/>
                    <a:gd name="T12" fmla="*/ 22 w 515"/>
                    <a:gd name="T13" fmla="*/ 438 h 464"/>
                    <a:gd name="T14" fmla="*/ 26 w 515"/>
                    <a:gd name="T15" fmla="*/ 430 h 464"/>
                    <a:gd name="T16" fmla="*/ 30 w 515"/>
                    <a:gd name="T17" fmla="*/ 424 h 464"/>
                    <a:gd name="T18" fmla="*/ 36 w 515"/>
                    <a:gd name="T19" fmla="*/ 419 h 464"/>
                    <a:gd name="T20" fmla="*/ 41 w 515"/>
                    <a:gd name="T21" fmla="*/ 411 h 464"/>
                    <a:gd name="T22" fmla="*/ 47 w 515"/>
                    <a:gd name="T23" fmla="*/ 403 h 464"/>
                    <a:gd name="T24" fmla="*/ 53 w 515"/>
                    <a:gd name="T25" fmla="*/ 396 h 464"/>
                    <a:gd name="T26" fmla="*/ 59 w 515"/>
                    <a:gd name="T27" fmla="*/ 388 h 464"/>
                    <a:gd name="T28" fmla="*/ 66 w 515"/>
                    <a:gd name="T29" fmla="*/ 381 h 464"/>
                    <a:gd name="T30" fmla="*/ 72 w 515"/>
                    <a:gd name="T31" fmla="*/ 371 h 464"/>
                    <a:gd name="T32" fmla="*/ 79 w 515"/>
                    <a:gd name="T33" fmla="*/ 363 h 464"/>
                    <a:gd name="T34" fmla="*/ 87 w 515"/>
                    <a:gd name="T35" fmla="*/ 354 h 464"/>
                    <a:gd name="T36" fmla="*/ 95 w 515"/>
                    <a:gd name="T37" fmla="*/ 344 h 464"/>
                    <a:gd name="T38" fmla="*/ 102 w 515"/>
                    <a:gd name="T39" fmla="*/ 335 h 464"/>
                    <a:gd name="T40" fmla="*/ 108 w 515"/>
                    <a:gd name="T41" fmla="*/ 325 h 464"/>
                    <a:gd name="T42" fmla="*/ 118 w 515"/>
                    <a:gd name="T43" fmla="*/ 316 h 464"/>
                    <a:gd name="T44" fmla="*/ 125 w 515"/>
                    <a:gd name="T45" fmla="*/ 306 h 464"/>
                    <a:gd name="T46" fmla="*/ 133 w 515"/>
                    <a:gd name="T47" fmla="*/ 295 h 464"/>
                    <a:gd name="T48" fmla="*/ 140 w 515"/>
                    <a:gd name="T49" fmla="*/ 286 h 464"/>
                    <a:gd name="T50" fmla="*/ 148 w 515"/>
                    <a:gd name="T51" fmla="*/ 274 h 464"/>
                    <a:gd name="T52" fmla="*/ 157 w 515"/>
                    <a:gd name="T53" fmla="*/ 265 h 464"/>
                    <a:gd name="T54" fmla="*/ 165 w 515"/>
                    <a:gd name="T55" fmla="*/ 253 h 464"/>
                    <a:gd name="T56" fmla="*/ 175 w 515"/>
                    <a:gd name="T57" fmla="*/ 244 h 464"/>
                    <a:gd name="T58" fmla="*/ 182 w 515"/>
                    <a:gd name="T59" fmla="*/ 232 h 464"/>
                    <a:gd name="T60" fmla="*/ 192 w 515"/>
                    <a:gd name="T61" fmla="*/ 223 h 464"/>
                    <a:gd name="T62" fmla="*/ 199 w 515"/>
                    <a:gd name="T63" fmla="*/ 211 h 464"/>
                    <a:gd name="T64" fmla="*/ 207 w 515"/>
                    <a:gd name="T65" fmla="*/ 200 h 464"/>
                    <a:gd name="T66" fmla="*/ 214 w 515"/>
                    <a:gd name="T67" fmla="*/ 190 h 464"/>
                    <a:gd name="T68" fmla="*/ 224 w 515"/>
                    <a:gd name="T69" fmla="*/ 181 h 464"/>
                    <a:gd name="T70" fmla="*/ 232 w 515"/>
                    <a:gd name="T71" fmla="*/ 170 h 464"/>
                    <a:gd name="T72" fmla="*/ 239 w 515"/>
                    <a:gd name="T73" fmla="*/ 160 h 464"/>
                    <a:gd name="T74" fmla="*/ 249 w 515"/>
                    <a:gd name="T75" fmla="*/ 151 h 464"/>
                    <a:gd name="T76" fmla="*/ 256 w 515"/>
                    <a:gd name="T77" fmla="*/ 139 h 464"/>
                    <a:gd name="T78" fmla="*/ 264 w 515"/>
                    <a:gd name="T79" fmla="*/ 130 h 464"/>
                    <a:gd name="T80" fmla="*/ 272 w 515"/>
                    <a:gd name="T81" fmla="*/ 120 h 464"/>
                    <a:gd name="T82" fmla="*/ 279 w 515"/>
                    <a:gd name="T83" fmla="*/ 111 h 464"/>
                    <a:gd name="T84" fmla="*/ 285 w 515"/>
                    <a:gd name="T85" fmla="*/ 103 h 464"/>
                    <a:gd name="T86" fmla="*/ 292 w 515"/>
                    <a:gd name="T87" fmla="*/ 94 h 464"/>
                    <a:gd name="T88" fmla="*/ 300 w 515"/>
                    <a:gd name="T89" fmla="*/ 84 h 464"/>
                    <a:gd name="T90" fmla="*/ 306 w 515"/>
                    <a:gd name="T91" fmla="*/ 76 h 464"/>
                    <a:gd name="T92" fmla="*/ 313 w 515"/>
                    <a:gd name="T93" fmla="*/ 69 h 464"/>
                    <a:gd name="T94" fmla="*/ 319 w 515"/>
                    <a:gd name="T95" fmla="*/ 61 h 464"/>
                    <a:gd name="T96" fmla="*/ 325 w 515"/>
                    <a:gd name="T97" fmla="*/ 54 h 464"/>
                    <a:gd name="T98" fmla="*/ 329 w 515"/>
                    <a:gd name="T99" fmla="*/ 46 h 464"/>
                    <a:gd name="T100" fmla="*/ 334 w 515"/>
                    <a:gd name="T101" fmla="*/ 40 h 464"/>
                    <a:gd name="T102" fmla="*/ 338 w 515"/>
                    <a:gd name="T103" fmla="*/ 33 h 464"/>
                    <a:gd name="T104" fmla="*/ 344 w 515"/>
                    <a:gd name="T105" fmla="*/ 27 h 464"/>
                    <a:gd name="T106" fmla="*/ 348 w 515"/>
                    <a:gd name="T107" fmla="*/ 23 h 464"/>
                    <a:gd name="T108" fmla="*/ 351 w 515"/>
                    <a:gd name="T109" fmla="*/ 18 h 464"/>
                    <a:gd name="T110" fmla="*/ 357 w 515"/>
                    <a:gd name="T111" fmla="*/ 10 h 464"/>
                    <a:gd name="T112" fmla="*/ 363 w 515"/>
                    <a:gd name="T113" fmla="*/ 4 h 464"/>
                    <a:gd name="T114" fmla="*/ 367 w 515"/>
                    <a:gd name="T115" fmla="*/ 0 h 464"/>
                    <a:gd name="T116" fmla="*/ 369 w 515"/>
                    <a:gd name="T117" fmla="*/ 0 h 464"/>
                    <a:gd name="T118" fmla="*/ 515 w 515"/>
                    <a:gd name="T119" fmla="*/ 460 h 464"/>
                    <a:gd name="T120" fmla="*/ 0 w 515"/>
                    <a:gd name="T121" fmla="*/ 464 h 464"/>
                    <a:gd name="T122" fmla="*/ 0 w 515"/>
                    <a:gd name="T123" fmla="*/ 464 h 4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515" h="464">
                      <a:moveTo>
                        <a:pt x="0" y="464"/>
                      </a:moveTo>
                      <a:lnTo>
                        <a:pt x="1" y="460"/>
                      </a:lnTo>
                      <a:lnTo>
                        <a:pt x="7" y="455"/>
                      </a:lnTo>
                      <a:lnTo>
                        <a:pt x="9" y="451"/>
                      </a:lnTo>
                      <a:lnTo>
                        <a:pt x="13" y="447"/>
                      </a:lnTo>
                      <a:lnTo>
                        <a:pt x="17" y="441"/>
                      </a:lnTo>
                      <a:lnTo>
                        <a:pt x="22" y="438"/>
                      </a:lnTo>
                      <a:lnTo>
                        <a:pt x="26" y="430"/>
                      </a:lnTo>
                      <a:lnTo>
                        <a:pt x="30" y="424"/>
                      </a:lnTo>
                      <a:lnTo>
                        <a:pt x="36" y="419"/>
                      </a:lnTo>
                      <a:lnTo>
                        <a:pt x="41" y="411"/>
                      </a:lnTo>
                      <a:lnTo>
                        <a:pt x="47" y="403"/>
                      </a:lnTo>
                      <a:lnTo>
                        <a:pt x="53" y="396"/>
                      </a:lnTo>
                      <a:lnTo>
                        <a:pt x="59" y="388"/>
                      </a:lnTo>
                      <a:lnTo>
                        <a:pt x="66" y="381"/>
                      </a:lnTo>
                      <a:lnTo>
                        <a:pt x="72" y="371"/>
                      </a:lnTo>
                      <a:lnTo>
                        <a:pt x="79" y="363"/>
                      </a:lnTo>
                      <a:lnTo>
                        <a:pt x="87" y="354"/>
                      </a:lnTo>
                      <a:lnTo>
                        <a:pt x="95" y="344"/>
                      </a:lnTo>
                      <a:lnTo>
                        <a:pt x="102" y="335"/>
                      </a:lnTo>
                      <a:lnTo>
                        <a:pt x="108" y="325"/>
                      </a:lnTo>
                      <a:lnTo>
                        <a:pt x="118" y="316"/>
                      </a:lnTo>
                      <a:lnTo>
                        <a:pt x="125" y="306"/>
                      </a:lnTo>
                      <a:lnTo>
                        <a:pt x="133" y="295"/>
                      </a:lnTo>
                      <a:lnTo>
                        <a:pt x="140" y="286"/>
                      </a:lnTo>
                      <a:lnTo>
                        <a:pt x="148" y="274"/>
                      </a:lnTo>
                      <a:lnTo>
                        <a:pt x="157" y="265"/>
                      </a:lnTo>
                      <a:lnTo>
                        <a:pt x="165" y="253"/>
                      </a:lnTo>
                      <a:lnTo>
                        <a:pt x="175" y="244"/>
                      </a:lnTo>
                      <a:lnTo>
                        <a:pt x="182" y="232"/>
                      </a:lnTo>
                      <a:lnTo>
                        <a:pt x="192" y="223"/>
                      </a:lnTo>
                      <a:lnTo>
                        <a:pt x="199" y="211"/>
                      </a:lnTo>
                      <a:lnTo>
                        <a:pt x="207" y="200"/>
                      </a:lnTo>
                      <a:lnTo>
                        <a:pt x="214" y="190"/>
                      </a:lnTo>
                      <a:lnTo>
                        <a:pt x="224" y="181"/>
                      </a:lnTo>
                      <a:lnTo>
                        <a:pt x="232" y="170"/>
                      </a:lnTo>
                      <a:lnTo>
                        <a:pt x="239" y="160"/>
                      </a:lnTo>
                      <a:lnTo>
                        <a:pt x="249" y="151"/>
                      </a:lnTo>
                      <a:lnTo>
                        <a:pt x="256" y="139"/>
                      </a:lnTo>
                      <a:lnTo>
                        <a:pt x="264" y="130"/>
                      </a:lnTo>
                      <a:lnTo>
                        <a:pt x="272" y="120"/>
                      </a:lnTo>
                      <a:lnTo>
                        <a:pt x="279" y="111"/>
                      </a:lnTo>
                      <a:lnTo>
                        <a:pt x="285" y="103"/>
                      </a:lnTo>
                      <a:lnTo>
                        <a:pt x="292" y="94"/>
                      </a:lnTo>
                      <a:lnTo>
                        <a:pt x="300" y="84"/>
                      </a:lnTo>
                      <a:lnTo>
                        <a:pt x="306" y="76"/>
                      </a:lnTo>
                      <a:lnTo>
                        <a:pt x="313" y="69"/>
                      </a:lnTo>
                      <a:lnTo>
                        <a:pt x="319" y="61"/>
                      </a:lnTo>
                      <a:lnTo>
                        <a:pt x="325" y="54"/>
                      </a:lnTo>
                      <a:lnTo>
                        <a:pt x="329" y="46"/>
                      </a:lnTo>
                      <a:lnTo>
                        <a:pt x="334" y="40"/>
                      </a:lnTo>
                      <a:lnTo>
                        <a:pt x="338" y="33"/>
                      </a:lnTo>
                      <a:lnTo>
                        <a:pt x="344" y="27"/>
                      </a:lnTo>
                      <a:lnTo>
                        <a:pt x="348" y="23"/>
                      </a:lnTo>
                      <a:lnTo>
                        <a:pt x="351" y="18"/>
                      </a:lnTo>
                      <a:lnTo>
                        <a:pt x="357" y="10"/>
                      </a:lnTo>
                      <a:lnTo>
                        <a:pt x="363" y="4"/>
                      </a:lnTo>
                      <a:lnTo>
                        <a:pt x="367" y="0"/>
                      </a:lnTo>
                      <a:lnTo>
                        <a:pt x="369" y="0"/>
                      </a:lnTo>
                      <a:lnTo>
                        <a:pt x="515" y="460"/>
                      </a:lnTo>
                      <a:lnTo>
                        <a:pt x="0" y="464"/>
                      </a:lnTo>
                      <a:lnTo>
                        <a:pt x="0" y="464"/>
                      </a:lnTo>
                      <a:close/>
                    </a:path>
                  </a:pathLst>
                </a:custGeom>
                <a:solidFill>
                  <a:srgbClr val="E6FFE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1" name="Freeform 85"/>
                <p:cNvSpPr>
                  <a:spLocks/>
                </p:cNvSpPr>
                <p:nvPr/>
              </p:nvSpPr>
              <p:spPr bwMode="auto">
                <a:xfrm>
                  <a:off x="3791" y="2977"/>
                  <a:ext cx="53" cy="47"/>
                </a:xfrm>
                <a:custGeom>
                  <a:avLst/>
                  <a:gdLst>
                    <a:gd name="T0" fmla="*/ 17 w 112"/>
                    <a:gd name="T1" fmla="*/ 101 h 109"/>
                    <a:gd name="T2" fmla="*/ 0 w 112"/>
                    <a:gd name="T3" fmla="*/ 25 h 109"/>
                    <a:gd name="T4" fmla="*/ 40 w 112"/>
                    <a:gd name="T5" fmla="*/ 0 h 109"/>
                    <a:gd name="T6" fmla="*/ 91 w 112"/>
                    <a:gd name="T7" fmla="*/ 4 h 109"/>
                    <a:gd name="T8" fmla="*/ 112 w 112"/>
                    <a:gd name="T9" fmla="*/ 82 h 109"/>
                    <a:gd name="T10" fmla="*/ 59 w 112"/>
                    <a:gd name="T11" fmla="*/ 109 h 109"/>
                    <a:gd name="T12" fmla="*/ 17 w 112"/>
                    <a:gd name="T13" fmla="*/ 101 h 109"/>
                    <a:gd name="T14" fmla="*/ 17 w 112"/>
                    <a:gd name="T15" fmla="*/ 101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2" h="109">
                      <a:moveTo>
                        <a:pt x="17" y="101"/>
                      </a:moveTo>
                      <a:lnTo>
                        <a:pt x="0" y="25"/>
                      </a:lnTo>
                      <a:lnTo>
                        <a:pt x="40" y="0"/>
                      </a:lnTo>
                      <a:lnTo>
                        <a:pt x="91" y="4"/>
                      </a:lnTo>
                      <a:lnTo>
                        <a:pt x="112" y="82"/>
                      </a:lnTo>
                      <a:lnTo>
                        <a:pt x="59" y="109"/>
                      </a:lnTo>
                      <a:lnTo>
                        <a:pt x="17" y="101"/>
                      </a:lnTo>
                      <a:lnTo>
                        <a:pt x="17" y="101"/>
                      </a:lnTo>
                      <a:close/>
                    </a:path>
                  </a:pathLst>
                </a:custGeom>
                <a:solidFill>
                  <a:srgbClr val="BDC9D4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2" name="Freeform 86"/>
                <p:cNvSpPr>
                  <a:spLocks/>
                </p:cNvSpPr>
                <p:nvPr/>
              </p:nvSpPr>
              <p:spPr bwMode="auto">
                <a:xfrm>
                  <a:off x="3301" y="2987"/>
                  <a:ext cx="54" cy="48"/>
                </a:xfrm>
                <a:custGeom>
                  <a:avLst/>
                  <a:gdLst>
                    <a:gd name="T0" fmla="*/ 19 w 115"/>
                    <a:gd name="T1" fmla="*/ 101 h 110"/>
                    <a:gd name="T2" fmla="*/ 0 w 115"/>
                    <a:gd name="T3" fmla="*/ 25 h 110"/>
                    <a:gd name="T4" fmla="*/ 42 w 115"/>
                    <a:gd name="T5" fmla="*/ 0 h 110"/>
                    <a:gd name="T6" fmla="*/ 96 w 115"/>
                    <a:gd name="T7" fmla="*/ 4 h 110"/>
                    <a:gd name="T8" fmla="*/ 115 w 115"/>
                    <a:gd name="T9" fmla="*/ 82 h 110"/>
                    <a:gd name="T10" fmla="*/ 61 w 115"/>
                    <a:gd name="T11" fmla="*/ 110 h 110"/>
                    <a:gd name="T12" fmla="*/ 19 w 115"/>
                    <a:gd name="T13" fmla="*/ 101 h 110"/>
                    <a:gd name="T14" fmla="*/ 19 w 115"/>
                    <a:gd name="T15" fmla="*/ 101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5" h="110">
                      <a:moveTo>
                        <a:pt x="19" y="101"/>
                      </a:moveTo>
                      <a:lnTo>
                        <a:pt x="0" y="25"/>
                      </a:lnTo>
                      <a:lnTo>
                        <a:pt x="42" y="0"/>
                      </a:lnTo>
                      <a:lnTo>
                        <a:pt x="96" y="4"/>
                      </a:lnTo>
                      <a:lnTo>
                        <a:pt x="115" y="82"/>
                      </a:lnTo>
                      <a:lnTo>
                        <a:pt x="61" y="110"/>
                      </a:lnTo>
                      <a:lnTo>
                        <a:pt x="19" y="101"/>
                      </a:lnTo>
                      <a:lnTo>
                        <a:pt x="19" y="101"/>
                      </a:lnTo>
                      <a:close/>
                    </a:path>
                  </a:pathLst>
                </a:custGeom>
                <a:solidFill>
                  <a:srgbClr val="BDC9D4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3" name="Freeform 87"/>
                <p:cNvSpPr>
                  <a:spLocks/>
                </p:cNvSpPr>
                <p:nvPr/>
              </p:nvSpPr>
              <p:spPr bwMode="auto">
                <a:xfrm>
                  <a:off x="3547" y="2981"/>
                  <a:ext cx="53" cy="47"/>
                </a:xfrm>
                <a:custGeom>
                  <a:avLst/>
                  <a:gdLst>
                    <a:gd name="T0" fmla="*/ 18 w 113"/>
                    <a:gd name="T1" fmla="*/ 99 h 108"/>
                    <a:gd name="T2" fmla="*/ 0 w 113"/>
                    <a:gd name="T3" fmla="*/ 26 h 108"/>
                    <a:gd name="T4" fmla="*/ 40 w 113"/>
                    <a:gd name="T5" fmla="*/ 0 h 108"/>
                    <a:gd name="T6" fmla="*/ 94 w 113"/>
                    <a:gd name="T7" fmla="*/ 4 h 108"/>
                    <a:gd name="T8" fmla="*/ 113 w 113"/>
                    <a:gd name="T9" fmla="*/ 80 h 108"/>
                    <a:gd name="T10" fmla="*/ 59 w 113"/>
                    <a:gd name="T11" fmla="*/ 108 h 108"/>
                    <a:gd name="T12" fmla="*/ 18 w 113"/>
                    <a:gd name="T13" fmla="*/ 99 h 108"/>
                    <a:gd name="T14" fmla="*/ 18 w 113"/>
                    <a:gd name="T15" fmla="*/ 99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3" h="108">
                      <a:moveTo>
                        <a:pt x="18" y="99"/>
                      </a:moveTo>
                      <a:lnTo>
                        <a:pt x="0" y="26"/>
                      </a:lnTo>
                      <a:lnTo>
                        <a:pt x="40" y="0"/>
                      </a:lnTo>
                      <a:lnTo>
                        <a:pt x="94" y="4"/>
                      </a:lnTo>
                      <a:lnTo>
                        <a:pt x="113" y="80"/>
                      </a:lnTo>
                      <a:lnTo>
                        <a:pt x="59" y="108"/>
                      </a:lnTo>
                      <a:lnTo>
                        <a:pt x="18" y="99"/>
                      </a:lnTo>
                      <a:lnTo>
                        <a:pt x="18" y="99"/>
                      </a:lnTo>
                      <a:close/>
                    </a:path>
                  </a:pathLst>
                </a:custGeom>
                <a:solidFill>
                  <a:srgbClr val="BDC9D4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4" name="Freeform 88"/>
                <p:cNvSpPr>
                  <a:spLocks/>
                </p:cNvSpPr>
                <p:nvPr/>
              </p:nvSpPr>
              <p:spPr bwMode="auto">
                <a:xfrm>
                  <a:off x="3179" y="2680"/>
                  <a:ext cx="272" cy="576"/>
                </a:xfrm>
                <a:custGeom>
                  <a:avLst/>
                  <a:gdLst>
                    <a:gd name="T0" fmla="*/ 2 w 574"/>
                    <a:gd name="T1" fmla="*/ 1315 h 1321"/>
                    <a:gd name="T2" fmla="*/ 0 w 574"/>
                    <a:gd name="T3" fmla="*/ 260 h 1321"/>
                    <a:gd name="T4" fmla="*/ 321 w 574"/>
                    <a:gd name="T5" fmla="*/ 0 h 1321"/>
                    <a:gd name="T6" fmla="*/ 355 w 574"/>
                    <a:gd name="T7" fmla="*/ 6 h 1321"/>
                    <a:gd name="T8" fmla="*/ 424 w 574"/>
                    <a:gd name="T9" fmla="*/ 418 h 1321"/>
                    <a:gd name="T10" fmla="*/ 574 w 574"/>
                    <a:gd name="T11" fmla="*/ 901 h 1321"/>
                    <a:gd name="T12" fmla="*/ 528 w 574"/>
                    <a:gd name="T13" fmla="*/ 906 h 1321"/>
                    <a:gd name="T14" fmla="*/ 374 w 574"/>
                    <a:gd name="T15" fmla="*/ 429 h 1321"/>
                    <a:gd name="T16" fmla="*/ 319 w 574"/>
                    <a:gd name="T17" fmla="*/ 72 h 1321"/>
                    <a:gd name="T18" fmla="*/ 36 w 574"/>
                    <a:gd name="T19" fmla="*/ 294 h 1321"/>
                    <a:gd name="T20" fmla="*/ 45 w 574"/>
                    <a:gd name="T21" fmla="*/ 1321 h 1321"/>
                    <a:gd name="T22" fmla="*/ 2 w 574"/>
                    <a:gd name="T23" fmla="*/ 1315 h 1321"/>
                    <a:gd name="T24" fmla="*/ 2 w 574"/>
                    <a:gd name="T25" fmla="*/ 1315 h 13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74" h="1321">
                      <a:moveTo>
                        <a:pt x="2" y="1315"/>
                      </a:moveTo>
                      <a:lnTo>
                        <a:pt x="0" y="260"/>
                      </a:lnTo>
                      <a:lnTo>
                        <a:pt x="321" y="0"/>
                      </a:lnTo>
                      <a:lnTo>
                        <a:pt x="355" y="6"/>
                      </a:lnTo>
                      <a:lnTo>
                        <a:pt x="424" y="418"/>
                      </a:lnTo>
                      <a:lnTo>
                        <a:pt x="574" y="901"/>
                      </a:lnTo>
                      <a:lnTo>
                        <a:pt x="528" y="906"/>
                      </a:lnTo>
                      <a:lnTo>
                        <a:pt x="374" y="429"/>
                      </a:lnTo>
                      <a:lnTo>
                        <a:pt x="319" y="72"/>
                      </a:lnTo>
                      <a:lnTo>
                        <a:pt x="36" y="294"/>
                      </a:lnTo>
                      <a:lnTo>
                        <a:pt x="45" y="1321"/>
                      </a:lnTo>
                      <a:lnTo>
                        <a:pt x="2" y="1315"/>
                      </a:lnTo>
                      <a:lnTo>
                        <a:pt x="2" y="13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5" name="Freeform 89"/>
                <p:cNvSpPr>
                  <a:spLocks/>
                </p:cNvSpPr>
                <p:nvPr/>
              </p:nvSpPr>
              <p:spPr bwMode="auto">
                <a:xfrm>
                  <a:off x="3190" y="2859"/>
                  <a:ext cx="182" cy="238"/>
                </a:xfrm>
                <a:custGeom>
                  <a:avLst/>
                  <a:gdLst>
                    <a:gd name="T0" fmla="*/ 0 w 386"/>
                    <a:gd name="T1" fmla="*/ 491 h 548"/>
                    <a:gd name="T2" fmla="*/ 374 w 386"/>
                    <a:gd name="T3" fmla="*/ 0 h 548"/>
                    <a:gd name="T4" fmla="*/ 386 w 386"/>
                    <a:gd name="T5" fmla="*/ 65 h 548"/>
                    <a:gd name="T6" fmla="*/ 5 w 386"/>
                    <a:gd name="T7" fmla="*/ 548 h 548"/>
                    <a:gd name="T8" fmla="*/ 0 w 386"/>
                    <a:gd name="T9" fmla="*/ 491 h 548"/>
                    <a:gd name="T10" fmla="*/ 0 w 386"/>
                    <a:gd name="T11" fmla="*/ 491 h 5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86" h="548">
                      <a:moveTo>
                        <a:pt x="0" y="491"/>
                      </a:moveTo>
                      <a:lnTo>
                        <a:pt x="374" y="0"/>
                      </a:lnTo>
                      <a:lnTo>
                        <a:pt x="386" y="65"/>
                      </a:lnTo>
                      <a:lnTo>
                        <a:pt x="5" y="548"/>
                      </a:lnTo>
                      <a:lnTo>
                        <a:pt x="0" y="491"/>
                      </a:lnTo>
                      <a:lnTo>
                        <a:pt x="0" y="4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6" name="Freeform 90"/>
                <p:cNvSpPr>
                  <a:spLocks/>
                </p:cNvSpPr>
                <p:nvPr/>
              </p:nvSpPr>
              <p:spPr bwMode="auto">
                <a:xfrm>
                  <a:off x="3359" y="2688"/>
                  <a:ext cx="321" cy="378"/>
                </a:xfrm>
                <a:custGeom>
                  <a:avLst/>
                  <a:gdLst>
                    <a:gd name="T0" fmla="*/ 0 w 679"/>
                    <a:gd name="T1" fmla="*/ 319 h 868"/>
                    <a:gd name="T2" fmla="*/ 455 w 679"/>
                    <a:gd name="T3" fmla="*/ 0 h 868"/>
                    <a:gd name="T4" fmla="*/ 487 w 679"/>
                    <a:gd name="T5" fmla="*/ 23 h 868"/>
                    <a:gd name="T6" fmla="*/ 620 w 679"/>
                    <a:gd name="T7" fmla="*/ 424 h 868"/>
                    <a:gd name="T8" fmla="*/ 679 w 679"/>
                    <a:gd name="T9" fmla="*/ 859 h 868"/>
                    <a:gd name="T10" fmla="*/ 635 w 679"/>
                    <a:gd name="T11" fmla="*/ 868 h 868"/>
                    <a:gd name="T12" fmla="*/ 572 w 679"/>
                    <a:gd name="T13" fmla="*/ 426 h 868"/>
                    <a:gd name="T14" fmla="*/ 460 w 679"/>
                    <a:gd name="T15" fmla="*/ 74 h 868"/>
                    <a:gd name="T16" fmla="*/ 17 w 679"/>
                    <a:gd name="T17" fmla="*/ 388 h 868"/>
                    <a:gd name="T18" fmla="*/ 0 w 679"/>
                    <a:gd name="T19" fmla="*/ 319 h 868"/>
                    <a:gd name="T20" fmla="*/ 0 w 679"/>
                    <a:gd name="T21" fmla="*/ 319 h 8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79" h="868">
                      <a:moveTo>
                        <a:pt x="0" y="319"/>
                      </a:moveTo>
                      <a:lnTo>
                        <a:pt x="455" y="0"/>
                      </a:lnTo>
                      <a:lnTo>
                        <a:pt x="487" y="23"/>
                      </a:lnTo>
                      <a:lnTo>
                        <a:pt x="620" y="424"/>
                      </a:lnTo>
                      <a:lnTo>
                        <a:pt x="679" y="859"/>
                      </a:lnTo>
                      <a:lnTo>
                        <a:pt x="635" y="868"/>
                      </a:lnTo>
                      <a:lnTo>
                        <a:pt x="572" y="426"/>
                      </a:lnTo>
                      <a:lnTo>
                        <a:pt x="460" y="74"/>
                      </a:lnTo>
                      <a:lnTo>
                        <a:pt x="17" y="388"/>
                      </a:lnTo>
                      <a:lnTo>
                        <a:pt x="0" y="319"/>
                      </a:lnTo>
                      <a:lnTo>
                        <a:pt x="0" y="3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7" name="Freeform 91"/>
                <p:cNvSpPr>
                  <a:spLocks/>
                </p:cNvSpPr>
                <p:nvPr/>
              </p:nvSpPr>
              <p:spPr bwMode="auto">
                <a:xfrm>
                  <a:off x="3626" y="2702"/>
                  <a:ext cx="322" cy="345"/>
                </a:xfrm>
                <a:custGeom>
                  <a:avLst/>
                  <a:gdLst>
                    <a:gd name="T0" fmla="*/ 0 w 683"/>
                    <a:gd name="T1" fmla="*/ 297 h 793"/>
                    <a:gd name="T2" fmla="*/ 386 w 683"/>
                    <a:gd name="T3" fmla="*/ 0 h 793"/>
                    <a:gd name="T4" fmla="*/ 418 w 683"/>
                    <a:gd name="T5" fmla="*/ 21 h 793"/>
                    <a:gd name="T6" fmla="*/ 548 w 683"/>
                    <a:gd name="T7" fmla="*/ 361 h 793"/>
                    <a:gd name="T8" fmla="*/ 683 w 683"/>
                    <a:gd name="T9" fmla="*/ 793 h 793"/>
                    <a:gd name="T10" fmla="*/ 629 w 683"/>
                    <a:gd name="T11" fmla="*/ 793 h 793"/>
                    <a:gd name="T12" fmla="*/ 508 w 683"/>
                    <a:gd name="T13" fmla="*/ 375 h 793"/>
                    <a:gd name="T14" fmla="*/ 399 w 683"/>
                    <a:gd name="T15" fmla="*/ 65 h 793"/>
                    <a:gd name="T16" fmla="*/ 17 w 683"/>
                    <a:gd name="T17" fmla="*/ 352 h 793"/>
                    <a:gd name="T18" fmla="*/ 0 w 683"/>
                    <a:gd name="T19" fmla="*/ 297 h 793"/>
                    <a:gd name="T20" fmla="*/ 0 w 683"/>
                    <a:gd name="T21" fmla="*/ 297 h 7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83" h="793">
                      <a:moveTo>
                        <a:pt x="0" y="297"/>
                      </a:moveTo>
                      <a:lnTo>
                        <a:pt x="386" y="0"/>
                      </a:lnTo>
                      <a:lnTo>
                        <a:pt x="418" y="21"/>
                      </a:lnTo>
                      <a:lnTo>
                        <a:pt x="548" y="361"/>
                      </a:lnTo>
                      <a:lnTo>
                        <a:pt x="683" y="793"/>
                      </a:lnTo>
                      <a:lnTo>
                        <a:pt x="629" y="793"/>
                      </a:lnTo>
                      <a:lnTo>
                        <a:pt x="508" y="375"/>
                      </a:lnTo>
                      <a:lnTo>
                        <a:pt x="399" y="65"/>
                      </a:lnTo>
                      <a:lnTo>
                        <a:pt x="17" y="352"/>
                      </a:lnTo>
                      <a:lnTo>
                        <a:pt x="0" y="297"/>
                      </a:lnTo>
                      <a:lnTo>
                        <a:pt x="0" y="2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" name="Freeform 92"/>
                <p:cNvSpPr>
                  <a:spLocks/>
                </p:cNvSpPr>
                <p:nvPr/>
              </p:nvSpPr>
              <p:spPr bwMode="auto">
                <a:xfrm>
                  <a:off x="3668" y="2850"/>
                  <a:ext cx="207" cy="216"/>
                </a:xfrm>
                <a:custGeom>
                  <a:avLst/>
                  <a:gdLst>
                    <a:gd name="T0" fmla="*/ 0 w 440"/>
                    <a:gd name="T1" fmla="*/ 451 h 496"/>
                    <a:gd name="T2" fmla="*/ 419 w 440"/>
                    <a:gd name="T3" fmla="*/ 0 h 496"/>
                    <a:gd name="T4" fmla="*/ 440 w 440"/>
                    <a:gd name="T5" fmla="*/ 40 h 496"/>
                    <a:gd name="T6" fmla="*/ 15 w 440"/>
                    <a:gd name="T7" fmla="*/ 496 h 496"/>
                    <a:gd name="T8" fmla="*/ 0 w 440"/>
                    <a:gd name="T9" fmla="*/ 451 h 496"/>
                    <a:gd name="T10" fmla="*/ 0 w 440"/>
                    <a:gd name="T11" fmla="*/ 451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40" h="496">
                      <a:moveTo>
                        <a:pt x="0" y="451"/>
                      </a:moveTo>
                      <a:lnTo>
                        <a:pt x="419" y="0"/>
                      </a:lnTo>
                      <a:lnTo>
                        <a:pt x="440" y="40"/>
                      </a:lnTo>
                      <a:lnTo>
                        <a:pt x="15" y="496"/>
                      </a:lnTo>
                      <a:lnTo>
                        <a:pt x="0" y="451"/>
                      </a:lnTo>
                      <a:lnTo>
                        <a:pt x="0" y="4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9" name="Freeform 93"/>
                <p:cNvSpPr>
                  <a:spLocks/>
                </p:cNvSpPr>
                <p:nvPr/>
              </p:nvSpPr>
              <p:spPr bwMode="auto">
                <a:xfrm>
                  <a:off x="3191" y="3095"/>
                  <a:ext cx="759" cy="49"/>
                </a:xfrm>
                <a:custGeom>
                  <a:avLst/>
                  <a:gdLst>
                    <a:gd name="T0" fmla="*/ 1607 w 1607"/>
                    <a:gd name="T1" fmla="*/ 0 h 114"/>
                    <a:gd name="T2" fmla="*/ 1605 w 1607"/>
                    <a:gd name="T3" fmla="*/ 40 h 114"/>
                    <a:gd name="T4" fmla="*/ 1598 w 1607"/>
                    <a:gd name="T5" fmla="*/ 40 h 114"/>
                    <a:gd name="T6" fmla="*/ 1581 w 1607"/>
                    <a:gd name="T7" fmla="*/ 40 h 114"/>
                    <a:gd name="T8" fmla="*/ 1560 w 1607"/>
                    <a:gd name="T9" fmla="*/ 40 h 114"/>
                    <a:gd name="T10" fmla="*/ 1529 w 1607"/>
                    <a:gd name="T11" fmla="*/ 42 h 114"/>
                    <a:gd name="T12" fmla="*/ 1495 w 1607"/>
                    <a:gd name="T13" fmla="*/ 42 h 114"/>
                    <a:gd name="T14" fmla="*/ 1455 w 1607"/>
                    <a:gd name="T15" fmla="*/ 44 h 114"/>
                    <a:gd name="T16" fmla="*/ 1408 w 1607"/>
                    <a:gd name="T17" fmla="*/ 46 h 114"/>
                    <a:gd name="T18" fmla="*/ 1358 w 1607"/>
                    <a:gd name="T19" fmla="*/ 48 h 114"/>
                    <a:gd name="T20" fmla="*/ 1303 w 1607"/>
                    <a:gd name="T21" fmla="*/ 49 h 114"/>
                    <a:gd name="T22" fmla="*/ 1244 w 1607"/>
                    <a:gd name="T23" fmla="*/ 51 h 114"/>
                    <a:gd name="T24" fmla="*/ 1183 w 1607"/>
                    <a:gd name="T25" fmla="*/ 53 h 114"/>
                    <a:gd name="T26" fmla="*/ 1119 w 1607"/>
                    <a:gd name="T27" fmla="*/ 57 h 114"/>
                    <a:gd name="T28" fmla="*/ 1052 w 1607"/>
                    <a:gd name="T29" fmla="*/ 59 h 114"/>
                    <a:gd name="T30" fmla="*/ 984 w 1607"/>
                    <a:gd name="T31" fmla="*/ 63 h 114"/>
                    <a:gd name="T32" fmla="*/ 915 w 1607"/>
                    <a:gd name="T33" fmla="*/ 65 h 114"/>
                    <a:gd name="T34" fmla="*/ 845 w 1607"/>
                    <a:gd name="T35" fmla="*/ 68 h 114"/>
                    <a:gd name="T36" fmla="*/ 773 w 1607"/>
                    <a:gd name="T37" fmla="*/ 70 h 114"/>
                    <a:gd name="T38" fmla="*/ 702 w 1607"/>
                    <a:gd name="T39" fmla="*/ 72 h 114"/>
                    <a:gd name="T40" fmla="*/ 632 w 1607"/>
                    <a:gd name="T41" fmla="*/ 76 h 114"/>
                    <a:gd name="T42" fmla="*/ 563 w 1607"/>
                    <a:gd name="T43" fmla="*/ 80 h 114"/>
                    <a:gd name="T44" fmla="*/ 495 w 1607"/>
                    <a:gd name="T45" fmla="*/ 82 h 114"/>
                    <a:gd name="T46" fmla="*/ 430 w 1607"/>
                    <a:gd name="T47" fmla="*/ 86 h 114"/>
                    <a:gd name="T48" fmla="*/ 367 w 1607"/>
                    <a:gd name="T49" fmla="*/ 89 h 114"/>
                    <a:gd name="T50" fmla="*/ 307 w 1607"/>
                    <a:gd name="T51" fmla="*/ 93 h 114"/>
                    <a:gd name="T52" fmla="*/ 250 w 1607"/>
                    <a:gd name="T53" fmla="*/ 95 h 114"/>
                    <a:gd name="T54" fmla="*/ 196 w 1607"/>
                    <a:gd name="T55" fmla="*/ 99 h 114"/>
                    <a:gd name="T56" fmla="*/ 149 w 1607"/>
                    <a:gd name="T57" fmla="*/ 101 h 114"/>
                    <a:gd name="T58" fmla="*/ 105 w 1607"/>
                    <a:gd name="T59" fmla="*/ 105 h 114"/>
                    <a:gd name="T60" fmla="*/ 67 w 1607"/>
                    <a:gd name="T61" fmla="*/ 106 h 114"/>
                    <a:gd name="T62" fmla="*/ 35 w 1607"/>
                    <a:gd name="T63" fmla="*/ 108 h 114"/>
                    <a:gd name="T64" fmla="*/ 10 w 1607"/>
                    <a:gd name="T65" fmla="*/ 112 h 114"/>
                    <a:gd name="T66" fmla="*/ 0 w 1607"/>
                    <a:gd name="T67" fmla="*/ 84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607" h="114">
                      <a:moveTo>
                        <a:pt x="0" y="84"/>
                      </a:moveTo>
                      <a:lnTo>
                        <a:pt x="1607" y="0"/>
                      </a:lnTo>
                      <a:lnTo>
                        <a:pt x="1607" y="40"/>
                      </a:lnTo>
                      <a:lnTo>
                        <a:pt x="1605" y="40"/>
                      </a:lnTo>
                      <a:lnTo>
                        <a:pt x="1602" y="40"/>
                      </a:lnTo>
                      <a:lnTo>
                        <a:pt x="1598" y="40"/>
                      </a:lnTo>
                      <a:lnTo>
                        <a:pt x="1590" y="40"/>
                      </a:lnTo>
                      <a:lnTo>
                        <a:pt x="1581" y="40"/>
                      </a:lnTo>
                      <a:lnTo>
                        <a:pt x="1571" y="40"/>
                      </a:lnTo>
                      <a:lnTo>
                        <a:pt x="1560" y="40"/>
                      </a:lnTo>
                      <a:lnTo>
                        <a:pt x="1547" y="42"/>
                      </a:lnTo>
                      <a:lnTo>
                        <a:pt x="1529" y="42"/>
                      </a:lnTo>
                      <a:lnTo>
                        <a:pt x="1514" y="42"/>
                      </a:lnTo>
                      <a:lnTo>
                        <a:pt x="1495" y="42"/>
                      </a:lnTo>
                      <a:lnTo>
                        <a:pt x="1476" y="44"/>
                      </a:lnTo>
                      <a:lnTo>
                        <a:pt x="1455" y="44"/>
                      </a:lnTo>
                      <a:lnTo>
                        <a:pt x="1432" y="46"/>
                      </a:lnTo>
                      <a:lnTo>
                        <a:pt x="1408" y="46"/>
                      </a:lnTo>
                      <a:lnTo>
                        <a:pt x="1385" y="48"/>
                      </a:lnTo>
                      <a:lnTo>
                        <a:pt x="1358" y="48"/>
                      </a:lnTo>
                      <a:lnTo>
                        <a:pt x="1332" y="49"/>
                      </a:lnTo>
                      <a:lnTo>
                        <a:pt x="1303" y="49"/>
                      </a:lnTo>
                      <a:lnTo>
                        <a:pt x="1275" y="51"/>
                      </a:lnTo>
                      <a:lnTo>
                        <a:pt x="1244" y="51"/>
                      </a:lnTo>
                      <a:lnTo>
                        <a:pt x="1214" y="53"/>
                      </a:lnTo>
                      <a:lnTo>
                        <a:pt x="1183" y="53"/>
                      </a:lnTo>
                      <a:lnTo>
                        <a:pt x="1153" y="55"/>
                      </a:lnTo>
                      <a:lnTo>
                        <a:pt x="1119" y="57"/>
                      </a:lnTo>
                      <a:lnTo>
                        <a:pt x="1086" y="59"/>
                      </a:lnTo>
                      <a:lnTo>
                        <a:pt x="1052" y="59"/>
                      </a:lnTo>
                      <a:lnTo>
                        <a:pt x="1020" y="61"/>
                      </a:lnTo>
                      <a:lnTo>
                        <a:pt x="984" y="63"/>
                      </a:lnTo>
                      <a:lnTo>
                        <a:pt x="949" y="65"/>
                      </a:lnTo>
                      <a:lnTo>
                        <a:pt x="915" y="65"/>
                      </a:lnTo>
                      <a:lnTo>
                        <a:pt x="881" y="67"/>
                      </a:lnTo>
                      <a:lnTo>
                        <a:pt x="845" y="68"/>
                      </a:lnTo>
                      <a:lnTo>
                        <a:pt x="809" y="70"/>
                      </a:lnTo>
                      <a:lnTo>
                        <a:pt x="773" y="70"/>
                      </a:lnTo>
                      <a:lnTo>
                        <a:pt x="738" y="72"/>
                      </a:lnTo>
                      <a:lnTo>
                        <a:pt x="702" y="72"/>
                      </a:lnTo>
                      <a:lnTo>
                        <a:pt x="668" y="76"/>
                      </a:lnTo>
                      <a:lnTo>
                        <a:pt x="632" y="76"/>
                      </a:lnTo>
                      <a:lnTo>
                        <a:pt x="598" y="78"/>
                      </a:lnTo>
                      <a:lnTo>
                        <a:pt x="563" y="80"/>
                      </a:lnTo>
                      <a:lnTo>
                        <a:pt x="529" y="82"/>
                      </a:lnTo>
                      <a:lnTo>
                        <a:pt x="495" y="82"/>
                      </a:lnTo>
                      <a:lnTo>
                        <a:pt x="463" y="86"/>
                      </a:lnTo>
                      <a:lnTo>
                        <a:pt x="430" y="86"/>
                      </a:lnTo>
                      <a:lnTo>
                        <a:pt x="400" y="87"/>
                      </a:lnTo>
                      <a:lnTo>
                        <a:pt x="367" y="89"/>
                      </a:lnTo>
                      <a:lnTo>
                        <a:pt x="337" y="91"/>
                      </a:lnTo>
                      <a:lnTo>
                        <a:pt x="307" y="93"/>
                      </a:lnTo>
                      <a:lnTo>
                        <a:pt x="278" y="93"/>
                      </a:lnTo>
                      <a:lnTo>
                        <a:pt x="250" y="95"/>
                      </a:lnTo>
                      <a:lnTo>
                        <a:pt x="223" y="97"/>
                      </a:lnTo>
                      <a:lnTo>
                        <a:pt x="196" y="99"/>
                      </a:lnTo>
                      <a:lnTo>
                        <a:pt x="173" y="101"/>
                      </a:lnTo>
                      <a:lnTo>
                        <a:pt x="149" y="101"/>
                      </a:lnTo>
                      <a:lnTo>
                        <a:pt x="128" y="103"/>
                      </a:lnTo>
                      <a:lnTo>
                        <a:pt x="105" y="105"/>
                      </a:lnTo>
                      <a:lnTo>
                        <a:pt x="86" y="106"/>
                      </a:lnTo>
                      <a:lnTo>
                        <a:pt x="67" y="106"/>
                      </a:lnTo>
                      <a:lnTo>
                        <a:pt x="52" y="108"/>
                      </a:lnTo>
                      <a:lnTo>
                        <a:pt x="35" y="108"/>
                      </a:lnTo>
                      <a:lnTo>
                        <a:pt x="21" y="110"/>
                      </a:lnTo>
                      <a:lnTo>
                        <a:pt x="10" y="112"/>
                      </a:lnTo>
                      <a:lnTo>
                        <a:pt x="0" y="114"/>
                      </a:lnTo>
                      <a:lnTo>
                        <a:pt x="0" y="84"/>
                      </a:lnTo>
                      <a:lnTo>
                        <a:pt x="0" y="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0" name="Freeform 94"/>
                <p:cNvSpPr>
                  <a:spLocks/>
                </p:cNvSpPr>
                <p:nvPr/>
              </p:nvSpPr>
              <p:spPr bwMode="auto">
                <a:xfrm>
                  <a:off x="3191" y="3158"/>
                  <a:ext cx="751" cy="42"/>
                </a:xfrm>
                <a:custGeom>
                  <a:avLst/>
                  <a:gdLst>
                    <a:gd name="T0" fmla="*/ 2 w 1590"/>
                    <a:gd name="T1" fmla="*/ 69 h 97"/>
                    <a:gd name="T2" fmla="*/ 21 w 1590"/>
                    <a:gd name="T3" fmla="*/ 67 h 97"/>
                    <a:gd name="T4" fmla="*/ 57 w 1590"/>
                    <a:gd name="T5" fmla="*/ 67 h 97"/>
                    <a:gd name="T6" fmla="*/ 107 w 1590"/>
                    <a:gd name="T7" fmla="*/ 63 h 97"/>
                    <a:gd name="T8" fmla="*/ 168 w 1590"/>
                    <a:gd name="T9" fmla="*/ 61 h 97"/>
                    <a:gd name="T10" fmla="*/ 240 w 1590"/>
                    <a:gd name="T11" fmla="*/ 59 h 97"/>
                    <a:gd name="T12" fmla="*/ 322 w 1590"/>
                    <a:gd name="T13" fmla="*/ 56 h 97"/>
                    <a:gd name="T14" fmla="*/ 409 w 1590"/>
                    <a:gd name="T15" fmla="*/ 52 h 97"/>
                    <a:gd name="T16" fmla="*/ 506 w 1590"/>
                    <a:gd name="T17" fmla="*/ 48 h 97"/>
                    <a:gd name="T18" fmla="*/ 605 w 1590"/>
                    <a:gd name="T19" fmla="*/ 44 h 97"/>
                    <a:gd name="T20" fmla="*/ 708 w 1590"/>
                    <a:gd name="T21" fmla="*/ 40 h 97"/>
                    <a:gd name="T22" fmla="*/ 812 w 1590"/>
                    <a:gd name="T23" fmla="*/ 35 h 97"/>
                    <a:gd name="T24" fmla="*/ 915 w 1590"/>
                    <a:gd name="T25" fmla="*/ 31 h 97"/>
                    <a:gd name="T26" fmla="*/ 1020 w 1590"/>
                    <a:gd name="T27" fmla="*/ 25 h 97"/>
                    <a:gd name="T28" fmla="*/ 1119 w 1590"/>
                    <a:gd name="T29" fmla="*/ 21 h 97"/>
                    <a:gd name="T30" fmla="*/ 1214 w 1590"/>
                    <a:gd name="T31" fmla="*/ 18 h 97"/>
                    <a:gd name="T32" fmla="*/ 1301 w 1590"/>
                    <a:gd name="T33" fmla="*/ 14 h 97"/>
                    <a:gd name="T34" fmla="*/ 1383 w 1590"/>
                    <a:gd name="T35" fmla="*/ 10 h 97"/>
                    <a:gd name="T36" fmla="*/ 1455 w 1590"/>
                    <a:gd name="T37" fmla="*/ 8 h 97"/>
                    <a:gd name="T38" fmla="*/ 1516 w 1590"/>
                    <a:gd name="T39" fmla="*/ 4 h 97"/>
                    <a:gd name="T40" fmla="*/ 1566 w 1590"/>
                    <a:gd name="T41" fmla="*/ 2 h 97"/>
                    <a:gd name="T42" fmla="*/ 1583 w 1590"/>
                    <a:gd name="T43" fmla="*/ 38 h 97"/>
                    <a:gd name="T44" fmla="*/ 1573 w 1590"/>
                    <a:gd name="T45" fmla="*/ 38 h 97"/>
                    <a:gd name="T46" fmla="*/ 1552 w 1590"/>
                    <a:gd name="T47" fmla="*/ 38 h 97"/>
                    <a:gd name="T48" fmla="*/ 1516 w 1590"/>
                    <a:gd name="T49" fmla="*/ 38 h 97"/>
                    <a:gd name="T50" fmla="*/ 1470 w 1590"/>
                    <a:gd name="T51" fmla="*/ 40 h 97"/>
                    <a:gd name="T52" fmla="*/ 1411 w 1590"/>
                    <a:gd name="T53" fmla="*/ 42 h 97"/>
                    <a:gd name="T54" fmla="*/ 1345 w 1590"/>
                    <a:gd name="T55" fmla="*/ 44 h 97"/>
                    <a:gd name="T56" fmla="*/ 1269 w 1590"/>
                    <a:gd name="T57" fmla="*/ 44 h 97"/>
                    <a:gd name="T58" fmla="*/ 1187 w 1590"/>
                    <a:gd name="T59" fmla="*/ 48 h 97"/>
                    <a:gd name="T60" fmla="*/ 1100 w 1590"/>
                    <a:gd name="T61" fmla="*/ 50 h 97"/>
                    <a:gd name="T62" fmla="*/ 1006 w 1590"/>
                    <a:gd name="T63" fmla="*/ 54 h 97"/>
                    <a:gd name="T64" fmla="*/ 909 w 1590"/>
                    <a:gd name="T65" fmla="*/ 57 h 97"/>
                    <a:gd name="T66" fmla="*/ 812 w 1590"/>
                    <a:gd name="T67" fmla="*/ 61 h 97"/>
                    <a:gd name="T68" fmla="*/ 712 w 1590"/>
                    <a:gd name="T69" fmla="*/ 63 h 97"/>
                    <a:gd name="T70" fmla="*/ 613 w 1590"/>
                    <a:gd name="T71" fmla="*/ 69 h 97"/>
                    <a:gd name="T72" fmla="*/ 514 w 1590"/>
                    <a:gd name="T73" fmla="*/ 71 h 97"/>
                    <a:gd name="T74" fmla="*/ 421 w 1590"/>
                    <a:gd name="T75" fmla="*/ 75 h 97"/>
                    <a:gd name="T76" fmla="*/ 328 w 1590"/>
                    <a:gd name="T77" fmla="*/ 78 h 97"/>
                    <a:gd name="T78" fmla="*/ 242 w 1590"/>
                    <a:gd name="T79" fmla="*/ 82 h 97"/>
                    <a:gd name="T80" fmla="*/ 162 w 1590"/>
                    <a:gd name="T81" fmla="*/ 86 h 97"/>
                    <a:gd name="T82" fmla="*/ 90 w 1590"/>
                    <a:gd name="T83" fmla="*/ 92 h 97"/>
                    <a:gd name="T84" fmla="*/ 25 w 1590"/>
                    <a:gd name="T85" fmla="*/ 95 h 97"/>
                    <a:gd name="T86" fmla="*/ 0 w 1590"/>
                    <a:gd name="T87" fmla="*/ 69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590" h="97">
                      <a:moveTo>
                        <a:pt x="0" y="69"/>
                      </a:moveTo>
                      <a:lnTo>
                        <a:pt x="0" y="69"/>
                      </a:lnTo>
                      <a:lnTo>
                        <a:pt x="2" y="69"/>
                      </a:lnTo>
                      <a:lnTo>
                        <a:pt x="8" y="69"/>
                      </a:lnTo>
                      <a:lnTo>
                        <a:pt x="14" y="69"/>
                      </a:lnTo>
                      <a:lnTo>
                        <a:pt x="21" y="67"/>
                      </a:lnTo>
                      <a:lnTo>
                        <a:pt x="33" y="67"/>
                      </a:lnTo>
                      <a:lnTo>
                        <a:pt x="44" y="67"/>
                      </a:lnTo>
                      <a:lnTo>
                        <a:pt x="57" y="67"/>
                      </a:lnTo>
                      <a:lnTo>
                        <a:pt x="73" y="65"/>
                      </a:lnTo>
                      <a:lnTo>
                        <a:pt x="90" y="65"/>
                      </a:lnTo>
                      <a:lnTo>
                        <a:pt x="107" y="63"/>
                      </a:lnTo>
                      <a:lnTo>
                        <a:pt x="126" y="63"/>
                      </a:lnTo>
                      <a:lnTo>
                        <a:pt x="145" y="61"/>
                      </a:lnTo>
                      <a:lnTo>
                        <a:pt x="168" y="61"/>
                      </a:lnTo>
                      <a:lnTo>
                        <a:pt x="191" y="61"/>
                      </a:lnTo>
                      <a:lnTo>
                        <a:pt x="215" y="61"/>
                      </a:lnTo>
                      <a:lnTo>
                        <a:pt x="240" y="59"/>
                      </a:lnTo>
                      <a:lnTo>
                        <a:pt x="267" y="57"/>
                      </a:lnTo>
                      <a:lnTo>
                        <a:pt x="293" y="57"/>
                      </a:lnTo>
                      <a:lnTo>
                        <a:pt x="322" y="56"/>
                      </a:lnTo>
                      <a:lnTo>
                        <a:pt x="350" y="54"/>
                      </a:lnTo>
                      <a:lnTo>
                        <a:pt x="381" y="54"/>
                      </a:lnTo>
                      <a:lnTo>
                        <a:pt x="409" y="52"/>
                      </a:lnTo>
                      <a:lnTo>
                        <a:pt x="442" y="50"/>
                      </a:lnTo>
                      <a:lnTo>
                        <a:pt x="472" y="50"/>
                      </a:lnTo>
                      <a:lnTo>
                        <a:pt x="506" y="48"/>
                      </a:lnTo>
                      <a:lnTo>
                        <a:pt x="537" y="46"/>
                      </a:lnTo>
                      <a:lnTo>
                        <a:pt x="571" y="44"/>
                      </a:lnTo>
                      <a:lnTo>
                        <a:pt x="605" y="44"/>
                      </a:lnTo>
                      <a:lnTo>
                        <a:pt x="639" y="42"/>
                      </a:lnTo>
                      <a:lnTo>
                        <a:pt x="674" y="40"/>
                      </a:lnTo>
                      <a:lnTo>
                        <a:pt x="708" y="40"/>
                      </a:lnTo>
                      <a:lnTo>
                        <a:pt x="744" y="38"/>
                      </a:lnTo>
                      <a:lnTo>
                        <a:pt x="778" y="37"/>
                      </a:lnTo>
                      <a:lnTo>
                        <a:pt x="812" y="35"/>
                      </a:lnTo>
                      <a:lnTo>
                        <a:pt x="847" y="33"/>
                      </a:lnTo>
                      <a:lnTo>
                        <a:pt x="881" y="33"/>
                      </a:lnTo>
                      <a:lnTo>
                        <a:pt x="915" y="31"/>
                      </a:lnTo>
                      <a:lnTo>
                        <a:pt x="951" y="29"/>
                      </a:lnTo>
                      <a:lnTo>
                        <a:pt x="986" y="29"/>
                      </a:lnTo>
                      <a:lnTo>
                        <a:pt x="1020" y="25"/>
                      </a:lnTo>
                      <a:lnTo>
                        <a:pt x="1052" y="25"/>
                      </a:lnTo>
                      <a:lnTo>
                        <a:pt x="1086" y="23"/>
                      </a:lnTo>
                      <a:lnTo>
                        <a:pt x="1119" y="21"/>
                      </a:lnTo>
                      <a:lnTo>
                        <a:pt x="1151" y="21"/>
                      </a:lnTo>
                      <a:lnTo>
                        <a:pt x="1183" y="19"/>
                      </a:lnTo>
                      <a:lnTo>
                        <a:pt x="1214" y="18"/>
                      </a:lnTo>
                      <a:lnTo>
                        <a:pt x="1244" y="18"/>
                      </a:lnTo>
                      <a:lnTo>
                        <a:pt x="1273" y="16"/>
                      </a:lnTo>
                      <a:lnTo>
                        <a:pt x="1301" y="14"/>
                      </a:lnTo>
                      <a:lnTo>
                        <a:pt x="1330" y="14"/>
                      </a:lnTo>
                      <a:lnTo>
                        <a:pt x="1356" y="12"/>
                      </a:lnTo>
                      <a:lnTo>
                        <a:pt x="1383" y="10"/>
                      </a:lnTo>
                      <a:lnTo>
                        <a:pt x="1408" y="10"/>
                      </a:lnTo>
                      <a:lnTo>
                        <a:pt x="1432" y="8"/>
                      </a:lnTo>
                      <a:lnTo>
                        <a:pt x="1455" y="8"/>
                      </a:lnTo>
                      <a:lnTo>
                        <a:pt x="1476" y="6"/>
                      </a:lnTo>
                      <a:lnTo>
                        <a:pt x="1497" y="4"/>
                      </a:lnTo>
                      <a:lnTo>
                        <a:pt x="1516" y="4"/>
                      </a:lnTo>
                      <a:lnTo>
                        <a:pt x="1533" y="2"/>
                      </a:lnTo>
                      <a:lnTo>
                        <a:pt x="1550" y="2"/>
                      </a:lnTo>
                      <a:lnTo>
                        <a:pt x="1566" y="2"/>
                      </a:lnTo>
                      <a:lnTo>
                        <a:pt x="1579" y="0"/>
                      </a:lnTo>
                      <a:lnTo>
                        <a:pt x="1590" y="0"/>
                      </a:lnTo>
                      <a:lnTo>
                        <a:pt x="1583" y="38"/>
                      </a:lnTo>
                      <a:lnTo>
                        <a:pt x="1581" y="38"/>
                      </a:lnTo>
                      <a:lnTo>
                        <a:pt x="1579" y="38"/>
                      </a:lnTo>
                      <a:lnTo>
                        <a:pt x="1573" y="38"/>
                      </a:lnTo>
                      <a:lnTo>
                        <a:pt x="1567" y="38"/>
                      </a:lnTo>
                      <a:lnTo>
                        <a:pt x="1560" y="38"/>
                      </a:lnTo>
                      <a:lnTo>
                        <a:pt x="1552" y="38"/>
                      </a:lnTo>
                      <a:lnTo>
                        <a:pt x="1541" y="38"/>
                      </a:lnTo>
                      <a:lnTo>
                        <a:pt x="1531" y="38"/>
                      </a:lnTo>
                      <a:lnTo>
                        <a:pt x="1516" y="38"/>
                      </a:lnTo>
                      <a:lnTo>
                        <a:pt x="1503" y="38"/>
                      </a:lnTo>
                      <a:lnTo>
                        <a:pt x="1486" y="38"/>
                      </a:lnTo>
                      <a:lnTo>
                        <a:pt x="1470" y="40"/>
                      </a:lnTo>
                      <a:lnTo>
                        <a:pt x="1451" y="40"/>
                      </a:lnTo>
                      <a:lnTo>
                        <a:pt x="1432" y="40"/>
                      </a:lnTo>
                      <a:lnTo>
                        <a:pt x="1411" y="42"/>
                      </a:lnTo>
                      <a:lnTo>
                        <a:pt x="1391" y="42"/>
                      </a:lnTo>
                      <a:lnTo>
                        <a:pt x="1368" y="42"/>
                      </a:lnTo>
                      <a:lnTo>
                        <a:pt x="1345" y="44"/>
                      </a:lnTo>
                      <a:lnTo>
                        <a:pt x="1320" y="44"/>
                      </a:lnTo>
                      <a:lnTo>
                        <a:pt x="1295" y="44"/>
                      </a:lnTo>
                      <a:lnTo>
                        <a:pt x="1269" y="44"/>
                      </a:lnTo>
                      <a:lnTo>
                        <a:pt x="1242" y="46"/>
                      </a:lnTo>
                      <a:lnTo>
                        <a:pt x="1216" y="46"/>
                      </a:lnTo>
                      <a:lnTo>
                        <a:pt x="1187" y="48"/>
                      </a:lnTo>
                      <a:lnTo>
                        <a:pt x="1159" y="48"/>
                      </a:lnTo>
                      <a:lnTo>
                        <a:pt x="1128" y="50"/>
                      </a:lnTo>
                      <a:lnTo>
                        <a:pt x="1100" y="50"/>
                      </a:lnTo>
                      <a:lnTo>
                        <a:pt x="1069" y="52"/>
                      </a:lnTo>
                      <a:lnTo>
                        <a:pt x="1037" y="52"/>
                      </a:lnTo>
                      <a:lnTo>
                        <a:pt x="1006" y="54"/>
                      </a:lnTo>
                      <a:lnTo>
                        <a:pt x="974" y="56"/>
                      </a:lnTo>
                      <a:lnTo>
                        <a:pt x="944" y="57"/>
                      </a:lnTo>
                      <a:lnTo>
                        <a:pt x="909" y="57"/>
                      </a:lnTo>
                      <a:lnTo>
                        <a:pt x="877" y="57"/>
                      </a:lnTo>
                      <a:lnTo>
                        <a:pt x="845" y="59"/>
                      </a:lnTo>
                      <a:lnTo>
                        <a:pt x="812" y="61"/>
                      </a:lnTo>
                      <a:lnTo>
                        <a:pt x="778" y="61"/>
                      </a:lnTo>
                      <a:lnTo>
                        <a:pt x="746" y="63"/>
                      </a:lnTo>
                      <a:lnTo>
                        <a:pt x="712" y="63"/>
                      </a:lnTo>
                      <a:lnTo>
                        <a:pt x="679" y="65"/>
                      </a:lnTo>
                      <a:lnTo>
                        <a:pt x="645" y="67"/>
                      </a:lnTo>
                      <a:lnTo>
                        <a:pt x="613" y="69"/>
                      </a:lnTo>
                      <a:lnTo>
                        <a:pt x="579" y="69"/>
                      </a:lnTo>
                      <a:lnTo>
                        <a:pt x="548" y="71"/>
                      </a:lnTo>
                      <a:lnTo>
                        <a:pt x="514" y="71"/>
                      </a:lnTo>
                      <a:lnTo>
                        <a:pt x="482" y="73"/>
                      </a:lnTo>
                      <a:lnTo>
                        <a:pt x="451" y="75"/>
                      </a:lnTo>
                      <a:lnTo>
                        <a:pt x="421" y="75"/>
                      </a:lnTo>
                      <a:lnTo>
                        <a:pt x="388" y="76"/>
                      </a:lnTo>
                      <a:lnTo>
                        <a:pt x="358" y="78"/>
                      </a:lnTo>
                      <a:lnTo>
                        <a:pt x="328" y="78"/>
                      </a:lnTo>
                      <a:lnTo>
                        <a:pt x="299" y="80"/>
                      </a:lnTo>
                      <a:lnTo>
                        <a:pt x="269" y="80"/>
                      </a:lnTo>
                      <a:lnTo>
                        <a:pt x="242" y="82"/>
                      </a:lnTo>
                      <a:lnTo>
                        <a:pt x="213" y="84"/>
                      </a:lnTo>
                      <a:lnTo>
                        <a:pt x="189" y="86"/>
                      </a:lnTo>
                      <a:lnTo>
                        <a:pt x="162" y="86"/>
                      </a:lnTo>
                      <a:lnTo>
                        <a:pt x="137" y="88"/>
                      </a:lnTo>
                      <a:lnTo>
                        <a:pt x="113" y="90"/>
                      </a:lnTo>
                      <a:lnTo>
                        <a:pt x="90" y="92"/>
                      </a:lnTo>
                      <a:lnTo>
                        <a:pt x="67" y="92"/>
                      </a:lnTo>
                      <a:lnTo>
                        <a:pt x="46" y="94"/>
                      </a:lnTo>
                      <a:lnTo>
                        <a:pt x="25" y="95"/>
                      </a:lnTo>
                      <a:lnTo>
                        <a:pt x="8" y="97"/>
                      </a:lnTo>
                      <a:lnTo>
                        <a:pt x="0" y="69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1" name="Freeform 95"/>
                <p:cNvSpPr>
                  <a:spLocks/>
                </p:cNvSpPr>
                <p:nvPr/>
              </p:nvSpPr>
              <p:spPr bwMode="auto">
                <a:xfrm>
                  <a:off x="3926" y="3021"/>
                  <a:ext cx="47" cy="197"/>
                </a:xfrm>
                <a:custGeom>
                  <a:avLst/>
                  <a:gdLst>
                    <a:gd name="T0" fmla="*/ 0 w 99"/>
                    <a:gd name="T1" fmla="*/ 454 h 454"/>
                    <a:gd name="T2" fmla="*/ 57 w 99"/>
                    <a:gd name="T3" fmla="*/ 0 h 454"/>
                    <a:gd name="T4" fmla="*/ 99 w 99"/>
                    <a:gd name="T5" fmla="*/ 2 h 454"/>
                    <a:gd name="T6" fmla="*/ 38 w 99"/>
                    <a:gd name="T7" fmla="*/ 452 h 454"/>
                    <a:gd name="T8" fmla="*/ 0 w 99"/>
                    <a:gd name="T9" fmla="*/ 454 h 454"/>
                    <a:gd name="T10" fmla="*/ 0 w 99"/>
                    <a:gd name="T11" fmla="*/ 454 h 4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9" h="454">
                      <a:moveTo>
                        <a:pt x="0" y="454"/>
                      </a:moveTo>
                      <a:lnTo>
                        <a:pt x="57" y="0"/>
                      </a:lnTo>
                      <a:lnTo>
                        <a:pt x="99" y="2"/>
                      </a:lnTo>
                      <a:lnTo>
                        <a:pt x="38" y="452"/>
                      </a:lnTo>
                      <a:lnTo>
                        <a:pt x="0" y="454"/>
                      </a:lnTo>
                      <a:lnTo>
                        <a:pt x="0" y="45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2" name="Freeform 96"/>
                <p:cNvSpPr>
                  <a:spLocks/>
                </p:cNvSpPr>
                <p:nvPr/>
              </p:nvSpPr>
              <p:spPr bwMode="auto">
                <a:xfrm>
                  <a:off x="3921" y="2864"/>
                  <a:ext cx="309" cy="338"/>
                </a:xfrm>
                <a:custGeom>
                  <a:avLst/>
                  <a:gdLst>
                    <a:gd name="T0" fmla="*/ 0 w 654"/>
                    <a:gd name="T1" fmla="*/ 349 h 775"/>
                    <a:gd name="T2" fmla="*/ 599 w 654"/>
                    <a:gd name="T3" fmla="*/ 310 h 775"/>
                    <a:gd name="T4" fmla="*/ 486 w 654"/>
                    <a:gd name="T5" fmla="*/ 13 h 775"/>
                    <a:gd name="T6" fmla="*/ 528 w 654"/>
                    <a:gd name="T7" fmla="*/ 0 h 775"/>
                    <a:gd name="T8" fmla="*/ 654 w 654"/>
                    <a:gd name="T9" fmla="*/ 317 h 775"/>
                    <a:gd name="T10" fmla="*/ 618 w 654"/>
                    <a:gd name="T11" fmla="*/ 775 h 775"/>
                    <a:gd name="T12" fmla="*/ 574 w 654"/>
                    <a:gd name="T13" fmla="*/ 771 h 775"/>
                    <a:gd name="T14" fmla="*/ 608 w 654"/>
                    <a:gd name="T15" fmla="*/ 346 h 775"/>
                    <a:gd name="T16" fmla="*/ 15 w 654"/>
                    <a:gd name="T17" fmla="*/ 386 h 775"/>
                    <a:gd name="T18" fmla="*/ 0 w 654"/>
                    <a:gd name="T19" fmla="*/ 349 h 775"/>
                    <a:gd name="T20" fmla="*/ 0 w 654"/>
                    <a:gd name="T21" fmla="*/ 349 h 7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54" h="775">
                      <a:moveTo>
                        <a:pt x="0" y="349"/>
                      </a:moveTo>
                      <a:lnTo>
                        <a:pt x="599" y="310"/>
                      </a:lnTo>
                      <a:lnTo>
                        <a:pt x="486" y="13"/>
                      </a:lnTo>
                      <a:lnTo>
                        <a:pt x="528" y="0"/>
                      </a:lnTo>
                      <a:lnTo>
                        <a:pt x="654" y="317"/>
                      </a:lnTo>
                      <a:lnTo>
                        <a:pt x="618" y="775"/>
                      </a:lnTo>
                      <a:lnTo>
                        <a:pt x="574" y="771"/>
                      </a:lnTo>
                      <a:lnTo>
                        <a:pt x="608" y="346"/>
                      </a:lnTo>
                      <a:lnTo>
                        <a:pt x="15" y="386"/>
                      </a:lnTo>
                      <a:lnTo>
                        <a:pt x="0" y="349"/>
                      </a:lnTo>
                      <a:lnTo>
                        <a:pt x="0" y="34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3" name="Freeform 97"/>
                <p:cNvSpPr>
                  <a:spLocks/>
                </p:cNvSpPr>
                <p:nvPr/>
              </p:nvSpPr>
              <p:spPr bwMode="auto">
                <a:xfrm>
                  <a:off x="3270" y="3071"/>
                  <a:ext cx="35" cy="186"/>
                </a:xfrm>
                <a:custGeom>
                  <a:avLst/>
                  <a:gdLst>
                    <a:gd name="T0" fmla="*/ 0 w 72"/>
                    <a:gd name="T1" fmla="*/ 426 h 426"/>
                    <a:gd name="T2" fmla="*/ 36 w 72"/>
                    <a:gd name="T3" fmla="*/ 4 h 426"/>
                    <a:gd name="T4" fmla="*/ 72 w 72"/>
                    <a:gd name="T5" fmla="*/ 0 h 426"/>
                    <a:gd name="T6" fmla="*/ 40 w 72"/>
                    <a:gd name="T7" fmla="*/ 424 h 426"/>
                    <a:gd name="T8" fmla="*/ 0 w 72"/>
                    <a:gd name="T9" fmla="*/ 426 h 426"/>
                    <a:gd name="T10" fmla="*/ 0 w 72"/>
                    <a:gd name="T11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2" h="426">
                      <a:moveTo>
                        <a:pt x="0" y="426"/>
                      </a:moveTo>
                      <a:lnTo>
                        <a:pt x="36" y="4"/>
                      </a:lnTo>
                      <a:lnTo>
                        <a:pt x="72" y="0"/>
                      </a:lnTo>
                      <a:lnTo>
                        <a:pt x="40" y="424"/>
                      </a:lnTo>
                      <a:lnTo>
                        <a:pt x="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4" name="Freeform 98"/>
                <p:cNvSpPr>
                  <a:spLocks/>
                </p:cNvSpPr>
                <p:nvPr/>
              </p:nvSpPr>
              <p:spPr bwMode="auto">
                <a:xfrm>
                  <a:off x="3345" y="3068"/>
                  <a:ext cx="45" cy="191"/>
                </a:xfrm>
                <a:custGeom>
                  <a:avLst/>
                  <a:gdLst>
                    <a:gd name="T0" fmla="*/ 0 w 93"/>
                    <a:gd name="T1" fmla="*/ 437 h 437"/>
                    <a:gd name="T2" fmla="*/ 55 w 93"/>
                    <a:gd name="T3" fmla="*/ 8 h 437"/>
                    <a:gd name="T4" fmla="*/ 93 w 93"/>
                    <a:gd name="T5" fmla="*/ 0 h 437"/>
                    <a:gd name="T6" fmla="*/ 34 w 93"/>
                    <a:gd name="T7" fmla="*/ 434 h 437"/>
                    <a:gd name="T8" fmla="*/ 0 w 93"/>
                    <a:gd name="T9" fmla="*/ 437 h 437"/>
                    <a:gd name="T10" fmla="*/ 0 w 93"/>
                    <a:gd name="T11" fmla="*/ 437 h 4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3" h="437">
                      <a:moveTo>
                        <a:pt x="0" y="437"/>
                      </a:moveTo>
                      <a:lnTo>
                        <a:pt x="55" y="8"/>
                      </a:lnTo>
                      <a:lnTo>
                        <a:pt x="93" y="0"/>
                      </a:lnTo>
                      <a:lnTo>
                        <a:pt x="34" y="434"/>
                      </a:lnTo>
                      <a:lnTo>
                        <a:pt x="0" y="437"/>
                      </a:lnTo>
                      <a:lnTo>
                        <a:pt x="0" y="43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5" name="Freeform 99"/>
                <p:cNvSpPr>
                  <a:spLocks/>
                </p:cNvSpPr>
                <p:nvPr/>
              </p:nvSpPr>
              <p:spPr bwMode="auto">
                <a:xfrm>
                  <a:off x="3420" y="3065"/>
                  <a:ext cx="46" cy="188"/>
                </a:xfrm>
                <a:custGeom>
                  <a:avLst/>
                  <a:gdLst>
                    <a:gd name="T0" fmla="*/ 0 w 97"/>
                    <a:gd name="T1" fmla="*/ 431 h 431"/>
                    <a:gd name="T2" fmla="*/ 63 w 97"/>
                    <a:gd name="T3" fmla="*/ 0 h 431"/>
                    <a:gd name="T4" fmla="*/ 97 w 97"/>
                    <a:gd name="T5" fmla="*/ 1 h 431"/>
                    <a:gd name="T6" fmla="*/ 33 w 97"/>
                    <a:gd name="T7" fmla="*/ 431 h 431"/>
                    <a:gd name="T8" fmla="*/ 0 w 97"/>
                    <a:gd name="T9" fmla="*/ 431 h 431"/>
                    <a:gd name="T10" fmla="*/ 0 w 97"/>
                    <a:gd name="T11" fmla="*/ 431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7" h="431">
                      <a:moveTo>
                        <a:pt x="0" y="431"/>
                      </a:moveTo>
                      <a:lnTo>
                        <a:pt x="63" y="0"/>
                      </a:lnTo>
                      <a:lnTo>
                        <a:pt x="97" y="1"/>
                      </a:lnTo>
                      <a:lnTo>
                        <a:pt x="33" y="431"/>
                      </a:lnTo>
                      <a:lnTo>
                        <a:pt x="0" y="431"/>
                      </a:lnTo>
                      <a:lnTo>
                        <a:pt x="0" y="43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6" name="Freeform 100"/>
                <p:cNvSpPr>
                  <a:spLocks/>
                </p:cNvSpPr>
                <p:nvPr/>
              </p:nvSpPr>
              <p:spPr bwMode="auto">
                <a:xfrm>
                  <a:off x="3506" y="3063"/>
                  <a:ext cx="51" cy="185"/>
                </a:xfrm>
                <a:custGeom>
                  <a:avLst/>
                  <a:gdLst>
                    <a:gd name="T0" fmla="*/ 0 w 106"/>
                    <a:gd name="T1" fmla="*/ 424 h 424"/>
                    <a:gd name="T2" fmla="*/ 68 w 106"/>
                    <a:gd name="T3" fmla="*/ 0 h 424"/>
                    <a:gd name="T4" fmla="*/ 106 w 106"/>
                    <a:gd name="T5" fmla="*/ 0 h 424"/>
                    <a:gd name="T6" fmla="*/ 40 w 106"/>
                    <a:gd name="T7" fmla="*/ 418 h 424"/>
                    <a:gd name="T8" fmla="*/ 0 w 106"/>
                    <a:gd name="T9" fmla="*/ 424 h 424"/>
                    <a:gd name="T10" fmla="*/ 0 w 106"/>
                    <a:gd name="T11" fmla="*/ 424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6" h="424">
                      <a:moveTo>
                        <a:pt x="0" y="424"/>
                      </a:moveTo>
                      <a:lnTo>
                        <a:pt x="68" y="0"/>
                      </a:lnTo>
                      <a:lnTo>
                        <a:pt x="106" y="0"/>
                      </a:lnTo>
                      <a:lnTo>
                        <a:pt x="40" y="418"/>
                      </a:lnTo>
                      <a:lnTo>
                        <a:pt x="0" y="424"/>
                      </a:lnTo>
                      <a:lnTo>
                        <a:pt x="0" y="4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7" name="Freeform 101"/>
                <p:cNvSpPr>
                  <a:spLocks/>
                </p:cNvSpPr>
                <p:nvPr/>
              </p:nvSpPr>
              <p:spPr bwMode="auto">
                <a:xfrm>
                  <a:off x="3602" y="3059"/>
                  <a:ext cx="35" cy="182"/>
                </a:xfrm>
                <a:custGeom>
                  <a:avLst/>
                  <a:gdLst>
                    <a:gd name="T0" fmla="*/ 0 w 75"/>
                    <a:gd name="T1" fmla="*/ 418 h 418"/>
                    <a:gd name="T2" fmla="*/ 40 w 75"/>
                    <a:gd name="T3" fmla="*/ 0 h 418"/>
                    <a:gd name="T4" fmla="*/ 75 w 75"/>
                    <a:gd name="T5" fmla="*/ 4 h 418"/>
                    <a:gd name="T6" fmla="*/ 37 w 75"/>
                    <a:gd name="T7" fmla="*/ 418 h 418"/>
                    <a:gd name="T8" fmla="*/ 0 w 75"/>
                    <a:gd name="T9" fmla="*/ 418 h 418"/>
                    <a:gd name="T10" fmla="*/ 0 w 75"/>
                    <a:gd name="T11" fmla="*/ 418 h 4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5" h="418">
                      <a:moveTo>
                        <a:pt x="0" y="418"/>
                      </a:moveTo>
                      <a:lnTo>
                        <a:pt x="40" y="0"/>
                      </a:lnTo>
                      <a:lnTo>
                        <a:pt x="75" y="4"/>
                      </a:lnTo>
                      <a:lnTo>
                        <a:pt x="37" y="418"/>
                      </a:lnTo>
                      <a:lnTo>
                        <a:pt x="0" y="418"/>
                      </a:lnTo>
                      <a:lnTo>
                        <a:pt x="0" y="4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8" name="Freeform 102"/>
                <p:cNvSpPr>
                  <a:spLocks/>
                </p:cNvSpPr>
                <p:nvPr/>
              </p:nvSpPr>
              <p:spPr bwMode="auto">
                <a:xfrm>
                  <a:off x="3688" y="3057"/>
                  <a:ext cx="46" cy="181"/>
                </a:xfrm>
                <a:custGeom>
                  <a:avLst/>
                  <a:gdLst>
                    <a:gd name="T0" fmla="*/ 0 w 99"/>
                    <a:gd name="T1" fmla="*/ 414 h 414"/>
                    <a:gd name="T2" fmla="*/ 61 w 99"/>
                    <a:gd name="T3" fmla="*/ 0 h 414"/>
                    <a:gd name="T4" fmla="*/ 99 w 99"/>
                    <a:gd name="T5" fmla="*/ 0 h 414"/>
                    <a:gd name="T6" fmla="*/ 29 w 99"/>
                    <a:gd name="T7" fmla="*/ 412 h 414"/>
                    <a:gd name="T8" fmla="*/ 0 w 99"/>
                    <a:gd name="T9" fmla="*/ 414 h 414"/>
                    <a:gd name="T10" fmla="*/ 0 w 99"/>
                    <a:gd name="T11" fmla="*/ 414 h 4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9" h="414">
                      <a:moveTo>
                        <a:pt x="0" y="414"/>
                      </a:moveTo>
                      <a:lnTo>
                        <a:pt x="61" y="0"/>
                      </a:lnTo>
                      <a:lnTo>
                        <a:pt x="99" y="0"/>
                      </a:lnTo>
                      <a:lnTo>
                        <a:pt x="29" y="412"/>
                      </a:lnTo>
                      <a:lnTo>
                        <a:pt x="0" y="414"/>
                      </a:lnTo>
                      <a:lnTo>
                        <a:pt x="0" y="4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9" name="Freeform 103"/>
                <p:cNvSpPr>
                  <a:spLocks/>
                </p:cNvSpPr>
                <p:nvPr/>
              </p:nvSpPr>
              <p:spPr bwMode="auto">
                <a:xfrm>
                  <a:off x="3780" y="3051"/>
                  <a:ext cx="45" cy="177"/>
                </a:xfrm>
                <a:custGeom>
                  <a:avLst/>
                  <a:gdLst>
                    <a:gd name="T0" fmla="*/ 0 w 97"/>
                    <a:gd name="T1" fmla="*/ 407 h 407"/>
                    <a:gd name="T2" fmla="*/ 65 w 97"/>
                    <a:gd name="T3" fmla="*/ 0 h 407"/>
                    <a:gd name="T4" fmla="*/ 97 w 97"/>
                    <a:gd name="T5" fmla="*/ 2 h 407"/>
                    <a:gd name="T6" fmla="*/ 38 w 97"/>
                    <a:gd name="T7" fmla="*/ 403 h 407"/>
                    <a:gd name="T8" fmla="*/ 0 w 97"/>
                    <a:gd name="T9" fmla="*/ 407 h 407"/>
                    <a:gd name="T10" fmla="*/ 0 w 97"/>
                    <a:gd name="T11" fmla="*/ 407 h 4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7" h="407">
                      <a:moveTo>
                        <a:pt x="0" y="407"/>
                      </a:moveTo>
                      <a:lnTo>
                        <a:pt x="65" y="0"/>
                      </a:lnTo>
                      <a:lnTo>
                        <a:pt x="97" y="2"/>
                      </a:lnTo>
                      <a:lnTo>
                        <a:pt x="38" y="403"/>
                      </a:lnTo>
                      <a:lnTo>
                        <a:pt x="0" y="407"/>
                      </a:lnTo>
                      <a:lnTo>
                        <a:pt x="0" y="40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0" name="Freeform 104"/>
                <p:cNvSpPr>
                  <a:spLocks/>
                </p:cNvSpPr>
                <p:nvPr/>
              </p:nvSpPr>
              <p:spPr bwMode="auto">
                <a:xfrm>
                  <a:off x="3866" y="3047"/>
                  <a:ext cx="35" cy="176"/>
                </a:xfrm>
                <a:custGeom>
                  <a:avLst/>
                  <a:gdLst>
                    <a:gd name="T0" fmla="*/ 0 w 76"/>
                    <a:gd name="T1" fmla="*/ 403 h 403"/>
                    <a:gd name="T2" fmla="*/ 0 w 76"/>
                    <a:gd name="T3" fmla="*/ 399 h 403"/>
                    <a:gd name="T4" fmla="*/ 0 w 76"/>
                    <a:gd name="T5" fmla="*/ 393 h 403"/>
                    <a:gd name="T6" fmla="*/ 0 w 76"/>
                    <a:gd name="T7" fmla="*/ 389 h 403"/>
                    <a:gd name="T8" fmla="*/ 2 w 76"/>
                    <a:gd name="T9" fmla="*/ 386 h 403"/>
                    <a:gd name="T10" fmla="*/ 2 w 76"/>
                    <a:gd name="T11" fmla="*/ 382 h 403"/>
                    <a:gd name="T12" fmla="*/ 2 w 76"/>
                    <a:gd name="T13" fmla="*/ 378 h 403"/>
                    <a:gd name="T14" fmla="*/ 2 w 76"/>
                    <a:gd name="T15" fmla="*/ 372 h 403"/>
                    <a:gd name="T16" fmla="*/ 2 w 76"/>
                    <a:gd name="T17" fmla="*/ 367 h 403"/>
                    <a:gd name="T18" fmla="*/ 3 w 76"/>
                    <a:gd name="T19" fmla="*/ 361 h 403"/>
                    <a:gd name="T20" fmla="*/ 3 w 76"/>
                    <a:gd name="T21" fmla="*/ 355 h 403"/>
                    <a:gd name="T22" fmla="*/ 3 w 76"/>
                    <a:gd name="T23" fmla="*/ 349 h 403"/>
                    <a:gd name="T24" fmla="*/ 5 w 76"/>
                    <a:gd name="T25" fmla="*/ 344 h 403"/>
                    <a:gd name="T26" fmla="*/ 5 w 76"/>
                    <a:gd name="T27" fmla="*/ 336 h 403"/>
                    <a:gd name="T28" fmla="*/ 7 w 76"/>
                    <a:gd name="T29" fmla="*/ 329 h 403"/>
                    <a:gd name="T30" fmla="*/ 7 w 76"/>
                    <a:gd name="T31" fmla="*/ 321 h 403"/>
                    <a:gd name="T32" fmla="*/ 7 w 76"/>
                    <a:gd name="T33" fmla="*/ 313 h 403"/>
                    <a:gd name="T34" fmla="*/ 9 w 76"/>
                    <a:gd name="T35" fmla="*/ 306 h 403"/>
                    <a:gd name="T36" fmla="*/ 9 w 76"/>
                    <a:gd name="T37" fmla="*/ 298 h 403"/>
                    <a:gd name="T38" fmla="*/ 11 w 76"/>
                    <a:gd name="T39" fmla="*/ 289 h 403"/>
                    <a:gd name="T40" fmla="*/ 11 w 76"/>
                    <a:gd name="T41" fmla="*/ 281 h 403"/>
                    <a:gd name="T42" fmla="*/ 13 w 76"/>
                    <a:gd name="T43" fmla="*/ 273 h 403"/>
                    <a:gd name="T44" fmla="*/ 15 w 76"/>
                    <a:gd name="T45" fmla="*/ 264 h 403"/>
                    <a:gd name="T46" fmla="*/ 15 w 76"/>
                    <a:gd name="T47" fmla="*/ 256 h 403"/>
                    <a:gd name="T48" fmla="*/ 15 w 76"/>
                    <a:gd name="T49" fmla="*/ 247 h 403"/>
                    <a:gd name="T50" fmla="*/ 17 w 76"/>
                    <a:gd name="T51" fmla="*/ 237 h 403"/>
                    <a:gd name="T52" fmla="*/ 19 w 76"/>
                    <a:gd name="T53" fmla="*/ 228 h 403"/>
                    <a:gd name="T54" fmla="*/ 19 w 76"/>
                    <a:gd name="T55" fmla="*/ 220 h 403"/>
                    <a:gd name="T56" fmla="*/ 21 w 76"/>
                    <a:gd name="T57" fmla="*/ 211 h 403"/>
                    <a:gd name="T58" fmla="*/ 21 w 76"/>
                    <a:gd name="T59" fmla="*/ 201 h 403"/>
                    <a:gd name="T60" fmla="*/ 22 w 76"/>
                    <a:gd name="T61" fmla="*/ 192 h 403"/>
                    <a:gd name="T62" fmla="*/ 22 w 76"/>
                    <a:gd name="T63" fmla="*/ 182 h 403"/>
                    <a:gd name="T64" fmla="*/ 24 w 76"/>
                    <a:gd name="T65" fmla="*/ 173 h 403"/>
                    <a:gd name="T66" fmla="*/ 24 w 76"/>
                    <a:gd name="T67" fmla="*/ 165 h 403"/>
                    <a:gd name="T68" fmla="*/ 26 w 76"/>
                    <a:gd name="T69" fmla="*/ 156 h 403"/>
                    <a:gd name="T70" fmla="*/ 26 w 76"/>
                    <a:gd name="T71" fmla="*/ 146 h 403"/>
                    <a:gd name="T72" fmla="*/ 26 w 76"/>
                    <a:gd name="T73" fmla="*/ 137 h 403"/>
                    <a:gd name="T74" fmla="*/ 26 w 76"/>
                    <a:gd name="T75" fmla="*/ 129 h 403"/>
                    <a:gd name="T76" fmla="*/ 28 w 76"/>
                    <a:gd name="T77" fmla="*/ 121 h 403"/>
                    <a:gd name="T78" fmla="*/ 28 w 76"/>
                    <a:gd name="T79" fmla="*/ 112 h 403"/>
                    <a:gd name="T80" fmla="*/ 30 w 76"/>
                    <a:gd name="T81" fmla="*/ 104 h 403"/>
                    <a:gd name="T82" fmla="*/ 30 w 76"/>
                    <a:gd name="T83" fmla="*/ 95 h 403"/>
                    <a:gd name="T84" fmla="*/ 32 w 76"/>
                    <a:gd name="T85" fmla="*/ 89 h 403"/>
                    <a:gd name="T86" fmla="*/ 32 w 76"/>
                    <a:gd name="T87" fmla="*/ 80 h 403"/>
                    <a:gd name="T88" fmla="*/ 34 w 76"/>
                    <a:gd name="T89" fmla="*/ 72 h 403"/>
                    <a:gd name="T90" fmla="*/ 34 w 76"/>
                    <a:gd name="T91" fmla="*/ 66 h 403"/>
                    <a:gd name="T92" fmla="*/ 36 w 76"/>
                    <a:gd name="T93" fmla="*/ 59 h 403"/>
                    <a:gd name="T94" fmla="*/ 36 w 76"/>
                    <a:gd name="T95" fmla="*/ 53 h 403"/>
                    <a:gd name="T96" fmla="*/ 38 w 76"/>
                    <a:gd name="T97" fmla="*/ 47 h 403"/>
                    <a:gd name="T98" fmla="*/ 38 w 76"/>
                    <a:gd name="T99" fmla="*/ 40 h 403"/>
                    <a:gd name="T100" fmla="*/ 38 w 76"/>
                    <a:gd name="T101" fmla="*/ 34 h 403"/>
                    <a:gd name="T102" fmla="*/ 38 w 76"/>
                    <a:gd name="T103" fmla="*/ 30 h 403"/>
                    <a:gd name="T104" fmla="*/ 38 w 76"/>
                    <a:gd name="T105" fmla="*/ 24 h 403"/>
                    <a:gd name="T106" fmla="*/ 40 w 76"/>
                    <a:gd name="T107" fmla="*/ 19 h 403"/>
                    <a:gd name="T108" fmla="*/ 40 w 76"/>
                    <a:gd name="T109" fmla="*/ 17 h 403"/>
                    <a:gd name="T110" fmla="*/ 41 w 76"/>
                    <a:gd name="T111" fmla="*/ 9 h 403"/>
                    <a:gd name="T112" fmla="*/ 41 w 76"/>
                    <a:gd name="T113" fmla="*/ 5 h 403"/>
                    <a:gd name="T114" fmla="*/ 41 w 76"/>
                    <a:gd name="T115" fmla="*/ 2 h 403"/>
                    <a:gd name="T116" fmla="*/ 43 w 76"/>
                    <a:gd name="T117" fmla="*/ 0 h 403"/>
                    <a:gd name="T118" fmla="*/ 76 w 76"/>
                    <a:gd name="T119" fmla="*/ 0 h 403"/>
                    <a:gd name="T120" fmla="*/ 28 w 76"/>
                    <a:gd name="T121" fmla="*/ 403 h 403"/>
                    <a:gd name="T122" fmla="*/ 0 w 76"/>
                    <a:gd name="T123" fmla="*/ 403 h 403"/>
                    <a:gd name="T124" fmla="*/ 0 w 76"/>
                    <a:gd name="T125" fmla="*/ 403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76" h="403">
                      <a:moveTo>
                        <a:pt x="0" y="403"/>
                      </a:moveTo>
                      <a:lnTo>
                        <a:pt x="0" y="399"/>
                      </a:lnTo>
                      <a:lnTo>
                        <a:pt x="0" y="393"/>
                      </a:lnTo>
                      <a:lnTo>
                        <a:pt x="0" y="389"/>
                      </a:lnTo>
                      <a:lnTo>
                        <a:pt x="2" y="386"/>
                      </a:lnTo>
                      <a:lnTo>
                        <a:pt x="2" y="382"/>
                      </a:lnTo>
                      <a:lnTo>
                        <a:pt x="2" y="378"/>
                      </a:lnTo>
                      <a:lnTo>
                        <a:pt x="2" y="372"/>
                      </a:lnTo>
                      <a:lnTo>
                        <a:pt x="2" y="367"/>
                      </a:lnTo>
                      <a:lnTo>
                        <a:pt x="3" y="361"/>
                      </a:lnTo>
                      <a:lnTo>
                        <a:pt x="3" y="355"/>
                      </a:lnTo>
                      <a:lnTo>
                        <a:pt x="3" y="349"/>
                      </a:lnTo>
                      <a:lnTo>
                        <a:pt x="5" y="344"/>
                      </a:lnTo>
                      <a:lnTo>
                        <a:pt x="5" y="336"/>
                      </a:lnTo>
                      <a:lnTo>
                        <a:pt x="7" y="329"/>
                      </a:lnTo>
                      <a:lnTo>
                        <a:pt x="7" y="321"/>
                      </a:lnTo>
                      <a:lnTo>
                        <a:pt x="7" y="313"/>
                      </a:lnTo>
                      <a:lnTo>
                        <a:pt x="9" y="306"/>
                      </a:lnTo>
                      <a:lnTo>
                        <a:pt x="9" y="298"/>
                      </a:lnTo>
                      <a:lnTo>
                        <a:pt x="11" y="289"/>
                      </a:lnTo>
                      <a:lnTo>
                        <a:pt x="11" y="281"/>
                      </a:lnTo>
                      <a:lnTo>
                        <a:pt x="13" y="273"/>
                      </a:lnTo>
                      <a:lnTo>
                        <a:pt x="15" y="264"/>
                      </a:lnTo>
                      <a:lnTo>
                        <a:pt x="15" y="256"/>
                      </a:lnTo>
                      <a:lnTo>
                        <a:pt x="15" y="247"/>
                      </a:lnTo>
                      <a:lnTo>
                        <a:pt x="17" y="237"/>
                      </a:lnTo>
                      <a:lnTo>
                        <a:pt x="19" y="228"/>
                      </a:lnTo>
                      <a:lnTo>
                        <a:pt x="19" y="220"/>
                      </a:lnTo>
                      <a:lnTo>
                        <a:pt x="21" y="211"/>
                      </a:lnTo>
                      <a:lnTo>
                        <a:pt x="21" y="201"/>
                      </a:lnTo>
                      <a:lnTo>
                        <a:pt x="22" y="192"/>
                      </a:lnTo>
                      <a:lnTo>
                        <a:pt x="22" y="182"/>
                      </a:lnTo>
                      <a:lnTo>
                        <a:pt x="24" y="173"/>
                      </a:lnTo>
                      <a:lnTo>
                        <a:pt x="24" y="165"/>
                      </a:lnTo>
                      <a:lnTo>
                        <a:pt x="26" y="156"/>
                      </a:lnTo>
                      <a:lnTo>
                        <a:pt x="26" y="146"/>
                      </a:lnTo>
                      <a:lnTo>
                        <a:pt x="26" y="137"/>
                      </a:lnTo>
                      <a:lnTo>
                        <a:pt x="26" y="129"/>
                      </a:lnTo>
                      <a:lnTo>
                        <a:pt x="28" y="121"/>
                      </a:lnTo>
                      <a:lnTo>
                        <a:pt x="28" y="112"/>
                      </a:lnTo>
                      <a:lnTo>
                        <a:pt x="30" y="104"/>
                      </a:lnTo>
                      <a:lnTo>
                        <a:pt x="30" y="95"/>
                      </a:lnTo>
                      <a:lnTo>
                        <a:pt x="32" y="89"/>
                      </a:lnTo>
                      <a:lnTo>
                        <a:pt x="32" y="80"/>
                      </a:lnTo>
                      <a:lnTo>
                        <a:pt x="34" y="72"/>
                      </a:lnTo>
                      <a:lnTo>
                        <a:pt x="34" y="66"/>
                      </a:lnTo>
                      <a:lnTo>
                        <a:pt x="36" y="59"/>
                      </a:lnTo>
                      <a:lnTo>
                        <a:pt x="36" y="53"/>
                      </a:lnTo>
                      <a:lnTo>
                        <a:pt x="38" y="47"/>
                      </a:lnTo>
                      <a:lnTo>
                        <a:pt x="38" y="40"/>
                      </a:lnTo>
                      <a:lnTo>
                        <a:pt x="38" y="34"/>
                      </a:lnTo>
                      <a:lnTo>
                        <a:pt x="38" y="30"/>
                      </a:lnTo>
                      <a:lnTo>
                        <a:pt x="38" y="24"/>
                      </a:lnTo>
                      <a:lnTo>
                        <a:pt x="40" y="19"/>
                      </a:lnTo>
                      <a:lnTo>
                        <a:pt x="40" y="17"/>
                      </a:lnTo>
                      <a:lnTo>
                        <a:pt x="41" y="9"/>
                      </a:lnTo>
                      <a:lnTo>
                        <a:pt x="41" y="5"/>
                      </a:lnTo>
                      <a:lnTo>
                        <a:pt x="41" y="2"/>
                      </a:lnTo>
                      <a:lnTo>
                        <a:pt x="43" y="0"/>
                      </a:lnTo>
                      <a:lnTo>
                        <a:pt x="76" y="0"/>
                      </a:lnTo>
                      <a:lnTo>
                        <a:pt x="28" y="403"/>
                      </a:lnTo>
                      <a:lnTo>
                        <a:pt x="0" y="403"/>
                      </a:lnTo>
                      <a:lnTo>
                        <a:pt x="0" y="4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1" name="Freeform 105"/>
                <p:cNvSpPr>
                  <a:spLocks/>
                </p:cNvSpPr>
                <p:nvPr/>
              </p:nvSpPr>
              <p:spPr bwMode="auto">
                <a:xfrm>
                  <a:off x="3997" y="3051"/>
                  <a:ext cx="139" cy="161"/>
                </a:xfrm>
                <a:custGeom>
                  <a:avLst/>
                  <a:gdLst>
                    <a:gd name="T0" fmla="*/ 0 w 295"/>
                    <a:gd name="T1" fmla="*/ 371 h 371"/>
                    <a:gd name="T2" fmla="*/ 38 w 295"/>
                    <a:gd name="T3" fmla="*/ 2 h 371"/>
                    <a:gd name="T4" fmla="*/ 295 w 295"/>
                    <a:gd name="T5" fmla="*/ 0 h 371"/>
                    <a:gd name="T6" fmla="*/ 259 w 295"/>
                    <a:gd name="T7" fmla="*/ 339 h 371"/>
                    <a:gd name="T8" fmla="*/ 219 w 295"/>
                    <a:gd name="T9" fmla="*/ 346 h 371"/>
                    <a:gd name="T10" fmla="*/ 259 w 295"/>
                    <a:gd name="T11" fmla="*/ 33 h 371"/>
                    <a:gd name="T12" fmla="*/ 71 w 295"/>
                    <a:gd name="T13" fmla="*/ 29 h 371"/>
                    <a:gd name="T14" fmla="*/ 38 w 295"/>
                    <a:gd name="T15" fmla="*/ 367 h 371"/>
                    <a:gd name="T16" fmla="*/ 0 w 295"/>
                    <a:gd name="T17" fmla="*/ 371 h 371"/>
                    <a:gd name="T18" fmla="*/ 0 w 295"/>
                    <a:gd name="T19" fmla="*/ 371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95" h="371">
                      <a:moveTo>
                        <a:pt x="0" y="371"/>
                      </a:moveTo>
                      <a:lnTo>
                        <a:pt x="38" y="2"/>
                      </a:lnTo>
                      <a:lnTo>
                        <a:pt x="295" y="0"/>
                      </a:lnTo>
                      <a:lnTo>
                        <a:pt x="259" y="339"/>
                      </a:lnTo>
                      <a:lnTo>
                        <a:pt x="219" y="346"/>
                      </a:lnTo>
                      <a:lnTo>
                        <a:pt x="259" y="33"/>
                      </a:lnTo>
                      <a:lnTo>
                        <a:pt x="71" y="29"/>
                      </a:lnTo>
                      <a:lnTo>
                        <a:pt x="38" y="367"/>
                      </a:lnTo>
                      <a:lnTo>
                        <a:pt x="0" y="371"/>
                      </a:lnTo>
                      <a:lnTo>
                        <a:pt x="0" y="3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2" name="Freeform 106"/>
                <p:cNvSpPr>
                  <a:spLocks/>
                </p:cNvSpPr>
                <p:nvPr/>
              </p:nvSpPr>
              <p:spPr bwMode="auto">
                <a:xfrm>
                  <a:off x="4076" y="3055"/>
                  <a:ext cx="27" cy="64"/>
                </a:xfrm>
                <a:custGeom>
                  <a:avLst/>
                  <a:gdLst>
                    <a:gd name="T0" fmla="*/ 28 w 57"/>
                    <a:gd name="T1" fmla="*/ 0 h 146"/>
                    <a:gd name="T2" fmla="*/ 0 w 57"/>
                    <a:gd name="T3" fmla="*/ 146 h 146"/>
                    <a:gd name="T4" fmla="*/ 32 w 57"/>
                    <a:gd name="T5" fmla="*/ 140 h 146"/>
                    <a:gd name="T6" fmla="*/ 57 w 57"/>
                    <a:gd name="T7" fmla="*/ 0 h 146"/>
                    <a:gd name="T8" fmla="*/ 28 w 57"/>
                    <a:gd name="T9" fmla="*/ 0 h 146"/>
                    <a:gd name="T10" fmla="*/ 28 w 57"/>
                    <a:gd name="T11" fmla="*/ 0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7" h="146">
                      <a:moveTo>
                        <a:pt x="28" y="0"/>
                      </a:moveTo>
                      <a:lnTo>
                        <a:pt x="0" y="146"/>
                      </a:lnTo>
                      <a:lnTo>
                        <a:pt x="32" y="140"/>
                      </a:lnTo>
                      <a:lnTo>
                        <a:pt x="57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3" name="Freeform 107"/>
                <p:cNvSpPr>
                  <a:spLocks/>
                </p:cNvSpPr>
                <p:nvPr/>
              </p:nvSpPr>
              <p:spPr bwMode="auto">
                <a:xfrm>
                  <a:off x="3897" y="2369"/>
                  <a:ext cx="275" cy="512"/>
                </a:xfrm>
                <a:custGeom>
                  <a:avLst/>
                  <a:gdLst>
                    <a:gd name="T0" fmla="*/ 44 w 584"/>
                    <a:gd name="T1" fmla="*/ 1173 h 1177"/>
                    <a:gd name="T2" fmla="*/ 44 w 584"/>
                    <a:gd name="T3" fmla="*/ 1160 h 1177"/>
                    <a:gd name="T4" fmla="*/ 44 w 584"/>
                    <a:gd name="T5" fmla="*/ 1137 h 1177"/>
                    <a:gd name="T6" fmla="*/ 44 w 584"/>
                    <a:gd name="T7" fmla="*/ 1103 h 1177"/>
                    <a:gd name="T8" fmla="*/ 44 w 584"/>
                    <a:gd name="T9" fmla="*/ 1065 h 1177"/>
                    <a:gd name="T10" fmla="*/ 42 w 584"/>
                    <a:gd name="T11" fmla="*/ 1015 h 1177"/>
                    <a:gd name="T12" fmla="*/ 42 w 584"/>
                    <a:gd name="T13" fmla="*/ 962 h 1177"/>
                    <a:gd name="T14" fmla="*/ 42 w 584"/>
                    <a:gd name="T15" fmla="*/ 901 h 1177"/>
                    <a:gd name="T16" fmla="*/ 42 w 584"/>
                    <a:gd name="T17" fmla="*/ 838 h 1177"/>
                    <a:gd name="T18" fmla="*/ 42 w 584"/>
                    <a:gd name="T19" fmla="*/ 770 h 1177"/>
                    <a:gd name="T20" fmla="*/ 44 w 584"/>
                    <a:gd name="T21" fmla="*/ 702 h 1177"/>
                    <a:gd name="T22" fmla="*/ 44 w 584"/>
                    <a:gd name="T23" fmla="*/ 629 h 1177"/>
                    <a:gd name="T24" fmla="*/ 46 w 584"/>
                    <a:gd name="T25" fmla="*/ 557 h 1177"/>
                    <a:gd name="T26" fmla="*/ 48 w 584"/>
                    <a:gd name="T27" fmla="*/ 485 h 1177"/>
                    <a:gd name="T28" fmla="*/ 52 w 584"/>
                    <a:gd name="T29" fmla="*/ 415 h 1177"/>
                    <a:gd name="T30" fmla="*/ 55 w 584"/>
                    <a:gd name="T31" fmla="*/ 344 h 1177"/>
                    <a:gd name="T32" fmla="*/ 59 w 584"/>
                    <a:gd name="T33" fmla="*/ 278 h 1177"/>
                    <a:gd name="T34" fmla="*/ 63 w 584"/>
                    <a:gd name="T35" fmla="*/ 217 h 1177"/>
                    <a:gd name="T36" fmla="*/ 69 w 584"/>
                    <a:gd name="T37" fmla="*/ 162 h 1177"/>
                    <a:gd name="T38" fmla="*/ 74 w 584"/>
                    <a:gd name="T39" fmla="*/ 109 h 1177"/>
                    <a:gd name="T40" fmla="*/ 82 w 584"/>
                    <a:gd name="T41" fmla="*/ 67 h 1177"/>
                    <a:gd name="T42" fmla="*/ 398 w 584"/>
                    <a:gd name="T43" fmla="*/ 36 h 1177"/>
                    <a:gd name="T44" fmla="*/ 420 w 584"/>
                    <a:gd name="T45" fmla="*/ 0 h 1177"/>
                    <a:gd name="T46" fmla="*/ 48 w 584"/>
                    <a:gd name="T47" fmla="*/ 17 h 1177"/>
                    <a:gd name="T48" fmla="*/ 46 w 584"/>
                    <a:gd name="T49" fmla="*/ 31 h 1177"/>
                    <a:gd name="T50" fmla="*/ 44 w 584"/>
                    <a:gd name="T51" fmla="*/ 52 h 1177"/>
                    <a:gd name="T52" fmla="*/ 42 w 584"/>
                    <a:gd name="T53" fmla="*/ 78 h 1177"/>
                    <a:gd name="T54" fmla="*/ 40 w 584"/>
                    <a:gd name="T55" fmla="*/ 112 h 1177"/>
                    <a:gd name="T56" fmla="*/ 36 w 584"/>
                    <a:gd name="T57" fmla="*/ 150 h 1177"/>
                    <a:gd name="T58" fmla="*/ 32 w 584"/>
                    <a:gd name="T59" fmla="*/ 196 h 1177"/>
                    <a:gd name="T60" fmla="*/ 29 w 584"/>
                    <a:gd name="T61" fmla="*/ 245 h 1177"/>
                    <a:gd name="T62" fmla="*/ 25 w 584"/>
                    <a:gd name="T63" fmla="*/ 301 h 1177"/>
                    <a:gd name="T64" fmla="*/ 23 w 584"/>
                    <a:gd name="T65" fmla="*/ 359 h 1177"/>
                    <a:gd name="T66" fmla="*/ 19 w 584"/>
                    <a:gd name="T67" fmla="*/ 422 h 1177"/>
                    <a:gd name="T68" fmla="*/ 15 w 584"/>
                    <a:gd name="T69" fmla="*/ 489 h 1177"/>
                    <a:gd name="T70" fmla="*/ 12 w 584"/>
                    <a:gd name="T71" fmla="*/ 557 h 1177"/>
                    <a:gd name="T72" fmla="*/ 8 w 584"/>
                    <a:gd name="T73" fmla="*/ 627 h 1177"/>
                    <a:gd name="T74" fmla="*/ 6 w 584"/>
                    <a:gd name="T75" fmla="*/ 702 h 1177"/>
                    <a:gd name="T76" fmla="*/ 4 w 584"/>
                    <a:gd name="T77" fmla="*/ 778 h 1177"/>
                    <a:gd name="T78" fmla="*/ 2 w 584"/>
                    <a:gd name="T79" fmla="*/ 855 h 1177"/>
                    <a:gd name="T80" fmla="*/ 0 w 584"/>
                    <a:gd name="T81" fmla="*/ 933 h 1177"/>
                    <a:gd name="T82" fmla="*/ 0 w 584"/>
                    <a:gd name="T83" fmla="*/ 1011 h 1177"/>
                    <a:gd name="T84" fmla="*/ 0 w 584"/>
                    <a:gd name="T85" fmla="*/ 1091 h 1177"/>
                    <a:gd name="T86" fmla="*/ 0 w 584"/>
                    <a:gd name="T87" fmla="*/ 1173 h 1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584" h="1177">
                      <a:moveTo>
                        <a:pt x="44" y="1177"/>
                      </a:moveTo>
                      <a:lnTo>
                        <a:pt x="44" y="1175"/>
                      </a:lnTo>
                      <a:lnTo>
                        <a:pt x="44" y="1173"/>
                      </a:lnTo>
                      <a:lnTo>
                        <a:pt x="44" y="1169"/>
                      </a:lnTo>
                      <a:lnTo>
                        <a:pt x="44" y="1165"/>
                      </a:lnTo>
                      <a:lnTo>
                        <a:pt x="44" y="1160"/>
                      </a:lnTo>
                      <a:lnTo>
                        <a:pt x="44" y="1154"/>
                      </a:lnTo>
                      <a:lnTo>
                        <a:pt x="44" y="1144"/>
                      </a:lnTo>
                      <a:lnTo>
                        <a:pt x="44" y="1137"/>
                      </a:lnTo>
                      <a:lnTo>
                        <a:pt x="44" y="1125"/>
                      </a:lnTo>
                      <a:lnTo>
                        <a:pt x="44" y="1116"/>
                      </a:lnTo>
                      <a:lnTo>
                        <a:pt x="44" y="1103"/>
                      </a:lnTo>
                      <a:lnTo>
                        <a:pt x="44" y="1091"/>
                      </a:lnTo>
                      <a:lnTo>
                        <a:pt x="44" y="1078"/>
                      </a:lnTo>
                      <a:lnTo>
                        <a:pt x="44" y="1065"/>
                      </a:lnTo>
                      <a:lnTo>
                        <a:pt x="44" y="1047"/>
                      </a:lnTo>
                      <a:lnTo>
                        <a:pt x="44" y="1034"/>
                      </a:lnTo>
                      <a:lnTo>
                        <a:pt x="42" y="1015"/>
                      </a:lnTo>
                      <a:lnTo>
                        <a:pt x="42" y="998"/>
                      </a:lnTo>
                      <a:lnTo>
                        <a:pt x="42" y="979"/>
                      </a:lnTo>
                      <a:lnTo>
                        <a:pt x="42" y="962"/>
                      </a:lnTo>
                      <a:lnTo>
                        <a:pt x="42" y="941"/>
                      </a:lnTo>
                      <a:lnTo>
                        <a:pt x="42" y="922"/>
                      </a:lnTo>
                      <a:lnTo>
                        <a:pt x="42" y="901"/>
                      </a:lnTo>
                      <a:lnTo>
                        <a:pt x="42" y="882"/>
                      </a:lnTo>
                      <a:lnTo>
                        <a:pt x="42" y="859"/>
                      </a:lnTo>
                      <a:lnTo>
                        <a:pt x="42" y="838"/>
                      </a:lnTo>
                      <a:lnTo>
                        <a:pt x="42" y="816"/>
                      </a:lnTo>
                      <a:lnTo>
                        <a:pt x="42" y="795"/>
                      </a:lnTo>
                      <a:lnTo>
                        <a:pt x="42" y="770"/>
                      </a:lnTo>
                      <a:lnTo>
                        <a:pt x="44" y="747"/>
                      </a:lnTo>
                      <a:lnTo>
                        <a:pt x="44" y="724"/>
                      </a:lnTo>
                      <a:lnTo>
                        <a:pt x="44" y="702"/>
                      </a:lnTo>
                      <a:lnTo>
                        <a:pt x="44" y="677"/>
                      </a:lnTo>
                      <a:lnTo>
                        <a:pt x="44" y="652"/>
                      </a:lnTo>
                      <a:lnTo>
                        <a:pt x="44" y="629"/>
                      </a:lnTo>
                      <a:lnTo>
                        <a:pt x="46" y="605"/>
                      </a:lnTo>
                      <a:lnTo>
                        <a:pt x="46" y="580"/>
                      </a:lnTo>
                      <a:lnTo>
                        <a:pt x="46" y="557"/>
                      </a:lnTo>
                      <a:lnTo>
                        <a:pt x="48" y="532"/>
                      </a:lnTo>
                      <a:lnTo>
                        <a:pt x="48" y="510"/>
                      </a:lnTo>
                      <a:lnTo>
                        <a:pt x="48" y="485"/>
                      </a:lnTo>
                      <a:lnTo>
                        <a:pt x="50" y="460"/>
                      </a:lnTo>
                      <a:lnTo>
                        <a:pt x="50" y="437"/>
                      </a:lnTo>
                      <a:lnTo>
                        <a:pt x="52" y="415"/>
                      </a:lnTo>
                      <a:lnTo>
                        <a:pt x="52" y="390"/>
                      </a:lnTo>
                      <a:lnTo>
                        <a:pt x="53" y="367"/>
                      </a:lnTo>
                      <a:lnTo>
                        <a:pt x="55" y="344"/>
                      </a:lnTo>
                      <a:lnTo>
                        <a:pt x="55" y="323"/>
                      </a:lnTo>
                      <a:lnTo>
                        <a:pt x="57" y="301"/>
                      </a:lnTo>
                      <a:lnTo>
                        <a:pt x="59" y="278"/>
                      </a:lnTo>
                      <a:lnTo>
                        <a:pt x="59" y="257"/>
                      </a:lnTo>
                      <a:lnTo>
                        <a:pt x="61" y="238"/>
                      </a:lnTo>
                      <a:lnTo>
                        <a:pt x="63" y="217"/>
                      </a:lnTo>
                      <a:lnTo>
                        <a:pt x="65" y="198"/>
                      </a:lnTo>
                      <a:lnTo>
                        <a:pt x="67" y="179"/>
                      </a:lnTo>
                      <a:lnTo>
                        <a:pt x="69" y="162"/>
                      </a:lnTo>
                      <a:lnTo>
                        <a:pt x="71" y="143"/>
                      </a:lnTo>
                      <a:lnTo>
                        <a:pt x="72" y="128"/>
                      </a:lnTo>
                      <a:lnTo>
                        <a:pt x="74" y="109"/>
                      </a:lnTo>
                      <a:lnTo>
                        <a:pt x="76" y="95"/>
                      </a:lnTo>
                      <a:lnTo>
                        <a:pt x="78" y="80"/>
                      </a:lnTo>
                      <a:lnTo>
                        <a:pt x="82" y="67"/>
                      </a:lnTo>
                      <a:lnTo>
                        <a:pt x="84" y="53"/>
                      </a:lnTo>
                      <a:lnTo>
                        <a:pt x="88" y="42"/>
                      </a:lnTo>
                      <a:lnTo>
                        <a:pt x="398" y="36"/>
                      </a:lnTo>
                      <a:lnTo>
                        <a:pt x="540" y="1161"/>
                      </a:lnTo>
                      <a:lnTo>
                        <a:pt x="584" y="1150"/>
                      </a:lnTo>
                      <a:lnTo>
                        <a:pt x="420" y="0"/>
                      </a:lnTo>
                      <a:lnTo>
                        <a:pt x="48" y="12"/>
                      </a:lnTo>
                      <a:lnTo>
                        <a:pt x="48" y="12"/>
                      </a:lnTo>
                      <a:lnTo>
                        <a:pt x="48" y="17"/>
                      </a:lnTo>
                      <a:lnTo>
                        <a:pt x="46" y="19"/>
                      </a:lnTo>
                      <a:lnTo>
                        <a:pt x="46" y="25"/>
                      </a:lnTo>
                      <a:lnTo>
                        <a:pt x="46" y="31"/>
                      </a:lnTo>
                      <a:lnTo>
                        <a:pt x="46" y="38"/>
                      </a:lnTo>
                      <a:lnTo>
                        <a:pt x="44" y="44"/>
                      </a:lnTo>
                      <a:lnTo>
                        <a:pt x="44" y="52"/>
                      </a:lnTo>
                      <a:lnTo>
                        <a:pt x="44" y="59"/>
                      </a:lnTo>
                      <a:lnTo>
                        <a:pt x="42" y="69"/>
                      </a:lnTo>
                      <a:lnTo>
                        <a:pt x="42" y="78"/>
                      </a:lnTo>
                      <a:lnTo>
                        <a:pt x="40" y="90"/>
                      </a:lnTo>
                      <a:lnTo>
                        <a:pt x="40" y="101"/>
                      </a:lnTo>
                      <a:lnTo>
                        <a:pt x="40" y="112"/>
                      </a:lnTo>
                      <a:lnTo>
                        <a:pt x="38" y="124"/>
                      </a:lnTo>
                      <a:lnTo>
                        <a:pt x="36" y="137"/>
                      </a:lnTo>
                      <a:lnTo>
                        <a:pt x="36" y="150"/>
                      </a:lnTo>
                      <a:lnTo>
                        <a:pt x="34" y="166"/>
                      </a:lnTo>
                      <a:lnTo>
                        <a:pt x="32" y="181"/>
                      </a:lnTo>
                      <a:lnTo>
                        <a:pt x="32" y="196"/>
                      </a:lnTo>
                      <a:lnTo>
                        <a:pt x="32" y="211"/>
                      </a:lnTo>
                      <a:lnTo>
                        <a:pt x="31" y="228"/>
                      </a:lnTo>
                      <a:lnTo>
                        <a:pt x="29" y="245"/>
                      </a:lnTo>
                      <a:lnTo>
                        <a:pt x="29" y="264"/>
                      </a:lnTo>
                      <a:lnTo>
                        <a:pt x="27" y="282"/>
                      </a:lnTo>
                      <a:lnTo>
                        <a:pt x="25" y="301"/>
                      </a:lnTo>
                      <a:lnTo>
                        <a:pt x="25" y="320"/>
                      </a:lnTo>
                      <a:lnTo>
                        <a:pt x="23" y="339"/>
                      </a:lnTo>
                      <a:lnTo>
                        <a:pt x="23" y="359"/>
                      </a:lnTo>
                      <a:lnTo>
                        <a:pt x="21" y="380"/>
                      </a:lnTo>
                      <a:lnTo>
                        <a:pt x="19" y="401"/>
                      </a:lnTo>
                      <a:lnTo>
                        <a:pt x="19" y="422"/>
                      </a:lnTo>
                      <a:lnTo>
                        <a:pt x="17" y="443"/>
                      </a:lnTo>
                      <a:lnTo>
                        <a:pt x="17" y="466"/>
                      </a:lnTo>
                      <a:lnTo>
                        <a:pt x="15" y="489"/>
                      </a:lnTo>
                      <a:lnTo>
                        <a:pt x="13" y="510"/>
                      </a:lnTo>
                      <a:lnTo>
                        <a:pt x="13" y="534"/>
                      </a:lnTo>
                      <a:lnTo>
                        <a:pt x="12" y="557"/>
                      </a:lnTo>
                      <a:lnTo>
                        <a:pt x="10" y="580"/>
                      </a:lnTo>
                      <a:lnTo>
                        <a:pt x="10" y="605"/>
                      </a:lnTo>
                      <a:lnTo>
                        <a:pt x="8" y="627"/>
                      </a:lnTo>
                      <a:lnTo>
                        <a:pt x="8" y="652"/>
                      </a:lnTo>
                      <a:lnTo>
                        <a:pt x="8" y="677"/>
                      </a:lnTo>
                      <a:lnTo>
                        <a:pt x="6" y="702"/>
                      </a:lnTo>
                      <a:lnTo>
                        <a:pt x="6" y="726"/>
                      </a:lnTo>
                      <a:lnTo>
                        <a:pt x="6" y="753"/>
                      </a:lnTo>
                      <a:lnTo>
                        <a:pt x="4" y="778"/>
                      </a:lnTo>
                      <a:lnTo>
                        <a:pt x="2" y="802"/>
                      </a:lnTo>
                      <a:lnTo>
                        <a:pt x="2" y="829"/>
                      </a:lnTo>
                      <a:lnTo>
                        <a:pt x="2" y="855"/>
                      </a:lnTo>
                      <a:lnTo>
                        <a:pt x="0" y="880"/>
                      </a:lnTo>
                      <a:lnTo>
                        <a:pt x="0" y="907"/>
                      </a:lnTo>
                      <a:lnTo>
                        <a:pt x="0" y="933"/>
                      </a:lnTo>
                      <a:lnTo>
                        <a:pt x="0" y="960"/>
                      </a:lnTo>
                      <a:lnTo>
                        <a:pt x="0" y="987"/>
                      </a:lnTo>
                      <a:lnTo>
                        <a:pt x="0" y="1011"/>
                      </a:lnTo>
                      <a:lnTo>
                        <a:pt x="0" y="1038"/>
                      </a:lnTo>
                      <a:lnTo>
                        <a:pt x="0" y="1066"/>
                      </a:lnTo>
                      <a:lnTo>
                        <a:pt x="0" y="1091"/>
                      </a:lnTo>
                      <a:lnTo>
                        <a:pt x="0" y="1120"/>
                      </a:lnTo>
                      <a:lnTo>
                        <a:pt x="0" y="1144"/>
                      </a:lnTo>
                      <a:lnTo>
                        <a:pt x="0" y="1173"/>
                      </a:lnTo>
                      <a:lnTo>
                        <a:pt x="44" y="1177"/>
                      </a:lnTo>
                      <a:lnTo>
                        <a:pt x="44" y="117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4" name="Freeform 108"/>
                <p:cNvSpPr>
                  <a:spLocks/>
                </p:cNvSpPr>
                <p:nvPr/>
              </p:nvSpPr>
              <p:spPr bwMode="auto">
                <a:xfrm>
                  <a:off x="3895" y="2672"/>
                  <a:ext cx="231" cy="58"/>
                </a:xfrm>
                <a:custGeom>
                  <a:avLst/>
                  <a:gdLst>
                    <a:gd name="T0" fmla="*/ 4 w 489"/>
                    <a:gd name="T1" fmla="*/ 66 h 135"/>
                    <a:gd name="T2" fmla="*/ 12 w 489"/>
                    <a:gd name="T3" fmla="*/ 70 h 135"/>
                    <a:gd name="T4" fmla="*/ 27 w 489"/>
                    <a:gd name="T5" fmla="*/ 74 h 135"/>
                    <a:gd name="T6" fmla="*/ 36 w 489"/>
                    <a:gd name="T7" fmla="*/ 78 h 135"/>
                    <a:gd name="T8" fmla="*/ 46 w 489"/>
                    <a:gd name="T9" fmla="*/ 80 h 135"/>
                    <a:gd name="T10" fmla="*/ 57 w 489"/>
                    <a:gd name="T11" fmla="*/ 83 h 135"/>
                    <a:gd name="T12" fmla="*/ 69 w 489"/>
                    <a:gd name="T13" fmla="*/ 85 h 135"/>
                    <a:gd name="T14" fmla="*/ 82 w 489"/>
                    <a:gd name="T15" fmla="*/ 87 h 135"/>
                    <a:gd name="T16" fmla="*/ 97 w 489"/>
                    <a:gd name="T17" fmla="*/ 91 h 135"/>
                    <a:gd name="T18" fmla="*/ 113 w 489"/>
                    <a:gd name="T19" fmla="*/ 93 h 135"/>
                    <a:gd name="T20" fmla="*/ 128 w 489"/>
                    <a:gd name="T21" fmla="*/ 95 h 135"/>
                    <a:gd name="T22" fmla="*/ 145 w 489"/>
                    <a:gd name="T23" fmla="*/ 97 h 135"/>
                    <a:gd name="T24" fmla="*/ 162 w 489"/>
                    <a:gd name="T25" fmla="*/ 101 h 135"/>
                    <a:gd name="T26" fmla="*/ 179 w 489"/>
                    <a:gd name="T27" fmla="*/ 101 h 135"/>
                    <a:gd name="T28" fmla="*/ 198 w 489"/>
                    <a:gd name="T29" fmla="*/ 101 h 135"/>
                    <a:gd name="T30" fmla="*/ 217 w 489"/>
                    <a:gd name="T31" fmla="*/ 99 h 135"/>
                    <a:gd name="T32" fmla="*/ 236 w 489"/>
                    <a:gd name="T33" fmla="*/ 99 h 135"/>
                    <a:gd name="T34" fmla="*/ 257 w 489"/>
                    <a:gd name="T35" fmla="*/ 95 h 135"/>
                    <a:gd name="T36" fmla="*/ 276 w 489"/>
                    <a:gd name="T37" fmla="*/ 93 h 135"/>
                    <a:gd name="T38" fmla="*/ 297 w 489"/>
                    <a:gd name="T39" fmla="*/ 89 h 135"/>
                    <a:gd name="T40" fmla="*/ 318 w 489"/>
                    <a:gd name="T41" fmla="*/ 85 h 135"/>
                    <a:gd name="T42" fmla="*/ 337 w 489"/>
                    <a:gd name="T43" fmla="*/ 80 h 135"/>
                    <a:gd name="T44" fmla="*/ 360 w 489"/>
                    <a:gd name="T45" fmla="*/ 72 h 135"/>
                    <a:gd name="T46" fmla="*/ 381 w 489"/>
                    <a:gd name="T47" fmla="*/ 63 h 135"/>
                    <a:gd name="T48" fmla="*/ 402 w 489"/>
                    <a:gd name="T49" fmla="*/ 53 h 135"/>
                    <a:gd name="T50" fmla="*/ 421 w 489"/>
                    <a:gd name="T51" fmla="*/ 42 h 135"/>
                    <a:gd name="T52" fmla="*/ 442 w 489"/>
                    <a:gd name="T53" fmla="*/ 30 h 135"/>
                    <a:gd name="T54" fmla="*/ 462 w 489"/>
                    <a:gd name="T55" fmla="*/ 15 h 135"/>
                    <a:gd name="T56" fmla="*/ 483 w 489"/>
                    <a:gd name="T57" fmla="*/ 0 h 135"/>
                    <a:gd name="T58" fmla="*/ 489 w 489"/>
                    <a:gd name="T59" fmla="*/ 44 h 135"/>
                    <a:gd name="T60" fmla="*/ 483 w 489"/>
                    <a:gd name="T61" fmla="*/ 47 h 135"/>
                    <a:gd name="T62" fmla="*/ 474 w 489"/>
                    <a:gd name="T63" fmla="*/ 53 h 135"/>
                    <a:gd name="T64" fmla="*/ 461 w 489"/>
                    <a:gd name="T65" fmla="*/ 61 h 135"/>
                    <a:gd name="T66" fmla="*/ 447 w 489"/>
                    <a:gd name="T67" fmla="*/ 68 h 135"/>
                    <a:gd name="T68" fmla="*/ 438 w 489"/>
                    <a:gd name="T69" fmla="*/ 74 h 135"/>
                    <a:gd name="T70" fmla="*/ 426 w 489"/>
                    <a:gd name="T71" fmla="*/ 78 h 135"/>
                    <a:gd name="T72" fmla="*/ 415 w 489"/>
                    <a:gd name="T73" fmla="*/ 83 h 135"/>
                    <a:gd name="T74" fmla="*/ 404 w 489"/>
                    <a:gd name="T75" fmla="*/ 89 h 135"/>
                    <a:gd name="T76" fmla="*/ 390 w 489"/>
                    <a:gd name="T77" fmla="*/ 95 h 135"/>
                    <a:gd name="T78" fmla="*/ 375 w 489"/>
                    <a:gd name="T79" fmla="*/ 101 h 135"/>
                    <a:gd name="T80" fmla="*/ 362 w 489"/>
                    <a:gd name="T81" fmla="*/ 106 h 135"/>
                    <a:gd name="T82" fmla="*/ 345 w 489"/>
                    <a:gd name="T83" fmla="*/ 112 h 135"/>
                    <a:gd name="T84" fmla="*/ 327 w 489"/>
                    <a:gd name="T85" fmla="*/ 116 h 135"/>
                    <a:gd name="T86" fmla="*/ 310 w 489"/>
                    <a:gd name="T87" fmla="*/ 120 h 135"/>
                    <a:gd name="T88" fmla="*/ 291 w 489"/>
                    <a:gd name="T89" fmla="*/ 123 h 135"/>
                    <a:gd name="T90" fmla="*/ 272 w 489"/>
                    <a:gd name="T91" fmla="*/ 127 h 135"/>
                    <a:gd name="T92" fmla="*/ 253 w 489"/>
                    <a:gd name="T93" fmla="*/ 131 h 135"/>
                    <a:gd name="T94" fmla="*/ 232 w 489"/>
                    <a:gd name="T95" fmla="*/ 133 h 135"/>
                    <a:gd name="T96" fmla="*/ 211 w 489"/>
                    <a:gd name="T97" fmla="*/ 135 h 135"/>
                    <a:gd name="T98" fmla="*/ 191 w 489"/>
                    <a:gd name="T99" fmla="*/ 135 h 135"/>
                    <a:gd name="T100" fmla="*/ 168 w 489"/>
                    <a:gd name="T101" fmla="*/ 133 h 135"/>
                    <a:gd name="T102" fmla="*/ 145 w 489"/>
                    <a:gd name="T103" fmla="*/ 131 h 135"/>
                    <a:gd name="T104" fmla="*/ 122 w 489"/>
                    <a:gd name="T105" fmla="*/ 129 h 135"/>
                    <a:gd name="T106" fmla="*/ 97 w 489"/>
                    <a:gd name="T107" fmla="*/ 125 h 135"/>
                    <a:gd name="T108" fmla="*/ 73 w 489"/>
                    <a:gd name="T109" fmla="*/ 121 h 135"/>
                    <a:gd name="T110" fmla="*/ 48 w 489"/>
                    <a:gd name="T111" fmla="*/ 114 h 135"/>
                    <a:gd name="T112" fmla="*/ 23 w 489"/>
                    <a:gd name="T113" fmla="*/ 106 h 135"/>
                    <a:gd name="T114" fmla="*/ 0 w 489"/>
                    <a:gd name="T115" fmla="*/ 66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89" h="135">
                      <a:moveTo>
                        <a:pt x="0" y="66"/>
                      </a:moveTo>
                      <a:lnTo>
                        <a:pt x="4" y="66"/>
                      </a:lnTo>
                      <a:lnTo>
                        <a:pt x="6" y="66"/>
                      </a:lnTo>
                      <a:lnTo>
                        <a:pt x="12" y="70"/>
                      </a:lnTo>
                      <a:lnTo>
                        <a:pt x="17" y="70"/>
                      </a:lnTo>
                      <a:lnTo>
                        <a:pt x="27" y="74"/>
                      </a:lnTo>
                      <a:lnTo>
                        <a:pt x="31" y="74"/>
                      </a:lnTo>
                      <a:lnTo>
                        <a:pt x="36" y="78"/>
                      </a:lnTo>
                      <a:lnTo>
                        <a:pt x="40" y="78"/>
                      </a:lnTo>
                      <a:lnTo>
                        <a:pt x="46" y="80"/>
                      </a:lnTo>
                      <a:lnTo>
                        <a:pt x="52" y="82"/>
                      </a:lnTo>
                      <a:lnTo>
                        <a:pt x="57" y="83"/>
                      </a:lnTo>
                      <a:lnTo>
                        <a:pt x="63" y="83"/>
                      </a:lnTo>
                      <a:lnTo>
                        <a:pt x="69" y="85"/>
                      </a:lnTo>
                      <a:lnTo>
                        <a:pt x="75" y="85"/>
                      </a:lnTo>
                      <a:lnTo>
                        <a:pt x="82" y="87"/>
                      </a:lnTo>
                      <a:lnTo>
                        <a:pt x="90" y="89"/>
                      </a:lnTo>
                      <a:lnTo>
                        <a:pt x="97" y="91"/>
                      </a:lnTo>
                      <a:lnTo>
                        <a:pt x="105" y="91"/>
                      </a:lnTo>
                      <a:lnTo>
                        <a:pt x="113" y="93"/>
                      </a:lnTo>
                      <a:lnTo>
                        <a:pt x="118" y="95"/>
                      </a:lnTo>
                      <a:lnTo>
                        <a:pt x="128" y="95"/>
                      </a:lnTo>
                      <a:lnTo>
                        <a:pt x="135" y="97"/>
                      </a:lnTo>
                      <a:lnTo>
                        <a:pt x="145" y="97"/>
                      </a:lnTo>
                      <a:lnTo>
                        <a:pt x="152" y="99"/>
                      </a:lnTo>
                      <a:lnTo>
                        <a:pt x="162" y="101"/>
                      </a:lnTo>
                      <a:lnTo>
                        <a:pt x="172" y="101"/>
                      </a:lnTo>
                      <a:lnTo>
                        <a:pt x="179" y="101"/>
                      </a:lnTo>
                      <a:lnTo>
                        <a:pt x="189" y="101"/>
                      </a:lnTo>
                      <a:lnTo>
                        <a:pt x="198" y="101"/>
                      </a:lnTo>
                      <a:lnTo>
                        <a:pt x="208" y="99"/>
                      </a:lnTo>
                      <a:lnTo>
                        <a:pt x="217" y="99"/>
                      </a:lnTo>
                      <a:lnTo>
                        <a:pt x="227" y="99"/>
                      </a:lnTo>
                      <a:lnTo>
                        <a:pt x="236" y="99"/>
                      </a:lnTo>
                      <a:lnTo>
                        <a:pt x="248" y="97"/>
                      </a:lnTo>
                      <a:lnTo>
                        <a:pt x="257" y="95"/>
                      </a:lnTo>
                      <a:lnTo>
                        <a:pt x="267" y="95"/>
                      </a:lnTo>
                      <a:lnTo>
                        <a:pt x="276" y="93"/>
                      </a:lnTo>
                      <a:lnTo>
                        <a:pt x="286" y="91"/>
                      </a:lnTo>
                      <a:lnTo>
                        <a:pt x="297" y="89"/>
                      </a:lnTo>
                      <a:lnTo>
                        <a:pt x="308" y="87"/>
                      </a:lnTo>
                      <a:lnTo>
                        <a:pt x="318" y="85"/>
                      </a:lnTo>
                      <a:lnTo>
                        <a:pt x="327" y="83"/>
                      </a:lnTo>
                      <a:lnTo>
                        <a:pt x="337" y="80"/>
                      </a:lnTo>
                      <a:lnTo>
                        <a:pt x="348" y="76"/>
                      </a:lnTo>
                      <a:lnTo>
                        <a:pt x="360" y="72"/>
                      </a:lnTo>
                      <a:lnTo>
                        <a:pt x="369" y="66"/>
                      </a:lnTo>
                      <a:lnTo>
                        <a:pt x="381" y="63"/>
                      </a:lnTo>
                      <a:lnTo>
                        <a:pt x="390" y="59"/>
                      </a:lnTo>
                      <a:lnTo>
                        <a:pt x="402" y="53"/>
                      </a:lnTo>
                      <a:lnTo>
                        <a:pt x="411" y="47"/>
                      </a:lnTo>
                      <a:lnTo>
                        <a:pt x="421" y="42"/>
                      </a:lnTo>
                      <a:lnTo>
                        <a:pt x="432" y="36"/>
                      </a:lnTo>
                      <a:lnTo>
                        <a:pt x="442" y="30"/>
                      </a:lnTo>
                      <a:lnTo>
                        <a:pt x="451" y="23"/>
                      </a:lnTo>
                      <a:lnTo>
                        <a:pt x="462" y="15"/>
                      </a:lnTo>
                      <a:lnTo>
                        <a:pt x="472" y="7"/>
                      </a:lnTo>
                      <a:lnTo>
                        <a:pt x="483" y="0"/>
                      </a:lnTo>
                      <a:lnTo>
                        <a:pt x="489" y="44"/>
                      </a:lnTo>
                      <a:lnTo>
                        <a:pt x="489" y="44"/>
                      </a:lnTo>
                      <a:lnTo>
                        <a:pt x="487" y="45"/>
                      </a:lnTo>
                      <a:lnTo>
                        <a:pt x="483" y="47"/>
                      </a:lnTo>
                      <a:lnTo>
                        <a:pt x="480" y="49"/>
                      </a:lnTo>
                      <a:lnTo>
                        <a:pt x="474" y="53"/>
                      </a:lnTo>
                      <a:lnTo>
                        <a:pt x="468" y="57"/>
                      </a:lnTo>
                      <a:lnTo>
                        <a:pt x="461" y="61"/>
                      </a:lnTo>
                      <a:lnTo>
                        <a:pt x="453" y="66"/>
                      </a:lnTo>
                      <a:lnTo>
                        <a:pt x="447" y="68"/>
                      </a:lnTo>
                      <a:lnTo>
                        <a:pt x="443" y="70"/>
                      </a:lnTo>
                      <a:lnTo>
                        <a:pt x="438" y="74"/>
                      </a:lnTo>
                      <a:lnTo>
                        <a:pt x="432" y="76"/>
                      </a:lnTo>
                      <a:lnTo>
                        <a:pt x="426" y="78"/>
                      </a:lnTo>
                      <a:lnTo>
                        <a:pt x="421" y="82"/>
                      </a:lnTo>
                      <a:lnTo>
                        <a:pt x="415" y="83"/>
                      </a:lnTo>
                      <a:lnTo>
                        <a:pt x="409" y="87"/>
                      </a:lnTo>
                      <a:lnTo>
                        <a:pt x="404" y="89"/>
                      </a:lnTo>
                      <a:lnTo>
                        <a:pt x="396" y="93"/>
                      </a:lnTo>
                      <a:lnTo>
                        <a:pt x="390" y="95"/>
                      </a:lnTo>
                      <a:lnTo>
                        <a:pt x="383" y="99"/>
                      </a:lnTo>
                      <a:lnTo>
                        <a:pt x="375" y="101"/>
                      </a:lnTo>
                      <a:lnTo>
                        <a:pt x="367" y="104"/>
                      </a:lnTo>
                      <a:lnTo>
                        <a:pt x="362" y="106"/>
                      </a:lnTo>
                      <a:lnTo>
                        <a:pt x="354" y="110"/>
                      </a:lnTo>
                      <a:lnTo>
                        <a:pt x="345" y="112"/>
                      </a:lnTo>
                      <a:lnTo>
                        <a:pt x="337" y="114"/>
                      </a:lnTo>
                      <a:lnTo>
                        <a:pt x="327" y="116"/>
                      </a:lnTo>
                      <a:lnTo>
                        <a:pt x="320" y="120"/>
                      </a:lnTo>
                      <a:lnTo>
                        <a:pt x="310" y="120"/>
                      </a:lnTo>
                      <a:lnTo>
                        <a:pt x="301" y="121"/>
                      </a:lnTo>
                      <a:lnTo>
                        <a:pt x="291" y="123"/>
                      </a:lnTo>
                      <a:lnTo>
                        <a:pt x="284" y="125"/>
                      </a:lnTo>
                      <a:lnTo>
                        <a:pt x="272" y="127"/>
                      </a:lnTo>
                      <a:lnTo>
                        <a:pt x="263" y="129"/>
                      </a:lnTo>
                      <a:lnTo>
                        <a:pt x="253" y="131"/>
                      </a:lnTo>
                      <a:lnTo>
                        <a:pt x="244" y="131"/>
                      </a:lnTo>
                      <a:lnTo>
                        <a:pt x="232" y="133"/>
                      </a:lnTo>
                      <a:lnTo>
                        <a:pt x="223" y="133"/>
                      </a:lnTo>
                      <a:lnTo>
                        <a:pt x="211" y="135"/>
                      </a:lnTo>
                      <a:lnTo>
                        <a:pt x="202" y="135"/>
                      </a:lnTo>
                      <a:lnTo>
                        <a:pt x="191" y="135"/>
                      </a:lnTo>
                      <a:lnTo>
                        <a:pt x="179" y="135"/>
                      </a:lnTo>
                      <a:lnTo>
                        <a:pt x="168" y="133"/>
                      </a:lnTo>
                      <a:lnTo>
                        <a:pt x="156" y="133"/>
                      </a:lnTo>
                      <a:lnTo>
                        <a:pt x="145" y="131"/>
                      </a:lnTo>
                      <a:lnTo>
                        <a:pt x="133" y="131"/>
                      </a:lnTo>
                      <a:lnTo>
                        <a:pt x="122" y="129"/>
                      </a:lnTo>
                      <a:lnTo>
                        <a:pt x="111" y="129"/>
                      </a:lnTo>
                      <a:lnTo>
                        <a:pt x="97" y="125"/>
                      </a:lnTo>
                      <a:lnTo>
                        <a:pt x="86" y="123"/>
                      </a:lnTo>
                      <a:lnTo>
                        <a:pt x="73" y="121"/>
                      </a:lnTo>
                      <a:lnTo>
                        <a:pt x="61" y="120"/>
                      </a:lnTo>
                      <a:lnTo>
                        <a:pt x="48" y="114"/>
                      </a:lnTo>
                      <a:lnTo>
                        <a:pt x="36" y="112"/>
                      </a:lnTo>
                      <a:lnTo>
                        <a:pt x="23" y="106"/>
                      </a:lnTo>
                      <a:lnTo>
                        <a:pt x="12" y="104"/>
                      </a:lnTo>
                      <a:lnTo>
                        <a:pt x="0" y="66"/>
                      </a:lnTo>
                      <a:lnTo>
                        <a:pt x="0" y="6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5" name="Freeform 109"/>
                <p:cNvSpPr>
                  <a:spLocks/>
                </p:cNvSpPr>
                <p:nvPr/>
              </p:nvSpPr>
              <p:spPr bwMode="auto">
                <a:xfrm>
                  <a:off x="3888" y="2857"/>
                  <a:ext cx="264" cy="50"/>
                </a:xfrm>
                <a:custGeom>
                  <a:avLst/>
                  <a:gdLst>
                    <a:gd name="T0" fmla="*/ 29 w 559"/>
                    <a:gd name="T1" fmla="*/ 22 h 116"/>
                    <a:gd name="T2" fmla="*/ 38 w 559"/>
                    <a:gd name="T3" fmla="*/ 26 h 116"/>
                    <a:gd name="T4" fmla="*/ 53 w 559"/>
                    <a:gd name="T5" fmla="*/ 32 h 116"/>
                    <a:gd name="T6" fmla="*/ 63 w 559"/>
                    <a:gd name="T7" fmla="*/ 36 h 116"/>
                    <a:gd name="T8" fmla="*/ 74 w 559"/>
                    <a:gd name="T9" fmla="*/ 40 h 116"/>
                    <a:gd name="T10" fmla="*/ 86 w 559"/>
                    <a:gd name="T11" fmla="*/ 43 h 116"/>
                    <a:gd name="T12" fmla="*/ 99 w 559"/>
                    <a:gd name="T13" fmla="*/ 47 h 116"/>
                    <a:gd name="T14" fmla="*/ 114 w 559"/>
                    <a:gd name="T15" fmla="*/ 51 h 116"/>
                    <a:gd name="T16" fmla="*/ 129 w 559"/>
                    <a:gd name="T17" fmla="*/ 57 h 116"/>
                    <a:gd name="T18" fmla="*/ 145 w 559"/>
                    <a:gd name="T19" fmla="*/ 59 h 116"/>
                    <a:gd name="T20" fmla="*/ 162 w 559"/>
                    <a:gd name="T21" fmla="*/ 62 h 116"/>
                    <a:gd name="T22" fmla="*/ 179 w 559"/>
                    <a:gd name="T23" fmla="*/ 66 h 116"/>
                    <a:gd name="T24" fmla="*/ 200 w 559"/>
                    <a:gd name="T25" fmla="*/ 70 h 116"/>
                    <a:gd name="T26" fmla="*/ 217 w 559"/>
                    <a:gd name="T27" fmla="*/ 72 h 116"/>
                    <a:gd name="T28" fmla="*/ 238 w 559"/>
                    <a:gd name="T29" fmla="*/ 74 h 116"/>
                    <a:gd name="T30" fmla="*/ 259 w 559"/>
                    <a:gd name="T31" fmla="*/ 76 h 116"/>
                    <a:gd name="T32" fmla="*/ 280 w 559"/>
                    <a:gd name="T33" fmla="*/ 76 h 116"/>
                    <a:gd name="T34" fmla="*/ 301 w 559"/>
                    <a:gd name="T35" fmla="*/ 76 h 116"/>
                    <a:gd name="T36" fmla="*/ 323 w 559"/>
                    <a:gd name="T37" fmla="*/ 76 h 116"/>
                    <a:gd name="T38" fmla="*/ 344 w 559"/>
                    <a:gd name="T39" fmla="*/ 72 h 116"/>
                    <a:gd name="T40" fmla="*/ 367 w 559"/>
                    <a:gd name="T41" fmla="*/ 70 h 116"/>
                    <a:gd name="T42" fmla="*/ 390 w 559"/>
                    <a:gd name="T43" fmla="*/ 66 h 116"/>
                    <a:gd name="T44" fmla="*/ 413 w 559"/>
                    <a:gd name="T45" fmla="*/ 60 h 116"/>
                    <a:gd name="T46" fmla="*/ 436 w 559"/>
                    <a:gd name="T47" fmla="*/ 55 h 116"/>
                    <a:gd name="T48" fmla="*/ 458 w 559"/>
                    <a:gd name="T49" fmla="*/ 47 h 116"/>
                    <a:gd name="T50" fmla="*/ 481 w 559"/>
                    <a:gd name="T51" fmla="*/ 36 h 116"/>
                    <a:gd name="T52" fmla="*/ 504 w 559"/>
                    <a:gd name="T53" fmla="*/ 26 h 116"/>
                    <a:gd name="T54" fmla="*/ 527 w 559"/>
                    <a:gd name="T55" fmla="*/ 13 h 116"/>
                    <a:gd name="T56" fmla="*/ 550 w 559"/>
                    <a:gd name="T57" fmla="*/ 0 h 116"/>
                    <a:gd name="T58" fmla="*/ 557 w 559"/>
                    <a:gd name="T59" fmla="*/ 40 h 116"/>
                    <a:gd name="T60" fmla="*/ 552 w 559"/>
                    <a:gd name="T61" fmla="*/ 43 h 116"/>
                    <a:gd name="T62" fmla="*/ 542 w 559"/>
                    <a:gd name="T63" fmla="*/ 49 h 116"/>
                    <a:gd name="T64" fmla="*/ 527 w 559"/>
                    <a:gd name="T65" fmla="*/ 59 h 116"/>
                    <a:gd name="T66" fmla="*/ 514 w 559"/>
                    <a:gd name="T67" fmla="*/ 66 h 116"/>
                    <a:gd name="T68" fmla="*/ 502 w 559"/>
                    <a:gd name="T69" fmla="*/ 70 h 116"/>
                    <a:gd name="T70" fmla="*/ 491 w 559"/>
                    <a:gd name="T71" fmla="*/ 76 h 116"/>
                    <a:gd name="T72" fmla="*/ 479 w 559"/>
                    <a:gd name="T73" fmla="*/ 79 h 116"/>
                    <a:gd name="T74" fmla="*/ 466 w 559"/>
                    <a:gd name="T75" fmla="*/ 85 h 116"/>
                    <a:gd name="T76" fmla="*/ 451 w 559"/>
                    <a:gd name="T77" fmla="*/ 91 h 116"/>
                    <a:gd name="T78" fmla="*/ 434 w 559"/>
                    <a:gd name="T79" fmla="*/ 95 h 116"/>
                    <a:gd name="T80" fmla="*/ 419 w 559"/>
                    <a:gd name="T81" fmla="*/ 100 h 116"/>
                    <a:gd name="T82" fmla="*/ 400 w 559"/>
                    <a:gd name="T83" fmla="*/ 104 h 116"/>
                    <a:gd name="T84" fmla="*/ 380 w 559"/>
                    <a:gd name="T85" fmla="*/ 108 h 116"/>
                    <a:gd name="T86" fmla="*/ 360 w 559"/>
                    <a:gd name="T87" fmla="*/ 110 h 116"/>
                    <a:gd name="T88" fmla="*/ 339 w 559"/>
                    <a:gd name="T89" fmla="*/ 112 h 116"/>
                    <a:gd name="T90" fmla="*/ 318 w 559"/>
                    <a:gd name="T91" fmla="*/ 114 h 116"/>
                    <a:gd name="T92" fmla="*/ 293 w 559"/>
                    <a:gd name="T93" fmla="*/ 114 h 116"/>
                    <a:gd name="T94" fmla="*/ 270 w 559"/>
                    <a:gd name="T95" fmla="*/ 114 h 116"/>
                    <a:gd name="T96" fmla="*/ 245 w 559"/>
                    <a:gd name="T97" fmla="*/ 114 h 116"/>
                    <a:gd name="T98" fmla="*/ 221 w 559"/>
                    <a:gd name="T99" fmla="*/ 112 h 116"/>
                    <a:gd name="T100" fmla="*/ 192 w 559"/>
                    <a:gd name="T101" fmla="*/ 108 h 116"/>
                    <a:gd name="T102" fmla="*/ 166 w 559"/>
                    <a:gd name="T103" fmla="*/ 102 h 116"/>
                    <a:gd name="T104" fmla="*/ 137 w 559"/>
                    <a:gd name="T105" fmla="*/ 95 h 116"/>
                    <a:gd name="T106" fmla="*/ 109 w 559"/>
                    <a:gd name="T107" fmla="*/ 87 h 116"/>
                    <a:gd name="T108" fmla="*/ 78 w 559"/>
                    <a:gd name="T109" fmla="*/ 78 h 116"/>
                    <a:gd name="T110" fmla="*/ 48 w 559"/>
                    <a:gd name="T111" fmla="*/ 66 h 116"/>
                    <a:gd name="T112" fmla="*/ 15 w 559"/>
                    <a:gd name="T113" fmla="*/ 55 h 116"/>
                    <a:gd name="T114" fmla="*/ 27 w 559"/>
                    <a:gd name="T115" fmla="*/ 21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559" h="116">
                      <a:moveTo>
                        <a:pt x="27" y="21"/>
                      </a:moveTo>
                      <a:lnTo>
                        <a:pt x="29" y="22"/>
                      </a:lnTo>
                      <a:lnTo>
                        <a:pt x="32" y="24"/>
                      </a:lnTo>
                      <a:lnTo>
                        <a:pt x="38" y="26"/>
                      </a:lnTo>
                      <a:lnTo>
                        <a:pt x="46" y="28"/>
                      </a:lnTo>
                      <a:lnTo>
                        <a:pt x="53" y="32"/>
                      </a:lnTo>
                      <a:lnTo>
                        <a:pt x="57" y="34"/>
                      </a:lnTo>
                      <a:lnTo>
                        <a:pt x="63" y="36"/>
                      </a:lnTo>
                      <a:lnTo>
                        <a:pt x="67" y="38"/>
                      </a:lnTo>
                      <a:lnTo>
                        <a:pt x="74" y="40"/>
                      </a:lnTo>
                      <a:lnTo>
                        <a:pt x="80" y="41"/>
                      </a:lnTo>
                      <a:lnTo>
                        <a:pt x="86" y="43"/>
                      </a:lnTo>
                      <a:lnTo>
                        <a:pt x="91" y="45"/>
                      </a:lnTo>
                      <a:lnTo>
                        <a:pt x="99" y="47"/>
                      </a:lnTo>
                      <a:lnTo>
                        <a:pt x="107" y="49"/>
                      </a:lnTo>
                      <a:lnTo>
                        <a:pt x="114" y="51"/>
                      </a:lnTo>
                      <a:lnTo>
                        <a:pt x="122" y="55"/>
                      </a:lnTo>
                      <a:lnTo>
                        <a:pt x="129" y="57"/>
                      </a:lnTo>
                      <a:lnTo>
                        <a:pt x="137" y="59"/>
                      </a:lnTo>
                      <a:lnTo>
                        <a:pt x="145" y="59"/>
                      </a:lnTo>
                      <a:lnTo>
                        <a:pt x="152" y="60"/>
                      </a:lnTo>
                      <a:lnTo>
                        <a:pt x="162" y="62"/>
                      </a:lnTo>
                      <a:lnTo>
                        <a:pt x="169" y="64"/>
                      </a:lnTo>
                      <a:lnTo>
                        <a:pt x="179" y="66"/>
                      </a:lnTo>
                      <a:lnTo>
                        <a:pt x="188" y="68"/>
                      </a:lnTo>
                      <a:lnTo>
                        <a:pt x="200" y="70"/>
                      </a:lnTo>
                      <a:lnTo>
                        <a:pt x="207" y="72"/>
                      </a:lnTo>
                      <a:lnTo>
                        <a:pt x="217" y="72"/>
                      </a:lnTo>
                      <a:lnTo>
                        <a:pt x="228" y="72"/>
                      </a:lnTo>
                      <a:lnTo>
                        <a:pt x="238" y="74"/>
                      </a:lnTo>
                      <a:lnTo>
                        <a:pt x="247" y="74"/>
                      </a:lnTo>
                      <a:lnTo>
                        <a:pt x="259" y="76"/>
                      </a:lnTo>
                      <a:lnTo>
                        <a:pt x="268" y="76"/>
                      </a:lnTo>
                      <a:lnTo>
                        <a:pt x="280" y="76"/>
                      </a:lnTo>
                      <a:lnTo>
                        <a:pt x="289" y="76"/>
                      </a:lnTo>
                      <a:lnTo>
                        <a:pt x="301" y="76"/>
                      </a:lnTo>
                      <a:lnTo>
                        <a:pt x="312" y="76"/>
                      </a:lnTo>
                      <a:lnTo>
                        <a:pt x="323" y="76"/>
                      </a:lnTo>
                      <a:lnTo>
                        <a:pt x="333" y="74"/>
                      </a:lnTo>
                      <a:lnTo>
                        <a:pt x="344" y="72"/>
                      </a:lnTo>
                      <a:lnTo>
                        <a:pt x="356" y="72"/>
                      </a:lnTo>
                      <a:lnTo>
                        <a:pt x="367" y="70"/>
                      </a:lnTo>
                      <a:lnTo>
                        <a:pt x="379" y="68"/>
                      </a:lnTo>
                      <a:lnTo>
                        <a:pt x="390" y="66"/>
                      </a:lnTo>
                      <a:lnTo>
                        <a:pt x="401" y="62"/>
                      </a:lnTo>
                      <a:lnTo>
                        <a:pt x="413" y="60"/>
                      </a:lnTo>
                      <a:lnTo>
                        <a:pt x="424" y="57"/>
                      </a:lnTo>
                      <a:lnTo>
                        <a:pt x="436" y="55"/>
                      </a:lnTo>
                      <a:lnTo>
                        <a:pt x="447" y="49"/>
                      </a:lnTo>
                      <a:lnTo>
                        <a:pt x="458" y="47"/>
                      </a:lnTo>
                      <a:lnTo>
                        <a:pt x="470" y="41"/>
                      </a:lnTo>
                      <a:lnTo>
                        <a:pt x="481" y="36"/>
                      </a:lnTo>
                      <a:lnTo>
                        <a:pt x="493" y="30"/>
                      </a:lnTo>
                      <a:lnTo>
                        <a:pt x="504" y="26"/>
                      </a:lnTo>
                      <a:lnTo>
                        <a:pt x="516" y="19"/>
                      </a:lnTo>
                      <a:lnTo>
                        <a:pt x="527" y="13"/>
                      </a:lnTo>
                      <a:lnTo>
                        <a:pt x="538" y="5"/>
                      </a:lnTo>
                      <a:lnTo>
                        <a:pt x="550" y="0"/>
                      </a:lnTo>
                      <a:lnTo>
                        <a:pt x="559" y="40"/>
                      </a:lnTo>
                      <a:lnTo>
                        <a:pt x="557" y="40"/>
                      </a:lnTo>
                      <a:lnTo>
                        <a:pt x="555" y="41"/>
                      </a:lnTo>
                      <a:lnTo>
                        <a:pt x="552" y="43"/>
                      </a:lnTo>
                      <a:lnTo>
                        <a:pt x="548" y="47"/>
                      </a:lnTo>
                      <a:lnTo>
                        <a:pt x="542" y="49"/>
                      </a:lnTo>
                      <a:lnTo>
                        <a:pt x="536" y="53"/>
                      </a:lnTo>
                      <a:lnTo>
                        <a:pt x="527" y="59"/>
                      </a:lnTo>
                      <a:lnTo>
                        <a:pt x="519" y="62"/>
                      </a:lnTo>
                      <a:lnTo>
                        <a:pt x="514" y="66"/>
                      </a:lnTo>
                      <a:lnTo>
                        <a:pt x="508" y="68"/>
                      </a:lnTo>
                      <a:lnTo>
                        <a:pt x="502" y="70"/>
                      </a:lnTo>
                      <a:lnTo>
                        <a:pt x="498" y="72"/>
                      </a:lnTo>
                      <a:lnTo>
                        <a:pt x="491" y="76"/>
                      </a:lnTo>
                      <a:lnTo>
                        <a:pt x="485" y="78"/>
                      </a:lnTo>
                      <a:lnTo>
                        <a:pt x="479" y="79"/>
                      </a:lnTo>
                      <a:lnTo>
                        <a:pt x="472" y="83"/>
                      </a:lnTo>
                      <a:lnTo>
                        <a:pt x="466" y="85"/>
                      </a:lnTo>
                      <a:lnTo>
                        <a:pt x="458" y="89"/>
                      </a:lnTo>
                      <a:lnTo>
                        <a:pt x="451" y="91"/>
                      </a:lnTo>
                      <a:lnTo>
                        <a:pt x="443" y="93"/>
                      </a:lnTo>
                      <a:lnTo>
                        <a:pt x="434" y="95"/>
                      </a:lnTo>
                      <a:lnTo>
                        <a:pt x="426" y="98"/>
                      </a:lnTo>
                      <a:lnTo>
                        <a:pt x="419" y="100"/>
                      </a:lnTo>
                      <a:lnTo>
                        <a:pt x="409" y="102"/>
                      </a:lnTo>
                      <a:lnTo>
                        <a:pt x="400" y="104"/>
                      </a:lnTo>
                      <a:lnTo>
                        <a:pt x="390" y="106"/>
                      </a:lnTo>
                      <a:lnTo>
                        <a:pt x="380" y="108"/>
                      </a:lnTo>
                      <a:lnTo>
                        <a:pt x="371" y="110"/>
                      </a:lnTo>
                      <a:lnTo>
                        <a:pt x="360" y="110"/>
                      </a:lnTo>
                      <a:lnTo>
                        <a:pt x="350" y="112"/>
                      </a:lnTo>
                      <a:lnTo>
                        <a:pt x="339" y="112"/>
                      </a:lnTo>
                      <a:lnTo>
                        <a:pt x="329" y="114"/>
                      </a:lnTo>
                      <a:lnTo>
                        <a:pt x="318" y="114"/>
                      </a:lnTo>
                      <a:lnTo>
                        <a:pt x="306" y="114"/>
                      </a:lnTo>
                      <a:lnTo>
                        <a:pt x="293" y="114"/>
                      </a:lnTo>
                      <a:lnTo>
                        <a:pt x="282" y="116"/>
                      </a:lnTo>
                      <a:lnTo>
                        <a:pt x="270" y="114"/>
                      </a:lnTo>
                      <a:lnTo>
                        <a:pt x="259" y="114"/>
                      </a:lnTo>
                      <a:lnTo>
                        <a:pt x="245" y="114"/>
                      </a:lnTo>
                      <a:lnTo>
                        <a:pt x="234" y="114"/>
                      </a:lnTo>
                      <a:lnTo>
                        <a:pt x="221" y="112"/>
                      </a:lnTo>
                      <a:lnTo>
                        <a:pt x="207" y="110"/>
                      </a:lnTo>
                      <a:lnTo>
                        <a:pt x="192" y="108"/>
                      </a:lnTo>
                      <a:lnTo>
                        <a:pt x="181" y="104"/>
                      </a:lnTo>
                      <a:lnTo>
                        <a:pt x="166" y="102"/>
                      </a:lnTo>
                      <a:lnTo>
                        <a:pt x="152" y="98"/>
                      </a:lnTo>
                      <a:lnTo>
                        <a:pt x="137" y="95"/>
                      </a:lnTo>
                      <a:lnTo>
                        <a:pt x="124" y="93"/>
                      </a:lnTo>
                      <a:lnTo>
                        <a:pt x="109" y="87"/>
                      </a:lnTo>
                      <a:lnTo>
                        <a:pt x="93" y="83"/>
                      </a:lnTo>
                      <a:lnTo>
                        <a:pt x="78" y="78"/>
                      </a:lnTo>
                      <a:lnTo>
                        <a:pt x="63" y="72"/>
                      </a:lnTo>
                      <a:lnTo>
                        <a:pt x="48" y="66"/>
                      </a:lnTo>
                      <a:lnTo>
                        <a:pt x="32" y="60"/>
                      </a:lnTo>
                      <a:lnTo>
                        <a:pt x="15" y="55"/>
                      </a:lnTo>
                      <a:lnTo>
                        <a:pt x="0" y="47"/>
                      </a:lnTo>
                      <a:lnTo>
                        <a:pt x="27" y="21"/>
                      </a:lnTo>
                      <a:lnTo>
                        <a:pt x="27" y="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6" name="Freeform 110"/>
                <p:cNvSpPr>
                  <a:spLocks/>
                </p:cNvSpPr>
                <p:nvPr/>
              </p:nvSpPr>
              <p:spPr bwMode="auto">
                <a:xfrm>
                  <a:off x="3914" y="2391"/>
                  <a:ext cx="170" cy="62"/>
                </a:xfrm>
                <a:custGeom>
                  <a:avLst/>
                  <a:gdLst>
                    <a:gd name="T0" fmla="*/ 12 w 360"/>
                    <a:gd name="T1" fmla="*/ 30 h 142"/>
                    <a:gd name="T2" fmla="*/ 19 w 360"/>
                    <a:gd name="T3" fmla="*/ 39 h 142"/>
                    <a:gd name="T4" fmla="*/ 27 w 360"/>
                    <a:gd name="T5" fmla="*/ 49 h 142"/>
                    <a:gd name="T6" fmla="*/ 38 w 360"/>
                    <a:gd name="T7" fmla="*/ 60 h 142"/>
                    <a:gd name="T8" fmla="*/ 54 w 360"/>
                    <a:gd name="T9" fmla="*/ 72 h 142"/>
                    <a:gd name="T10" fmla="*/ 65 w 360"/>
                    <a:gd name="T11" fmla="*/ 81 h 142"/>
                    <a:gd name="T12" fmla="*/ 73 w 360"/>
                    <a:gd name="T13" fmla="*/ 87 h 142"/>
                    <a:gd name="T14" fmla="*/ 84 w 360"/>
                    <a:gd name="T15" fmla="*/ 93 h 142"/>
                    <a:gd name="T16" fmla="*/ 93 w 360"/>
                    <a:gd name="T17" fmla="*/ 96 h 142"/>
                    <a:gd name="T18" fmla="*/ 103 w 360"/>
                    <a:gd name="T19" fmla="*/ 100 h 142"/>
                    <a:gd name="T20" fmla="*/ 114 w 360"/>
                    <a:gd name="T21" fmla="*/ 104 h 142"/>
                    <a:gd name="T22" fmla="*/ 126 w 360"/>
                    <a:gd name="T23" fmla="*/ 106 h 142"/>
                    <a:gd name="T24" fmla="*/ 137 w 360"/>
                    <a:gd name="T25" fmla="*/ 108 h 142"/>
                    <a:gd name="T26" fmla="*/ 151 w 360"/>
                    <a:gd name="T27" fmla="*/ 108 h 142"/>
                    <a:gd name="T28" fmla="*/ 162 w 360"/>
                    <a:gd name="T29" fmla="*/ 106 h 142"/>
                    <a:gd name="T30" fmla="*/ 177 w 360"/>
                    <a:gd name="T31" fmla="*/ 104 h 142"/>
                    <a:gd name="T32" fmla="*/ 190 w 360"/>
                    <a:gd name="T33" fmla="*/ 100 h 142"/>
                    <a:gd name="T34" fmla="*/ 204 w 360"/>
                    <a:gd name="T35" fmla="*/ 96 h 142"/>
                    <a:gd name="T36" fmla="*/ 219 w 360"/>
                    <a:gd name="T37" fmla="*/ 89 h 142"/>
                    <a:gd name="T38" fmla="*/ 234 w 360"/>
                    <a:gd name="T39" fmla="*/ 81 h 142"/>
                    <a:gd name="T40" fmla="*/ 249 w 360"/>
                    <a:gd name="T41" fmla="*/ 70 h 142"/>
                    <a:gd name="T42" fmla="*/ 267 w 360"/>
                    <a:gd name="T43" fmla="*/ 58 h 142"/>
                    <a:gd name="T44" fmla="*/ 282 w 360"/>
                    <a:gd name="T45" fmla="*/ 43 h 142"/>
                    <a:gd name="T46" fmla="*/ 299 w 360"/>
                    <a:gd name="T47" fmla="*/ 28 h 142"/>
                    <a:gd name="T48" fmla="*/ 316 w 360"/>
                    <a:gd name="T49" fmla="*/ 9 h 142"/>
                    <a:gd name="T50" fmla="*/ 360 w 360"/>
                    <a:gd name="T51" fmla="*/ 26 h 142"/>
                    <a:gd name="T52" fmla="*/ 358 w 360"/>
                    <a:gd name="T53" fmla="*/ 28 h 142"/>
                    <a:gd name="T54" fmla="*/ 352 w 360"/>
                    <a:gd name="T55" fmla="*/ 36 h 142"/>
                    <a:gd name="T56" fmla="*/ 341 w 360"/>
                    <a:gd name="T57" fmla="*/ 45 h 142"/>
                    <a:gd name="T58" fmla="*/ 327 w 360"/>
                    <a:gd name="T59" fmla="*/ 60 h 142"/>
                    <a:gd name="T60" fmla="*/ 318 w 360"/>
                    <a:gd name="T61" fmla="*/ 68 h 142"/>
                    <a:gd name="T62" fmla="*/ 308 w 360"/>
                    <a:gd name="T63" fmla="*/ 76 h 142"/>
                    <a:gd name="T64" fmla="*/ 299 w 360"/>
                    <a:gd name="T65" fmla="*/ 83 h 142"/>
                    <a:gd name="T66" fmla="*/ 289 w 360"/>
                    <a:gd name="T67" fmla="*/ 91 h 142"/>
                    <a:gd name="T68" fmla="*/ 278 w 360"/>
                    <a:gd name="T69" fmla="*/ 98 h 142"/>
                    <a:gd name="T70" fmla="*/ 268 w 360"/>
                    <a:gd name="T71" fmla="*/ 106 h 142"/>
                    <a:gd name="T72" fmla="*/ 255 w 360"/>
                    <a:gd name="T73" fmla="*/ 114 h 142"/>
                    <a:gd name="T74" fmla="*/ 244 w 360"/>
                    <a:gd name="T75" fmla="*/ 121 h 142"/>
                    <a:gd name="T76" fmla="*/ 229 w 360"/>
                    <a:gd name="T77" fmla="*/ 125 h 142"/>
                    <a:gd name="T78" fmla="*/ 215 w 360"/>
                    <a:gd name="T79" fmla="*/ 131 h 142"/>
                    <a:gd name="T80" fmla="*/ 202 w 360"/>
                    <a:gd name="T81" fmla="*/ 134 h 142"/>
                    <a:gd name="T82" fmla="*/ 187 w 360"/>
                    <a:gd name="T83" fmla="*/ 140 h 142"/>
                    <a:gd name="T84" fmla="*/ 171 w 360"/>
                    <a:gd name="T85" fmla="*/ 140 h 142"/>
                    <a:gd name="T86" fmla="*/ 156 w 360"/>
                    <a:gd name="T87" fmla="*/ 142 h 142"/>
                    <a:gd name="T88" fmla="*/ 141 w 360"/>
                    <a:gd name="T89" fmla="*/ 142 h 142"/>
                    <a:gd name="T90" fmla="*/ 126 w 360"/>
                    <a:gd name="T91" fmla="*/ 142 h 142"/>
                    <a:gd name="T92" fmla="*/ 111 w 360"/>
                    <a:gd name="T93" fmla="*/ 138 h 142"/>
                    <a:gd name="T94" fmla="*/ 95 w 360"/>
                    <a:gd name="T95" fmla="*/ 134 h 142"/>
                    <a:gd name="T96" fmla="*/ 78 w 360"/>
                    <a:gd name="T97" fmla="*/ 127 h 142"/>
                    <a:gd name="T98" fmla="*/ 63 w 360"/>
                    <a:gd name="T99" fmla="*/ 117 h 142"/>
                    <a:gd name="T100" fmla="*/ 46 w 360"/>
                    <a:gd name="T101" fmla="*/ 106 h 142"/>
                    <a:gd name="T102" fmla="*/ 31 w 360"/>
                    <a:gd name="T103" fmla="*/ 93 h 142"/>
                    <a:gd name="T104" fmla="*/ 14 w 360"/>
                    <a:gd name="T105" fmla="*/ 77 h 142"/>
                    <a:gd name="T106" fmla="*/ 0 w 360"/>
                    <a:gd name="T107" fmla="*/ 60 h 142"/>
                    <a:gd name="T108" fmla="*/ 10 w 360"/>
                    <a:gd name="T109" fmla="*/ 28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360" h="142">
                      <a:moveTo>
                        <a:pt x="10" y="28"/>
                      </a:moveTo>
                      <a:lnTo>
                        <a:pt x="12" y="30"/>
                      </a:lnTo>
                      <a:lnTo>
                        <a:pt x="16" y="36"/>
                      </a:lnTo>
                      <a:lnTo>
                        <a:pt x="19" y="39"/>
                      </a:lnTo>
                      <a:lnTo>
                        <a:pt x="23" y="43"/>
                      </a:lnTo>
                      <a:lnTo>
                        <a:pt x="27" y="49"/>
                      </a:lnTo>
                      <a:lnTo>
                        <a:pt x="33" y="55"/>
                      </a:lnTo>
                      <a:lnTo>
                        <a:pt x="38" y="60"/>
                      </a:lnTo>
                      <a:lnTo>
                        <a:pt x="46" y="66"/>
                      </a:lnTo>
                      <a:lnTo>
                        <a:pt x="54" y="72"/>
                      </a:lnTo>
                      <a:lnTo>
                        <a:pt x="61" y="79"/>
                      </a:lnTo>
                      <a:lnTo>
                        <a:pt x="65" y="81"/>
                      </a:lnTo>
                      <a:lnTo>
                        <a:pt x="69" y="83"/>
                      </a:lnTo>
                      <a:lnTo>
                        <a:pt x="73" y="87"/>
                      </a:lnTo>
                      <a:lnTo>
                        <a:pt x="78" y="89"/>
                      </a:lnTo>
                      <a:lnTo>
                        <a:pt x="84" y="93"/>
                      </a:lnTo>
                      <a:lnTo>
                        <a:pt x="88" y="95"/>
                      </a:lnTo>
                      <a:lnTo>
                        <a:pt x="93" y="96"/>
                      </a:lnTo>
                      <a:lnTo>
                        <a:pt x="99" y="98"/>
                      </a:lnTo>
                      <a:lnTo>
                        <a:pt x="103" y="100"/>
                      </a:lnTo>
                      <a:lnTo>
                        <a:pt x="109" y="102"/>
                      </a:lnTo>
                      <a:lnTo>
                        <a:pt x="114" y="104"/>
                      </a:lnTo>
                      <a:lnTo>
                        <a:pt x="120" y="106"/>
                      </a:lnTo>
                      <a:lnTo>
                        <a:pt x="126" y="106"/>
                      </a:lnTo>
                      <a:lnTo>
                        <a:pt x="132" y="106"/>
                      </a:lnTo>
                      <a:lnTo>
                        <a:pt x="137" y="108"/>
                      </a:lnTo>
                      <a:lnTo>
                        <a:pt x="145" y="108"/>
                      </a:lnTo>
                      <a:lnTo>
                        <a:pt x="151" y="108"/>
                      </a:lnTo>
                      <a:lnTo>
                        <a:pt x="156" y="108"/>
                      </a:lnTo>
                      <a:lnTo>
                        <a:pt x="162" y="106"/>
                      </a:lnTo>
                      <a:lnTo>
                        <a:pt x="170" y="106"/>
                      </a:lnTo>
                      <a:lnTo>
                        <a:pt x="177" y="104"/>
                      </a:lnTo>
                      <a:lnTo>
                        <a:pt x="183" y="102"/>
                      </a:lnTo>
                      <a:lnTo>
                        <a:pt x="190" y="100"/>
                      </a:lnTo>
                      <a:lnTo>
                        <a:pt x="198" y="98"/>
                      </a:lnTo>
                      <a:lnTo>
                        <a:pt x="204" y="96"/>
                      </a:lnTo>
                      <a:lnTo>
                        <a:pt x="211" y="93"/>
                      </a:lnTo>
                      <a:lnTo>
                        <a:pt x="219" y="89"/>
                      </a:lnTo>
                      <a:lnTo>
                        <a:pt x="227" y="85"/>
                      </a:lnTo>
                      <a:lnTo>
                        <a:pt x="234" y="81"/>
                      </a:lnTo>
                      <a:lnTo>
                        <a:pt x="242" y="76"/>
                      </a:lnTo>
                      <a:lnTo>
                        <a:pt x="249" y="70"/>
                      </a:lnTo>
                      <a:lnTo>
                        <a:pt x="259" y="64"/>
                      </a:lnTo>
                      <a:lnTo>
                        <a:pt x="267" y="58"/>
                      </a:lnTo>
                      <a:lnTo>
                        <a:pt x="274" y="51"/>
                      </a:lnTo>
                      <a:lnTo>
                        <a:pt x="282" y="43"/>
                      </a:lnTo>
                      <a:lnTo>
                        <a:pt x="291" y="36"/>
                      </a:lnTo>
                      <a:lnTo>
                        <a:pt x="299" y="28"/>
                      </a:lnTo>
                      <a:lnTo>
                        <a:pt x="308" y="19"/>
                      </a:lnTo>
                      <a:lnTo>
                        <a:pt x="316" y="9"/>
                      </a:lnTo>
                      <a:lnTo>
                        <a:pt x="325" y="0"/>
                      </a:lnTo>
                      <a:lnTo>
                        <a:pt x="360" y="26"/>
                      </a:lnTo>
                      <a:lnTo>
                        <a:pt x="360" y="26"/>
                      </a:lnTo>
                      <a:lnTo>
                        <a:pt x="358" y="28"/>
                      </a:lnTo>
                      <a:lnTo>
                        <a:pt x="354" y="30"/>
                      </a:lnTo>
                      <a:lnTo>
                        <a:pt x="352" y="36"/>
                      </a:lnTo>
                      <a:lnTo>
                        <a:pt x="345" y="39"/>
                      </a:lnTo>
                      <a:lnTo>
                        <a:pt x="341" y="45"/>
                      </a:lnTo>
                      <a:lnTo>
                        <a:pt x="333" y="53"/>
                      </a:lnTo>
                      <a:lnTo>
                        <a:pt x="327" y="60"/>
                      </a:lnTo>
                      <a:lnTo>
                        <a:pt x="322" y="62"/>
                      </a:lnTo>
                      <a:lnTo>
                        <a:pt x="318" y="68"/>
                      </a:lnTo>
                      <a:lnTo>
                        <a:pt x="314" y="70"/>
                      </a:lnTo>
                      <a:lnTo>
                        <a:pt x="308" y="76"/>
                      </a:lnTo>
                      <a:lnTo>
                        <a:pt x="305" y="77"/>
                      </a:lnTo>
                      <a:lnTo>
                        <a:pt x="299" y="83"/>
                      </a:lnTo>
                      <a:lnTo>
                        <a:pt x="295" y="87"/>
                      </a:lnTo>
                      <a:lnTo>
                        <a:pt x="289" y="91"/>
                      </a:lnTo>
                      <a:lnTo>
                        <a:pt x="284" y="95"/>
                      </a:lnTo>
                      <a:lnTo>
                        <a:pt x="278" y="98"/>
                      </a:lnTo>
                      <a:lnTo>
                        <a:pt x="272" y="102"/>
                      </a:lnTo>
                      <a:lnTo>
                        <a:pt x="268" y="106"/>
                      </a:lnTo>
                      <a:lnTo>
                        <a:pt x="261" y="110"/>
                      </a:lnTo>
                      <a:lnTo>
                        <a:pt x="255" y="114"/>
                      </a:lnTo>
                      <a:lnTo>
                        <a:pt x="249" y="117"/>
                      </a:lnTo>
                      <a:lnTo>
                        <a:pt x="244" y="121"/>
                      </a:lnTo>
                      <a:lnTo>
                        <a:pt x="236" y="123"/>
                      </a:lnTo>
                      <a:lnTo>
                        <a:pt x="229" y="125"/>
                      </a:lnTo>
                      <a:lnTo>
                        <a:pt x="223" y="129"/>
                      </a:lnTo>
                      <a:lnTo>
                        <a:pt x="215" y="131"/>
                      </a:lnTo>
                      <a:lnTo>
                        <a:pt x="208" y="133"/>
                      </a:lnTo>
                      <a:lnTo>
                        <a:pt x="202" y="134"/>
                      </a:lnTo>
                      <a:lnTo>
                        <a:pt x="194" y="136"/>
                      </a:lnTo>
                      <a:lnTo>
                        <a:pt x="187" y="140"/>
                      </a:lnTo>
                      <a:lnTo>
                        <a:pt x="179" y="140"/>
                      </a:lnTo>
                      <a:lnTo>
                        <a:pt x="171" y="140"/>
                      </a:lnTo>
                      <a:lnTo>
                        <a:pt x="164" y="142"/>
                      </a:lnTo>
                      <a:lnTo>
                        <a:pt x="156" y="142"/>
                      </a:lnTo>
                      <a:lnTo>
                        <a:pt x="149" y="142"/>
                      </a:lnTo>
                      <a:lnTo>
                        <a:pt x="141" y="142"/>
                      </a:lnTo>
                      <a:lnTo>
                        <a:pt x="133" y="142"/>
                      </a:lnTo>
                      <a:lnTo>
                        <a:pt x="126" y="142"/>
                      </a:lnTo>
                      <a:lnTo>
                        <a:pt x="118" y="140"/>
                      </a:lnTo>
                      <a:lnTo>
                        <a:pt x="111" y="138"/>
                      </a:lnTo>
                      <a:lnTo>
                        <a:pt x="101" y="134"/>
                      </a:lnTo>
                      <a:lnTo>
                        <a:pt x="95" y="134"/>
                      </a:lnTo>
                      <a:lnTo>
                        <a:pt x="86" y="129"/>
                      </a:lnTo>
                      <a:lnTo>
                        <a:pt x="78" y="127"/>
                      </a:lnTo>
                      <a:lnTo>
                        <a:pt x="71" y="123"/>
                      </a:lnTo>
                      <a:lnTo>
                        <a:pt x="63" y="117"/>
                      </a:lnTo>
                      <a:lnTo>
                        <a:pt x="55" y="112"/>
                      </a:lnTo>
                      <a:lnTo>
                        <a:pt x="46" y="106"/>
                      </a:lnTo>
                      <a:lnTo>
                        <a:pt x="38" y="100"/>
                      </a:lnTo>
                      <a:lnTo>
                        <a:pt x="31" y="93"/>
                      </a:lnTo>
                      <a:lnTo>
                        <a:pt x="23" y="85"/>
                      </a:lnTo>
                      <a:lnTo>
                        <a:pt x="14" y="77"/>
                      </a:lnTo>
                      <a:lnTo>
                        <a:pt x="8" y="70"/>
                      </a:lnTo>
                      <a:lnTo>
                        <a:pt x="0" y="60"/>
                      </a:lnTo>
                      <a:lnTo>
                        <a:pt x="10" y="28"/>
                      </a:lnTo>
                      <a:lnTo>
                        <a:pt x="1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7" name="Freeform 111"/>
                <p:cNvSpPr>
                  <a:spLocks/>
                </p:cNvSpPr>
                <p:nvPr/>
              </p:nvSpPr>
              <p:spPr bwMode="auto">
                <a:xfrm>
                  <a:off x="4090" y="2418"/>
                  <a:ext cx="39" cy="33"/>
                </a:xfrm>
                <a:custGeom>
                  <a:avLst/>
                  <a:gdLst>
                    <a:gd name="T0" fmla="*/ 0 w 82"/>
                    <a:gd name="T1" fmla="*/ 44 h 74"/>
                    <a:gd name="T2" fmla="*/ 74 w 82"/>
                    <a:gd name="T3" fmla="*/ 0 h 74"/>
                    <a:gd name="T4" fmla="*/ 82 w 82"/>
                    <a:gd name="T5" fmla="*/ 29 h 74"/>
                    <a:gd name="T6" fmla="*/ 4 w 82"/>
                    <a:gd name="T7" fmla="*/ 74 h 74"/>
                    <a:gd name="T8" fmla="*/ 0 w 82"/>
                    <a:gd name="T9" fmla="*/ 44 h 74"/>
                    <a:gd name="T10" fmla="*/ 0 w 82"/>
                    <a:gd name="T11" fmla="*/ 44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2" h="74">
                      <a:moveTo>
                        <a:pt x="0" y="44"/>
                      </a:moveTo>
                      <a:lnTo>
                        <a:pt x="74" y="0"/>
                      </a:lnTo>
                      <a:lnTo>
                        <a:pt x="82" y="29"/>
                      </a:lnTo>
                      <a:lnTo>
                        <a:pt x="4" y="74"/>
                      </a:lnTo>
                      <a:lnTo>
                        <a:pt x="0" y="44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" name="Freeform 112"/>
                <p:cNvSpPr>
                  <a:spLocks/>
                </p:cNvSpPr>
                <p:nvPr/>
              </p:nvSpPr>
              <p:spPr bwMode="auto">
                <a:xfrm>
                  <a:off x="4092" y="2451"/>
                  <a:ext cx="43" cy="28"/>
                </a:xfrm>
                <a:custGeom>
                  <a:avLst/>
                  <a:gdLst>
                    <a:gd name="T0" fmla="*/ 0 w 89"/>
                    <a:gd name="T1" fmla="*/ 46 h 67"/>
                    <a:gd name="T2" fmla="*/ 85 w 89"/>
                    <a:gd name="T3" fmla="*/ 0 h 67"/>
                    <a:gd name="T4" fmla="*/ 89 w 89"/>
                    <a:gd name="T5" fmla="*/ 25 h 67"/>
                    <a:gd name="T6" fmla="*/ 7 w 89"/>
                    <a:gd name="T7" fmla="*/ 67 h 67"/>
                    <a:gd name="T8" fmla="*/ 0 w 89"/>
                    <a:gd name="T9" fmla="*/ 46 h 67"/>
                    <a:gd name="T10" fmla="*/ 0 w 89"/>
                    <a:gd name="T11" fmla="*/ 46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9" h="67">
                      <a:moveTo>
                        <a:pt x="0" y="46"/>
                      </a:moveTo>
                      <a:lnTo>
                        <a:pt x="85" y="0"/>
                      </a:lnTo>
                      <a:lnTo>
                        <a:pt x="89" y="25"/>
                      </a:lnTo>
                      <a:lnTo>
                        <a:pt x="7" y="67"/>
                      </a:lnTo>
                      <a:lnTo>
                        <a:pt x="0" y="46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9" name="Freeform 113"/>
                <p:cNvSpPr>
                  <a:spLocks/>
                </p:cNvSpPr>
                <p:nvPr/>
              </p:nvSpPr>
              <p:spPr bwMode="auto">
                <a:xfrm>
                  <a:off x="4100" y="2487"/>
                  <a:ext cx="39" cy="24"/>
                </a:xfrm>
                <a:custGeom>
                  <a:avLst/>
                  <a:gdLst>
                    <a:gd name="T0" fmla="*/ 0 w 84"/>
                    <a:gd name="T1" fmla="*/ 30 h 53"/>
                    <a:gd name="T2" fmla="*/ 78 w 84"/>
                    <a:gd name="T3" fmla="*/ 0 h 53"/>
                    <a:gd name="T4" fmla="*/ 84 w 84"/>
                    <a:gd name="T5" fmla="*/ 25 h 53"/>
                    <a:gd name="T6" fmla="*/ 6 w 84"/>
                    <a:gd name="T7" fmla="*/ 53 h 53"/>
                    <a:gd name="T8" fmla="*/ 0 w 84"/>
                    <a:gd name="T9" fmla="*/ 30 h 53"/>
                    <a:gd name="T10" fmla="*/ 0 w 84"/>
                    <a:gd name="T11" fmla="*/ 3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53">
                      <a:moveTo>
                        <a:pt x="0" y="30"/>
                      </a:moveTo>
                      <a:lnTo>
                        <a:pt x="78" y="0"/>
                      </a:lnTo>
                      <a:lnTo>
                        <a:pt x="84" y="25"/>
                      </a:lnTo>
                      <a:lnTo>
                        <a:pt x="6" y="53"/>
                      </a:lnTo>
                      <a:lnTo>
                        <a:pt x="0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0" name="Freeform 114"/>
                <p:cNvSpPr>
                  <a:spLocks/>
                </p:cNvSpPr>
                <p:nvPr/>
              </p:nvSpPr>
              <p:spPr bwMode="auto">
                <a:xfrm>
                  <a:off x="4102" y="2518"/>
                  <a:ext cx="41" cy="28"/>
                </a:xfrm>
                <a:custGeom>
                  <a:avLst/>
                  <a:gdLst>
                    <a:gd name="T0" fmla="*/ 0 w 87"/>
                    <a:gd name="T1" fmla="*/ 44 h 65"/>
                    <a:gd name="T2" fmla="*/ 85 w 87"/>
                    <a:gd name="T3" fmla="*/ 0 h 65"/>
                    <a:gd name="T4" fmla="*/ 87 w 87"/>
                    <a:gd name="T5" fmla="*/ 25 h 65"/>
                    <a:gd name="T6" fmla="*/ 7 w 87"/>
                    <a:gd name="T7" fmla="*/ 65 h 65"/>
                    <a:gd name="T8" fmla="*/ 0 w 87"/>
                    <a:gd name="T9" fmla="*/ 44 h 65"/>
                    <a:gd name="T10" fmla="*/ 0 w 87"/>
                    <a:gd name="T11" fmla="*/ 4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7" h="65">
                      <a:moveTo>
                        <a:pt x="0" y="44"/>
                      </a:moveTo>
                      <a:lnTo>
                        <a:pt x="85" y="0"/>
                      </a:lnTo>
                      <a:lnTo>
                        <a:pt x="87" y="25"/>
                      </a:lnTo>
                      <a:lnTo>
                        <a:pt x="7" y="65"/>
                      </a:lnTo>
                      <a:lnTo>
                        <a:pt x="0" y="44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1" name="Freeform 115"/>
                <p:cNvSpPr>
                  <a:spLocks/>
                </p:cNvSpPr>
                <p:nvPr/>
              </p:nvSpPr>
              <p:spPr bwMode="auto">
                <a:xfrm>
                  <a:off x="4108" y="2546"/>
                  <a:ext cx="44" cy="30"/>
                </a:xfrm>
                <a:custGeom>
                  <a:avLst/>
                  <a:gdLst>
                    <a:gd name="T0" fmla="*/ 0 w 91"/>
                    <a:gd name="T1" fmla="*/ 46 h 70"/>
                    <a:gd name="T2" fmla="*/ 82 w 91"/>
                    <a:gd name="T3" fmla="*/ 0 h 70"/>
                    <a:gd name="T4" fmla="*/ 91 w 91"/>
                    <a:gd name="T5" fmla="*/ 25 h 70"/>
                    <a:gd name="T6" fmla="*/ 2 w 91"/>
                    <a:gd name="T7" fmla="*/ 70 h 70"/>
                    <a:gd name="T8" fmla="*/ 0 w 91"/>
                    <a:gd name="T9" fmla="*/ 46 h 70"/>
                    <a:gd name="T10" fmla="*/ 0 w 91"/>
                    <a:gd name="T11" fmla="*/ 46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1" h="70">
                      <a:moveTo>
                        <a:pt x="0" y="46"/>
                      </a:moveTo>
                      <a:lnTo>
                        <a:pt x="82" y="0"/>
                      </a:lnTo>
                      <a:lnTo>
                        <a:pt x="91" y="25"/>
                      </a:lnTo>
                      <a:lnTo>
                        <a:pt x="2" y="70"/>
                      </a:lnTo>
                      <a:lnTo>
                        <a:pt x="0" y="46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2" name="Freeform 116"/>
                <p:cNvSpPr>
                  <a:spLocks/>
                </p:cNvSpPr>
                <p:nvPr/>
              </p:nvSpPr>
              <p:spPr bwMode="auto">
                <a:xfrm>
                  <a:off x="4111" y="2573"/>
                  <a:ext cx="46" cy="32"/>
                </a:xfrm>
                <a:custGeom>
                  <a:avLst/>
                  <a:gdLst>
                    <a:gd name="T0" fmla="*/ 0 w 97"/>
                    <a:gd name="T1" fmla="*/ 51 h 74"/>
                    <a:gd name="T2" fmla="*/ 2 w 97"/>
                    <a:gd name="T3" fmla="*/ 47 h 74"/>
                    <a:gd name="T4" fmla="*/ 5 w 97"/>
                    <a:gd name="T5" fmla="*/ 47 h 74"/>
                    <a:gd name="T6" fmla="*/ 11 w 97"/>
                    <a:gd name="T7" fmla="*/ 43 h 74"/>
                    <a:gd name="T8" fmla="*/ 19 w 97"/>
                    <a:gd name="T9" fmla="*/ 40 h 74"/>
                    <a:gd name="T10" fmla="*/ 24 w 97"/>
                    <a:gd name="T11" fmla="*/ 36 h 74"/>
                    <a:gd name="T12" fmla="*/ 34 w 97"/>
                    <a:gd name="T13" fmla="*/ 30 h 74"/>
                    <a:gd name="T14" fmla="*/ 42 w 97"/>
                    <a:gd name="T15" fmla="*/ 26 h 74"/>
                    <a:gd name="T16" fmla="*/ 51 w 97"/>
                    <a:gd name="T17" fmla="*/ 23 h 74"/>
                    <a:gd name="T18" fmla="*/ 57 w 97"/>
                    <a:gd name="T19" fmla="*/ 17 h 74"/>
                    <a:gd name="T20" fmla="*/ 66 w 97"/>
                    <a:gd name="T21" fmla="*/ 13 h 74"/>
                    <a:gd name="T22" fmla="*/ 72 w 97"/>
                    <a:gd name="T23" fmla="*/ 9 h 74"/>
                    <a:gd name="T24" fmla="*/ 80 w 97"/>
                    <a:gd name="T25" fmla="*/ 5 h 74"/>
                    <a:gd name="T26" fmla="*/ 85 w 97"/>
                    <a:gd name="T27" fmla="*/ 4 h 74"/>
                    <a:gd name="T28" fmla="*/ 89 w 97"/>
                    <a:gd name="T29" fmla="*/ 2 h 74"/>
                    <a:gd name="T30" fmla="*/ 93 w 97"/>
                    <a:gd name="T31" fmla="*/ 0 h 74"/>
                    <a:gd name="T32" fmla="*/ 93 w 97"/>
                    <a:gd name="T33" fmla="*/ 0 h 74"/>
                    <a:gd name="T34" fmla="*/ 97 w 97"/>
                    <a:gd name="T35" fmla="*/ 30 h 74"/>
                    <a:gd name="T36" fmla="*/ 5 w 97"/>
                    <a:gd name="T37" fmla="*/ 74 h 74"/>
                    <a:gd name="T38" fmla="*/ 0 w 97"/>
                    <a:gd name="T39" fmla="*/ 51 h 74"/>
                    <a:gd name="T40" fmla="*/ 0 w 97"/>
                    <a:gd name="T41" fmla="*/ 51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7" h="74">
                      <a:moveTo>
                        <a:pt x="0" y="51"/>
                      </a:moveTo>
                      <a:lnTo>
                        <a:pt x="2" y="47"/>
                      </a:lnTo>
                      <a:lnTo>
                        <a:pt x="5" y="47"/>
                      </a:lnTo>
                      <a:lnTo>
                        <a:pt x="11" y="43"/>
                      </a:lnTo>
                      <a:lnTo>
                        <a:pt x="19" y="40"/>
                      </a:lnTo>
                      <a:lnTo>
                        <a:pt x="24" y="36"/>
                      </a:lnTo>
                      <a:lnTo>
                        <a:pt x="34" y="30"/>
                      </a:lnTo>
                      <a:lnTo>
                        <a:pt x="42" y="26"/>
                      </a:lnTo>
                      <a:lnTo>
                        <a:pt x="51" y="23"/>
                      </a:lnTo>
                      <a:lnTo>
                        <a:pt x="57" y="17"/>
                      </a:lnTo>
                      <a:lnTo>
                        <a:pt x="66" y="13"/>
                      </a:lnTo>
                      <a:lnTo>
                        <a:pt x="72" y="9"/>
                      </a:lnTo>
                      <a:lnTo>
                        <a:pt x="80" y="5"/>
                      </a:lnTo>
                      <a:lnTo>
                        <a:pt x="85" y="4"/>
                      </a:lnTo>
                      <a:lnTo>
                        <a:pt x="89" y="2"/>
                      </a:lnTo>
                      <a:lnTo>
                        <a:pt x="93" y="0"/>
                      </a:lnTo>
                      <a:lnTo>
                        <a:pt x="93" y="0"/>
                      </a:lnTo>
                      <a:lnTo>
                        <a:pt x="97" y="30"/>
                      </a:lnTo>
                      <a:lnTo>
                        <a:pt x="5" y="74"/>
                      </a:lnTo>
                      <a:lnTo>
                        <a:pt x="0" y="51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3" name="Freeform 117"/>
                <p:cNvSpPr>
                  <a:spLocks/>
                </p:cNvSpPr>
                <p:nvPr/>
              </p:nvSpPr>
              <p:spPr bwMode="auto">
                <a:xfrm>
                  <a:off x="4117" y="2602"/>
                  <a:ext cx="48" cy="35"/>
                </a:xfrm>
                <a:custGeom>
                  <a:avLst/>
                  <a:gdLst>
                    <a:gd name="T0" fmla="*/ 0 w 103"/>
                    <a:gd name="T1" fmla="*/ 57 h 80"/>
                    <a:gd name="T2" fmla="*/ 97 w 103"/>
                    <a:gd name="T3" fmla="*/ 0 h 80"/>
                    <a:gd name="T4" fmla="*/ 103 w 103"/>
                    <a:gd name="T5" fmla="*/ 31 h 80"/>
                    <a:gd name="T6" fmla="*/ 15 w 103"/>
                    <a:gd name="T7" fmla="*/ 80 h 80"/>
                    <a:gd name="T8" fmla="*/ 0 w 103"/>
                    <a:gd name="T9" fmla="*/ 57 h 80"/>
                    <a:gd name="T10" fmla="*/ 0 w 103"/>
                    <a:gd name="T11" fmla="*/ 57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3" h="80">
                      <a:moveTo>
                        <a:pt x="0" y="57"/>
                      </a:moveTo>
                      <a:lnTo>
                        <a:pt x="97" y="0"/>
                      </a:lnTo>
                      <a:lnTo>
                        <a:pt x="103" y="31"/>
                      </a:lnTo>
                      <a:lnTo>
                        <a:pt x="15" y="80"/>
                      </a:lnTo>
                      <a:lnTo>
                        <a:pt x="0" y="57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4" name="Freeform 118"/>
                <p:cNvSpPr>
                  <a:spLocks/>
                </p:cNvSpPr>
                <p:nvPr/>
              </p:nvSpPr>
              <p:spPr bwMode="auto">
                <a:xfrm>
                  <a:off x="4134" y="2668"/>
                  <a:ext cx="49" cy="34"/>
                </a:xfrm>
                <a:custGeom>
                  <a:avLst/>
                  <a:gdLst>
                    <a:gd name="T0" fmla="*/ 0 w 105"/>
                    <a:gd name="T1" fmla="*/ 50 h 78"/>
                    <a:gd name="T2" fmla="*/ 97 w 105"/>
                    <a:gd name="T3" fmla="*/ 0 h 78"/>
                    <a:gd name="T4" fmla="*/ 105 w 105"/>
                    <a:gd name="T5" fmla="*/ 27 h 78"/>
                    <a:gd name="T6" fmla="*/ 2 w 105"/>
                    <a:gd name="T7" fmla="*/ 78 h 78"/>
                    <a:gd name="T8" fmla="*/ 0 w 105"/>
                    <a:gd name="T9" fmla="*/ 50 h 78"/>
                    <a:gd name="T10" fmla="*/ 0 w 105"/>
                    <a:gd name="T11" fmla="*/ 50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5" h="78">
                      <a:moveTo>
                        <a:pt x="0" y="50"/>
                      </a:moveTo>
                      <a:lnTo>
                        <a:pt x="97" y="0"/>
                      </a:lnTo>
                      <a:lnTo>
                        <a:pt x="105" y="27"/>
                      </a:lnTo>
                      <a:lnTo>
                        <a:pt x="2" y="78"/>
                      </a:lnTo>
                      <a:lnTo>
                        <a:pt x="0" y="5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5" name="Freeform 119"/>
                <p:cNvSpPr>
                  <a:spLocks/>
                </p:cNvSpPr>
                <p:nvPr/>
              </p:nvSpPr>
              <p:spPr bwMode="auto">
                <a:xfrm>
                  <a:off x="4137" y="2704"/>
                  <a:ext cx="54" cy="39"/>
                </a:xfrm>
                <a:custGeom>
                  <a:avLst/>
                  <a:gdLst>
                    <a:gd name="T0" fmla="*/ 0 w 116"/>
                    <a:gd name="T1" fmla="*/ 61 h 87"/>
                    <a:gd name="T2" fmla="*/ 108 w 116"/>
                    <a:gd name="T3" fmla="*/ 0 h 87"/>
                    <a:gd name="T4" fmla="*/ 116 w 116"/>
                    <a:gd name="T5" fmla="*/ 32 h 87"/>
                    <a:gd name="T6" fmla="*/ 6 w 116"/>
                    <a:gd name="T7" fmla="*/ 87 h 87"/>
                    <a:gd name="T8" fmla="*/ 0 w 116"/>
                    <a:gd name="T9" fmla="*/ 61 h 87"/>
                    <a:gd name="T10" fmla="*/ 0 w 116"/>
                    <a:gd name="T11" fmla="*/ 61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6" h="87">
                      <a:moveTo>
                        <a:pt x="0" y="61"/>
                      </a:moveTo>
                      <a:lnTo>
                        <a:pt x="108" y="0"/>
                      </a:lnTo>
                      <a:lnTo>
                        <a:pt x="116" y="32"/>
                      </a:lnTo>
                      <a:lnTo>
                        <a:pt x="6" y="87"/>
                      </a:lnTo>
                      <a:lnTo>
                        <a:pt x="0" y="61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6" name="Freeform 120"/>
                <p:cNvSpPr>
                  <a:spLocks/>
                </p:cNvSpPr>
                <p:nvPr/>
              </p:nvSpPr>
              <p:spPr bwMode="auto">
                <a:xfrm>
                  <a:off x="4145" y="2740"/>
                  <a:ext cx="55" cy="37"/>
                </a:xfrm>
                <a:custGeom>
                  <a:avLst/>
                  <a:gdLst>
                    <a:gd name="T0" fmla="*/ 2 w 116"/>
                    <a:gd name="T1" fmla="*/ 53 h 83"/>
                    <a:gd name="T2" fmla="*/ 110 w 116"/>
                    <a:gd name="T3" fmla="*/ 0 h 83"/>
                    <a:gd name="T4" fmla="*/ 116 w 116"/>
                    <a:gd name="T5" fmla="*/ 32 h 83"/>
                    <a:gd name="T6" fmla="*/ 0 w 116"/>
                    <a:gd name="T7" fmla="*/ 83 h 83"/>
                    <a:gd name="T8" fmla="*/ 2 w 116"/>
                    <a:gd name="T9" fmla="*/ 53 h 83"/>
                    <a:gd name="T10" fmla="*/ 2 w 116"/>
                    <a:gd name="T11" fmla="*/ 53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6" h="83">
                      <a:moveTo>
                        <a:pt x="2" y="53"/>
                      </a:moveTo>
                      <a:lnTo>
                        <a:pt x="110" y="0"/>
                      </a:lnTo>
                      <a:lnTo>
                        <a:pt x="116" y="32"/>
                      </a:lnTo>
                      <a:lnTo>
                        <a:pt x="0" y="83"/>
                      </a:lnTo>
                      <a:lnTo>
                        <a:pt x="2" y="53"/>
                      </a:lnTo>
                      <a:lnTo>
                        <a:pt x="2" y="5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7" name="Freeform 121"/>
                <p:cNvSpPr>
                  <a:spLocks/>
                </p:cNvSpPr>
                <p:nvPr/>
              </p:nvSpPr>
              <p:spPr bwMode="auto">
                <a:xfrm>
                  <a:off x="4152" y="2776"/>
                  <a:ext cx="55" cy="33"/>
                </a:xfrm>
                <a:custGeom>
                  <a:avLst/>
                  <a:gdLst>
                    <a:gd name="T0" fmla="*/ 0 w 118"/>
                    <a:gd name="T1" fmla="*/ 46 h 76"/>
                    <a:gd name="T2" fmla="*/ 6 w 118"/>
                    <a:gd name="T3" fmla="*/ 46 h 76"/>
                    <a:gd name="T4" fmla="*/ 10 w 118"/>
                    <a:gd name="T5" fmla="*/ 44 h 76"/>
                    <a:gd name="T6" fmla="*/ 19 w 118"/>
                    <a:gd name="T7" fmla="*/ 42 h 76"/>
                    <a:gd name="T8" fmla="*/ 23 w 118"/>
                    <a:gd name="T9" fmla="*/ 40 h 76"/>
                    <a:gd name="T10" fmla="*/ 27 w 118"/>
                    <a:gd name="T11" fmla="*/ 38 h 76"/>
                    <a:gd name="T12" fmla="*/ 31 w 118"/>
                    <a:gd name="T13" fmla="*/ 36 h 76"/>
                    <a:gd name="T14" fmla="*/ 36 w 118"/>
                    <a:gd name="T15" fmla="*/ 35 h 76"/>
                    <a:gd name="T16" fmla="*/ 42 w 118"/>
                    <a:gd name="T17" fmla="*/ 33 h 76"/>
                    <a:gd name="T18" fmla="*/ 48 w 118"/>
                    <a:gd name="T19" fmla="*/ 31 h 76"/>
                    <a:gd name="T20" fmla="*/ 53 w 118"/>
                    <a:gd name="T21" fmla="*/ 27 h 76"/>
                    <a:gd name="T22" fmla="*/ 59 w 118"/>
                    <a:gd name="T23" fmla="*/ 25 h 76"/>
                    <a:gd name="T24" fmla="*/ 63 w 118"/>
                    <a:gd name="T25" fmla="*/ 23 h 76"/>
                    <a:gd name="T26" fmla="*/ 69 w 118"/>
                    <a:gd name="T27" fmla="*/ 21 h 76"/>
                    <a:gd name="T28" fmla="*/ 73 w 118"/>
                    <a:gd name="T29" fmla="*/ 19 h 76"/>
                    <a:gd name="T30" fmla="*/ 78 w 118"/>
                    <a:gd name="T31" fmla="*/ 16 h 76"/>
                    <a:gd name="T32" fmla="*/ 84 w 118"/>
                    <a:gd name="T33" fmla="*/ 14 h 76"/>
                    <a:gd name="T34" fmla="*/ 88 w 118"/>
                    <a:gd name="T35" fmla="*/ 12 h 76"/>
                    <a:gd name="T36" fmla="*/ 93 w 118"/>
                    <a:gd name="T37" fmla="*/ 10 h 76"/>
                    <a:gd name="T38" fmla="*/ 97 w 118"/>
                    <a:gd name="T39" fmla="*/ 8 h 76"/>
                    <a:gd name="T40" fmla="*/ 105 w 118"/>
                    <a:gd name="T41" fmla="*/ 4 h 76"/>
                    <a:gd name="T42" fmla="*/ 111 w 118"/>
                    <a:gd name="T43" fmla="*/ 2 h 76"/>
                    <a:gd name="T44" fmla="*/ 114 w 118"/>
                    <a:gd name="T45" fmla="*/ 0 h 76"/>
                    <a:gd name="T46" fmla="*/ 116 w 118"/>
                    <a:gd name="T47" fmla="*/ 0 h 76"/>
                    <a:gd name="T48" fmla="*/ 118 w 118"/>
                    <a:gd name="T49" fmla="*/ 27 h 76"/>
                    <a:gd name="T50" fmla="*/ 8 w 118"/>
                    <a:gd name="T51" fmla="*/ 76 h 76"/>
                    <a:gd name="T52" fmla="*/ 6 w 118"/>
                    <a:gd name="T53" fmla="*/ 75 h 76"/>
                    <a:gd name="T54" fmla="*/ 6 w 118"/>
                    <a:gd name="T55" fmla="*/ 69 h 76"/>
                    <a:gd name="T56" fmla="*/ 4 w 118"/>
                    <a:gd name="T57" fmla="*/ 63 h 76"/>
                    <a:gd name="T58" fmla="*/ 2 w 118"/>
                    <a:gd name="T59" fmla="*/ 57 h 76"/>
                    <a:gd name="T60" fmla="*/ 0 w 118"/>
                    <a:gd name="T61" fmla="*/ 50 h 76"/>
                    <a:gd name="T62" fmla="*/ 0 w 118"/>
                    <a:gd name="T63" fmla="*/ 46 h 76"/>
                    <a:gd name="T64" fmla="*/ 0 w 118"/>
                    <a:gd name="T65" fmla="*/ 46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8" h="76">
                      <a:moveTo>
                        <a:pt x="0" y="46"/>
                      </a:moveTo>
                      <a:lnTo>
                        <a:pt x="6" y="46"/>
                      </a:lnTo>
                      <a:lnTo>
                        <a:pt x="10" y="44"/>
                      </a:lnTo>
                      <a:lnTo>
                        <a:pt x="19" y="42"/>
                      </a:lnTo>
                      <a:lnTo>
                        <a:pt x="23" y="40"/>
                      </a:lnTo>
                      <a:lnTo>
                        <a:pt x="27" y="38"/>
                      </a:lnTo>
                      <a:lnTo>
                        <a:pt x="31" y="36"/>
                      </a:lnTo>
                      <a:lnTo>
                        <a:pt x="36" y="35"/>
                      </a:lnTo>
                      <a:lnTo>
                        <a:pt x="42" y="33"/>
                      </a:lnTo>
                      <a:lnTo>
                        <a:pt x="48" y="31"/>
                      </a:lnTo>
                      <a:lnTo>
                        <a:pt x="53" y="27"/>
                      </a:lnTo>
                      <a:lnTo>
                        <a:pt x="59" y="25"/>
                      </a:lnTo>
                      <a:lnTo>
                        <a:pt x="63" y="23"/>
                      </a:lnTo>
                      <a:lnTo>
                        <a:pt x="69" y="21"/>
                      </a:lnTo>
                      <a:lnTo>
                        <a:pt x="73" y="19"/>
                      </a:lnTo>
                      <a:lnTo>
                        <a:pt x="78" y="16"/>
                      </a:lnTo>
                      <a:lnTo>
                        <a:pt x="84" y="14"/>
                      </a:lnTo>
                      <a:lnTo>
                        <a:pt x="88" y="12"/>
                      </a:lnTo>
                      <a:lnTo>
                        <a:pt x="93" y="10"/>
                      </a:lnTo>
                      <a:lnTo>
                        <a:pt x="97" y="8"/>
                      </a:lnTo>
                      <a:lnTo>
                        <a:pt x="105" y="4"/>
                      </a:lnTo>
                      <a:lnTo>
                        <a:pt x="111" y="2"/>
                      </a:lnTo>
                      <a:lnTo>
                        <a:pt x="114" y="0"/>
                      </a:lnTo>
                      <a:lnTo>
                        <a:pt x="116" y="0"/>
                      </a:lnTo>
                      <a:lnTo>
                        <a:pt x="118" y="27"/>
                      </a:lnTo>
                      <a:lnTo>
                        <a:pt x="8" y="76"/>
                      </a:lnTo>
                      <a:lnTo>
                        <a:pt x="6" y="75"/>
                      </a:lnTo>
                      <a:lnTo>
                        <a:pt x="6" y="69"/>
                      </a:lnTo>
                      <a:lnTo>
                        <a:pt x="4" y="63"/>
                      </a:lnTo>
                      <a:lnTo>
                        <a:pt x="2" y="57"/>
                      </a:lnTo>
                      <a:lnTo>
                        <a:pt x="0" y="50"/>
                      </a:lnTo>
                      <a:lnTo>
                        <a:pt x="0" y="46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8" name="Freeform 122"/>
                <p:cNvSpPr>
                  <a:spLocks/>
                </p:cNvSpPr>
                <p:nvPr/>
              </p:nvSpPr>
              <p:spPr bwMode="auto">
                <a:xfrm>
                  <a:off x="4155" y="2805"/>
                  <a:ext cx="60" cy="37"/>
                </a:xfrm>
                <a:custGeom>
                  <a:avLst/>
                  <a:gdLst>
                    <a:gd name="T0" fmla="*/ 0 w 125"/>
                    <a:gd name="T1" fmla="*/ 55 h 83"/>
                    <a:gd name="T2" fmla="*/ 118 w 125"/>
                    <a:gd name="T3" fmla="*/ 0 h 83"/>
                    <a:gd name="T4" fmla="*/ 125 w 125"/>
                    <a:gd name="T5" fmla="*/ 34 h 83"/>
                    <a:gd name="T6" fmla="*/ 0 w 125"/>
                    <a:gd name="T7" fmla="*/ 83 h 83"/>
                    <a:gd name="T8" fmla="*/ 0 w 125"/>
                    <a:gd name="T9" fmla="*/ 55 h 83"/>
                    <a:gd name="T10" fmla="*/ 0 w 125"/>
                    <a:gd name="T11" fmla="*/ 5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5" h="83">
                      <a:moveTo>
                        <a:pt x="0" y="55"/>
                      </a:moveTo>
                      <a:lnTo>
                        <a:pt x="118" y="0"/>
                      </a:lnTo>
                      <a:lnTo>
                        <a:pt x="125" y="34"/>
                      </a:lnTo>
                      <a:lnTo>
                        <a:pt x="0" y="83"/>
                      </a:lnTo>
                      <a:lnTo>
                        <a:pt x="0" y="55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9" name="Freeform 123"/>
                <p:cNvSpPr>
                  <a:spLocks/>
                </p:cNvSpPr>
                <p:nvPr/>
              </p:nvSpPr>
              <p:spPr bwMode="auto">
                <a:xfrm>
                  <a:off x="3297" y="2981"/>
                  <a:ext cx="75" cy="64"/>
                </a:xfrm>
                <a:custGeom>
                  <a:avLst/>
                  <a:gdLst>
                    <a:gd name="T0" fmla="*/ 82 w 158"/>
                    <a:gd name="T1" fmla="*/ 100 h 144"/>
                    <a:gd name="T2" fmla="*/ 97 w 158"/>
                    <a:gd name="T3" fmla="*/ 97 h 144"/>
                    <a:gd name="T4" fmla="*/ 108 w 158"/>
                    <a:gd name="T5" fmla="*/ 89 h 144"/>
                    <a:gd name="T6" fmla="*/ 114 w 158"/>
                    <a:gd name="T7" fmla="*/ 78 h 144"/>
                    <a:gd name="T8" fmla="*/ 116 w 158"/>
                    <a:gd name="T9" fmla="*/ 62 h 144"/>
                    <a:gd name="T10" fmla="*/ 110 w 158"/>
                    <a:gd name="T11" fmla="*/ 49 h 144"/>
                    <a:gd name="T12" fmla="*/ 103 w 158"/>
                    <a:gd name="T13" fmla="*/ 38 h 144"/>
                    <a:gd name="T14" fmla="*/ 91 w 158"/>
                    <a:gd name="T15" fmla="*/ 30 h 144"/>
                    <a:gd name="T16" fmla="*/ 85 w 158"/>
                    <a:gd name="T17" fmla="*/ 21 h 144"/>
                    <a:gd name="T18" fmla="*/ 85 w 158"/>
                    <a:gd name="T19" fmla="*/ 5 h 144"/>
                    <a:gd name="T20" fmla="*/ 91 w 158"/>
                    <a:gd name="T21" fmla="*/ 0 h 144"/>
                    <a:gd name="T22" fmla="*/ 104 w 158"/>
                    <a:gd name="T23" fmla="*/ 5 h 144"/>
                    <a:gd name="T24" fmla="*/ 116 w 158"/>
                    <a:gd name="T25" fmla="*/ 11 h 144"/>
                    <a:gd name="T26" fmla="*/ 127 w 158"/>
                    <a:gd name="T27" fmla="*/ 21 h 144"/>
                    <a:gd name="T28" fmla="*/ 139 w 158"/>
                    <a:gd name="T29" fmla="*/ 30 h 144"/>
                    <a:gd name="T30" fmla="*/ 146 w 158"/>
                    <a:gd name="T31" fmla="*/ 41 h 144"/>
                    <a:gd name="T32" fmla="*/ 152 w 158"/>
                    <a:gd name="T33" fmla="*/ 53 h 144"/>
                    <a:gd name="T34" fmla="*/ 156 w 158"/>
                    <a:gd name="T35" fmla="*/ 66 h 144"/>
                    <a:gd name="T36" fmla="*/ 156 w 158"/>
                    <a:gd name="T37" fmla="*/ 79 h 144"/>
                    <a:gd name="T38" fmla="*/ 152 w 158"/>
                    <a:gd name="T39" fmla="*/ 93 h 144"/>
                    <a:gd name="T40" fmla="*/ 146 w 158"/>
                    <a:gd name="T41" fmla="*/ 104 h 144"/>
                    <a:gd name="T42" fmla="*/ 139 w 158"/>
                    <a:gd name="T43" fmla="*/ 116 h 144"/>
                    <a:gd name="T44" fmla="*/ 127 w 158"/>
                    <a:gd name="T45" fmla="*/ 125 h 144"/>
                    <a:gd name="T46" fmla="*/ 114 w 158"/>
                    <a:gd name="T47" fmla="*/ 133 h 144"/>
                    <a:gd name="T48" fmla="*/ 99 w 158"/>
                    <a:gd name="T49" fmla="*/ 138 h 144"/>
                    <a:gd name="T50" fmla="*/ 85 w 158"/>
                    <a:gd name="T51" fmla="*/ 142 h 144"/>
                    <a:gd name="T52" fmla="*/ 68 w 158"/>
                    <a:gd name="T53" fmla="*/ 142 h 144"/>
                    <a:gd name="T54" fmla="*/ 55 w 158"/>
                    <a:gd name="T55" fmla="*/ 138 h 144"/>
                    <a:gd name="T56" fmla="*/ 40 w 158"/>
                    <a:gd name="T57" fmla="*/ 131 h 144"/>
                    <a:gd name="T58" fmla="*/ 26 w 158"/>
                    <a:gd name="T59" fmla="*/ 123 h 144"/>
                    <a:gd name="T60" fmla="*/ 17 w 158"/>
                    <a:gd name="T61" fmla="*/ 112 h 144"/>
                    <a:gd name="T62" fmla="*/ 7 w 158"/>
                    <a:gd name="T63" fmla="*/ 98 h 144"/>
                    <a:gd name="T64" fmla="*/ 2 w 158"/>
                    <a:gd name="T65" fmla="*/ 85 h 144"/>
                    <a:gd name="T66" fmla="*/ 0 w 158"/>
                    <a:gd name="T67" fmla="*/ 72 h 144"/>
                    <a:gd name="T68" fmla="*/ 0 w 158"/>
                    <a:gd name="T69" fmla="*/ 59 h 144"/>
                    <a:gd name="T70" fmla="*/ 2 w 158"/>
                    <a:gd name="T71" fmla="*/ 47 h 144"/>
                    <a:gd name="T72" fmla="*/ 6 w 158"/>
                    <a:gd name="T73" fmla="*/ 36 h 144"/>
                    <a:gd name="T74" fmla="*/ 13 w 158"/>
                    <a:gd name="T75" fmla="*/ 26 h 144"/>
                    <a:gd name="T76" fmla="*/ 21 w 158"/>
                    <a:gd name="T77" fmla="*/ 17 h 144"/>
                    <a:gd name="T78" fmla="*/ 30 w 158"/>
                    <a:gd name="T79" fmla="*/ 9 h 144"/>
                    <a:gd name="T80" fmla="*/ 42 w 158"/>
                    <a:gd name="T81" fmla="*/ 5 h 144"/>
                    <a:gd name="T82" fmla="*/ 53 w 158"/>
                    <a:gd name="T83" fmla="*/ 0 h 144"/>
                    <a:gd name="T84" fmla="*/ 61 w 158"/>
                    <a:gd name="T85" fmla="*/ 7 h 144"/>
                    <a:gd name="T86" fmla="*/ 61 w 158"/>
                    <a:gd name="T87" fmla="*/ 22 h 144"/>
                    <a:gd name="T88" fmla="*/ 53 w 158"/>
                    <a:gd name="T89" fmla="*/ 30 h 144"/>
                    <a:gd name="T90" fmla="*/ 45 w 158"/>
                    <a:gd name="T91" fmla="*/ 38 h 144"/>
                    <a:gd name="T92" fmla="*/ 40 w 158"/>
                    <a:gd name="T93" fmla="*/ 47 h 144"/>
                    <a:gd name="T94" fmla="*/ 40 w 158"/>
                    <a:gd name="T95" fmla="*/ 60 h 144"/>
                    <a:gd name="T96" fmla="*/ 40 w 158"/>
                    <a:gd name="T97" fmla="*/ 76 h 144"/>
                    <a:gd name="T98" fmla="*/ 44 w 158"/>
                    <a:gd name="T99" fmla="*/ 87 h 144"/>
                    <a:gd name="T100" fmla="*/ 51 w 158"/>
                    <a:gd name="T101" fmla="*/ 95 h 144"/>
                    <a:gd name="T102" fmla="*/ 61 w 158"/>
                    <a:gd name="T103" fmla="*/ 100 h 144"/>
                    <a:gd name="T104" fmla="*/ 68 w 158"/>
                    <a:gd name="T105" fmla="*/ 100 h 144"/>
                    <a:gd name="T106" fmla="*/ 74 w 158"/>
                    <a:gd name="T107" fmla="*/ 102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58" h="144">
                      <a:moveTo>
                        <a:pt x="74" y="102"/>
                      </a:moveTo>
                      <a:lnTo>
                        <a:pt x="82" y="100"/>
                      </a:lnTo>
                      <a:lnTo>
                        <a:pt x="89" y="98"/>
                      </a:lnTo>
                      <a:lnTo>
                        <a:pt x="97" y="97"/>
                      </a:lnTo>
                      <a:lnTo>
                        <a:pt x="103" y="95"/>
                      </a:lnTo>
                      <a:lnTo>
                        <a:pt x="108" y="89"/>
                      </a:lnTo>
                      <a:lnTo>
                        <a:pt x="112" y="83"/>
                      </a:lnTo>
                      <a:lnTo>
                        <a:pt x="114" y="78"/>
                      </a:lnTo>
                      <a:lnTo>
                        <a:pt x="116" y="70"/>
                      </a:lnTo>
                      <a:lnTo>
                        <a:pt x="116" y="62"/>
                      </a:lnTo>
                      <a:lnTo>
                        <a:pt x="114" y="55"/>
                      </a:lnTo>
                      <a:lnTo>
                        <a:pt x="110" y="49"/>
                      </a:lnTo>
                      <a:lnTo>
                        <a:pt x="108" y="43"/>
                      </a:lnTo>
                      <a:lnTo>
                        <a:pt x="103" y="38"/>
                      </a:lnTo>
                      <a:lnTo>
                        <a:pt x="97" y="34"/>
                      </a:lnTo>
                      <a:lnTo>
                        <a:pt x="91" y="30"/>
                      </a:lnTo>
                      <a:lnTo>
                        <a:pt x="85" y="30"/>
                      </a:lnTo>
                      <a:lnTo>
                        <a:pt x="85" y="21"/>
                      </a:lnTo>
                      <a:lnTo>
                        <a:pt x="85" y="13"/>
                      </a:lnTo>
                      <a:lnTo>
                        <a:pt x="85" y="5"/>
                      </a:lnTo>
                      <a:lnTo>
                        <a:pt x="85" y="0"/>
                      </a:lnTo>
                      <a:lnTo>
                        <a:pt x="91" y="0"/>
                      </a:lnTo>
                      <a:lnTo>
                        <a:pt x="97" y="3"/>
                      </a:lnTo>
                      <a:lnTo>
                        <a:pt x="104" y="5"/>
                      </a:lnTo>
                      <a:lnTo>
                        <a:pt x="110" y="7"/>
                      </a:lnTo>
                      <a:lnTo>
                        <a:pt x="116" y="11"/>
                      </a:lnTo>
                      <a:lnTo>
                        <a:pt x="122" y="15"/>
                      </a:lnTo>
                      <a:lnTo>
                        <a:pt x="127" y="21"/>
                      </a:lnTo>
                      <a:lnTo>
                        <a:pt x="135" y="24"/>
                      </a:lnTo>
                      <a:lnTo>
                        <a:pt x="139" y="30"/>
                      </a:lnTo>
                      <a:lnTo>
                        <a:pt x="144" y="36"/>
                      </a:lnTo>
                      <a:lnTo>
                        <a:pt x="146" y="41"/>
                      </a:lnTo>
                      <a:lnTo>
                        <a:pt x="150" y="47"/>
                      </a:lnTo>
                      <a:lnTo>
                        <a:pt x="152" y="53"/>
                      </a:lnTo>
                      <a:lnTo>
                        <a:pt x="156" y="60"/>
                      </a:lnTo>
                      <a:lnTo>
                        <a:pt x="156" y="66"/>
                      </a:lnTo>
                      <a:lnTo>
                        <a:pt x="158" y="72"/>
                      </a:lnTo>
                      <a:lnTo>
                        <a:pt x="156" y="79"/>
                      </a:lnTo>
                      <a:lnTo>
                        <a:pt x="156" y="85"/>
                      </a:lnTo>
                      <a:lnTo>
                        <a:pt x="152" y="93"/>
                      </a:lnTo>
                      <a:lnTo>
                        <a:pt x="150" y="98"/>
                      </a:lnTo>
                      <a:lnTo>
                        <a:pt x="146" y="104"/>
                      </a:lnTo>
                      <a:lnTo>
                        <a:pt x="142" y="110"/>
                      </a:lnTo>
                      <a:lnTo>
                        <a:pt x="139" y="116"/>
                      </a:lnTo>
                      <a:lnTo>
                        <a:pt x="133" y="121"/>
                      </a:lnTo>
                      <a:lnTo>
                        <a:pt x="127" y="125"/>
                      </a:lnTo>
                      <a:lnTo>
                        <a:pt x="122" y="129"/>
                      </a:lnTo>
                      <a:lnTo>
                        <a:pt x="114" y="133"/>
                      </a:lnTo>
                      <a:lnTo>
                        <a:pt x="106" y="136"/>
                      </a:lnTo>
                      <a:lnTo>
                        <a:pt x="99" y="138"/>
                      </a:lnTo>
                      <a:lnTo>
                        <a:pt x="91" y="140"/>
                      </a:lnTo>
                      <a:lnTo>
                        <a:pt x="85" y="142"/>
                      </a:lnTo>
                      <a:lnTo>
                        <a:pt x="78" y="144"/>
                      </a:lnTo>
                      <a:lnTo>
                        <a:pt x="68" y="142"/>
                      </a:lnTo>
                      <a:lnTo>
                        <a:pt x="63" y="140"/>
                      </a:lnTo>
                      <a:lnTo>
                        <a:pt x="55" y="138"/>
                      </a:lnTo>
                      <a:lnTo>
                        <a:pt x="47" y="136"/>
                      </a:lnTo>
                      <a:lnTo>
                        <a:pt x="40" y="131"/>
                      </a:lnTo>
                      <a:lnTo>
                        <a:pt x="34" y="127"/>
                      </a:lnTo>
                      <a:lnTo>
                        <a:pt x="26" y="123"/>
                      </a:lnTo>
                      <a:lnTo>
                        <a:pt x="23" y="117"/>
                      </a:lnTo>
                      <a:lnTo>
                        <a:pt x="17" y="112"/>
                      </a:lnTo>
                      <a:lnTo>
                        <a:pt x="13" y="106"/>
                      </a:lnTo>
                      <a:lnTo>
                        <a:pt x="7" y="98"/>
                      </a:lnTo>
                      <a:lnTo>
                        <a:pt x="6" y="93"/>
                      </a:lnTo>
                      <a:lnTo>
                        <a:pt x="2" y="85"/>
                      </a:lnTo>
                      <a:lnTo>
                        <a:pt x="0" y="79"/>
                      </a:lnTo>
                      <a:lnTo>
                        <a:pt x="0" y="72"/>
                      </a:lnTo>
                      <a:lnTo>
                        <a:pt x="0" y="66"/>
                      </a:lnTo>
                      <a:lnTo>
                        <a:pt x="0" y="59"/>
                      </a:lnTo>
                      <a:lnTo>
                        <a:pt x="0" y="53"/>
                      </a:lnTo>
                      <a:lnTo>
                        <a:pt x="2" y="47"/>
                      </a:lnTo>
                      <a:lnTo>
                        <a:pt x="4" y="41"/>
                      </a:lnTo>
                      <a:lnTo>
                        <a:pt x="6" y="36"/>
                      </a:lnTo>
                      <a:lnTo>
                        <a:pt x="9" y="30"/>
                      </a:lnTo>
                      <a:lnTo>
                        <a:pt x="13" y="26"/>
                      </a:lnTo>
                      <a:lnTo>
                        <a:pt x="17" y="22"/>
                      </a:lnTo>
                      <a:lnTo>
                        <a:pt x="21" y="17"/>
                      </a:lnTo>
                      <a:lnTo>
                        <a:pt x="26" y="13"/>
                      </a:lnTo>
                      <a:lnTo>
                        <a:pt x="30" y="9"/>
                      </a:lnTo>
                      <a:lnTo>
                        <a:pt x="36" y="7"/>
                      </a:lnTo>
                      <a:lnTo>
                        <a:pt x="42" y="5"/>
                      </a:lnTo>
                      <a:lnTo>
                        <a:pt x="47" y="2"/>
                      </a:lnTo>
                      <a:lnTo>
                        <a:pt x="53" y="0"/>
                      </a:lnTo>
                      <a:lnTo>
                        <a:pt x="61" y="0"/>
                      </a:lnTo>
                      <a:lnTo>
                        <a:pt x="61" y="7"/>
                      </a:lnTo>
                      <a:lnTo>
                        <a:pt x="61" y="15"/>
                      </a:lnTo>
                      <a:lnTo>
                        <a:pt x="61" y="22"/>
                      </a:lnTo>
                      <a:lnTo>
                        <a:pt x="61" y="30"/>
                      </a:lnTo>
                      <a:lnTo>
                        <a:pt x="53" y="30"/>
                      </a:lnTo>
                      <a:lnTo>
                        <a:pt x="49" y="34"/>
                      </a:lnTo>
                      <a:lnTo>
                        <a:pt x="45" y="38"/>
                      </a:lnTo>
                      <a:lnTo>
                        <a:pt x="44" y="43"/>
                      </a:lnTo>
                      <a:lnTo>
                        <a:pt x="40" y="47"/>
                      </a:lnTo>
                      <a:lnTo>
                        <a:pt x="40" y="53"/>
                      </a:lnTo>
                      <a:lnTo>
                        <a:pt x="40" y="60"/>
                      </a:lnTo>
                      <a:lnTo>
                        <a:pt x="40" y="68"/>
                      </a:lnTo>
                      <a:lnTo>
                        <a:pt x="40" y="76"/>
                      </a:lnTo>
                      <a:lnTo>
                        <a:pt x="40" y="83"/>
                      </a:lnTo>
                      <a:lnTo>
                        <a:pt x="44" y="87"/>
                      </a:lnTo>
                      <a:lnTo>
                        <a:pt x="47" y="93"/>
                      </a:lnTo>
                      <a:lnTo>
                        <a:pt x="51" y="95"/>
                      </a:lnTo>
                      <a:lnTo>
                        <a:pt x="57" y="98"/>
                      </a:lnTo>
                      <a:lnTo>
                        <a:pt x="61" y="100"/>
                      </a:lnTo>
                      <a:lnTo>
                        <a:pt x="64" y="100"/>
                      </a:lnTo>
                      <a:lnTo>
                        <a:pt x="68" y="100"/>
                      </a:lnTo>
                      <a:lnTo>
                        <a:pt x="74" y="102"/>
                      </a:lnTo>
                      <a:lnTo>
                        <a:pt x="74" y="10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0" name="Freeform 124"/>
                <p:cNvSpPr>
                  <a:spLocks/>
                </p:cNvSpPr>
                <p:nvPr/>
              </p:nvSpPr>
              <p:spPr bwMode="auto">
                <a:xfrm>
                  <a:off x="3545" y="2974"/>
                  <a:ext cx="72" cy="61"/>
                </a:xfrm>
                <a:custGeom>
                  <a:avLst/>
                  <a:gdLst>
                    <a:gd name="T0" fmla="*/ 81 w 152"/>
                    <a:gd name="T1" fmla="*/ 100 h 138"/>
                    <a:gd name="T2" fmla="*/ 97 w 152"/>
                    <a:gd name="T3" fmla="*/ 96 h 138"/>
                    <a:gd name="T4" fmla="*/ 108 w 152"/>
                    <a:gd name="T5" fmla="*/ 89 h 138"/>
                    <a:gd name="T6" fmla="*/ 114 w 152"/>
                    <a:gd name="T7" fmla="*/ 77 h 138"/>
                    <a:gd name="T8" fmla="*/ 116 w 152"/>
                    <a:gd name="T9" fmla="*/ 62 h 138"/>
                    <a:gd name="T10" fmla="*/ 110 w 152"/>
                    <a:gd name="T11" fmla="*/ 49 h 138"/>
                    <a:gd name="T12" fmla="*/ 102 w 152"/>
                    <a:gd name="T13" fmla="*/ 39 h 138"/>
                    <a:gd name="T14" fmla="*/ 93 w 152"/>
                    <a:gd name="T15" fmla="*/ 32 h 138"/>
                    <a:gd name="T16" fmla="*/ 85 w 152"/>
                    <a:gd name="T17" fmla="*/ 22 h 138"/>
                    <a:gd name="T18" fmla="*/ 85 w 152"/>
                    <a:gd name="T19" fmla="*/ 5 h 138"/>
                    <a:gd name="T20" fmla="*/ 91 w 152"/>
                    <a:gd name="T21" fmla="*/ 0 h 138"/>
                    <a:gd name="T22" fmla="*/ 104 w 152"/>
                    <a:gd name="T23" fmla="*/ 3 h 138"/>
                    <a:gd name="T24" fmla="*/ 116 w 152"/>
                    <a:gd name="T25" fmla="*/ 9 h 138"/>
                    <a:gd name="T26" fmla="*/ 127 w 152"/>
                    <a:gd name="T27" fmla="*/ 17 h 138"/>
                    <a:gd name="T28" fmla="*/ 135 w 152"/>
                    <a:gd name="T29" fmla="*/ 24 h 138"/>
                    <a:gd name="T30" fmla="*/ 142 w 152"/>
                    <a:gd name="T31" fmla="*/ 34 h 138"/>
                    <a:gd name="T32" fmla="*/ 148 w 152"/>
                    <a:gd name="T33" fmla="*/ 45 h 138"/>
                    <a:gd name="T34" fmla="*/ 152 w 152"/>
                    <a:gd name="T35" fmla="*/ 58 h 138"/>
                    <a:gd name="T36" fmla="*/ 152 w 152"/>
                    <a:gd name="T37" fmla="*/ 72 h 138"/>
                    <a:gd name="T38" fmla="*/ 148 w 152"/>
                    <a:gd name="T39" fmla="*/ 85 h 138"/>
                    <a:gd name="T40" fmla="*/ 142 w 152"/>
                    <a:gd name="T41" fmla="*/ 96 h 138"/>
                    <a:gd name="T42" fmla="*/ 135 w 152"/>
                    <a:gd name="T43" fmla="*/ 110 h 138"/>
                    <a:gd name="T44" fmla="*/ 123 w 152"/>
                    <a:gd name="T45" fmla="*/ 119 h 138"/>
                    <a:gd name="T46" fmla="*/ 112 w 152"/>
                    <a:gd name="T47" fmla="*/ 127 h 138"/>
                    <a:gd name="T48" fmla="*/ 98 w 152"/>
                    <a:gd name="T49" fmla="*/ 134 h 138"/>
                    <a:gd name="T50" fmla="*/ 85 w 152"/>
                    <a:gd name="T51" fmla="*/ 138 h 138"/>
                    <a:gd name="T52" fmla="*/ 70 w 152"/>
                    <a:gd name="T53" fmla="*/ 138 h 138"/>
                    <a:gd name="T54" fmla="*/ 55 w 152"/>
                    <a:gd name="T55" fmla="*/ 134 h 138"/>
                    <a:gd name="T56" fmla="*/ 40 w 152"/>
                    <a:gd name="T57" fmla="*/ 129 h 138"/>
                    <a:gd name="T58" fmla="*/ 28 w 152"/>
                    <a:gd name="T59" fmla="*/ 119 h 138"/>
                    <a:gd name="T60" fmla="*/ 17 w 152"/>
                    <a:gd name="T61" fmla="*/ 110 h 138"/>
                    <a:gd name="T62" fmla="*/ 7 w 152"/>
                    <a:gd name="T63" fmla="*/ 98 h 138"/>
                    <a:gd name="T64" fmla="*/ 1 w 152"/>
                    <a:gd name="T65" fmla="*/ 87 h 138"/>
                    <a:gd name="T66" fmla="*/ 0 w 152"/>
                    <a:gd name="T67" fmla="*/ 74 h 138"/>
                    <a:gd name="T68" fmla="*/ 0 w 152"/>
                    <a:gd name="T69" fmla="*/ 58 h 138"/>
                    <a:gd name="T70" fmla="*/ 1 w 152"/>
                    <a:gd name="T71" fmla="*/ 47 h 138"/>
                    <a:gd name="T72" fmla="*/ 5 w 152"/>
                    <a:gd name="T73" fmla="*/ 36 h 138"/>
                    <a:gd name="T74" fmla="*/ 11 w 152"/>
                    <a:gd name="T75" fmla="*/ 26 h 138"/>
                    <a:gd name="T76" fmla="*/ 21 w 152"/>
                    <a:gd name="T77" fmla="*/ 17 h 138"/>
                    <a:gd name="T78" fmla="*/ 30 w 152"/>
                    <a:gd name="T79" fmla="*/ 11 h 138"/>
                    <a:gd name="T80" fmla="*/ 40 w 152"/>
                    <a:gd name="T81" fmla="*/ 5 h 138"/>
                    <a:gd name="T82" fmla="*/ 53 w 152"/>
                    <a:gd name="T83" fmla="*/ 0 h 138"/>
                    <a:gd name="T84" fmla="*/ 60 w 152"/>
                    <a:gd name="T85" fmla="*/ 5 h 138"/>
                    <a:gd name="T86" fmla="*/ 60 w 152"/>
                    <a:gd name="T87" fmla="*/ 22 h 138"/>
                    <a:gd name="T88" fmla="*/ 53 w 152"/>
                    <a:gd name="T89" fmla="*/ 30 h 138"/>
                    <a:gd name="T90" fmla="*/ 43 w 152"/>
                    <a:gd name="T91" fmla="*/ 36 h 138"/>
                    <a:gd name="T92" fmla="*/ 38 w 152"/>
                    <a:gd name="T93" fmla="*/ 45 h 138"/>
                    <a:gd name="T94" fmla="*/ 36 w 152"/>
                    <a:gd name="T95" fmla="*/ 57 h 138"/>
                    <a:gd name="T96" fmla="*/ 36 w 152"/>
                    <a:gd name="T97" fmla="*/ 70 h 138"/>
                    <a:gd name="T98" fmla="*/ 40 w 152"/>
                    <a:gd name="T99" fmla="*/ 85 h 138"/>
                    <a:gd name="T100" fmla="*/ 49 w 152"/>
                    <a:gd name="T101" fmla="*/ 95 h 138"/>
                    <a:gd name="T102" fmla="*/ 59 w 152"/>
                    <a:gd name="T103" fmla="*/ 100 h 138"/>
                    <a:gd name="T104" fmla="*/ 68 w 152"/>
                    <a:gd name="T105" fmla="*/ 100 h 138"/>
                    <a:gd name="T106" fmla="*/ 74 w 152"/>
                    <a:gd name="T107" fmla="*/ 102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52" h="138">
                      <a:moveTo>
                        <a:pt x="74" y="102"/>
                      </a:moveTo>
                      <a:lnTo>
                        <a:pt x="81" y="100"/>
                      </a:lnTo>
                      <a:lnTo>
                        <a:pt x="89" y="100"/>
                      </a:lnTo>
                      <a:lnTo>
                        <a:pt x="97" y="96"/>
                      </a:lnTo>
                      <a:lnTo>
                        <a:pt x="104" y="95"/>
                      </a:lnTo>
                      <a:lnTo>
                        <a:pt x="108" y="89"/>
                      </a:lnTo>
                      <a:lnTo>
                        <a:pt x="112" y="83"/>
                      </a:lnTo>
                      <a:lnTo>
                        <a:pt x="114" y="77"/>
                      </a:lnTo>
                      <a:lnTo>
                        <a:pt x="116" y="70"/>
                      </a:lnTo>
                      <a:lnTo>
                        <a:pt x="116" y="62"/>
                      </a:lnTo>
                      <a:lnTo>
                        <a:pt x="114" y="55"/>
                      </a:lnTo>
                      <a:lnTo>
                        <a:pt x="110" y="49"/>
                      </a:lnTo>
                      <a:lnTo>
                        <a:pt x="108" y="43"/>
                      </a:lnTo>
                      <a:lnTo>
                        <a:pt x="102" y="39"/>
                      </a:lnTo>
                      <a:lnTo>
                        <a:pt x="98" y="34"/>
                      </a:lnTo>
                      <a:lnTo>
                        <a:pt x="93" y="32"/>
                      </a:lnTo>
                      <a:lnTo>
                        <a:pt x="85" y="30"/>
                      </a:lnTo>
                      <a:lnTo>
                        <a:pt x="85" y="22"/>
                      </a:lnTo>
                      <a:lnTo>
                        <a:pt x="85" y="13"/>
                      </a:lnTo>
                      <a:lnTo>
                        <a:pt x="85" y="5"/>
                      </a:lnTo>
                      <a:lnTo>
                        <a:pt x="85" y="0"/>
                      </a:lnTo>
                      <a:lnTo>
                        <a:pt x="91" y="0"/>
                      </a:lnTo>
                      <a:lnTo>
                        <a:pt x="98" y="1"/>
                      </a:lnTo>
                      <a:lnTo>
                        <a:pt x="104" y="3"/>
                      </a:lnTo>
                      <a:lnTo>
                        <a:pt x="110" y="5"/>
                      </a:lnTo>
                      <a:lnTo>
                        <a:pt x="116" y="9"/>
                      </a:lnTo>
                      <a:lnTo>
                        <a:pt x="121" y="13"/>
                      </a:lnTo>
                      <a:lnTo>
                        <a:pt x="127" y="17"/>
                      </a:lnTo>
                      <a:lnTo>
                        <a:pt x="133" y="20"/>
                      </a:lnTo>
                      <a:lnTo>
                        <a:pt x="135" y="24"/>
                      </a:lnTo>
                      <a:lnTo>
                        <a:pt x="140" y="30"/>
                      </a:lnTo>
                      <a:lnTo>
                        <a:pt x="142" y="34"/>
                      </a:lnTo>
                      <a:lnTo>
                        <a:pt x="146" y="41"/>
                      </a:lnTo>
                      <a:lnTo>
                        <a:pt x="148" y="45"/>
                      </a:lnTo>
                      <a:lnTo>
                        <a:pt x="152" y="53"/>
                      </a:lnTo>
                      <a:lnTo>
                        <a:pt x="152" y="58"/>
                      </a:lnTo>
                      <a:lnTo>
                        <a:pt x="152" y="64"/>
                      </a:lnTo>
                      <a:lnTo>
                        <a:pt x="152" y="72"/>
                      </a:lnTo>
                      <a:lnTo>
                        <a:pt x="150" y="77"/>
                      </a:lnTo>
                      <a:lnTo>
                        <a:pt x="148" y="85"/>
                      </a:lnTo>
                      <a:lnTo>
                        <a:pt x="146" y="91"/>
                      </a:lnTo>
                      <a:lnTo>
                        <a:pt x="142" y="96"/>
                      </a:lnTo>
                      <a:lnTo>
                        <a:pt x="138" y="104"/>
                      </a:lnTo>
                      <a:lnTo>
                        <a:pt x="135" y="110"/>
                      </a:lnTo>
                      <a:lnTo>
                        <a:pt x="131" y="115"/>
                      </a:lnTo>
                      <a:lnTo>
                        <a:pt x="123" y="119"/>
                      </a:lnTo>
                      <a:lnTo>
                        <a:pt x="117" y="125"/>
                      </a:lnTo>
                      <a:lnTo>
                        <a:pt x="112" y="127"/>
                      </a:lnTo>
                      <a:lnTo>
                        <a:pt x="106" y="131"/>
                      </a:lnTo>
                      <a:lnTo>
                        <a:pt x="98" y="134"/>
                      </a:lnTo>
                      <a:lnTo>
                        <a:pt x="93" y="136"/>
                      </a:lnTo>
                      <a:lnTo>
                        <a:pt x="85" y="138"/>
                      </a:lnTo>
                      <a:lnTo>
                        <a:pt x="78" y="138"/>
                      </a:lnTo>
                      <a:lnTo>
                        <a:pt x="70" y="138"/>
                      </a:lnTo>
                      <a:lnTo>
                        <a:pt x="62" y="136"/>
                      </a:lnTo>
                      <a:lnTo>
                        <a:pt x="55" y="134"/>
                      </a:lnTo>
                      <a:lnTo>
                        <a:pt x="47" y="133"/>
                      </a:lnTo>
                      <a:lnTo>
                        <a:pt x="40" y="129"/>
                      </a:lnTo>
                      <a:lnTo>
                        <a:pt x="34" y="125"/>
                      </a:lnTo>
                      <a:lnTo>
                        <a:pt x="28" y="119"/>
                      </a:lnTo>
                      <a:lnTo>
                        <a:pt x="22" y="115"/>
                      </a:lnTo>
                      <a:lnTo>
                        <a:pt x="17" y="110"/>
                      </a:lnTo>
                      <a:lnTo>
                        <a:pt x="13" y="104"/>
                      </a:lnTo>
                      <a:lnTo>
                        <a:pt x="7" y="98"/>
                      </a:lnTo>
                      <a:lnTo>
                        <a:pt x="5" y="93"/>
                      </a:lnTo>
                      <a:lnTo>
                        <a:pt x="1" y="87"/>
                      </a:lnTo>
                      <a:lnTo>
                        <a:pt x="0" y="79"/>
                      </a:lnTo>
                      <a:lnTo>
                        <a:pt x="0" y="74"/>
                      </a:lnTo>
                      <a:lnTo>
                        <a:pt x="0" y="66"/>
                      </a:lnTo>
                      <a:lnTo>
                        <a:pt x="0" y="58"/>
                      </a:lnTo>
                      <a:lnTo>
                        <a:pt x="0" y="53"/>
                      </a:lnTo>
                      <a:lnTo>
                        <a:pt x="1" y="47"/>
                      </a:lnTo>
                      <a:lnTo>
                        <a:pt x="3" y="41"/>
                      </a:lnTo>
                      <a:lnTo>
                        <a:pt x="5" y="36"/>
                      </a:lnTo>
                      <a:lnTo>
                        <a:pt x="9" y="32"/>
                      </a:lnTo>
                      <a:lnTo>
                        <a:pt x="11" y="26"/>
                      </a:lnTo>
                      <a:lnTo>
                        <a:pt x="17" y="22"/>
                      </a:lnTo>
                      <a:lnTo>
                        <a:pt x="21" y="17"/>
                      </a:lnTo>
                      <a:lnTo>
                        <a:pt x="24" y="13"/>
                      </a:lnTo>
                      <a:lnTo>
                        <a:pt x="30" y="11"/>
                      </a:lnTo>
                      <a:lnTo>
                        <a:pt x="36" y="7"/>
                      </a:lnTo>
                      <a:lnTo>
                        <a:pt x="40" y="5"/>
                      </a:lnTo>
                      <a:lnTo>
                        <a:pt x="47" y="3"/>
                      </a:lnTo>
                      <a:lnTo>
                        <a:pt x="53" y="0"/>
                      </a:lnTo>
                      <a:lnTo>
                        <a:pt x="60" y="0"/>
                      </a:lnTo>
                      <a:lnTo>
                        <a:pt x="60" y="5"/>
                      </a:lnTo>
                      <a:lnTo>
                        <a:pt x="60" y="13"/>
                      </a:lnTo>
                      <a:lnTo>
                        <a:pt x="60" y="22"/>
                      </a:lnTo>
                      <a:lnTo>
                        <a:pt x="60" y="30"/>
                      </a:lnTo>
                      <a:lnTo>
                        <a:pt x="53" y="30"/>
                      </a:lnTo>
                      <a:lnTo>
                        <a:pt x="49" y="34"/>
                      </a:lnTo>
                      <a:lnTo>
                        <a:pt x="43" y="36"/>
                      </a:lnTo>
                      <a:lnTo>
                        <a:pt x="41" y="41"/>
                      </a:lnTo>
                      <a:lnTo>
                        <a:pt x="38" y="45"/>
                      </a:lnTo>
                      <a:lnTo>
                        <a:pt x="38" y="51"/>
                      </a:lnTo>
                      <a:lnTo>
                        <a:pt x="36" y="57"/>
                      </a:lnTo>
                      <a:lnTo>
                        <a:pt x="36" y="64"/>
                      </a:lnTo>
                      <a:lnTo>
                        <a:pt x="36" y="70"/>
                      </a:lnTo>
                      <a:lnTo>
                        <a:pt x="38" y="77"/>
                      </a:lnTo>
                      <a:lnTo>
                        <a:pt x="40" y="85"/>
                      </a:lnTo>
                      <a:lnTo>
                        <a:pt x="45" y="91"/>
                      </a:lnTo>
                      <a:lnTo>
                        <a:pt x="49" y="95"/>
                      </a:lnTo>
                      <a:lnTo>
                        <a:pt x="57" y="98"/>
                      </a:lnTo>
                      <a:lnTo>
                        <a:pt x="59" y="100"/>
                      </a:lnTo>
                      <a:lnTo>
                        <a:pt x="62" y="100"/>
                      </a:lnTo>
                      <a:lnTo>
                        <a:pt x="68" y="100"/>
                      </a:lnTo>
                      <a:lnTo>
                        <a:pt x="74" y="102"/>
                      </a:lnTo>
                      <a:lnTo>
                        <a:pt x="74" y="10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1" name="Freeform 125"/>
                <p:cNvSpPr>
                  <a:spLocks/>
                </p:cNvSpPr>
                <p:nvPr/>
              </p:nvSpPr>
              <p:spPr bwMode="auto">
                <a:xfrm>
                  <a:off x="3787" y="2971"/>
                  <a:ext cx="73" cy="59"/>
                </a:xfrm>
                <a:custGeom>
                  <a:avLst/>
                  <a:gdLst>
                    <a:gd name="T0" fmla="*/ 82 w 154"/>
                    <a:gd name="T1" fmla="*/ 99 h 137"/>
                    <a:gd name="T2" fmla="*/ 97 w 154"/>
                    <a:gd name="T3" fmla="*/ 95 h 137"/>
                    <a:gd name="T4" fmla="*/ 109 w 154"/>
                    <a:gd name="T5" fmla="*/ 87 h 137"/>
                    <a:gd name="T6" fmla="*/ 116 w 154"/>
                    <a:gd name="T7" fmla="*/ 76 h 137"/>
                    <a:gd name="T8" fmla="*/ 116 w 154"/>
                    <a:gd name="T9" fmla="*/ 61 h 137"/>
                    <a:gd name="T10" fmla="*/ 110 w 154"/>
                    <a:gd name="T11" fmla="*/ 47 h 137"/>
                    <a:gd name="T12" fmla="*/ 103 w 154"/>
                    <a:gd name="T13" fmla="*/ 38 h 137"/>
                    <a:gd name="T14" fmla="*/ 91 w 154"/>
                    <a:gd name="T15" fmla="*/ 30 h 137"/>
                    <a:gd name="T16" fmla="*/ 86 w 154"/>
                    <a:gd name="T17" fmla="*/ 21 h 137"/>
                    <a:gd name="T18" fmla="*/ 86 w 154"/>
                    <a:gd name="T19" fmla="*/ 6 h 137"/>
                    <a:gd name="T20" fmla="*/ 91 w 154"/>
                    <a:gd name="T21" fmla="*/ 0 h 137"/>
                    <a:gd name="T22" fmla="*/ 103 w 154"/>
                    <a:gd name="T23" fmla="*/ 4 h 137"/>
                    <a:gd name="T24" fmla="*/ 116 w 154"/>
                    <a:gd name="T25" fmla="*/ 8 h 137"/>
                    <a:gd name="T26" fmla="*/ 128 w 154"/>
                    <a:gd name="T27" fmla="*/ 15 h 137"/>
                    <a:gd name="T28" fmla="*/ 137 w 154"/>
                    <a:gd name="T29" fmla="*/ 25 h 137"/>
                    <a:gd name="T30" fmla="*/ 145 w 154"/>
                    <a:gd name="T31" fmla="*/ 34 h 137"/>
                    <a:gd name="T32" fmla="*/ 150 w 154"/>
                    <a:gd name="T33" fmla="*/ 46 h 137"/>
                    <a:gd name="T34" fmla="*/ 152 w 154"/>
                    <a:gd name="T35" fmla="*/ 57 h 137"/>
                    <a:gd name="T36" fmla="*/ 152 w 154"/>
                    <a:gd name="T37" fmla="*/ 72 h 137"/>
                    <a:gd name="T38" fmla="*/ 148 w 154"/>
                    <a:gd name="T39" fmla="*/ 85 h 137"/>
                    <a:gd name="T40" fmla="*/ 145 w 154"/>
                    <a:gd name="T41" fmla="*/ 97 h 137"/>
                    <a:gd name="T42" fmla="*/ 135 w 154"/>
                    <a:gd name="T43" fmla="*/ 108 h 137"/>
                    <a:gd name="T44" fmla="*/ 126 w 154"/>
                    <a:gd name="T45" fmla="*/ 118 h 137"/>
                    <a:gd name="T46" fmla="*/ 114 w 154"/>
                    <a:gd name="T47" fmla="*/ 127 h 137"/>
                    <a:gd name="T48" fmla="*/ 101 w 154"/>
                    <a:gd name="T49" fmla="*/ 133 h 137"/>
                    <a:gd name="T50" fmla="*/ 86 w 154"/>
                    <a:gd name="T51" fmla="*/ 137 h 137"/>
                    <a:gd name="T52" fmla="*/ 72 w 154"/>
                    <a:gd name="T53" fmla="*/ 137 h 137"/>
                    <a:gd name="T54" fmla="*/ 55 w 154"/>
                    <a:gd name="T55" fmla="*/ 133 h 137"/>
                    <a:gd name="T56" fmla="*/ 42 w 154"/>
                    <a:gd name="T57" fmla="*/ 127 h 137"/>
                    <a:gd name="T58" fmla="*/ 29 w 154"/>
                    <a:gd name="T59" fmla="*/ 118 h 137"/>
                    <a:gd name="T60" fmla="*/ 17 w 154"/>
                    <a:gd name="T61" fmla="*/ 108 h 137"/>
                    <a:gd name="T62" fmla="*/ 8 w 154"/>
                    <a:gd name="T63" fmla="*/ 97 h 137"/>
                    <a:gd name="T64" fmla="*/ 2 w 154"/>
                    <a:gd name="T65" fmla="*/ 85 h 137"/>
                    <a:gd name="T66" fmla="*/ 0 w 154"/>
                    <a:gd name="T67" fmla="*/ 72 h 137"/>
                    <a:gd name="T68" fmla="*/ 0 w 154"/>
                    <a:gd name="T69" fmla="*/ 57 h 137"/>
                    <a:gd name="T70" fmla="*/ 2 w 154"/>
                    <a:gd name="T71" fmla="*/ 46 h 137"/>
                    <a:gd name="T72" fmla="*/ 6 w 154"/>
                    <a:gd name="T73" fmla="*/ 34 h 137"/>
                    <a:gd name="T74" fmla="*/ 13 w 154"/>
                    <a:gd name="T75" fmla="*/ 25 h 137"/>
                    <a:gd name="T76" fmla="*/ 21 w 154"/>
                    <a:gd name="T77" fmla="*/ 15 h 137"/>
                    <a:gd name="T78" fmla="*/ 31 w 154"/>
                    <a:gd name="T79" fmla="*/ 8 h 137"/>
                    <a:gd name="T80" fmla="*/ 42 w 154"/>
                    <a:gd name="T81" fmla="*/ 4 h 137"/>
                    <a:gd name="T82" fmla="*/ 53 w 154"/>
                    <a:gd name="T83" fmla="*/ 0 h 137"/>
                    <a:gd name="T84" fmla="*/ 61 w 154"/>
                    <a:gd name="T85" fmla="*/ 6 h 137"/>
                    <a:gd name="T86" fmla="*/ 61 w 154"/>
                    <a:gd name="T87" fmla="*/ 21 h 137"/>
                    <a:gd name="T88" fmla="*/ 55 w 154"/>
                    <a:gd name="T89" fmla="*/ 30 h 137"/>
                    <a:gd name="T90" fmla="*/ 46 w 154"/>
                    <a:gd name="T91" fmla="*/ 38 h 137"/>
                    <a:gd name="T92" fmla="*/ 40 w 154"/>
                    <a:gd name="T93" fmla="*/ 47 h 137"/>
                    <a:gd name="T94" fmla="*/ 40 w 154"/>
                    <a:gd name="T95" fmla="*/ 59 h 137"/>
                    <a:gd name="T96" fmla="*/ 40 w 154"/>
                    <a:gd name="T97" fmla="*/ 74 h 137"/>
                    <a:gd name="T98" fmla="*/ 44 w 154"/>
                    <a:gd name="T99" fmla="*/ 85 h 137"/>
                    <a:gd name="T100" fmla="*/ 52 w 154"/>
                    <a:gd name="T101" fmla="*/ 95 h 137"/>
                    <a:gd name="T102" fmla="*/ 61 w 154"/>
                    <a:gd name="T103" fmla="*/ 99 h 137"/>
                    <a:gd name="T104" fmla="*/ 69 w 154"/>
                    <a:gd name="T105" fmla="*/ 99 h 137"/>
                    <a:gd name="T106" fmla="*/ 72 w 154"/>
                    <a:gd name="T107" fmla="*/ 101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54" h="137">
                      <a:moveTo>
                        <a:pt x="72" y="101"/>
                      </a:moveTo>
                      <a:lnTo>
                        <a:pt x="82" y="99"/>
                      </a:lnTo>
                      <a:lnTo>
                        <a:pt x="90" y="97"/>
                      </a:lnTo>
                      <a:lnTo>
                        <a:pt x="97" y="95"/>
                      </a:lnTo>
                      <a:lnTo>
                        <a:pt x="103" y="93"/>
                      </a:lnTo>
                      <a:lnTo>
                        <a:pt x="109" y="87"/>
                      </a:lnTo>
                      <a:lnTo>
                        <a:pt x="112" y="82"/>
                      </a:lnTo>
                      <a:lnTo>
                        <a:pt x="116" y="76"/>
                      </a:lnTo>
                      <a:lnTo>
                        <a:pt x="116" y="68"/>
                      </a:lnTo>
                      <a:lnTo>
                        <a:pt x="116" y="61"/>
                      </a:lnTo>
                      <a:lnTo>
                        <a:pt x="114" y="55"/>
                      </a:lnTo>
                      <a:lnTo>
                        <a:pt x="110" y="47"/>
                      </a:lnTo>
                      <a:lnTo>
                        <a:pt x="109" y="42"/>
                      </a:lnTo>
                      <a:lnTo>
                        <a:pt x="103" y="38"/>
                      </a:lnTo>
                      <a:lnTo>
                        <a:pt x="99" y="32"/>
                      </a:lnTo>
                      <a:lnTo>
                        <a:pt x="91" y="30"/>
                      </a:lnTo>
                      <a:lnTo>
                        <a:pt x="86" y="28"/>
                      </a:lnTo>
                      <a:lnTo>
                        <a:pt x="86" y="21"/>
                      </a:lnTo>
                      <a:lnTo>
                        <a:pt x="86" y="13"/>
                      </a:lnTo>
                      <a:lnTo>
                        <a:pt x="86" y="6"/>
                      </a:lnTo>
                      <a:lnTo>
                        <a:pt x="86" y="0"/>
                      </a:lnTo>
                      <a:lnTo>
                        <a:pt x="91" y="0"/>
                      </a:lnTo>
                      <a:lnTo>
                        <a:pt x="97" y="2"/>
                      </a:lnTo>
                      <a:lnTo>
                        <a:pt x="103" y="4"/>
                      </a:lnTo>
                      <a:lnTo>
                        <a:pt x="110" y="6"/>
                      </a:lnTo>
                      <a:lnTo>
                        <a:pt x="116" y="8"/>
                      </a:lnTo>
                      <a:lnTo>
                        <a:pt x="122" y="13"/>
                      </a:lnTo>
                      <a:lnTo>
                        <a:pt x="128" y="15"/>
                      </a:lnTo>
                      <a:lnTo>
                        <a:pt x="133" y="21"/>
                      </a:lnTo>
                      <a:lnTo>
                        <a:pt x="137" y="25"/>
                      </a:lnTo>
                      <a:lnTo>
                        <a:pt x="141" y="30"/>
                      </a:lnTo>
                      <a:lnTo>
                        <a:pt x="145" y="34"/>
                      </a:lnTo>
                      <a:lnTo>
                        <a:pt x="148" y="40"/>
                      </a:lnTo>
                      <a:lnTo>
                        <a:pt x="150" y="46"/>
                      </a:lnTo>
                      <a:lnTo>
                        <a:pt x="152" y="51"/>
                      </a:lnTo>
                      <a:lnTo>
                        <a:pt x="152" y="57"/>
                      </a:lnTo>
                      <a:lnTo>
                        <a:pt x="154" y="65"/>
                      </a:lnTo>
                      <a:lnTo>
                        <a:pt x="152" y="72"/>
                      </a:lnTo>
                      <a:lnTo>
                        <a:pt x="150" y="78"/>
                      </a:lnTo>
                      <a:lnTo>
                        <a:pt x="148" y="85"/>
                      </a:lnTo>
                      <a:lnTo>
                        <a:pt x="147" y="91"/>
                      </a:lnTo>
                      <a:lnTo>
                        <a:pt x="145" y="97"/>
                      </a:lnTo>
                      <a:lnTo>
                        <a:pt x="141" y="103"/>
                      </a:lnTo>
                      <a:lnTo>
                        <a:pt x="135" y="108"/>
                      </a:lnTo>
                      <a:lnTo>
                        <a:pt x="131" y="114"/>
                      </a:lnTo>
                      <a:lnTo>
                        <a:pt x="126" y="118"/>
                      </a:lnTo>
                      <a:lnTo>
                        <a:pt x="120" y="123"/>
                      </a:lnTo>
                      <a:lnTo>
                        <a:pt x="114" y="127"/>
                      </a:lnTo>
                      <a:lnTo>
                        <a:pt x="109" y="131"/>
                      </a:lnTo>
                      <a:lnTo>
                        <a:pt x="101" y="133"/>
                      </a:lnTo>
                      <a:lnTo>
                        <a:pt x="93" y="135"/>
                      </a:lnTo>
                      <a:lnTo>
                        <a:pt x="86" y="137"/>
                      </a:lnTo>
                      <a:lnTo>
                        <a:pt x="80" y="137"/>
                      </a:lnTo>
                      <a:lnTo>
                        <a:pt x="72" y="137"/>
                      </a:lnTo>
                      <a:lnTo>
                        <a:pt x="63" y="135"/>
                      </a:lnTo>
                      <a:lnTo>
                        <a:pt x="55" y="133"/>
                      </a:lnTo>
                      <a:lnTo>
                        <a:pt x="50" y="131"/>
                      </a:lnTo>
                      <a:lnTo>
                        <a:pt x="42" y="127"/>
                      </a:lnTo>
                      <a:lnTo>
                        <a:pt x="34" y="123"/>
                      </a:lnTo>
                      <a:lnTo>
                        <a:pt x="29" y="118"/>
                      </a:lnTo>
                      <a:lnTo>
                        <a:pt x="23" y="114"/>
                      </a:lnTo>
                      <a:lnTo>
                        <a:pt x="17" y="108"/>
                      </a:lnTo>
                      <a:lnTo>
                        <a:pt x="13" y="103"/>
                      </a:lnTo>
                      <a:lnTo>
                        <a:pt x="8" y="97"/>
                      </a:lnTo>
                      <a:lnTo>
                        <a:pt x="6" y="91"/>
                      </a:lnTo>
                      <a:lnTo>
                        <a:pt x="2" y="85"/>
                      </a:lnTo>
                      <a:lnTo>
                        <a:pt x="0" y="78"/>
                      </a:lnTo>
                      <a:lnTo>
                        <a:pt x="0" y="72"/>
                      </a:lnTo>
                      <a:lnTo>
                        <a:pt x="0" y="65"/>
                      </a:lnTo>
                      <a:lnTo>
                        <a:pt x="0" y="57"/>
                      </a:lnTo>
                      <a:lnTo>
                        <a:pt x="0" y="51"/>
                      </a:lnTo>
                      <a:lnTo>
                        <a:pt x="2" y="46"/>
                      </a:lnTo>
                      <a:lnTo>
                        <a:pt x="4" y="40"/>
                      </a:lnTo>
                      <a:lnTo>
                        <a:pt x="6" y="34"/>
                      </a:lnTo>
                      <a:lnTo>
                        <a:pt x="10" y="30"/>
                      </a:lnTo>
                      <a:lnTo>
                        <a:pt x="13" y="25"/>
                      </a:lnTo>
                      <a:lnTo>
                        <a:pt x="17" y="21"/>
                      </a:lnTo>
                      <a:lnTo>
                        <a:pt x="21" y="15"/>
                      </a:lnTo>
                      <a:lnTo>
                        <a:pt x="25" y="13"/>
                      </a:lnTo>
                      <a:lnTo>
                        <a:pt x="31" y="8"/>
                      </a:lnTo>
                      <a:lnTo>
                        <a:pt x="36" y="6"/>
                      </a:lnTo>
                      <a:lnTo>
                        <a:pt x="42" y="4"/>
                      </a:lnTo>
                      <a:lnTo>
                        <a:pt x="48" y="2"/>
                      </a:lnTo>
                      <a:lnTo>
                        <a:pt x="53" y="0"/>
                      </a:lnTo>
                      <a:lnTo>
                        <a:pt x="61" y="0"/>
                      </a:lnTo>
                      <a:lnTo>
                        <a:pt x="61" y="6"/>
                      </a:lnTo>
                      <a:lnTo>
                        <a:pt x="61" y="13"/>
                      </a:lnTo>
                      <a:lnTo>
                        <a:pt x="61" y="21"/>
                      </a:lnTo>
                      <a:lnTo>
                        <a:pt x="61" y="28"/>
                      </a:lnTo>
                      <a:lnTo>
                        <a:pt x="55" y="30"/>
                      </a:lnTo>
                      <a:lnTo>
                        <a:pt x="50" y="32"/>
                      </a:lnTo>
                      <a:lnTo>
                        <a:pt x="46" y="38"/>
                      </a:lnTo>
                      <a:lnTo>
                        <a:pt x="44" y="42"/>
                      </a:lnTo>
                      <a:lnTo>
                        <a:pt x="40" y="47"/>
                      </a:lnTo>
                      <a:lnTo>
                        <a:pt x="40" y="53"/>
                      </a:lnTo>
                      <a:lnTo>
                        <a:pt x="40" y="59"/>
                      </a:lnTo>
                      <a:lnTo>
                        <a:pt x="40" y="66"/>
                      </a:lnTo>
                      <a:lnTo>
                        <a:pt x="40" y="74"/>
                      </a:lnTo>
                      <a:lnTo>
                        <a:pt x="40" y="82"/>
                      </a:lnTo>
                      <a:lnTo>
                        <a:pt x="44" y="85"/>
                      </a:lnTo>
                      <a:lnTo>
                        <a:pt x="48" y="91"/>
                      </a:lnTo>
                      <a:lnTo>
                        <a:pt x="52" y="95"/>
                      </a:lnTo>
                      <a:lnTo>
                        <a:pt x="57" y="97"/>
                      </a:lnTo>
                      <a:lnTo>
                        <a:pt x="61" y="99"/>
                      </a:lnTo>
                      <a:lnTo>
                        <a:pt x="65" y="99"/>
                      </a:lnTo>
                      <a:lnTo>
                        <a:pt x="69" y="99"/>
                      </a:lnTo>
                      <a:lnTo>
                        <a:pt x="72" y="101"/>
                      </a:lnTo>
                      <a:lnTo>
                        <a:pt x="72" y="1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2" name="Freeform 126"/>
                <p:cNvSpPr>
                  <a:spLocks/>
                </p:cNvSpPr>
                <p:nvPr/>
              </p:nvSpPr>
              <p:spPr bwMode="auto">
                <a:xfrm>
                  <a:off x="4038" y="3057"/>
                  <a:ext cx="29" cy="67"/>
                </a:xfrm>
                <a:custGeom>
                  <a:avLst/>
                  <a:gdLst>
                    <a:gd name="T0" fmla="*/ 0 w 59"/>
                    <a:gd name="T1" fmla="*/ 153 h 153"/>
                    <a:gd name="T2" fmla="*/ 2 w 59"/>
                    <a:gd name="T3" fmla="*/ 146 h 153"/>
                    <a:gd name="T4" fmla="*/ 3 w 59"/>
                    <a:gd name="T5" fmla="*/ 138 h 153"/>
                    <a:gd name="T6" fmla="*/ 3 w 59"/>
                    <a:gd name="T7" fmla="*/ 134 h 153"/>
                    <a:gd name="T8" fmla="*/ 5 w 59"/>
                    <a:gd name="T9" fmla="*/ 129 h 153"/>
                    <a:gd name="T10" fmla="*/ 7 w 59"/>
                    <a:gd name="T11" fmla="*/ 125 h 153"/>
                    <a:gd name="T12" fmla="*/ 9 w 59"/>
                    <a:gd name="T13" fmla="*/ 119 h 153"/>
                    <a:gd name="T14" fmla="*/ 9 w 59"/>
                    <a:gd name="T15" fmla="*/ 114 h 153"/>
                    <a:gd name="T16" fmla="*/ 9 w 59"/>
                    <a:gd name="T17" fmla="*/ 108 h 153"/>
                    <a:gd name="T18" fmla="*/ 11 w 59"/>
                    <a:gd name="T19" fmla="*/ 100 h 153"/>
                    <a:gd name="T20" fmla="*/ 13 w 59"/>
                    <a:gd name="T21" fmla="*/ 95 h 153"/>
                    <a:gd name="T22" fmla="*/ 13 w 59"/>
                    <a:gd name="T23" fmla="*/ 89 h 153"/>
                    <a:gd name="T24" fmla="*/ 15 w 59"/>
                    <a:gd name="T25" fmla="*/ 83 h 153"/>
                    <a:gd name="T26" fmla="*/ 15 w 59"/>
                    <a:gd name="T27" fmla="*/ 76 h 153"/>
                    <a:gd name="T28" fmla="*/ 17 w 59"/>
                    <a:gd name="T29" fmla="*/ 70 h 153"/>
                    <a:gd name="T30" fmla="*/ 17 w 59"/>
                    <a:gd name="T31" fmla="*/ 64 h 153"/>
                    <a:gd name="T32" fmla="*/ 19 w 59"/>
                    <a:gd name="T33" fmla="*/ 58 h 153"/>
                    <a:gd name="T34" fmla="*/ 19 w 59"/>
                    <a:gd name="T35" fmla="*/ 51 h 153"/>
                    <a:gd name="T36" fmla="*/ 21 w 59"/>
                    <a:gd name="T37" fmla="*/ 45 h 153"/>
                    <a:gd name="T38" fmla="*/ 21 w 59"/>
                    <a:gd name="T39" fmla="*/ 39 h 153"/>
                    <a:gd name="T40" fmla="*/ 21 w 59"/>
                    <a:gd name="T41" fmla="*/ 36 h 153"/>
                    <a:gd name="T42" fmla="*/ 21 w 59"/>
                    <a:gd name="T43" fmla="*/ 30 h 153"/>
                    <a:gd name="T44" fmla="*/ 22 w 59"/>
                    <a:gd name="T45" fmla="*/ 26 h 153"/>
                    <a:gd name="T46" fmla="*/ 24 w 59"/>
                    <a:gd name="T47" fmla="*/ 19 h 153"/>
                    <a:gd name="T48" fmla="*/ 24 w 59"/>
                    <a:gd name="T49" fmla="*/ 11 h 153"/>
                    <a:gd name="T50" fmla="*/ 26 w 59"/>
                    <a:gd name="T51" fmla="*/ 7 h 153"/>
                    <a:gd name="T52" fmla="*/ 26 w 59"/>
                    <a:gd name="T53" fmla="*/ 7 h 153"/>
                    <a:gd name="T54" fmla="*/ 59 w 59"/>
                    <a:gd name="T55" fmla="*/ 0 h 153"/>
                    <a:gd name="T56" fmla="*/ 32 w 59"/>
                    <a:gd name="T57" fmla="*/ 142 h 153"/>
                    <a:gd name="T58" fmla="*/ 0 w 59"/>
                    <a:gd name="T59" fmla="*/ 153 h 153"/>
                    <a:gd name="T60" fmla="*/ 0 w 59"/>
                    <a:gd name="T61" fmla="*/ 153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9" h="153">
                      <a:moveTo>
                        <a:pt x="0" y="153"/>
                      </a:moveTo>
                      <a:lnTo>
                        <a:pt x="2" y="146"/>
                      </a:lnTo>
                      <a:lnTo>
                        <a:pt x="3" y="138"/>
                      </a:lnTo>
                      <a:lnTo>
                        <a:pt x="3" y="134"/>
                      </a:lnTo>
                      <a:lnTo>
                        <a:pt x="5" y="129"/>
                      </a:lnTo>
                      <a:lnTo>
                        <a:pt x="7" y="125"/>
                      </a:lnTo>
                      <a:lnTo>
                        <a:pt x="9" y="119"/>
                      </a:lnTo>
                      <a:lnTo>
                        <a:pt x="9" y="114"/>
                      </a:lnTo>
                      <a:lnTo>
                        <a:pt x="9" y="108"/>
                      </a:lnTo>
                      <a:lnTo>
                        <a:pt x="11" y="100"/>
                      </a:lnTo>
                      <a:lnTo>
                        <a:pt x="13" y="95"/>
                      </a:lnTo>
                      <a:lnTo>
                        <a:pt x="13" y="89"/>
                      </a:lnTo>
                      <a:lnTo>
                        <a:pt x="15" y="83"/>
                      </a:lnTo>
                      <a:lnTo>
                        <a:pt x="15" y="76"/>
                      </a:lnTo>
                      <a:lnTo>
                        <a:pt x="17" y="70"/>
                      </a:lnTo>
                      <a:lnTo>
                        <a:pt x="17" y="64"/>
                      </a:lnTo>
                      <a:lnTo>
                        <a:pt x="19" y="58"/>
                      </a:lnTo>
                      <a:lnTo>
                        <a:pt x="19" y="51"/>
                      </a:lnTo>
                      <a:lnTo>
                        <a:pt x="21" y="45"/>
                      </a:lnTo>
                      <a:lnTo>
                        <a:pt x="21" y="39"/>
                      </a:lnTo>
                      <a:lnTo>
                        <a:pt x="21" y="36"/>
                      </a:lnTo>
                      <a:lnTo>
                        <a:pt x="21" y="30"/>
                      </a:lnTo>
                      <a:lnTo>
                        <a:pt x="22" y="26"/>
                      </a:lnTo>
                      <a:lnTo>
                        <a:pt x="24" y="19"/>
                      </a:lnTo>
                      <a:lnTo>
                        <a:pt x="24" y="11"/>
                      </a:lnTo>
                      <a:lnTo>
                        <a:pt x="26" y="7"/>
                      </a:lnTo>
                      <a:lnTo>
                        <a:pt x="26" y="7"/>
                      </a:lnTo>
                      <a:lnTo>
                        <a:pt x="59" y="0"/>
                      </a:lnTo>
                      <a:lnTo>
                        <a:pt x="32" y="142"/>
                      </a:lnTo>
                      <a:lnTo>
                        <a:pt x="0" y="153"/>
                      </a:lnTo>
                      <a:lnTo>
                        <a:pt x="0" y="15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3" name="Freeform 127"/>
                <p:cNvSpPr>
                  <a:spLocks/>
                </p:cNvSpPr>
                <p:nvPr/>
              </p:nvSpPr>
              <p:spPr bwMode="auto">
                <a:xfrm>
                  <a:off x="4027" y="3065"/>
                  <a:ext cx="26" cy="67"/>
                </a:xfrm>
                <a:custGeom>
                  <a:avLst/>
                  <a:gdLst>
                    <a:gd name="T0" fmla="*/ 0 w 57"/>
                    <a:gd name="T1" fmla="*/ 153 h 153"/>
                    <a:gd name="T2" fmla="*/ 2 w 57"/>
                    <a:gd name="T3" fmla="*/ 146 h 153"/>
                    <a:gd name="T4" fmla="*/ 4 w 57"/>
                    <a:gd name="T5" fmla="*/ 138 h 153"/>
                    <a:gd name="T6" fmla="*/ 4 w 57"/>
                    <a:gd name="T7" fmla="*/ 134 h 153"/>
                    <a:gd name="T8" fmla="*/ 6 w 57"/>
                    <a:gd name="T9" fmla="*/ 129 h 153"/>
                    <a:gd name="T10" fmla="*/ 6 w 57"/>
                    <a:gd name="T11" fmla="*/ 125 h 153"/>
                    <a:gd name="T12" fmla="*/ 8 w 57"/>
                    <a:gd name="T13" fmla="*/ 119 h 153"/>
                    <a:gd name="T14" fmla="*/ 9 w 57"/>
                    <a:gd name="T15" fmla="*/ 114 h 153"/>
                    <a:gd name="T16" fmla="*/ 9 w 57"/>
                    <a:gd name="T17" fmla="*/ 106 h 153"/>
                    <a:gd name="T18" fmla="*/ 9 w 57"/>
                    <a:gd name="T19" fmla="*/ 100 h 153"/>
                    <a:gd name="T20" fmla="*/ 11 w 57"/>
                    <a:gd name="T21" fmla="*/ 95 h 153"/>
                    <a:gd name="T22" fmla="*/ 13 w 57"/>
                    <a:gd name="T23" fmla="*/ 89 h 153"/>
                    <a:gd name="T24" fmla="*/ 13 w 57"/>
                    <a:gd name="T25" fmla="*/ 83 h 153"/>
                    <a:gd name="T26" fmla="*/ 15 w 57"/>
                    <a:gd name="T27" fmla="*/ 76 h 153"/>
                    <a:gd name="T28" fmla="*/ 17 w 57"/>
                    <a:gd name="T29" fmla="*/ 70 h 153"/>
                    <a:gd name="T30" fmla="*/ 17 w 57"/>
                    <a:gd name="T31" fmla="*/ 62 h 153"/>
                    <a:gd name="T32" fmla="*/ 17 w 57"/>
                    <a:gd name="T33" fmla="*/ 57 h 153"/>
                    <a:gd name="T34" fmla="*/ 17 w 57"/>
                    <a:gd name="T35" fmla="*/ 51 h 153"/>
                    <a:gd name="T36" fmla="*/ 19 w 57"/>
                    <a:gd name="T37" fmla="*/ 45 h 153"/>
                    <a:gd name="T38" fmla="*/ 19 w 57"/>
                    <a:gd name="T39" fmla="*/ 39 h 153"/>
                    <a:gd name="T40" fmla="*/ 21 w 57"/>
                    <a:gd name="T41" fmla="*/ 34 h 153"/>
                    <a:gd name="T42" fmla="*/ 21 w 57"/>
                    <a:gd name="T43" fmla="*/ 30 h 153"/>
                    <a:gd name="T44" fmla="*/ 23 w 57"/>
                    <a:gd name="T45" fmla="*/ 24 h 153"/>
                    <a:gd name="T46" fmla="*/ 23 w 57"/>
                    <a:gd name="T47" fmla="*/ 17 h 153"/>
                    <a:gd name="T48" fmla="*/ 23 w 57"/>
                    <a:gd name="T49" fmla="*/ 11 h 153"/>
                    <a:gd name="T50" fmla="*/ 25 w 57"/>
                    <a:gd name="T51" fmla="*/ 7 h 153"/>
                    <a:gd name="T52" fmla="*/ 25 w 57"/>
                    <a:gd name="T53" fmla="*/ 5 h 153"/>
                    <a:gd name="T54" fmla="*/ 57 w 57"/>
                    <a:gd name="T55" fmla="*/ 0 h 153"/>
                    <a:gd name="T56" fmla="*/ 32 w 57"/>
                    <a:gd name="T57" fmla="*/ 142 h 153"/>
                    <a:gd name="T58" fmla="*/ 0 w 57"/>
                    <a:gd name="T59" fmla="*/ 153 h 153"/>
                    <a:gd name="T60" fmla="*/ 0 w 57"/>
                    <a:gd name="T61" fmla="*/ 153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57" h="153">
                      <a:moveTo>
                        <a:pt x="0" y="153"/>
                      </a:moveTo>
                      <a:lnTo>
                        <a:pt x="2" y="146"/>
                      </a:lnTo>
                      <a:lnTo>
                        <a:pt x="4" y="138"/>
                      </a:lnTo>
                      <a:lnTo>
                        <a:pt x="4" y="134"/>
                      </a:lnTo>
                      <a:lnTo>
                        <a:pt x="6" y="129"/>
                      </a:lnTo>
                      <a:lnTo>
                        <a:pt x="6" y="125"/>
                      </a:lnTo>
                      <a:lnTo>
                        <a:pt x="8" y="119"/>
                      </a:lnTo>
                      <a:lnTo>
                        <a:pt x="9" y="114"/>
                      </a:lnTo>
                      <a:lnTo>
                        <a:pt x="9" y="106"/>
                      </a:lnTo>
                      <a:lnTo>
                        <a:pt x="9" y="100"/>
                      </a:lnTo>
                      <a:lnTo>
                        <a:pt x="11" y="95"/>
                      </a:lnTo>
                      <a:lnTo>
                        <a:pt x="13" y="89"/>
                      </a:lnTo>
                      <a:lnTo>
                        <a:pt x="13" y="83"/>
                      </a:lnTo>
                      <a:lnTo>
                        <a:pt x="15" y="76"/>
                      </a:lnTo>
                      <a:lnTo>
                        <a:pt x="17" y="70"/>
                      </a:lnTo>
                      <a:lnTo>
                        <a:pt x="17" y="62"/>
                      </a:lnTo>
                      <a:lnTo>
                        <a:pt x="17" y="57"/>
                      </a:lnTo>
                      <a:lnTo>
                        <a:pt x="17" y="51"/>
                      </a:lnTo>
                      <a:lnTo>
                        <a:pt x="19" y="45"/>
                      </a:lnTo>
                      <a:lnTo>
                        <a:pt x="19" y="39"/>
                      </a:lnTo>
                      <a:lnTo>
                        <a:pt x="21" y="34"/>
                      </a:lnTo>
                      <a:lnTo>
                        <a:pt x="21" y="30"/>
                      </a:lnTo>
                      <a:lnTo>
                        <a:pt x="23" y="24"/>
                      </a:lnTo>
                      <a:lnTo>
                        <a:pt x="23" y="17"/>
                      </a:lnTo>
                      <a:lnTo>
                        <a:pt x="23" y="11"/>
                      </a:lnTo>
                      <a:lnTo>
                        <a:pt x="25" y="7"/>
                      </a:lnTo>
                      <a:lnTo>
                        <a:pt x="25" y="5"/>
                      </a:lnTo>
                      <a:lnTo>
                        <a:pt x="57" y="0"/>
                      </a:lnTo>
                      <a:lnTo>
                        <a:pt x="32" y="142"/>
                      </a:lnTo>
                      <a:lnTo>
                        <a:pt x="0" y="153"/>
                      </a:lnTo>
                      <a:lnTo>
                        <a:pt x="0" y="1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4" name="Freeform 128"/>
                <p:cNvSpPr>
                  <a:spLocks/>
                </p:cNvSpPr>
                <p:nvPr/>
              </p:nvSpPr>
              <p:spPr bwMode="auto">
                <a:xfrm>
                  <a:off x="4002" y="3116"/>
                  <a:ext cx="104" cy="22"/>
                </a:xfrm>
                <a:custGeom>
                  <a:avLst/>
                  <a:gdLst>
                    <a:gd name="T0" fmla="*/ 7 w 220"/>
                    <a:gd name="T1" fmla="*/ 17 h 50"/>
                    <a:gd name="T2" fmla="*/ 220 w 220"/>
                    <a:gd name="T3" fmla="*/ 0 h 50"/>
                    <a:gd name="T4" fmla="*/ 218 w 220"/>
                    <a:gd name="T5" fmla="*/ 36 h 50"/>
                    <a:gd name="T6" fmla="*/ 0 w 220"/>
                    <a:gd name="T7" fmla="*/ 50 h 50"/>
                    <a:gd name="T8" fmla="*/ 7 w 220"/>
                    <a:gd name="T9" fmla="*/ 17 h 50"/>
                    <a:gd name="T10" fmla="*/ 7 w 220"/>
                    <a:gd name="T11" fmla="*/ 17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0" h="50">
                      <a:moveTo>
                        <a:pt x="7" y="17"/>
                      </a:moveTo>
                      <a:lnTo>
                        <a:pt x="220" y="0"/>
                      </a:lnTo>
                      <a:lnTo>
                        <a:pt x="218" y="36"/>
                      </a:lnTo>
                      <a:lnTo>
                        <a:pt x="0" y="50"/>
                      </a:lnTo>
                      <a:lnTo>
                        <a:pt x="7" y="17"/>
                      </a:ln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5" name="Freeform 129"/>
                <p:cNvSpPr>
                  <a:spLocks/>
                </p:cNvSpPr>
                <p:nvPr/>
              </p:nvSpPr>
              <p:spPr bwMode="auto">
                <a:xfrm>
                  <a:off x="3853" y="3055"/>
                  <a:ext cx="36" cy="174"/>
                </a:xfrm>
                <a:custGeom>
                  <a:avLst/>
                  <a:gdLst>
                    <a:gd name="T0" fmla="*/ 0 w 76"/>
                    <a:gd name="T1" fmla="*/ 399 h 399"/>
                    <a:gd name="T2" fmla="*/ 0 w 76"/>
                    <a:gd name="T3" fmla="*/ 395 h 399"/>
                    <a:gd name="T4" fmla="*/ 0 w 76"/>
                    <a:gd name="T5" fmla="*/ 391 h 399"/>
                    <a:gd name="T6" fmla="*/ 2 w 76"/>
                    <a:gd name="T7" fmla="*/ 384 h 399"/>
                    <a:gd name="T8" fmla="*/ 4 w 76"/>
                    <a:gd name="T9" fmla="*/ 376 h 399"/>
                    <a:gd name="T10" fmla="*/ 4 w 76"/>
                    <a:gd name="T11" fmla="*/ 370 h 399"/>
                    <a:gd name="T12" fmla="*/ 4 w 76"/>
                    <a:gd name="T13" fmla="*/ 365 h 399"/>
                    <a:gd name="T14" fmla="*/ 4 w 76"/>
                    <a:gd name="T15" fmla="*/ 359 h 399"/>
                    <a:gd name="T16" fmla="*/ 4 w 76"/>
                    <a:gd name="T17" fmla="*/ 353 h 399"/>
                    <a:gd name="T18" fmla="*/ 4 w 76"/>
                    <a:gd name="T19" fmla="*/ 348 h 399"/>
                    <a:gd name="T20" fmla="*/ 6 w 76"/>
                    <a:gd name="T21" fmla="*/ 340 h 399"/>
                    <a:gd name="T22" fmla="*/ 6 w 76"/>
                    <a:gd name="T23" fmla="*/ 334 h 399"/>
                    <a:gd name="T24" fmla="*/ 7 w 76"/>
                    <a:gd name="T25" fmla="*/ 327 h 399"/>
                    <a:gd name="T26" fmla="*/ 7 w 76"/>
                    <a:gd name="T27" fmla="*/ 319 h 399"/>
                    <a:gd name="T28" fmla="*/ 9 w 76"/>
                    <a:gd name="T29" fmla="*/ 311 h 399"/>
                    <a:gd name="T30" fmla="*/ 9 w 76"/>
                    <a:gd name="T31" fmla="*/ 304 h 399"/>
                    <a:gd name="T32" fmla="*/ 9 w 76"/>
                    <a:gd name="T33" fmla="*/ 296 h 399"/>
                    <a:gd name="T34" fmla="*/ 11 w 76"/>
                    <a:gd name="T35" fmla="*/ 287 h 399"/>
                    <a:gd name="T36" fmla="*/ 11 w 76"/>
                    <a:gd name="T37" fmla="*/ 279 h 399"/>
                    <a:gd name="T38" fmla="*/ 13 w 76"/>
                    <a:gd name="T39" fmla="*/ 272 h 399"/>
                    <a:gd name="T40" fmla="*/ 15 w 76"/>
                    <a:gd name="T41" fmla="*/ 262 h 399"/>
                    <a:gd name="T42" fmla="*/ 15 w 76"/>
                    <a:gd name="T43" fmla="*/ 254 h 399"/>
                    <a:gd name="T44" fmla="*/ 15 w 76"/>
                    <a:gd name="T45" fmla="*/ 245 h 399"/>
                    <a:gd name="T46" fmla="*/ 17 w 76"/>
                    <a:gd name="T47" fmla="*/ 235 h 399"/>
                    <a:gd name="T48" fmla="*/ 19 w 76"/>
                    <a:gd name="T49" fmla="*/ 226 h 399"/>
                    <a:gd name="T50" fmla="*/ 19 w 76"/>
                    <a:gd name="T51" fmla="*/ 218 h 399"/>
                    <a:gd name="T52" fmla="*/ 21 w 76"/>
                    <a:gd name="T53" fmla="*/ 209 h 399"/>
                    <a:gd name="T54" fmla="*/ 21 w 76"/>
                    <a:gd name="T55" fmla="*/ 199 h 399"/>
                    <a:gd name="T56" fmla="*/ 23 w 76"/>
                    <a:gd name="T57" fmla="*/ 192 h 399"/>
                    <a:gd name="T58" fmla="*/ 23 w 76"/>
                    <a:gd name="T59" fmla="*/ 182 h 399"/>
                    <a:gd name="T60" fmla="*/ 25 w 76"/>
                    <a:gd name="T61" fmla="*/ 173 h 399"/>
                    <a:gd name="T62" fmla="*/ 25 w 76"/>
                    <a:gd name="T63" fmla="*/ 163 h 399"/>
                    <a:gd name="T64" fmla="*/ 27 w 76"/>
                    <a:gd name="T65" fmla="*/ 154 h 399"/>
                    <a:gd name="T66" fmla="*/ 27 w 76"/>
                    <a:gd name="T67" fmla="*/ 146 h 399"/>
                    <a:gd name="T68" fmla="*/ 27 w 76"/>
                    <a:gd name="T69" fmla="*/ 137 h 399"/>
                    <a:gd name="T70" fmla="*/ 27 w 76"/>
                    <a:gd name="T71" fmla="*/ 129 h 399"/>
                    <a:gd name="T72" fmla="*/ 28 w 76"/>
                    <a:gd name="T73" fmla="*/ 119 h 399"/>
                    <a:gd name="T74" fmla="*/ 28 w 76"/>
                    <a:gd name="T75" fmla="*/ 112 h 399"/>
                    <a:gd name="T76" fmla="*/ 30 w 76"/>
                    <a:gd name="T77" fmla="*/ 102 h 399"/>
                    <a:gd name="T78" fmla="*/ 30 w 76"/>
                    <a:gd name="T79" fmla="*/ 95 h 399"/>
                    <a:gd name="T80" fmla="*/ 32 w 76"/>
                    <a:gd name="T81" fmla="*/ 87 h 399"/>
                    <a:gd name="T82" fmla="*/ 32 w 76"/>
                    <a:gd name="T83" fmla="*/ 80 h 399"/>
                    <a:gd name="T84" fmla="*/ 34 w 76"/>
                    <a:gd name="T85" fmla="*/ 72 h 399"/>
                    <a:gd name="T86" fmla="*/ 34 w 76"/>
                    <a:gd name="T87" fmla="*/ 64 h 399"/>
                    <a:gd name="T88" fmla="*/ 36 w 76"/>
                    <a:gd name="T89" fmla="*/ 59 h 399"/>
                    <a:gd name="T90" fmla="*/ 36 w 76"/>
                    <a:gd name="T91" fmla="*/ 53 h 399"/>
                    <a:gd name="T92" fmla="*/ 38 w 76"/>
                    <a:gd name="T93" fmla="*/ 45 h 399"/>
                    <a:gd name="T94" fmla="*/ 38 w 76"/>
                    <a:gd name="T95" fmla="*/ 40 h 399"/>
                    <a:gd name="T96" fmla="*/ 38 w 76"/>
                    <a:gd name="T97" fmla="*/ 34 h 399"/>
                    <a:gd name="T98" fmla="*/ 38 w 76"/>
                    <a:gd name="T99" fmla="*/ 28 h 399"/>
                    <a:gd name="T100" fmla="*/ 40 w 76"/>
                    <a:gd name="T101" fmla="*/ 24 h 399"/>
                    <a:gd name="T102" fmla="*/ 40 w 76"/>
                    <a:gd name="T103" fmla="*/ 19 h 399"/>
                    <a:gd name="T104" fmla="*/ 40 w 76"/>
                    <a:gd name="T105" fmla="*/ 15 h 399"/>
                    <a:gd name="T106" fmla="*/ 42 w 76"/>
                    <a:gd name="T107" fmla="*/ 9 h 399"/>
                    <a:gd name="T108" fmla="*/ 42 w 76"/>
                    <a:gd name="T109" fmla="*/ 4 h 399"/>
                    <a:gd name="T110" fmla="*/ 42 w 76"/>
                    <a:gd name="T111" fmla="*/ 2 h 399"/>
                    <a:gd name="T112" fmla="*/ 44 w 76"/>
                    <a:gd name="T113" fmla="*/ 0 h 399"/>
                    <a:gd name="T114" fmla="*/ 76 w 76"/>
                    <a:gd name="T115" fmla="*/ 0 h 399"/>
                    <a:gd name="T116" fmla="*/ 28 w 76"/>
                    <a:gd name="T117" fmla="*/ 399 h 399"/>
                    <a:gd name="T118" fmla="*/ 0 w 76"/>
                    <a:gd name="T119" fmla="*/ 399 h 399"/>
                    <a:gd name="T120" fmla="*/ 0 w 76"/>
                    <a:gd name="T121" fmla="*/ 399 h 3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76" h="399">
                      <a:moveTo>
                        <a:pt x="0" y="399"/>
                      </a:moveTo>
                      <a:lnTo>
                        <a:pt x="0" y="395"/>
                      </a:lnTo>
                      <a:lnTo>
                        <a:pt x="0" y="391"/>
                      </a:lnTo>
                      <a:lnTo>
                        <a:pt x="2" y="384"/>
                      </a:lnTo>
                      <a:lnTo>
                        <a:pt x="4" y="376"/>
                      </a:lnTo>
                      <a:lnTo>
                        <a:pt x="4" y="370"/>
                      </a:lnTo>
                      <a:lnTo>
                        <a:pt x="4" y="365"/>
                      </a:lnTo>
                      <a:lnTo>
                        <a:pt x="4" y="359"/>
                      </a:lnTo>
                      <a:lnTo>
                        <a:pt x="4" y="353"/>
                      </a:lnTo>
                      <a:lnTo>
                        <a:pt x="4" y="348"/>
                      </a:lnTo>
                      <a:lnTo>
                        <a:pt x="6" y="340"/>
                      </a:lnTo>
                      <a:lnTo>
                        <a:pt x="6" y="334"/>
                      </a:lnTo>
                      <a:lnTo>
                        <a:pt x="7" y="327"/>
                      </a:lnTo>
                      <a:lnTo>
                        <a:pt x="7" y="319"/>
                      </a:lnTo>
                      <a:lnTo>
                        <a:pt x="9" y="311"/>
                      </a:lnTo>
                      <a:lnTo>
                        <a:pt x="9" y="304"/>
                      </a:lnTo>
                      <a:lnTo>
                        <a:pt x="9" y="296"/>
                      </a:lnTo>
                      <a:lnTo>
                        <a:pt x="11" y="287"/>
                      </a:lnTo>
                      <a:lnTo>
                        <a:pt x="11" y="279"/>
                      </a:lnTo>
                      <a:lnTo>
                        <a:pt x="13" y="272"/>
                      </a:lnTo>
                      <a:lnTo>
                        <a:pt x="15" y="262"/>
                      </a:lnTo>
                      <a:lnTo>
                        <a:pt x="15" y="254"/>
                      </a:lnTo>
                      <a:lnTo>
                        <a:pt x="15" y="245"/>
                      </a:lnTo>
                      <a:lnTo>
                        <a:pt x="17" y="235"/>
                      </a:lnTo>
                      <a:lnTo>
                        <a:pt x="19" y="226"/>
                      </a:lnTo>
                      <a:lnTo>
                        <a:pt x="19" y="218"/>
                      </a:lnTo>
                      <a:lnTo>
                        <a:pt x="21" y="209"/>
                      </a:lnTo>
                      <a:lnTo>
                        <a:pt x="21" y="199"/>
                      </a:lnTo>
                      <a:lnTo>
                        <a:pt x="23" y="192"/>
                      </a:lnTo>
                      <a:lnTo>
                        <a:pt x="23" y="182"/>
                      </a:lnTo>
                      <a:lnTo>
                        <a:pt x="25" y="173"/>
                      </a:lnTo>
                      <a:lnTo>
                        <a:pt x="25" y="163"/>
                      </a:lnTo>
                      <a:lnTo>
                        <a:pt x="27" y="154"/>
                      </a:lnTo>
                      <a:lnTo>
                        <a:pt x="27" y="146"/>
                      </a:lnTo>
                      <a:lnTo>
                        <a:pt x="27" y="137"/>
                      </a:lnTo>
                      <a:lnTo>
                        <a:pt x="27" y="129"/>
                      </a:lnTo>
                      <a:lnTo>
                        <a:pt x="28" y="119"/>
                      </a:lnTo>
                      <a:lnTo>
                        <a:pt x="28" y="112"/>
                      </a:lnTo>
                      <a:lnTo>
                        <a:pt x="30" y="102"/>
                      </a:lnTo>
                      <a:lnTo>
                        <a:pt x="30" y="95"/>
                      </a:lnTo>
                      <a:lnTo>
                        <a:pt x="32" y="87"/>
                      </a:lnTo>
                      <a:lnTo>
                        <a:pt x="32" y="80"/>
                      </a:lnTo>
                      <a:lnTo>
                        <a:pt x="34" y="72"/>
                      </a:lnTo>
                      <a:lnTo>
                        <a:pt x="34" y="64"/>
                      </a:lnTo>
                      <a:lnTo>
                        <a:pt x="36" y="59"/>
                      </a:lnTo>
                      <a:lnTo>
                        <a:pt x="36" y="53"/>
                      </a:lnTo>
                      <a:lnTo>
                        <a:pt x="38" y="45"/>
                      </a:lnTo>
                      <a:lnTo>
                        <a:pt x="38" y="40"/>
                      </a:lnTo>
                      <a:lnTo>
                        <a:pt x="38" y="34"/>
                      </a:lnTo>
                      <a:lnTo>
                        <a:pt x="38" y="28"/>
                      </a:lnTo>
                      <a:lnTo>
                        <a:pt x="40" y="24"/>
                      </a:lnTo>
                      <a:lnTo>
                        <a:pt x="40" y="19"/>
                      </a:lnTo>
                      <a:lnTo>
                        <a:pt x="40" y="15"/>
                      </a:lnTo>
                      <a:lnTo>
                        <a:pt x="42" y="9"/>
                      </a:lnTo>
                      <a:lnTo>
                        <a:pt x="42" y="4"/>
                      </a:lnTo>
                      <a:lnTo>
                        <a:pt x="42" y="2"/>
                      </a:lnTo>
                      <a:lnTo>
                        <a:pt x="44" y="0"/>
                      </a:lnTo>
                      <a:lnTo>
                        <a:pt x="76" y="0"/>
                      </a:lnTo>
                      <a:lnTo>
                        <a:pt x="28" y="399"/>
                      </a:lnTo>
                      <a:lnTo>
                        <a:pt x="0" y="399"/>
                      </a:lnTo>
                      <a:lnTo>
                        <a:pt x="0" y="3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6" name="Freeform 130"/>
                <p:cNvSpPr>
                  <a:spLocks/>
                </p:cNvSpPr>
                <p:nvPr/>
              </p:nvSpPr>
              <p:spPr bwMode="auto">
                <a:xfrm>
                  <a:off x="3767" y="3059"/>
                  <a:ext cx="47" cy="178"/>
                </a:xfrm>
                <a:custGeom>
                  <a:avLst/>
                  <a:gdLst>
                    <a:gd name="T0" fmla="*/ 0 w 97"/>
                    <a:gd name="T1" fmla="*/ 409 h 409"/>
                    <a:gd name="T2" fmla="*/ 65 w 97"/>
                    <a:gd name="T3" fmla="*/ 0 h 409"/>
                    <a:gd name="T4" fmla="*/ 97 w 97"/>
                    <a:gd name="T5" fmla="*/ 4 h 409"/>
                    <a:gd name="T6" fmla="*/ 36 w 97"/>
                    <a:gd name="T7" fmla="*/ 403 h 409"/>
                    <a:gd name="T8" fmla="*/ 0 w 97"/>
                    <a:gd name="T9" fmla="*/ 409 h 409"/>
                    <a:gd name="T10" fmla="*/ 0 w 97"/>
                    <a:gd name="T11" fmla="*/ 409 h 4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7" h="409">
                      <a:moveTo>
                        <a:pt x="0" y="409"/>
                      </a:moveTo>
                      <a:lnTo>
                        <a:pt x="65" y="0"/>
                      </a:lnTo>
                      <a:lnTo>
                        <a:pt x="97" y="4"/>
                      </a:lnTo>
                      <a:lnTo>
                        <a:pt x="36" y="403"/>
                      </a:lnTo>
                      <a:lnTo>
                        <a:pt x="0" y="409"/>
                      </a:lnTo>
                      <a:lnTo>
                        <a:pt x="0" y="4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7" name="Freeform 131"/>
                <p:cNvSpPr>
                  <a:spLocks/>
                </p:cNvSpPr>
                <p:nvPr/>
              </p:nvSpPr>
              <p:spPr bwMode="auto">
                <a:xfrm>
                  <a:off x="3675" y="3065"/>
                  <a:ext cx="47" cy="180"/>
                </a:xfrm>
                <a:custGeom>
                  <a:avLst/>
                  <a:gdLst>
                    <a:gd name="T0" fmla="*/ 0 w 99"/>
                    <a:gd name="T1" fmla="*/ 414 h 414"/>
                    <a:gd name="T2" fmla="*/ 63 w 99"/>
                    <a:gd name="T3" fmla="*/ 0 h 414"/>
                    <a:gd name="T4" fmla="*/ 99 w 99"/>
                    <a:gd name="T5" fmla="*/ 0 h 414"/>
                    <a:gd name="T6" fmla="*/ 33 w 99"/>
                    <a:gd name="T7" fmla="*/ 410 h 414"/>
                    <a:gd name="T8" fmla="*/ 0 w 99"/>
                    <a:gd name="T9" fmla="*/ 414 h 414"/>
                    <a:gd name="T10" fmla="*/ 0 w 99"/>
                    <a:gd name="T11" fmla="*/ 414 h 4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9" h="414">
                      <a:moveTo>
                        <a:pt x="0" y="414"/>
                      </a:moveTo>
                      <a:lnTo>
                        <a:pt x="63" y="0"/>
                      </a:lnTo>
                      <a:lnTo>
                        <a:pt x="99" y="0"/>
                      </a:lnTo>
                      <a:lnTo>
                        <a:pt x="33" y="410"/>
                      </a:lnTo>
                      <a:lnTo>
                        <a:pt x="0" y="414"/>
                      </a:lnTo>
                      <a:lnTo>
                        <a:pt x="0" y="4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8" name="Freeform 132"/>
                <p:cNvSpPr>
                  <a:spLocks/>
                </p:cNvSpPr>
                <p:nvPr/>
              </p:nvSpPr>
              <p:spPr bwMode="auto">
                <a:xfrm>
                  <a:off x="3591" y="3066"/>
                  <a:ext cx="35" cy="182"/>
                </a:xfrm>
                <a:custGeom>
                  <a:avLst/>
                  <a:gdLst>
                    <a:gd name="T0" fmla="*/ 0 w 74"/>
                    <a:gd name="T1" fmla="*/ 419 h 419"/>
                    <a:gd name="T2" fmla="*/ 40 w 74"/>
                    <a:gd name="T3" fmla="*/ 0 h 419"/>
                    <a:gd name="T4" fmla="*/ 74 w 74"/>
                    <a:gd name="T5" fmla="*/ 4 h 419"/>
                    <a:gd name="T6" fmla="*/ 34 w 74"/>
                    <a:gd name="T7" fmla="*/ 419 h 419"/>
                    <a:gd name="T8" fmla="*/ 0 w 74"/>
                    <a:gd name="T9" fmla="*/ 419 h 419"/>
                    <a:gd name="T10" fmla="*/ 0 w 74"/>
                    <a:gd name="T11" fmla="*/ 419 h 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419">
                      <a:moveTo>
                        <a:pt x="0" y="419"/>
                      </a:moveTo>
                      <a:lnTo>
                        <a:pt x="40" y="0"/>
                      </a:lnTo>
                      <a:lnTo>
                        <a:pt x="74" y="4"/>
                      </a:lnTo>
                      <a:lnTo>
                        <a:pt x="34" y="419"/>
                      </a:lnTo>
                      <a:lnTo>
                        <a:pt x="0" y="419"/>
                      </a:lnTo>
                      <a:lnTo>
                        <a:pt x="0" y="4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9" name="Freeform 133"/>
                <p:cNvSpPr>
                  <a:spLocks/>
                </p:cNvSpPr>
                <p:nvPr/>
              </p:nvSpPr>
              <p:spPr bwMode="auto">
                <a:xfrm>
                  <a:off x="3495" y="3071"/>
                  <a:ext cx="50" cy="186"/>
                </a:xfrm>
                <a:custGeom>
                  <a:avLst/>
                  <a:gdLst>
                    <a:gd name="T0" fmla="*/ 0 w 107"/>
                    <a:gd name="T1" fmla="*/ 426 h 426"/>
                    <a:gd name="T2" fmla="*/ 69 w 107"/>
                    <a:gd name="T3" fmla="*/ 0 h 426"/>
                    <a:gd name="T4" fmla="*/ 107 w 107"/>
                    <a:gd name="T5" fmla="*/ 0 h 426"/>
                    <a:gd name="T6" fmla="*/ 40 w 107"/>
                    <a:gd name="T7" fmla="*/ 418 h 426"/>
                    <a:gd name="T8" fmla="*/ 0 w 107"/>
                    <a:gd name="T9" fmla="*/ 426 h 426"/>
                    <a:gd name="T10" fmla="*/ 0 w 107"/>
                    <a:gd name="T11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7" h="426">
                      <a:moveTo>
                        <a:pt x="0" y="426"/>
                      </a:moveTo>
                      <a:lnTo>
                        <a:pt x="69" y="0"/>
                      </a:lnTo>
                      <a:lnTo>
                        <a:pt x="107" y="0"/>
                      </a:lnTo>
                      <a:lnTo>
                        <a:pt x="40" y="418"/>
                      </a:lnTo>
                      <a:lnTo>
                        <a:pt x="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0" name="Freeform 134"/>
                <p:cNvSpPr>
                  <a:spLocks/>
                </p:cNvSpPr>
                <p:nvPr/>
              </p:nvSpPr>
              <p:spPr bwMode="auto">
                <a:xfrm>
                  <a:off x="3409" y="3073"/>
                  <a:ext cx="45" cy="188"/>
                </a:xfrm>
                <a:custGeom>
                  <a:avLst/>
                  <a:gdLst>
                    <a:gd name="T0" fmla="*/ 0 w 97"/>
                    <a:gd name="T1" fmla="*/ 431 h 431"/>
                    <a:gd name="T2" fmla="*/ 60 w 97"/>
                    <a:gd name="T3" fmla="*/ 0 h 431"/>
                    <a:gd name="T4" fmla="*/ 97 w 97"/>
                    <a:gd name="T5" fmla="*/ 3 h 431"/>
                    <a:gd name="T6" fmla="*/ 32 w 97"/>
                    <a:gd name="T7" fmla="*/ 431 h 431"/>
                    <a:gd name="T8" fmla="*/ 0 w 97"/>
                    <a:gd name="T9" fmla="*/ 431 h 431"/>
                    <a:gd name="T10" fmla="*/ 0 w 97"/>
                    <a:gd name="T11" fmla="*/ 431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7" h="431">
                      <a:moveTo>
                        <a:pt x="0" y="431"/>
                      </a:moveTo>
                      <a:lnTo>
                        <a:pt x="60" y="0"/>
                      </a:lnTo>
                      <a:lnTo>
                        <a:pt x="97" y="3"/>
                      </a:lnTo>
                      <a:lnTo>
                        <a:pt x="32" y="431"/>
                      </a:lnTo>
                      <a:lnTo>
                        <a:pt x="0" y="431"/>
                      </a:lnTo>
                      <a:lnTo>
                        <a:pt x="0" y="4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1" name="Freeform 135"/>
                <p:cNvSpPr>
                  <a:spLocks/>
                </p:cNvSpPr>
                <p:nvPr/>
              </p:nvSpPr>
              <p:spPr bwMode="auto">
                <a:xfrm>
                  <a:off x="3335" y="3076"/>
                  <a:ext cx="42" cy="190"/>
                </a:xfrm>
                <a:custGeom>
                  <a:avLst/>
                  <a:gdLst>
                    <a:gd name="T0" fmla="*/ 0 w 91"/>
                    <a:gd name="T1" fmla="*/ 437 h 437"/>
                    <a:gd name="T2" fmla="*/ 51 w 91"/>
                    <a:gd name="T3" fmla="*/ 8 h 437"/>
                    <a:gd name="T4" fmla="*/ 91 w 91"/>
                    <a:gd name="T5" fmla="*/ 0 h 437"/>
                    <a:gd name="T6" fmla="*/ 32 w 91"/>
                    <a:gd name="T7" fmla="*/ 436 h 437"/>
                    <a:gd name="T8" fmla="*/ 0 w 91"/>
                    <a:gd name="T9" fmla="*/ 437 h 437"/>
                    <a:gd name="T10" fmla="*/ 0 w 91"/>
                    <a:gd name="T11" fmla="*/ 437 h 4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1" h="437">
                      <a:moveTo>
                        <a:pt x="0" y="437"/>
                      </a:moveTo>
                      <a:lnTo>
                        <a:pt x="51" y="8"/>
                      </a:lnTo>
                      <a:lnTo>
                        <a:pt x="91" y="0"/>
                      </a:lnTo>
                      <a:lnTo>
                        <a:pt x="32" y="436"/>
                      </a:lnTo>
                      <a:lnTo>
                        <a:pt x="0" y="437"/>
                      </a:lnTo>
                      <a:lnTo>
                        <a:pt x="0" y="4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2" name="Freeform 136"/>
                <p:cNvSpPr>
                  <a:spLocks/>
                </p:cNvSpPr>
                <p:nvPr/>
              </p:nvSpPr>
              <p:spPr bwMode="auto">
                <a:xfrm>
                  <a:off x="3258" y="3078"/>
                  <a:ext cx="34" cy="187"/>
                </a:xfrm>
                <a:custGeom>
                  <a:avLst/>
                  <a:gdLst>
                    <a:gd name="T0" fmla="*/ 0 w 70"/>
                    <a:gd name="T1" fmla="*/ 428 h 428"/>
                    <a:gd name="T2" fmla="*/ 36 w 70"/>
                    <a:gd name="T3" fmla="*/ 4 h 428"/>
                    <a:gd name="T4" fmla="*/ 70 w 70"/>
                    <a:gd name="T5" fmla="*/ 0 h 428"/>
                    <a:gd name="T6" fmla="*/ 40 w 70"/>
                    <a:gd name="T7" fmla="*/ 422 h 428"/>
                    <a:gd name="T8" fmla="*/ 0 w 70"/>
                    <a:gd name="T9" fmla="*/ 428 h 428"/>
                    <a:gd name="T10" fmla="*/ 0 w 70"/>
                    <a:gd name="T11" fmla="*/ 428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0" h="428">
                      <a:moveTo>
                        <a:pt x="0" y="428"/>
                      </a:moveTo>
                      <a:lnTo>
                        <a:pt x="36" y="4"/>
                      </a:lnTo>
                      <a:lnTo>
                        <a:pt x="70" y="0"/>
                      </a:lnTo>
                      <a:lnTo>
                        <a:pt x="40" y="422"/>
                      </a:lnTo>
                      <a:lnTo>
                        <a:pt x="0" y="428"/>
                      </a:lnTo>
                      <a:lnTo>
                        <a:pt x="0" y="4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3" name="Freeform 137"/>
                <p:cNvSpPr>
                  <a:spLocks/>
                </p:cNvSpPr>
                <p:nvPr/>
              </p:nvSpPr>
              <p:spPr bwMode="auto">
                <a:xfrm>
                  <a:off x="3179" y="3103"/>
                  <a:ext cx="759" cy="49"/>
                </a:xfrm>
                <a:custGeom>
                  <a:avLst/>
                  <a:gdLst>
                    <a:gd name="T0" fmla="*/ 1607 w 1607"/>
                    <a:gd name="T1" fmla="*/ 0 h 114"/>
                    <a:gd name="T2" fmla="*/ 1605 w 1607"/>
                    <a:gd name="T3" fmla="*/ 38 h 114"/>
                    <a:gd name="T4" fmla="*/ 1597 w 1607"/>
                    <a:gd name="T5" fmla="*/ 38 h 114"/>
                    <a:gd name="T6" fmla="*/ 1580 w 1607"/>
                    <a:gd name="T7" fmla="*/ 38 h 114"/>
                    <a:gd name="T8" fmla="*/ 1559 w 1607"/>
                    <a:gd name="T9" fmla="*/ 40 h 114"/>
                    <a:gd name="T10" fmla="*/ 1529 w 1607"/>
                    <a:gd name="T11" fmla="*/ 40 h 114"/>
                    <a:gd name="T12" fmla="*/ 1494 w 1607"/>
                    <a:gd name="T13" fmla="*/ 40 h 114"/>
                    <a:gd name="T14" fmla="*/ 1455 w 1607"/>
                    <a:gd name="T15" fmla="*/ 42 h 114"/>
                    <a:gd name="T16" fmla="*/ 1407 w 1607"/>
                    <a:gd name="T17" fmla="*/ 44 h 114"/>
                    <a:gd name="T18" fmla="*/ 1358 w 1607"/>
                    <a:gd name="T19" fmla="*/ 46 h 114"/>
                    <a:gd name="T20" fmla="*/ 1302 w 1607"/>
                    <a:gd name="T21" fmla="*/ 48 h 114"/>
                    <a:gd name="T22" fmla="*/ 1243 w 1607"/>
                    <a:gd name="T23" fmla="*/ 51 h 114"/>
                    <a:gd name="T24" fmla="*/ 1183 w 1607"/>
                    <a:gd name="T25" fmla="*/ 53 h 114"/>
                    <a:gd name="T26" fmla="*/ 1118 w 1607"/>
                    <a:gd name="T27" fmla="*/ 55 h 114"/>
                    <a:gd name="T28" fmla="*/ 1051 w 1607"/>
                    <a:gd name="T29" fmla="*/ 59 h 114"/>
                    <a:gd name="T30" fmla="*/ 983 w 1607"/>
                    <a:gd name="T31" fmla="*/ 61 h 114"/>
                    <a:gd name="T32" fmla="*/ 914 w 1607"/>
                    <a:gd name="T33" fmla="*/ 63 h 114"/>
                    <a:gd name="T34" fmla="*/ 844 w 1607"/>
                    <a:gd name="T35" fmla="*/ 67 h 114"/>
                    <a:gd name="T36" fmla="*/ 774 w 1607"/>
                    <a:gd name="T37" fmla="*/ 70 h 114"/>
                    <a:gd name="T38" fmla="*/ 701 w 1607"/>
                    <a:gd name="T39" fmla="*/ 72 h 114"/>
                    <a:gd name="T40" fmla="*/ 631 w 1607"/>
                    <a:gd name="T41" fmla="*/ 76 h 114"/>
                    <a:gd name="T42" fmla="*/ 563 w 1607"/>
                    <a:gd name="T43" fmla="*/ 80 h 114"/>
                    <a:gd name="T44" fmla="*/ 494 w 1607"/>
                    <a:gd name="T45" fmla="*/ 82 h 114"/>
                    <a:gd name="T46" fmla="*/ 429 w 1607"/>
                    <a:gd name="T47" fmla="*/ 86 h 114"/>
                    <a:gd name="T48" fmla="*/ 367 w 1607"/>
                    <a:gd name="T49" fmla="*/ 87 h 114"/>
                    <a:gd name="T50" fmla="*/ 306 w 1607"/>
                    <a:gd name="T51" fmla="*/ 91 h 114"/>
                    <a:gd name="T52" fmla="*/ 249 w 1607"/>
                    <a:gd name="T53" fmla="*/ 95 h 114"/>
                    <a:gd name="T54" fmla="*/ 197 w 1607"/>
                    <a:gd name="T55" fmla="*/ 97 h 114"/>
                    <a:gd name="T56" fmla="*/ 148 w 1607"/>
                    <a:gd name="T57" fmla="*/ 101 h 114"/>
                    <a:gd name="T58" fmla="*/ 104 w 1607"/>
                    <a:gd name="T59" fmla="*/ 105 h 114"/>
                    <a:gd name="T60" fmla="*/ 68 w 1607"/>
                    <a:gd name="T61" fmla="*/ 107 h 114"/>
                    <a:gd name="T62" fmla="*/ 34 w 1607"/>
                    <a:gd name="T63" fmla="*/ 108 h 114"/>
                    <a:gd name="T64" fmla="*/ 9 w 1607"/>
                    <a:gd name="T65" fmla="*/ 112 h 114"/>
                    <a:gd name="T66" fmla="*/ 0 w 1607"/>
                    <a:gd name="T67" fmla="*/ 82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607" h="114">
                      <a:moveTo>
                        <a:pt x="0" y="82"/>
                      </a:moveTo>
                      <a:lnTo>
                        <a:pt x="1607" y="0"/>
                      </a:lnTo>
                      <a:lnTo>
                        <a:pt x="1607" y="38"/>
                      </a:lnTo>
                      <a:lnTo>
                        <a:pt x="1605" y="38"/>
                      </a:lnTo>
                      <a:lnTo>
                        <a:pt x="1601" y="38"/>
                      </a:lnTo>
                      <a:lnTo>
                        <a:pt x="1597" y="38"/>
                      </a:lnTo>
                      <a:lnTo>
                        <a:pt x="1590" y="38"/>
                      </a:lnTo>
                      <a:lnTo>
                        <a:pt x="1580" y="38"/>
                      </a:lnTo>
                      <a:lnTo>
                        <a:pt x="1571" y="38"/>
                      </a:lnTo>
                      <a:lnTo>
                        <a:pt x="1559" y="40"/>
                      </a:lnTo>
                      <a:lnTo>
                        <a:pt x="1546" y="40"/>
                      </a:lnTo>
                      <a:lnTo>
                        <a:pt x="1529" y="40"/>
                      </a:lnTo>
                      <a:lnTo>
                        <a:pt x="1513" y="40"/>
                      </a:lnTo>
                      <a:lnTo>
                        <a:pt x="1494" y="40"/>
                      </a:lnTo>
                      <a:lnTo>
                        <a:pt x="1475" y="42"/>
                      </a:lnTo>
                      <a:lnTo>
                        <a:pt x="1455" y="42"/>
                      </a:lnTo>
                      <a:lnTo>
                        <a:pt x="1432" y="44"/>
                      </a:lnTo>
                      <a:lnTo>
                        <a:pt x="1407" y="44"/>
                      </a:lnTo>
                      <a:lnTo>
                        <a:pt x="1384" y="46"/>
                      </a:lnTo>
                      <a:lnTo>
                        <a:pt x="1358" y="46"/>
                      </a:lnTo>
                      <a:lnTo>
                        <a:pt x="1331" y="48"/>
                      </a:lnTo>
                      <a:lnTo>
                        <a:pt x="1302" y="48"/>
                      </a:lnTo>
                      <a:lnTo>
                        <a:pt x="1274" y="49"/>
                      </a:lnTo>
                      <a:lnTo>
                        <a:pt x="1243" y="51"/>
                      </a:lnTo>
                      <a:lnTo>
                        <a:pt x="1213" y="51"/>
                      </a:lnTo>
                      <a:lnTo>
                        <a:pt x="1183" y="53"/>
                      </a:lnTo>
                      <a:lnTo>
                        <a:pt x="1152" y="55"/>
                      </a:lnTo>
                      <a:lnTo>
                        <a:pt x="1118" y="55"/>
                      </a:lnTo>
                      <a:lnTo>
                        <a:pt x="1086" y="57"/>
                      </a:lnTo>
                      <a:lnTo>
                        <a:pt x="1051" y="59"/>
                      </a:lnTo>
                      <a:lnTo>
                        <a:pt x="1019" y="59"/>
                      </a:lnTo>
                      <a:lnTo>
                        <a:pt x="983" y="61"/>
                      </a:lnTo>
                      <a:lnTo>
                        <a:pt x="949" y="63"/>
                      </a:lnTo>
                      <a:lnTo>
                        <a:pt x="914" y="63"/>
                      </a:lnTo>
                      <a:lnTo>
                        <a:pt x="880" y="67"/>
                      </a:lnTo>
                      <a:lnTo>
                        <a:pt x="844" y="67"/>
                      </a:lnTo>
                      <a:lnTo>
                        <a:pt x="808" y="68"/>
                      </a:lnTo>
                      <a:lnTo>
                        <a:pt x="774" y="70"/>
                      </a:lnTo>
                      <a:lnTo>
                        <a:pt x="738" y="72"/>
                      </a:lnTo>
                      <a:lnTo>
                        <a:pt x="701" y="72"/>
                      </a:lnTo>
                      <a:lnTo>
                        <a:pt x="667" y="74"/>
                      </a:lnTo>
                      <a:lnTo>
                        <a:pt x="631" y="76"/>
                      </a:lnTo>
                      <a:lnTo>
                        <a:pt x="597" y="78"/>
                      </a:lnTo>
                      <a:lnTo>
                        <a:pt x="563" y="80"/>
                      </a:lnTo>
                      <a:lnTo>
                        <a:pt x="528" y="82"/>
                      </a:lnTo>
                      <a:lnTo>
                        <a:pt x="494" y="82"/>
                      </a:lnTo>
                      <a:lnTo>
                        <a:pt x="462" y="84"/>
                      </a:lnTo>
                      <a:lnTo>
                        <a:pt x="429" y="86"/>
                      </a:lnTo>
                      <a:lnTo>
                        <a:pt x="399" y="87"/>
                      </a:lnTo>
                      <a:lnTo>
                        <a:pt x="367" y="87"/>
                      </a:lnTo>
                      <a:lnTo>
                        <a:pt x="336" y="91"/>
                      </a:lnTo>
                      <a:lnTo>
                        <a:pt x="306" y="91"/>
                      </a:lnTo>
                      <a:lnTo>
                        <a:pt x="277" y="93"/>
                      </a:lnTo>
                      <a:lnTo>
                        <a:pt x="249" y="95"/>
                      </a:lnTo>
                      <a:lnTo>
                        <a:pt x="222" y="97"/>
                      </a:lnTo>
                      <a:lnTo>
                        <a:pt x="197" y="97"/>
                      </a:lnTo>
                      <a:lnTo>
                        <a:pt x="173" y="99"/>
                      </a:lnTo>
                      <a:lnTo>
                        <a:pt x="148" y="101"/>
                      </a:lnTo>
                      <a:lnTo>
                        <a:pt x="127" y="103"/>
                      </a:lnTo>
                      <a:lnTo>
                        <a:pt x="104" y="105"/>
                      </a:lnTo>
                      <a:lnTo>
                        <a:pt x="85" y="107"/>
                      </a:lnTo>
                      <a:lnTo>
                        <a:pt x="68" y="107"/>
                      </a:lnTo>
                      <a:lnTo>
                        <a:pt x="51" y="108"/>
                      </a:lnTo>
                      <a:lnTo>
                        <a:pt x="34" y="108"/>
                      </a:lnTo>
                      <a:lnTo>
                        <a:pt x="21" y="110"/>
                      </a:lnTo>
                      <a:lnTo>
                        <a:pt x="9" y="112"/>
                      </a:lnTo>
                      <a:lnTo>
                        <a:pt x="0" y="114"/>
                      </a:lnTo>
                      <a:lnTo>
                        <a:pt x="0" y="82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4" name="Freeform 138"/>
                <p:cNvSpPr>
                  <a:spLocks/>
                </p:cNvSpPr>
                <p:nvPr/>
              </p:nvSpPr>
              <p:spPr bwMode="auto">
                <a:xfrm>
                  <a:off x="3179" y="3166"/>
                  <a:ext cx="750" cy="43"/>
                </a:xfrm>
                <a:custGeom>
                  <a:avLst/>
                  <a:gdLst>
                    <a:gd name="T0" fmla="*/ 2 w 1588"/>
                    <a:gd name="T1" fmla="*/ 67 h 97"/>
                    <a:gd name="T2" fmla="*/ 21 w 1588"/>
                    <a:gd name="T3" fmla="*/ 65 h 97"/>
                    <a:gd name="T4" fmla="*/ 57 w 1588"/>
                    <a:gd name="T5" fmla="*/ 65 h 97"/>
                    <a:gd name="T6" fmla="*/ 106 w 1588"/>
                    <a:gd name="T7" fmla="*/ 61 h 97"/>
                    <a:gd name="T8" fmla="*/ 167 w 1588"/>
                    <a:gd name="T9" fmla="*/ 59 h 97"/>
                    <a:gd name="T10" fmla="*/ 239 w 1588"/>
                    <a:gd name="T11" fmla="*/ 57 h 97"/>
                    <a:gd name="T12" fmla="*/ 321 w 1588"/>
                    <a:gd name="T13" fmla="*/ 54 h 97"/>
                    <a:gd name="T14" fmla="*/ 409 w 1588"/>
                    <a:gd name="T15" fmla="*/ 50 h 97"/>
                    <a:gd name="T16" fmla="*/ 506 w 1588"/>
                    <a:gd name="T17" fmla="*/ 46 h 97"/>
                    <a:gd name="T18" fmla="*/ 604 w 1588"/>
                    <a:gd name="T19" fmla="*/ 42 h 97"/>
                    <a:gd name="T20" fmla="*/ 707 w 1588"/>
                    <a:gd name="T21" fmla="*/ 38 h 97"/>
                    <a:gd name="T22" fmla="*/ 812 w 1588"/>
                    <a:gd name="T23" fmla="*/ 33 h 97"/>
                    <a:gd name="T24" fmla="*/ 916 w 1588"/>
                    <a:gd name="T25" fmla="*/ 29 h 97"/>
                    <a:gd name="T26" fmla="*/ 1017 w 1588"/>
                    <a:gd name="T27" fmla="*/ 25 h 97"/>
                    <a:gd name="T28" fmla="*/ 1116 w 1588"/>
                    <a:gd name="T29" fmla="*/ 19 h 97"/>
                    <a:gd name="T30" fmla="*/ 1211 w 1588"/>
                    <a:gd name="T31" fmla="*/ 16 h 97"/>
                    <a:gd name="T32" fmla="*/ 1300 w 1588"/>
                    <a:gd name="T33" fmla="*/ 14 h 97"/>
                    <a:gd name="T34" fmla="*/ 1382 w 1588"/>
                    <a:gd name="T35" fmla="*/ 8 h 97"/>
                    <a:gd name="T36" fmla="*/ 1455 w 1588"/>
                    <a:gd name="T37" fmla="*/ 6 h 97"/>
                    <a:gd name="T38" fmla="*/ 1513 w 1588"/>
                    <a:gd name="T39" fmla="*/ 2 h 97"/>
                    <a:gd name="T40" fmla="*/ 1563 w 1588"/>
                    <a:gd name="T41" fmla="*/ 0 h 97"/>
                    <a:gd name="T42" fmla="*/ 1582 w 1588"/>
                    <a:gd name="T43" fmla="*/ 35 h 97"/>
                    <a:gd name="T44" fmla="*/ 1572 w 1588"/>
                    <a:gd name="T45" fmla="*/ 35 h 97"/>
                    <a:gd name="T46" fmla="*/ 1551 w 1588"/>
                    <a:gd name="T47" fmla="*/ 35 h 97"/>
                    <a:gd name="T48" fmla="*/ 1515 w 1588"/>
                    <a:gd name="T49" fmla="*/ 37 h 97"/>
                    <a:gd name="T50" fmla="*/ 1470 w 1588"/>
                    <a:gd name="T51" fmla="*/ 38 h 97"/>
                    <a:gd name="T52" fmla="*/ 1411 w 1588"/>
                    <a:gd name="T53" fmla="*/ 38 h 97"/>
                    <a:gd name="T54" fmla="*/ 1344 w 1588"/>
                    <a:gd name="T55" fmla="*/ 40 h 97"/>
                    <a:gd name="T56" fmla="*/ 1268 w 1588"/>
                    <a:gd name="T57" fmla="*/ 42 h 97"/>
                    <a:gd name="T58" fmla="*/ 1186 w 1588"/>
                    <a:gd name="T59" fmla="*/ 46 h 97"/>
                    <a:gd name="T60" fmla="*/ 1097 w 1588"/>
                    <a:gd name="T61" fmla="*/ 48 h 97"/>
                    <a:gd name="T62" fmla="*/ 1004 w 1588"/>
                    <a:gd name="T63" fmla="*/ 52 h 97"/>
                    <a:gd name="T64" fmla="*/ 909 w 1588"/>
                    <a:gd name="T65" fmla="*/ 56 h 97"/>
                    <a:gd name="T66" fmla="*/ 810 w 1588"/>
                    <a:gd name="T67" fmla="*/ 59 h 97"/>
                    <a:gd name="T68" fmla="*/ 709 w 1588"/>
                    <a:gd name="T69" fmla="*/ 61 h 97"/>
                    <a:gd name="T70" fmla="*/ 610 w 1588"/>
                    <a:gd name="T71" fmla="*/ 67 h 97"/>
                    <a:gd name="T72" fmla="*/ 511 w 1588"/>
                    <a:gd name="T73" fmla="*/ 69 h 97"/>
                    <a:gd name="T74" fmla="*/ 418 w 1588"/>
                    <a:gd name="T75" fmla="*/ 75 h 97"/>
                    <a:gd name="T76" fmla="*/ 327 w 1588"/>
                    <a:gd name="T77" fmla="*/ 78 h 97"/>
                    <a:gd name="T78" fmla="*/ 239 w 1588"/>
                    <a:gd name="T79" fmla="*/ 82 h 97"/>
                    <a:gd name="T80" fmla="*/ 159 w 1588"/>
                    <a:gd name="T81" fmla="*/ 86 h 97"/>
                    <a:gd name="T82" fmla="*/ 87 w 1588"/>
                    <a:gd name="T83" fmla="*/ 90 h 97"/>
                    <a:gd name="T84" fmla="*/ 24 w 1588"/>
                    <a:gd name="T85" fmla="*/ 94 h 97"/>
                    <a:gd name="T86" fmla="*/ 0 w 1588"/>
                    <a:gd name="T87" fmla="*/ 67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588" h="97">
                      <a:moveTo>
                        <a:pt x="0" y="67"/>
                      </a:moveTo>
                      <a:lnTo>
                        <a:pt x="0" y="67"/>
                      </a:lnTo>
                      <a:lnTo>
                        <a:pt x="2" y="67"/>
                      </a:lnTo>
                      <a:lnTo>
                        <a:pt x="7" y="67"/>
                      </a:lnTo>
                      <a:lnTo>
                        <a:pt x="13" y="67"/>
                      </a:lnTo>
                      <a:lnTo>
                        <a:pt x="21" y="65"/>
                      </a:lnTo>
                      <a:lnTo>
                        <a:pt x="32" y="65"/>
                      </a:lnTo>
                      <a:lnTo>
                        <a:pt x="43" y="65"/>
                      </a:lnTo>
                      <a:lnTo>
                        <a:pt x="57" y="65"/>
                      </a:lnTo>
                      <a:lnTo>
                        <a:pt x="72" y="63"/>
                      </a:lnTo>
                      <a:lnTo>
                        <a:pt x="89" y="63"/>
                      </a:lnTo>
                      <a:lnTo>
                        <a:pt x="106" y="61"/>
                      </a:lnTo>
                      <a:lnTo>
                        <a:pt x="125" y="61"/>
                      </a:lnTo>
                      <a:lnTo>
                        <a:pt x="144" y="61"/>
                      </a:lnTo>
                      <a:lnTo>
                        <a:pt x="167" y="59"/>
                      </a:lnTo>
                      <a:lnTo>
                        <a:pt x="190" y="59"/>
                      </a:lnTo>
                      <a:lnTo>
                        <a:pt x="215" y="59"/>
                      </a:lnTo>
                      <a:lnTo>
                        <a:pt x="239" y="57"/>
                      </a:lnTo>
                      <a:lnTo>
                        <a:pt x="266" y="56"/>
                      </a:lnTo>
                      <a:lnTo>
                        <a:pt x="293" y="56"/>
                      </a:lnTo>
                      <a:lnTo>
                        <a:pt x="321" y="54"/>
                      </a:lnTo>
                      <a:lnTo>
                        <a:pt x="350" y="52"/>
                      </a:lnTo>
                      <a:lnTo>
                        <a:pt x="380" y="52"/>
                      </a:lnTo>
                      <a:lnTo>
                        <a:pt x="409" y="50"/>
                      </a:lnTo>
                      <a:lnTo>
                        <a:pt x="441" y="50"/>
                      </a:lnTo>
                      <a:lnTo>
                        <a:pt x="471" y="48"/>
                      </a:lnTo>
                      <a:lnTo>
                        <a:pt x="506" y="46"/>
                      </a:lnTo>
                      <a:lnTo>
                        <a:pt x="536" y="44"/>
                      </a:lnTo>
                      <a:lnTo>
                        <a:pt x="572" y="42"/>
                      </a:lnTo>
                      <a:lnTo>
                        <a:pt x="604" y="42"/>
                      </a:lnTo>
                      <a:lnTo>
                        <a:pt x="639" y="40"/>
                      </a:lnTo>
                      <a:lnTo>
                        <a:pt x="673" y="38"/>
                      </a:lnTo>
                      <a:lnTo>
                        <a:pt x="707" y="38"/>
                      </a:lnTo>
                      <a:lnTo>
                        <a:pt x="743" y="37"/>
                      </a:lnTo>
                      <a:lnTo>
                        <a:pt x="777" y="35"/>
                      </a:lnTo>
                      <a:lnTo>
                        <a:pt x="812" y="33"/>
                      </a:lnTo>
                      <a:lnTo>
                        <a:pt x="846" y="31"/>
                      </a:lnTo>
                      <a:lnTo>
                        <a:pt x="880" y="31"/>
                      </a:lnTo>
                      <a:lnTo>
                        <a:pt x="916" y="29"/>
                      </a:lnTo>
                      <a:lnTo>
                        <a:pt x="951" y="27"/>
                      </a:lnTo>
                      <a:lnTo>
                        <a:pt x="985" y="27"/>
                      </a:lnTo>
                      <a:lnTo>
                        <a:pt x="1017" y="25"/>
                      </a:lnTo>
                      <a:lnTo>
                        <a:pt x="1051" y="23"/>
                      </a:lnTo>
                      <a:lnTo>
                        <a:pt x="1084" y="21"/>
                      </a:lnTo>
                      <a:lnTo>
                        <a:pt x="1116" y="19"/>
                      </a:lnTo>
                      <a:lnTo>
                        <a:pt x="1148" y="19"/>
                      </a:lnTo>
                      <a:lnTo>
                        <a:pt x="1181" y="18"/>
                      </a:lnTo>
                      <a:lnTo>
                        <a:pt x="1211" y="16"/>
                      </a:lnTo>
                      <a:lnTo>
                        <a:pt x="1243" y="16"/>
                      </a:lnTo>
                      <a:lnTo>
                        <a:pt x="1272" y="14"/>
                      </a:lnTo>
                      <a:lnTo>
                        <a:pt x="1300" y="14"/>
                      </a:lnTo>
                      <a:lnTo>
                        <a:pt x="1327" y="12"/>
                      </a:lnTo>
                      <a:lnTo>
                        <a:pt x="1356" y="10"/>
                      </a:lnTo>
                      <a:lnTo>
                        <a:pt x="1382" y="8"/>
                      </a:lnTo>
                      <a:lnTo>
                        <a:pt x="1407" y="8"/>
                      </a:lnTo>
                      <a:lnTo>
                        <a:pt x="1432" y="6"/>
                      </a:lnTo>
                      <a:lnTo>
                        <a:pt x="1455" y="6"/>
                      </a:lnTo>
                      <a:lnTo>
                        <a:pt x="1475" y="4"/>
                      </a:lnTo>
                      <a:lnTo>
                        <a:pt x="1494" y="4"/>
                      </a:lnTo>
                      <a:lnTo>
                        <a:pt x="1513" y="2"/>
                      </a:lnTo>
                      <a:lnTo>
                        <a:pt x="1532" y="2"/>
                      </a:lnTo>
                      <a:lnTo>
                        <a:pt x="1548" y="2"/>
                      </a:lnTo>
                      <a:lnTo>
                        <a:pt x="1563" y="0"/>
                      </a:lnTo>
                      <a:lnTo>
                        <a:pt x="1576" y="0"/>
                      </a:lnTo>
                      <a:lnTo>
                        <a:pt x="1588" y="0"/>
                      </a:lnTo>
                      <a:lnTo>
                        <a:pt x="1582" y="35"/>
                      </a:lnTo>
                      <a:lnTo>
                        <a:pt x="1580" y="35"/>
                      </a:lnTo>
                      <a:lnTo>
                        <a:pt x="1578" y="35"/>
                      </a:lnTo>
                      <a:lnTo>
                        <a:pt x="1572" y="35"/>
                      </a:lnTo>
                      <a:lnTo>
                        <a:pt x="1567" y="35"/>
                      </a:lnTo>
                      <a:lnTo>
                        <a:pt x="1559" y="35"/>
                      </a:lnTo>
                      <a:lnTo>
                        <a:pt x="1551" y="35"/>
                      </a:lnTo>
                      <a:lnTo>
                        <a:pt x="1540" y="35"/>
                      </a:lnTo>
                      <a:lnTo>
                        <a:pt x="1531" y="37"/>
                      </a:lnTo>
                      <a:lnTo>
                        <a:pt x="1515" y="37"/>
                      </a:lnTo>
                      <a:lnTo>
                        <a:pt x="1502" y="37"/>
                      </a:lnTo>
                      <a:lnTo>
                        <a:pt x="1485" y="37"/>
                      </a:lnTo>
                      <a:lnTo>
                        <a:pt x="1470" y="38"/>
                      </a:lnTo>
                      <a:lnTo>
                        <a:pt x="1451" y="38"/>
                      </a:lnTo>
                      <a:lnTo>
                        <a:pt x="1432" y="38"/>
                      </a:lnTo>
                      <a:lnTo>
                        <a:pt x="1411" y="38"/>
                      </a:lnTo>
                      <a:lnTo>
                        <a:pt x="1390" y="40"/>
                      </a:lnTo>
                      <a:lnTo>
                        <a:pt x="1367" y="40"/>
                      </a:lnTo>
                      <a:lnTo>
                        <a:pt x="1344" y="40"/>
                      </a:lnTo>
                      <a:lnTo>
                        <a:pt x="1319" y="42"/>
                      </a:lnTo>
                      <a:lnTo>
                        <a:pt x="1295" y="42"/>
                      </a:lnTo>
                      <a:lnTo>
                        <a:pt x="1268" y="42"/>
                      </a:lnTo>
                      <a:lnTo>
                        <a:pt x="1242" y="44"/>
                      </a:lnTo>
                      <a:lnTo>
                        <a:pt x="1213" y="44"/>
                      </a:lnTo>
                      <a:lnTo>
                        <a:pt x="1186" y="46"/>
                      </a:lnTo>
                      <a:lnTo>
                        <a:pt x="1158" y="46"/>
                      </a:lnTo>
                      <a:lnTo>
                        <a:pt x="1127" y="48"/>
                      </a:lnTo>
                      <a:lnTo>
                        <a:pt x="1097" y="48"/>
                      </a:lnTo>
                      <a:lnTo>
                        <a:pt x="1068" y="50"/>
                      </a:lnTo>
                      <a:lnTo>
                        <a:pt x="1036" y="50"/>
                      </a:lnTo>
                      <a:lnTo>
                        <a:pt x="1004" y="52"/>
                      </a:lnTo>
                      <a:lnTo>
                        <a:pt x="973" y="54"/>
                      </a:lnTo>
                      <a:lnTo>
                        <a:pt x="941" y="56"/>
                      </a:lnTo>
                      <a:lnTo>
                        <a:pt x="909" y="56"/>
                      </a:lnTo>
                      <a:lnTo>
                        <a:pt x="876" y="56"/>
                      </a:lnTo>
                      <a:lnTo>
                        <a:pt x="844" y="57"/>
                      </a:lnTo>
                      <a:lnTo>
                        <a:pt x="810" y="59"/>
                      </a:lnTo>
                      <a:lnTo>
                        <a:pt x="777" y="59"/>
                      </a:lnTo>
                      <a:lnTo>
                        <a:pt x="743" y="61"/>
                      </a:lnTo>
                      <a:lnTo>
                        <a:pt x="709" y="61"/>
                      </a:lnTo>
                      <a:lnTo>
                        <a:pt x="677" y="63"/>
                      </a:lnTo>
                      <a:lnTo>
                        <a:pt x="642" y="65"/>
                      </a:lnTo>
                      <a:lnTo>
                        <a:pt x="610" y="67"/>
                      </a:lnTo>
                      <a:lnTo>
                        <a:pt x="578" y="67"/>
                      </a:lnTo>
                      <a:lnTo>
                        <a:pt x="545" y="69"/>
                      </a:lnTo>
                      <a:lnTo>
                        <a:pt x="511" y="69"/>
                      </a:lnTo>
                      <a:lnTo>
                        <a:pt x="481" y="71"/>
                      </a:lnTo>
                      <a:lnTo>
                        <a:pt x="448" y="73"/>
                      </a:lnTo>
                      <a:lnTo>
                        <a:pt x="418" y="75"/>
                      </a:lnTo>
                      <a:lnTo>
                        <a:pt x="386" y="75"/>
                      </a:lnTo>
                      <a:lnTo>
                        <a:pt x="355" y="76"/>
                      </a:lnTo>
                      <a:lnTo>
                        <a:pt x="327" y="78"/>
                      </a:lnTo>
                      <a:lnTo>
                        <a:pt x="296" y="80"/>
                      </a:lnTo>
                      <a:lnTo>
                        <a:pt x="268" y="80"/>
                      </a:lnTo>
                      <a:lnTo>
                        <a:pt x="239" y="82"/>
                      </a:lnTo>
                      <a:lnTo>
                        <a:pt x="213" y="82"/>
                      </a:lnTo>
                      <a:lnTo>
                        <a:pt x="186" y="84"/>
                      </a:lnTo>
                      <a:lnTo>
                        <a:pt x="159" y="86"/>
                      </a:lnTo>
                      <a:lnTo>
                        <a:pt x="135" y="88"/>
                      </a:lnTo>
                      <a:lnTo>
                        <a:pt x="110" y="88"/>
                      </a:lnTo>
                      <a:lnTo>
                        <a:pt x="87" y="90"/>
                      </a:lnTo>
                      <a:lnTo>
                        <a:pt x="64" y="92"/>
                      </a:lnTo>
                      <a:lnTo>
                        <a:pt x="43" y="94"/>
                      </a:lnTo>
                      <a:lnTo>
                        <a:pt x="24" y="94"/>
                      </a:lnTo>
                      <a:lnTo>
                        <a:pt x="5" y="97"/>
                      </a:lnTo>
                      <a:lnTo>
                        <a:pt x="0" y="67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5" name="Freeform 139"/>
                <p:cNvSpPr>
                  <a:spLocks/>
                </p:cNvSpPr>
                <p:nvPr/>
              </p:nvSpPr>
              <p:spPr bwMode="auto">
                <a:xfrm>
                  <a:off x="3782" y="2970"/>
                  <a:ext cx="70" cy="58"/>
                </a:xfrm>
                <a:custGeom>
                  <a:avLst/>
                  <a:gdLst>
                    <a:gd name="T0" fmla="*/ 81 w 148"/>
                    <a:gd name="T1" fmla="*/ 101 h 133"/>
                    <a:gd name="T2" fmla="*/ 97 w 148"/>
                    <a:gd name="T3" fmla="*/ 97 h 133"/>
                    <a:gd name="T4" fmla="*/ 108 w 148"/>
                    <a:gd name="T5" fmla="*/ 87 h 133"/>
                    <a:gd name="T6" fmla="*/ 116 w 148"/>
                    <a:gd name="T7" fmla="*/ 76 h 133"/>
                    <a:gd name="T8" fmla="*/ 116 w 148"/>
                    <a:gd name="T9" fmla="*/ 61 h 133"/>
                    <a:gd name="T10" fmla="*/ 112 w 148"/>
                    <a:gd name="T11" fmla="*/ 48 h 133"/>
                    <a:gd name="T12" fmla="*/ 102 w 148"/>
                    <a:gd name="T13" fmla="*/ 38 h 133"/>
                    <a:gd name="T14" fmla="*/ 91 w 148"/>
                    <a:gd name="T15" fmla="*/ 30 h 133"/>
                    <a:gd name="T16" fmla="*/ 85 w 148"/>
                    <a:gd name="T17" fmla="*/ 21 h 133"/>
                    <a:gd name="T18" fmla="*/ 85 w 148"/>
                    <a:gd name="T19" fmla="*/ 6 h 133"/>
                    <a:gd name="T20" fmla="*/ 91 w 148"/>
                    <a:gd name="T21" fmla="*/ 0 h 133"/>
                    <a:gd name="T22" fmla="*/ 102 w 148"/>
                    <a:gd name="T23" fmla="*/ 4 h 133"/>
                    <a:gd name="T24" fmla="*/ 114 w 148"/>
                    <a:gd name="T25" fmla="*/ 10 h 133"/>
                    <a:gd name="T26" fmla="*/ 125 w 148"/>
                    <a:gd name="T27" fmla="*/ 15 h 133"/>
                    <a:gd name="T28" fmla="*/ 133 w 148"/>
                    <a:gd name="T29" fmla="*/ 25 h 133"/>
                    <a:gd name="T30" fmla="*/ 140 w 148"/>
                    <a:gd name="T31" fmla="*/ 34 h 133"/>
                    <a:gd name="T32" fmla="*/ 144 w 148"/>
                    <a:gd name="T33" fmla="*/ 46 h 133"/>
                    <a:gd name="T34" fmla="*/ 148 w 148"/>
                    <a:gd name="T35" fmla="*/ 57 h 133"/>
                    <a:gd name="T36" fmla="*/ 148 w 148"/>
                    <a:gd name="T37" fmla="*/ 72 h 133"/>
                    <a:gd name="T38" fmla="*/ 144 w 148"/>
                    <a:gd name="T39" fmla="*/ 86 h 133"/>
                    <a:gd name="T40" fmla="*/ 138 w 148"/>
                    <a:gd name="T41" fmla="*/ 97 h 133"/>
                    <a:gd name="T42" fmla="*/ 131 w 148"/>
                    <a:gd name="T43" fmla="*/ 108 h 133"/>
                    <a:gd name="T44" fmla="*/ 119 w 148"/>
                    <a:gd name="T45" fmla="*/ 118 h 133"/>
                    <a:gd name="T46" fmla="*/ 108 w 148"/>
                    <a:gd name="T47" fmla="*/ 124 h 133"/>
                    <a:gd name="T48" fmla="*/ 95 w 148"/>
                    <a:gd name="T49" fmla="*/ 129 h 133"/>
                    <a:gd name="T50" fmla="*/ 80 w 148"/>
                    <a:gd name="T51" fmla="*/ 133 h 133"/>
                    <a:gd name="T52" fmla="*/ 64 w 148"/>
                    <a:gd name="T53" fmla="*/ 133 h 133"/>
                    <a:gd name="T54" fmla="*/ 51 w 148"/>
                    <a:gd name="T55" fmla="*/ 129 h 133"/>
                    <a:gd name="T56" fmla="*/ 38 w 148"/>
                    <a:gd name="T57" fmla="*/ 124 h 133"/>
                    <a:gd name="T58" fmla="*/ 26 w 148"/>
                    <a:gd name="T59" fmla="*/ 118 h 133"/>
                    <a:gd name="T60" fmla="*/ 17 w 148"/>
                    <a:gd name="T61" fmla="*/ 108 h 133"/>
                    <a:gd name="T62" fmla="*/ 7 w 148"/>
                    <a:gd name="T63" fmla="*/ 97 h 133"/>
                    <a:gd name="T64" fmla="*/ 2 w 148"/>
                    <a:gd name="T65" fmla="*/ 86 h 133"/>
                    <a:gd name="T66" fmla="*/ 0 w 148"/>
                    <a:gd name="T67" fmla="*/ 72 h 133"/>
                    <a:gd name="T68" fmla="*/ 0 w 148"/>
                    <a:gd name="T69" fmla="*/ 59 h 133"/>
                    <a:gd name="T70" fmla="*/ 2 w 148"/>
                    <a:gd name="T71" fmla="*/ 46 h 133"/>
                    <a:gd name="T72" fmla="*/ 5 w 148"/>
                    <a:gd name="T73" fmla="*/ 36 h 133"/>
                    <a:gd name="T74" fmla="*/ 11 w 148"/>
                    <a:gd name="T75" fmla="*/ 27 h 133"/>
                    <a:gd name="T76" fmla="*/ 21 w 148"/>
                    <a:gd name="T77" fmla="*/ 17 h 133"/>
                    <a:gd name="T78" fmla="*/ 30 w 148"/>
                    <a:gd name="T79" fmla="*/ 10 h 133"/>
                    <a:gd name="T80" fmla="*/ 41 w 148"/>
                    <a:gd name="T81" fmla="*/ 4 h 133"/>
                    <a:gd name="T82" fmla="*/ 53 w 148"/>
                    <a:gd name="T83" fmla="*/ 0 h 133"/>
                    <a:gd name="T84" fmla="*/ 61 w 148"/>
                    <a:gd name="T85" fmla="*/ 6 h 133"/>
                    <a:gd name="T86" fmla="*/ 61 w 148"/>
                    <a:gd name="T87" fmla="*/ 21 h 133"/>
                    <a:gd name="T88" fmla="*/ 53 w 148"/>
                    <a:gd name="T89" fmla="*/ 30 h 133"/>
                    <a:gd name="T90" fmla="*/ 41 w 148"/>
                    <a:gd name="T91" fmla="*/ 38 h 133"/>
                    <a:gd name="T92" fmla="*/ 34 w 148"/>
                    <a:gd name="T93" fmla="*/ 48 h 133"/>
                    <a:gd name="T94" fmla="*/ 30 w 148"/>
                    <a:gd name="T95" fmla="*/ 61 h 133"/>
                    <a:gd name="T96" fmla="*/ 30 w 148"/>
                    <a:gd name="T97" fmla="*/ 76 h 133"/>
                    <a:gd name="T98" fmla="*/ 36 w 148"/>
                    <a:gd name="T99" fmla="*/ 87 h 133"/>
                    <a:gd name="T100" fmla="*/ 47 w 148"/>
                    <a:gd name="T101" fmla="*/ 97 h 133"/>
                    <a:gd name="T102" fmla="*/ 59 w 148"/>
                    <a:gd name="T103" fmla="*/ 99 h 133"/>
                    <a:gd name="T104" fmla="*/ 68 w 148"/>
                    <a:gd name="T105" fmla="*/ 101 h 133"/>
                    <a:gd name="T106" fmla="*/ 74 w 148"/>
                    <a:gd name="T107" fmla="*/ 101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48" h="133">
                      <a:moveTo>
                        <a:pt x="74" y="101"/>
                      </a:moveTo>
                      <a:lnTo>
                        <a:pt x="81" y="101"/>
                      </a:lnTo>
                      <a:lnTo>
                        <a:pt x="89" y="99"/>
                      </a:lnTo>
                      <a:lnTo>
                        <a:pt x="97" y="97"/>
                      </a:lnTo>
                      <a:lnTo>
                        <a:pt x="104" y="93"/>
                      </a:lnTo>
                      <a:lnTo>
                        <a:pt x="108" y="87"/>
                      </a:lnTo>
                      <a:lnTo>
                        <a:pt x="112" y="84"/>
                      </a:lnTo>
                      <a:lnTo>
                        <a:pt x="116" y="76"/>
                      </a:lnTo>
                      <a:lnTo>
                        <a:pt x="118" y="68"/>
                      </a:lnTo>
                      <a:lnTo>
                        <a:pt x="116" y="61"/>
                      </a:lnTo>
                      <a:lnTo>
                        <a:pt x="114" y="55"/>
                      </a:lnTo>
                      <a:lnTo>
                        <a:pt x="112" y="48"/>
                      </a:lnTo>
                      <a:lnTo>
                        <a:pt x="108" y="44"/>
                      </a:lnTo>
                      <a:lnTo>
                        <a:pt x="102" y="38"/>
                      </a:lnTo>
                      <a:lnTo>
                        <a:pt x="99" y="32"/>
                      </a:lnTo>
                      <a:lnTo>
                        <a:pt x="91" y="30"/>
                      </a:lnTo>
                      <a:lnTo>
                        <a:pt x="85" y="29"/>
                      </a:lnTo>
                      <a:lnTo>
                        <a:pt x="85" y="21"/>
                      </a:lnTo>
                      <a:lnTo>
                        <a:pt x="85" y="13"/>
                      </a:lnTo>
                      <a:lnTo>
                        <a:pt x="85" y="6"/>
                      </a:lnTo>
                      <a:lnTo>
                        <a:pt x="85" y="0"/>
                      </a:lnTo>
                      <a:lnTo>
                        <a:pt x="91" y="0"/>
                      </a:lnTo>
                      <a:lnTo>
                        <a:pt x="97" y="2"/>
                      </a:lnTo>
                      <a:lnTo>
                        <a:pt x="102" y="4"/>
                      </a:lnTo>
                      <a:lnTo>
                        <a:pt x="110" y="6"/>
                      </a:lnTo>
                      <a:lnTo>
                        <a:pt x="114" y="10"/>
                      </a:lnTo>
                      <a:lnTo>
                        <a:pt x="119" y="13"/>
                      </a:lnTo>
                      <a:lnTo>
                        <a:pt x="125" y="15"/>
                      </a:lnTo>
                      <a:lnTo>
                        <a:pt x="129" y="21"/>
                      </a:lnTo>
                      <a:lnTo>
                        <a:pt x="133" y="25"/>
                      </a:lnTo>
                      <a:lnTo>
                        <a:pt x="137" y="30"/>
                      </a:lnTo>
                      <a:lnTo>
                        <a:pt x="140" y="34"/>
                      </a:lnTo>
                      <a:lnTo>
                        <a:pt x="142" y="40"/>
                      </a:lnTo>
                      <a:lnTo>
                        <a:pt x="144" y="46"/>
                      </a:lnTo>
                      <a:lnTo>
                        <a:pt x="148" y="51"/>
                      </a:lnTo>
                      <a:lnTo>
                        <a:pt x="148" y="57"/>
                      </a:lnTo>
                      <a:lnTo>
                        <a:pt x="148" y="65"/>
                      </a:lnTo>
                      <a:lnTo>
                        <a:pt x="148" y="72"/>
                      </a:lnTo>
                      <a:lnTo>
                        <a:pt x="146" y="78"/>
                      </a:lnTo>
                      <a:lnTo>
                        <a:pt x="144" y="86"/>
                      </a:lnTo>
                      <a:lnTo>
                        <a:pt x="142" y="91"/>
                      </a:lnTo>
                      <a:lnTo>
                        <a:pt x="138" y="97"/>
                      </a:lnTo>
                      <a:lnTo>
                        <a:pt x="135" y="103"/>
                      </a:lnTo>
                      <a:lnTo>
                        <a:pt x="131" y="108"/>
                      </a:lnTo>
                      <a:lnTo>
                        <a:pt x="127" y="114"/>
                      </a:lnTo>
                      <a:lnTo>
                        <a:pt x="119" y="118"/>
                      </a:lnTo>
                      <a:lnTo>
                        <a:pt x="114" y="122"/>
                      </a:lnTo>
                      <a:lnTo>
                        <a:pt x="108" y="124"/>
                      </a:lnTo>
                      <a:lnTo>
                        <a:pt x="102" y="127"/>
                      </a:lnTo>
                      <a:lnTo>
                        <a:pt x="95" y="129"/>
                      </a:lnTo>
                      <a:lnTo>
                        <a:pt x="87" y="131"/>
                      </a:lnTo>
                      <a:lnTo>
                        <a:pt x="80" y="133"/>
                      </a:lnTo>
                      <a:lnTo>
                        <a:pt x="74" y="133"/>
                      </a:lnTo>
                      <a:lnTo>
                        <a:pt x="64" y="133"/>
                      </a:lnTo>
                      <a:lnTo>
                        <a:pt x="59" y="131"/>
                      </a:lnTo>
                      <a:lnTo>
                        <a:pt x="51" y="129"/>
                      </a:lnTo>
                      <a:lnTo>
                        <a:pt x="45" y="127"/>
                      </a:lnTo>
                      <a:lnTo>
                        <a:pt x="38" y="124"/>
                      </a:lnTo>
                      <a:lnTo>
                        <a:pt x="32" y="122"/>
                      </a:lnTo>
                      <a:lnTo>
                        <a:pt x="26" y="118"/>
                      </a:lnTo>
                      <a:lnTo>
                        <a:pt x="21" y="114"/>
                      </a:lnTo>
                      <a:lnTo>
                        <a:pt x="17" y="108"/>
                      </a:lnTo>
                      <a:lnTo>
                        <a:pt x="11" y="103"/>
                      </a:lnTo>
                      <a:lnTo>
                        <a:pt x="7" y="97"/>
                      </a:lnTo>
                      <a:lnTo>
                        <a:pt x="5" y="91"/>
                      </a:lnTo>
                      <a:lnTo>
                        <a:pt x="2" y="86"/>
                      </a:lnTo>
                      <a:lnTo>
                        <a:pt x="0" y="78"/>
                      </a:lnTo>
                      <a:lnTo>
                        <a:pt x="0" y="72"/>
                      </a:lnTo>
                      <a:lnTo>
                        <a:pt x="0" y="65"/>
                      </a:lnTo>
                      <a:lnTo>
                        <a:pt x="0" y="59"/>
                      </a:lnTo>
                      <a:lnTo>
                        <a:pt x="0" y="53"/>
                      </a:lnTo>
                      <a:lnTo>
                        <a:pt x="2" y="46"/>
                      </a:lnTo>
                      <a:lnTo>
                        <a:pt x="3" y="42"/>
                      </a:lnTo>
                      <a:lnTo>
                        <a:pt x="5" y="36"/>
                      </a:lnTo>
                      <a:lnTo>
                        <a:pt x="9" y="32"/>
                      </a:lnTo>
                      <a:lnTo>
                        <a:pt x="11" y="27"/>
                      </a:lnTo>
                      <a:lnTo>
                        <a:pt x="17" y="23"/>
                      </a:lnTo>
                      <a:lnTo>
                        <a:pt x="21" y="17"/>
                      </a:lnTo>
                      <a:lnTo>
                        <a:pt x="24" y="13"/>
                      </a:lnTo>
                      <a:lnTo>
                        <a:pt x="30" y="10"/>
                      </a:lnTo>
                      <a:lnTo>
                        <a:pt x="36" y="8"/>
                      </a:lnTo>
                      <a:lnTo>
                        <a:pt x="41" y="4"/>
                      </a:lnTo>
                      <a:lnTo>
                        <a:pt x="47" y="2"/>
                      </a:lnTo>
                      <a:lnTo>
                        <a:pt x="53" y="0"/>
                      </a:lnTo>
                      <a:lnTo>
                        <a:pt x="61" y="0"/>
                      </a:lnTo>
                      <a:lnTo>
                        <a:pt x="61" y="6"/>
                      </a:lnTo>
                      <a:lnTo>
                        <a:pt x="61" y="13"/>
                      </a:lnTo>
                      <a:lnTo>
                        <a:pt x="61" y="21"/>
                      </a:lnTo>
                      <a:lnTo>
                        <a:pt x="61" y="29"/>
                      </a:lnTo>
                      <a:lnTo>
                        <a:pt x="53" y="30"/>
                      </a:lnTo>
                      <a:lnTo>
                        <a:pt x="47" y="32"/>
                      </a:lnTo>
                      <a:lnTo>
                        <a:pt x="41" y="38"/>
                      </a:lnTo>
                      <a:lnTo>
                        <a:pt x="38" y="44"/>
                      </a:lnTo>
                      <a:lnTo>
                        <a:pt x="34" y="48"/>
                      </a:lnTo>
                      <a:lnTo>
                        <a:pt x="32" y="55"/>
                      </a:lnTo>
                      <a:lnTo>
                        <a:pt x="30" y="61"/>
                      </a:lnTo>
                      <a:lnTo>
                        <a:pt x="30" y="68"/>
                      </a:lnTo>
                      <a:lnTo>
                        <a:pt x="30" y="76"/>
                      </a:lnTo>
                      <a:lnTo>
                        <a:pt x="34" y="84"/>
                      </a:lnTo>
                      <a:lnTo>
                        <a:pt x="36" y="87"/>
                      </a:lnTo>
                      <a:lnTo>
                        <a:pt x="41" y="93"/>
                      </a:lnTo>
                      <a:lnTo>
                        <a:pt x="47" y="97"/>
                      </a:lnTo>
                      <a:lnTo>
                        <a:pt x="55" y="99"/>
                      </a:lnTo>
                      <a:lnTo>
                        <a:pt x="59" y="99"/>
                      </a:lnTo>
                      <a:lnTo>
                        <a:pt x="64" y="101"/>
                      </a:lnTo>
                      <a:lnTo>
                        <a:pt x="68" y="101"/>
                      </a:lnTo>
                      <a:lnTo>
                        <a:pt x="74" y="101"/>
                      </a:lnTo>
                      <a:lnTo>
                        <a:pt x="74" y="10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6" name="Freeform 140"/>
                <p:cNvSpPr>
                  <a:spLocks/>
                </p:cNvSpPr>
                <p:nvPr/>
              </p:nvSpPr>
              <p:spPr bwMode="auto">
                <a:xfrm>
                  <a:off x="3292" y="2981"/>
                  <a:ext cx="72" cy="60"/>
                </a:xfrm>
                <a:custGeom>
                  <a:avLst/>
                  <a:gdLst>
                    <a:gd name="T0" fmla="*/ 78 w 152"/>
                    <a:gd name="T1" fmla="*/ 100 h 135"/>
                    <a:gd name="T2" fmla="*/ 88 w 152"/>
                    <a:gd name="T3" fmla="*/ 100 h 135"/>
                    <a:gd name="T4" fmla="*/ 99 w 152"/>
                    <a:gd name="T5" fmla="*/ 97 h 135"/>
                    <a:gd name="T6" fmla="*/ 111 w 152"/>
                    <a:gd name="T7" fmla="*/ 89 h 135"/>
                    <a:gd name="T8" fmla="*/ 116 w 152"/>
                    <a:gd name="T9" fmla="*/ 78 h 135"/>
                    <a:gd name="T10" fmla="*/ 118 w 152"/>
                    <a:gd name="T11" fmla="*/ 62 h 135"/>
                    <a:gd name="T12" fmla="*/ 113 w 152"/>
                    <a:gd name="T13" fmla="*/ 49 h 135"/>
                    <a:gd name="T14" fmla="*/ 105 w 152"/>
                    <a:gd name="T15" fmla="*/ 38 h 135"/>
                    <a:gd name="T16" fmla="*/ 93 w 152"/>
                    <a:gd name="T17" fmla="*/ 30 h 135"/>
                    <a:gd name="T18" fmla="*/ 88 w 152"/>
                    <a:gd name="T19" fmla="*/ 22 h 135"/>
                    <a:gd name="T20" fmla="*/ 88 w 152"/>
                    <a:gd name="T21" fmla="*/ 7 h 135"/>
                    <a:gd name="T22" fmla="*/ 93 w 152"/>
                    <a:gd name="T23" fmla="*/ 0 h 135"/>
                    <a:gd name="T24" fmla="*/ 107 w 152"/>
                    <a:gd name="T25" fmla="*/ 5 h 135"/>
                    <a:gd name="T26" fmla="*/ 118 w 152"/>
                    <a:gd name="T27" fmla="*/ 9 h 135"/>
                    <a:gd name="T28" fmla="*/ 128 w 152"/>
                    <a:gd name="T29" fmla="*/ 17 h 135"/>
                    <a:gd name="T30" fmla="*/ 137 w 152"/>
                    <a:gd name="T31" fmla="*/ 26 h 135"/>
                    <a:gd name="T32" fmla="*/ 143 w 152"/>
                    <a:gd name="T33" fmla="*/ 36 h 135"/>
                    <a:gd name="T34" fmla="*/ 149 w 152"/>
                    <a:gd name="T35" fmla="*/ 47 h 135"/>
                    <a:gd name="T36" fmla="*/ 151 w 152"/>
                    <a:gd name="T37" fmla="*/ 59 h 135"/>
                    <a:gd name="T38" fmla="*/ 151 w 152"/>
                    <a:gd name="T39" fmla="*/ 72 h 135"/>
                    <a:gd name="T40" fmla="*/ 147 w 152"/>
                    <a:gd name="T41" fmla="*/ 85 h 135"/>
                    <a:gd name="T42" fmla="*/ 141 w 152"/>
                    <a:gd name="T43" fmla="*/ 98 h 135"/>
                    <a:gd name="T44" fmla="*/ 133 w 152"/>
                    <a:gd name="T45" fmla="*/ 108 h 135"/>
                    <a:gd name="T46" fmla="*/ 124 w 152"/>
                    <a:gd name="T47" fmla="*/ 117 h 135"/>
                    <a:gd name="T48" fmla="*/ 111 w 152"/>
                    <a:gd name="T49" fmla="*/ 125 h 135"/>
                    <a:gd name="T50" fmla="*/ 97 w 152"/>
                    <a:gd name="T51" fmla="*/ 131 h 135"/>
                    <a:gd name="T52" fmla="*/ 84 w 152"/>
                    <a:gd name="T53" fmla="*/ 133 h 135"/>
                    <a:gd name="T54" fmla="*/ 69 w 152"/>
                    <a:gd name="T55" fmla="*/ 133 h 135"/>
                    <a:gd name="T56" fmla="*/ 54 w 152"/>
                    <a:gd name="T57" fmla="*/ 131 h 135"/>
                    <a:gd name="T58" fmla="*/ 40 w 152"/>
                    <a:gd name="T59" fmla="*/ 125 h 135"/>
                    <a:gd name="T60" fmla="*/ 29 w 152"/>
                    <a:gd name="T61" fmla="*/ 117 h 135"/>
                    <a:gd name="T62" fmla="*/ 17 w 152"/>
                    <a:gd name="T63" fmla="*/ 108 h 135"/>
                    <a:gd name="T64" fmla="*/ 10 w 152"/>
                    <a:gd name="T65" fmla="*/ 98 h 135"/>
                    <a:gd name="T66" fmla="*/ 4 w 152"/>
                    <a:gd name="T67" fmla="*/ 85 h 135"/>
                    <a:gd name="T68" fmla="*/ 0 w 152"/>
                    <a:gd name="T69" fmla="*/ 72 h 135"/>
                    <a:gd name="T70" fmla="*/ 0 w 152"/>
                    <a:gd name="T71" fmla="*/ 60 h 135"/>
                    <a:gd name="T72" fmla="*/ 2 w 152"/>
                    <a:gd name="T73" fmla="*/ 47 h 135"/>
                    <a:gd name="T74" fmla="*/ 8 w 152"/>
                    <a:gd name="T75" fmla="*/ 38 h 135"/>
                    <a:gd name="T76" fmla="*/ 14 w 152"/>
                    <a:gd name="T77" fmla="*/ 28 h 135"/>
                    <a:gd name="T78" fmla="*/ 23 w 152"/>
                    <a:gd name="T79" fmla="*/ 19 h 135"/>
                    <a:gd name="T80" fmla="*/ 33 w 152"/>
                    <a:gd name="T81" fmla="*/ 11 h 135"/>
                    <a:gd name="T82" fmla="*/ 44 w 152"/>
                    <a:gd name="T83" fmla="*/ 5 h 135"/>
                    <a:gd name="T84" fmla="*/ 57 w 152"/>
                    <a:gd name="T85" fmla="*/ 0 h 135"/>
                    <a:gd name="T86" fmla="*/ 65 w 152"/>
                    <a:gd name="T87" fmla="*/ 7 h 135"/>
                    <a:gd name="T88" fmla="*/ 65 w 152"/>
                    <a:gd name="T89" fmla="*/ 22 h 135"/>
                    <a:gd name="T90" fmla="*/ 57 w 152"/>
                    <a:gd name="T91" fmla="*/ 30 h 135"/>
                    <a:gd name="T92" fmla="*/ 46 w 152"/>
                    <a:gd name="T93" fmla="*/ 38 h 135"/>
                    <a:gd name="T94" fmla="*/ 36 w 152"/>
                    <a:gd name="T95" fmla="*/ 49 h 135"/>
                    <a:gd name="T96" fmla="*/ 35 w 152"/>
                    <a:gd name="T97" fmla="*/ 62 h 135"/>
                    <a:gd name="T98" fmla="*/ 35 w 152"/>
                    <a:gd name="T99" fmla="*/ 78 h 135"/>
                    <a:gd name="T100" fmla="*/ 40 w 152"/>
                    <a:gd name="T101" fmla="*/ 89 h 135"/>
                    <a:gd name="T102" fmla="*/ 50 w 152"/>
                    <a:gd name="T103" fmla="*/ 97 h 135"/>
                    <a:gd name="T104" fmla="*/ 61 w 152"/>
                    <a:gd name="T105" fmla="*/ 100 h 135"/>
                    <a:gd name="T106" fmla="*/ 71 w 152"/>
                    <a:gd name="T107" fmla="*/ 100 h 135"/>
                    <a:gd name="T108" fmla="*/ 74 w 152"/>
                    <a:gd name="T109" fmla="*/ 102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52" h="135">
                      <a:moveTo>
                        <a:pt x="74" y="102"/>
                      </a:moveTo>
                      <a:lnTo>
                        <a:pt x="78" y="100"/>
                      </a:lnTo>
                      <a:lnTo>
                        <a:pt x="84" y="100"/>
                      </a:lnTo>
                      <a:lnTo>
                        <a:pt x="88" y="100"/>
                      </a:lnTo>
                      <a:lnTo>
                        <a:pt x="92" y="98"/>
                      </a:lnTo>
                      <a:lnTo>
                        <a:pt x="99" y="97"/>
                      </a:lnTo>
                      <a:lnTo>
                        <a:pt x="107" y="95"/>
                      </a:lnTo>
                      <a:lnTo>
                        <a:pt x="111" y="89"/>
                      </a:lnTo>
                      <a:lnTo>
                        <a:pt x="114" y="83"/>
                      </a:lnTo>
                      <a:lnTo>
                        <a:pt x="116" y="78"/>
                      </a:lnTo>
                      <a:lnTo>
                        <a:pt x="118" y="70"/>
                      </a:lnTo>
                      <a:lnTo>
                        <a:pt x="118" y="62"/>
                      </a:lnTo>
                      <a:lnTo>
                        <a:pt x="116" y="55"/>
                      </a:lnTo>
                      <a:lnTo>
                        <a:pt x="113" y="49"/>
                      </a:lnTo>
                      <a:lnTo>
                        <a:pt x="111" y="43"/>
                      </a:lnTo>
                      <a:lnTo>
                        <a:pt x="105" y="38"/>
                      </a:lnTo>
                      <a:lnTo>
                        <a:pt x="101" y="34"/>
                      </a:lnTo>
                      <a:lnTo>
                        <a:pt x="93" y="30"/>
                      </a:lnTo>
                      <a:lnTo>
                        <a:pt x="88" y="30"/>
                      </a:lnTo>
                      <a:lnTo>
                        <a:pt x="88" y="22"/>
                      </a:lnTo>
                      <a:lnTo>
                        <a:pt x="88" y="15"/>
                      </a:lnTo>
                      <a:lnTo>
                        <a:pt x="88" y="7"/>
                      </a:lnTo>
                      <a:lnTo>
                        <a:pt x="88" y="0"/>
                      </a:lnTo>
                      <a:lnTo>
                        <a:pt x="93" y="0"/>
                      </a:lnTo>
                      <a:lnTo>
                        <a:pt x="99" y="2"/>
                      </a:lnTo>
                      <a:lnTo>
                        <a:pt x="107" y="5"/>
                      </a:lnTo>
                      <a:lnTo>
                        <a:pt x="113" y="7"/>
                      </a:lnTo>
                      <a:lnTo>
                        <a:pt x="118" y="9"/>
                      </a:lnTo>
                      <a:lnTo>
                        <a:pt x="124" y="13"/>
                      </a:lnTo>
                      <a:lnTo>
                        <a:pt x="128" y="17"/>
                      </a:lnTo>
                      <a:lnTo>
                        <a:pt x="133" y="22"/>
                      </a:lnTo>
                      <a:lnTo>
                        <a:pt x="137" y="26"/>
                      </a:lnTo>
                      <a:lnTo>
                        <a:pt x="141" y="30"/>
                      </a:lnTo>
                      <a:lnTo>
                        <a:pt x="143" y="36"/>
                      </a:lnTo>
                      <a:lnTo>
                        <a:pt x="147" y="41"/>
                      </a:lnTo>
                      <a:lnTo>
                        <a:pt x="149" y="47"/>
                      </a:lnTo>
                      <a:lnTo>
                        <a:pt x="151" y="53"/>
                      </a:lnTo>
                      <a:lnTo>
                        <a:pt x="151" y="59"/>
                      </a:lnTo>
                      <a:lnTo>
                        <a:pt x="152" y="66"/>
                      </a:lnTo>
                      <a:lnTo>
                        <a:pt x="151" y="72"/>
                      </a:lnTo>
                      <a:lnTo>
                        <a:pt x="149" y="79"/>
                      </a:lnTo>
                      <a:lnTo>
                        <a:pt x="147" y="85"/>
                      </a:lnTo>
                      <a:lnTo>
                        <a:pt x="145" y="93"/>
                      </a:lnTo>
                      <a:lnTo>
                        <a:pt x="141" y="98"/>
                      </a:lnTo>
                      <a:lnTo>
                        <a:pt x="137" y="104"/>
                      </a:lnTo>
                      <a:lnTo>
                        <a:pt x="133" y="108"/>
                      </a:lnTo>
                      <a:lnTo>
                        <a:pt x="130" y="114"/>
                      </a:lnTo>
                      <a:lnTo>
                        <a:pt x="124" y="117"/>
                      </a:lnTo>
                      <a:lnTo>
                        <a:pt x="118" y="121"/>
                      </a:lnTo>
                      <a:lnTo>
                        <a:pt x="111" y="125"/>
                      </a:lnTo>
                      <a:lnTo>
                        <a:pt x="105" y="129"/>
                      </a:lnTo>
                      <a:lnTo>
                        <a:pt x="97" y="131"/>
                      </a:lnTo>
                      <a:lnTo>
                        <a:pt x="90" y="133"/>
                      </a:lnTo>
                      <a:lnTo>
                        <a:pt x="84" y="133"/>
                      </a:lnTo>
                      <a:lnTo>
                        <a:pt x="76" y="135"/>
                      </a:lnTo>
                      <a:lnTo>
                        <a:pt x="69" y="133"/>
                      </a:lnTo>
                      <a:lnTo>
                        <a:pt x="61" y="133"/>
                      </a:lnTo>
                      <a:lnTo>
                        <a:pt x="54" y="131"/>
                      </a:lnTo>
                      <a:lnTo>
                        <a:pt x="48" y="129"/>
                      </a:lnTo>
                      <a:lnTo>
                        <a:pt x="40" y="125"/>
                      </a:lnTo>
                      <a:lnTo>
                        <a:pt x="35" y="121"/>
                      </a:lnTo>
                      <a:lnTo>
                        <a:pt x="29" y="117"/>
                      </a:lnTo>
                      <a:lnTo>
                        <a:pt x="23" y="114"/>
                      </a:lnTo>
                      <a:lnTo>
                        <a:pt x="17" y="108"/>
                      </a:lnTo>
                      <a:lnTo>
                        <a:pt x="14" y="104"/>
                      </a:lnTo>
                      <a:lnTo>
                        <a:pt x="10" y="98"/>
                      </a:lnTo>
                      <a:lnTo>
                        <a:pt x="6" y="93"/>
                      </a:lnTo>
                      <a:lnTo>
                        <a:pt x="4" y="85"/>
                      </a:lnTo>
                      <a:lnTo>
                        <a:pt x="2" y="79"/>
                      </a:lnTo>
                      <a:lnTo>
                        <a:pt x="0" y="72"/>
                      </a:lnTo>
                      <a:lnTo>
                        <a:pt x="0" y="66"/>
                      </a:lnTo>
                      <a:lnTo>
                        <a:pt x="0" y="60"/>
                      </a:lnTo>
                      <a:lnTo>
                        <a:pt x="2" y="53"/>
                      </a:lnTo>
                      <a:lnTo>
                        <a:pt x="2" y="47"/>
                      </a:lnTo>
                      <a:lnTo>
                        <a:pt x="6" y="41"/>
                      </a:lnTo>
                      <a:lnTo>
                        <a:pt x="8" y="38"/>
                      </a:lnTo>
                      <a:lnTo>
                        <a:pt x="12" y="32"/>
                      </a:lnTo>
                      <a:lnTo>
                        <a:pt x="14" y="28"/>
                      </a:lnTo>
                      <a:lnTo>
                        <a:pt x="19" y="24"/>
                      </a:lnTo>
                      <a:lnTo>
                        <a:pt x="23" y="19"/>
                      </a:lnTo>
                      <a:lnTo>
                        <a:pt x="29" y="15"/>
                      </a:lnTo>
                      <a:lnTo>
                        <a:pt x="33" y="11"/>
                      </a:lnTo>
                      <a:lnTo>
                        <a:pt x="38" y="7"/>
                      </a:lnTo>
                      <a:lnTo>
                        <a:pt x="44" y="5"/>
                      </a:lnTo>
                      <a:lnTo>
                        <a:pt x="50" y="3"/>
                      </a:lnTo>
                      <a:lnTo>
                        <a:pt x="57" y="0"/>
                      </a:lnTo>
                      <a:lnTo>
                        <a:pt x="65" y="0"/>
                      </a:lnTo>
                      <a:lnTo>
                        <a:pt x="65" y="7"/>
                      </a:lnTo>
                      <a:lnTo>
                        <a:pt x="65" y="15"/>
                      </a:lnTo>
                      <a:lnTo>
                        <a:pt x="65" y="22"/>
                      </a:lnTo>
                      <a:lnTo>
                        <a:pt x="65" y="30"/>
                      </a:lnTo>
                      <a:lnTo>
                        <a:pt x="57" y="30"/>
                      </a:lnTo>
                      <a:lnTo>
                        <a:pt x="50" y="34"/>
                      </a:lnTo>
                      <a:lnTo>
                        <a:pt x="46" y="38"/>
                      </a:lnTo>
                      <a:lnTo>
                        <a:pt x="42" y="43"/>
                      </a:lnTo>
                      <a:lnTo>
                        <a:pt x="36" y="49"/>
                      </a:lnTo>
                      <a:lnTo>
                        <a:pt x="36" y="55"/>
                      </a:lnTo>
                      <a:lnTo>
                        <a:pt x="35" y="62"/>
                      </a:lnTo>
                      <a:lnTo>
                        <a:pt x="35" y="70"/>
                      </a:lnTo>
                      <a:lnTo>
                        <a:pt x="35" y="78"/>
                      </a:lnTo>
                      <a:lnTo>
                        <a:pt x="36" y="83"/>
                      </a:lnTo>
                      <a:lnTo>
                        <a:pt x="40" y="89"/>
                      </a:lnTo>
                      <a:lnTo>
                        <a:pt x="44" y="95"/>
                      </a:lnTo>
                      <a:lnTo>
                        <a:pt x="50" y="97"/>
                      </a:lnTo>
                      <a:lnTo>
                        <a:pt x="57" y="98"/>
                      </a:lnTo>
                      <a:lnTo>
                        <a:pt x="61" y="100"/>
                      </a:lnTo>
                      <a:lnTo>
                        <a:pt x="65" y="100"/>
                      </a:lnTo>
                      <a:lnTo>
                        <a:pt x="71" y="100"/>
                      </a:lnTo>
                      <a:lnTo>
                        <a:pt x="74" y="102"/>
                      </a:lnTo>
                      <a:lnTo>
                        <a:pt x="74" y="1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7" name="Freeform 141"/>
                <p:cNvSpPr>
                  <a:spLocks/>
                </p:cNvSpPr>
                <p:nvPr/>
              </p:nvSpPr>
              <p:spPr bwMode="auto">
                <a:xfrm>
                  <a:off x="3167" y="3188"/>
                  <a:ext cx="1036" cy="83"/>
                </a:xfrm>
                <a:custGeom>
                  <a:avLst/>
                  <a:gdLst>
                    <a:gd name="T0" fmla="*/ 13 w 2195"/>
                    <a:gd name="T1" fmla="*/ 146 h 190"/>
                    <a:gd name="T2" fmla="*/ 29 w 2195"/>
                    <a:gd name="T3" fmla="*/ 146 h 190"/>
                    <a:gd name="T4" fmla="*/ 50 w 2195"/>
                    <a:gd name="T5" fmla="*/ 148 h 190"/>
                    <a:gd name="T6" fmla="*/ 82 w 2195"/>
                    <a:gd name="T7" fmla="*/ 148 h 190"/>
                    <a:gd name="T8" fmla="*/ 122 w 2195"/>
                    <a:gd name="T9" fmla="*/ 150 h 190"/>
                    <a:gd name="T10" fmla="*/ 169 w 2195"/>
                    <a:gd name="T11" fmla="*/ 148 h 190"/>
                    <a:gd name="T12" fmla="*/ 226 w 2195"/>
                    <a:gd name="T13" fmla="*/ 148 h 190"/>
                    <a:gd name="T14" fmla="*/ 295 w 2195"/>
                    <a:gd name="T15" fmla="*/ 148 h 190"/>
                    <a:gd name="T16" fmla="*/ 373 w 2195"/>
                    <a:gd name="T17" fmla="*/ 148 h 190"/>
                    <a:gd name="T18" fmla="*/ 460 w 2195"/>
                    <a:gd name="T19" fmla="*/ 144 h 190"/>
                    <a:gd name="T20" fmla="*/ 559 w 2195"/>
                    <a:gd name="T21" fmla="*/ 140 h 190"/>
                    <a:gd name="T22" fmla="*/ 668 w 2195"/>
                    <a:gd name="T23" fmla="*/ 135 h 190"/>
                    <a:gd name="T24" fmla="*/ 789 w 2195"/>
                    <a:gd name="T25" fmla="*/ 129 h 190"/>
                    <a:gd name="T26" fmla="*/ 919 w 2195"/>
                    <a:gd name="T27" fmla="*/ 120 h 190"/>
                    <a:gd name="T28" fmla="*/ 1063 w 2195"/>
                    <a:gd name="T29" fmla="*/ 110 h 190"/>
                    <a:gd name="T30" fmla="*/ 1219 w 2195"/>
                    <a:gd name="T31" fmla="*/ 99 h 190"/>
                    <a:gd name="T32" fmla="*/ 1386 w 2195"/>
                    <a:gd name="T33" fmla="*/ 83 h 190"/>
                    <a:gd name="T34" fmla="*/ 1565 w 2195"/>
                    <a:gd name="T35" fmla="*/ 66 h 190"/>
                    <a:gd name="T36" fmla="*/ 1759 w 2195"/>
                    <a:gd name="T37" fmla="*/ 47 h 190"/>
                    <a:gd name="T38" fmla="*/ 1966 w 2195"/>
                    <a:gd name="T39" fmla="*/ 25 h 190"/>
                    <a:gd name="T40" fmla="*/ 2187 w 2195"/>
                    <a:gd name="T41" fmla="*/ 0 h 190"/>
                    <a:gd name="T42" fmla="*/ 2189 w 2195"/>
                    <a:gd name="T43" fmla="*/ 49 h 190"/>
                    <a:gd name="T44" fmla="*/ 2164 w 2195"/>
                    <a:gd name="T45" fmla="*/ 51 h 190"/>
                    <a:gd name="T46" fmla="*/ 2120 w 2195"/>
                    <a:gd name="T47" fmla="*/ 57 h 190"/>
                    <a:gd name="T48" fmla="*/ 2058 w 2195"/>
                    <a:gd name="T49" fmla="*/ 63 h 190"/>
                    <a:gd name="T50" fmla="*/ 1982 w 2195"/>
                    <a:gd name="T51" fmla="*/ 70 h 190"/>
                    <a:gd name="T52" fmla="*/ 1890 w 2195"/>
                    <a:gd name="T53" fmla="*/ 78 h 190"/>
                    <a:gd name="T54" fmla="*/ 1788 w 2195"/>
                    <a:gd name="T55" fmla="*/ 87 h 190"/>
                    <a:gd name="T56" fmla="*/ 1674 w 2195"/>
                    <a:gd name="T57" fmla="*/ 97 h 190"/>
                    <a:gd name="T58" fmla="*/ 1552 w 2195"/>
                    <a:gd name="T59" fmla="*/ 108 h 190"/>
                    <a:gd name="T60" fmla="*/ 1423 w 2195"/>
                    <a:gd name="T61" fmla="*/ 120 h 190"/>
                    <a:gd name="T62" fmla="*/ 1289 w 2195"/>
                    <a:gd name="T63" fmla="*/ 131 h 190"/>
                    <a:gd name="T64" fmla="*/ 1151 w 2195"/>
                    <a:gd name="T65" fmla="*/ 140 h 190"/>
                    <a:gd name="T66" fmla="*/ 1012 w 2195"/>
                    <a:gd name="T67" fmla="*/ 150 h 190"/>
                    <a:gd name="T68" fmla="*/ 873 w 2195"/>
                    <a:gd name="T69" fmla="*/ 159 h 190"/>
                    <a:gd name="T70" fmla="*/ 736 w 2195"/>
                    <a:gd name="T71" fmla="*/ 169 h 190"/>
                    <a:gd name="T72" fmla="*/ 603 w 2195"/>
                    <a:gd name="T73" fmla="*/ 177 h 190"/>
                    <a:gd name="T74" fmla="*/ 474 w 2195"/>
                    <a:gd name="T75" fmla="*/ 182 h 190"/>
                    <a:gd name="T76" fmla="*/ 352 w 2195"/>
                    <a:gd name="T77" fmla="*/ 186 h 190"/>
                    <a:gd name="T78" fmla="*/ 242 w 2195"/>
                    <a:gd name="T79" fmla="*/ 190 h 190"/>
                    <a:gd name="T80" fmla="*/ 139 w 2195"/>
                    <a:gd name="T81" fmla="*/ 190 h 190"/>
                    <a:gd name="T82" fmla="*/ 51 w 2195"/>
                    <a:gd name="T83" fmla="*/ 186 h 190"/>
                    <a:gd name="T84" fmla="*/ 8 w 2195"/>
                    <a:gd name="T85" fmla="*/ 146 h 1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195" h="190">
                      <a:moveTo>
                        <a:pt x="8" y="146"/>
                      </a:moveTo>
                      <a:lnTo>
                        <a:pt x="10" y="146"/>
                      </a:lnTo>
                      <a:lnTo>
                        <a:pt x="13" y="146"/>
                      </a:lnTo>
                      <a:lnTo>
                        <a:pt x="17" y="146"/>
                      </a:lnTo>
                      <a:lnTo>
                        <a:pt x="23" y="146"/>
                      </a:lnTo>
                      <a:lnTo>
                        <a:pt x="29" y="146"/>
                      </a:lnTo>
                      <a:lnTo>
                        <a:pt x="36" y="148"/>
                      </a:lnTo>
                      <a:lnTo>
                        <a:pt x="42" y="148"/>
                      </a:lnTo>
                      <a:lnTo>
                        <a:pt x="50" y="148"/>
                      </a:lnTo>
                      <a:lnTo>
                        <a:pt x="59" y="148"/>
                      </a:lnTo>
                      <a:lnTo>
                        <a:pt x="70" y="148"/>
                      </a:lnTo>
                      <a:lnTo>
                        <a:pt x="82" y="148"/>
                      </a:lnTo>
                      <a:lnTo>
                        <a:pt x="93" y="148"/>
                      </a:lnTo>
                      <a:lnTo>
                        <a:pt x="107" y="148"/>
                      </a:lnTo>
                      <a:lnTo>
                        <a:pt x="122" y="150"/>
                      </a:lnTo>
                      <a:lnTo>
                        <a:pt x="135" y="148"/>
                      </a:lnTo>
                      <a:lnTo>
                        <a:pt x="152" y="148"/>
                      </a:lnTo>
                      <a:lnTo>
                        <a:pt x="169" y="148"/>
                      </a:lnTo>
                      <a:lnTo>
                        <a:pt x="188" y="148"/>
                      </a:lnTo>
                      <a:lnTo>
                        <a:pt x="207" y="148"/>
                      </a:lnTo>
                      <a:lnTo>
                        <a:pt x="226" y="148"/>
                      </a:lnTo>
                      <a:lnTo>
                        <a:pt x="249" y="148"/>
                      </a:lnTo>
                      <a:lnTo>
                        <a:pt x="272" y="148"/>
                      </a:lnTo>
                      <a:lnTo>
                        <a:pt x="295" y="148"/>
                      </a:lnTo>
                      <a:lnTo>
                        <a:pt x="320" y="148"/>
                      </a:lnTo>
                      <a:lnTo>
                        <a:pt x="344" y="148"/>
                      </a:lnTo>
                      <a:lnTo>
                        <a:pt x="373" y="148"/>
                      </a:lnTo>
                      <a:lnTo>
                        <a:pt x="401" y="146"/>
                      </a:lnTo>
                      <a:lnTo>
                        <a:pt x="430" y="146"/>
                      </a:lnTo>
                      <a:lnTo>
                        <a:pt x="460" y="144"/>
                      </a:lnTo>
                      <a:lnTo>
                        <a:pt x="493" y="144"/>
                      </a:lnTo>
                      <a:lnTo>
                        <a:pt x="525" y="142"/>
                      </a:lnTo>
                      <a:lnTo>
                        <a:pt x="559" y="140"/>
                      </a:lnTo>
                      <a:lnTo>
                        <a:pt x="593" y="139"/>
                      </a:lnTo>
                      <a:lnTo>
                        <a:pt x="631" y="137"/>
                      </a:lnTo>
                      <a:lnTo>
                        <a:pt x="668" y="135"/>
                      </a:lnTo>
                      <a:lnTo>
                        <a:pt x="708" y="133"/>
                      </a:lnTo>
                      <a:lnTo>
                        <a:pt x="747" y="131"/>
                      </a:lnTo>
                      <a:lnTo>
                        <a:pt x="789" y="129"/>
                      </a:lnTo>
                      <a:lnTo>
                        <a:pt x="831" y="125"/>
                      </a:lnTo>
                      <a:lnTo>
                        <a:pt x="875" y="123"/>
                      </a:lnTo>
                      <a:lnTo>
                        <a:pt x="919" y="120"/>
                      </a:lnTo>
                      <a:lnTo>
                        <a:pt x="966" y="118"/>
                      </a:lnTo>
                      <a:lnTo>
                        <a:pt x="1014" y="112"/>
                      </a:lnTo>
                      <a:lnTo>
                        <a:pt x="1063" y="110"/>
                      </a:lnTo>
                      <a:lnTo>
                        <a:pt x="1114" y="106"/>
                      </a:lnTo>
                      <a:lnTo>
                        <a:pt x="1166" y="102"/>
                      </a:lnTo>
                      <a:lnTo>
                        <a:pt x="1219" y="99"/>
                      </a:lnTo>
                      <a:lnTo>
                        <a:pt x="1272" y="93"/>
                      </a:lnTo>
                      <a:lnTo>
                        <a:pt x="1327" y="89"/>
                      </a:lnTo>
                      <a:lnTo>
                        <a:pt x="1386" y="83"/>
                      </a:lnTo>
                      <a:lnTo>
                        <a:pt x="1443" y="78"/>
                      </a:lnTo>
                      <a:lnTo>
                        <a:pt x="1504" y="72"/>
                      </a:lnTo>
                      <a:lnTo>
                        <a:pt x="1565" y="66"/>
                      </a:lnTo>
                      <a:lnTo>
                        <a:pt x="1630" y="61"/>
                      </a:lnTo>
                      <a:lnTo>
                        <a:pt x="1693" y="53"/>
                      </a:lnTo>
                      <a:lnTo>
                        <a:pt x="1759" y="47"/>
                      </a:lnTo>
                      <a:lnTo>
                        <a:pt x="1826" y="40"/>
                      </a:lnTo>
                      <a:lnTo>
                        <a:pt x="1896" y="32"/>
                      </a:lnTo>
                      <a:lnTo>
                        <a:pt x="1966" y="25"/>
                      </a:lnTo>
                      <a:lnTo>
                        <a:pt x="2039" y="17"/>
                      </a:lnTo>
                      <a:lnTo>
                        <a:pt x="2111" y="9"/>
                      </a:lnTo>
                      <a:lnTo>
                        <a:pt x="2187" y="0"/>
                      </a:lnTo>
                      <a:lnTo>
                        <a:pt x="2195" y="49"/>
                      </a:lnTo>
                      <a:lnTo>
                        <a:pt x="2193" y="49"/>
                      </a:lnTo>
                      <a:lnTo>
                        <a:pt x="2189" y="49"/>
                      </a:lnTo>
                      <a:lnTo>
                        <a:pt x="2181" y="49"/>
                      </a:lnTo>
                      <a:lnTo>
                        <a:pt x="2176" y="51"/>
                      </a:lnTo>
                      <a:lnTo>
                        <a:pt x="2164" y="51"/>
                      </a:lnTo>
                      <a:lnTo>
                        <a:pt x="2151" y="53"/>
                      </a:lnTo>
                      <a:lnTo>
                        <a:pt x="2136" y="53"/>
                      </a:lnTo>
                      <a:lnTo>
                        <a:pt x="2120" y="57"/>
                      </a:lnTo>
                      <a:lnTo>
                        <a:pt x="2101" y="59"/>
                      </a:lnTo>
                      <a:lnTo>
                        <a:pt x="2082" y="59"/>
                      </a:lnTo>
                      <a:lnTo>
                        <a:pt x="2058" y="63"/>
                      </a:lnTo>
                      <a:lnTo>
                        <a:pt x="2035" y="64"/>
                      </a:lnTo>
                      <a:lnTo>
                        <a:pt x="2008" y="66"/>
                      </a:lnTo>
                      <a:lnTo>
                        <a:pt x="1982" y="70"/>
                      </a:lnTo>
                      <a:lnTo>
                        <a:pt x="1953" y="72"/>
                      </a:lnTo>
                      <a:lnTo>
                        <a:pt x="1923" y="76"/>
                      </a:lnTo>
                      <a:lnTo>
                        <a:pt x="1890" y="78"/>
                      </a:lnTo>
                      <a:lnTo>
                        <a:pt x="1858" y="80"/>
                      </a:lnTo>
                      <a:lnTo>
                        <a:pt x="1824" y="83"/>
                      </a:lnTo>
                      <a:lnTo>
                        <a:pt x="1788" y="87"/>
                      </a:lnTo>
                      <a:lnTo>
                        <a:pt x="1750" y="89"/>
                      </a:lnTo>
                      <a:lnTo>
                        <a:pt x="1714" y="95"/>
                      </a:lnTo>
                      <a:lnTo>
                        <a:pt x="1674" y="97"/>
                      </a:lnTo>
                      <a:lnTo>
                        <a:pt x="1636" y="101"/>
                      </a:lnTo>
                      <a:lnTo>
                        <a:pt x="1594" y="104"/>
                      </a:lnTo>
                      <a:lnTo>
                        <a:pt x="1552" y="108"/>
                      </a:lnTo>
                      <a:lnTo>
                        <a:pt x="1510" y="112"/>
                      </a:lnTo>
                      <a:lnTo>
                        <a:pt x="1466" y="116"/>
                      </a:lnTo>
                      <a:lnTo>
                        <a:pt x="1423" y="120"/>
                      </a:lnTo>
                      <a:lnTo>
                        <a:pt x="1379" y="123"/>
                      </a:lnTo>
                      <a:lnTo>
                        <a:pt x="1335" y="127"/>
                      </a:lnTo>
                      <a:lnTo>
                        <a:pt x="1289" y="131"/>
                      </a:lnTo>
                      <a:lnTo>
                        <a:pt x="1244" y="133"/>
                      </a:lnTo>
                      <a:lnTo>
                        <a:pt x="1198" y="137"/>
                      </a:lnTo>
                      <a:lnTo>
                        <a:pt x="1151" y="140"/>
                      </a:lnTo>
                      <a:lnTo>
                        <a:pt x="1105" y="144"/>
                      </a:lnTo>
                      <a:lnTo>
                        <a:pt x="1059" y="146"/>
                      </a:lnTo>
                      <a:lnTo>
                        <a:pt x="1012" y="150"/>
                      </a:lnTo>
                      <a:lnTo>
                        <a:pt x="966" y="154"/>
                      </a:lnTo>
                      <a:lnTo>
                        <a:pt x="919" y="158"/>
                      </a:lnTo>
                      <a:lnTo>
                        <a:pt x="873" y="159"/>
                      </a:lnTo>
                      <a:lnTo>
                        <a:pt x="825" y="163"/>
                      </a:lnTo>
                      <a:lnTo>
                        <a:pt x="780" y="165"/>
                      </a:lnTo>
                      <a:lnTo>
                        <a:pt x="736" y="169"/>
                      </a:lnTo>
                      <a:lnTo>
                        <a:pt x="690" y="171"/>
                      </a:lnTo>
                      <a:lnTo>
                        <a:pt x="647" y="173"/>
                      </a:lnTo>
                      <a:lnTo>
                        <a:pt x="603" y="177"/>
                      </a:lnTo>
                      <a:lnTo>
                        <a:pt x="559" y="178"/>
                      </a:lnTo>
                      <a:lnTo>
                        <a:pt x="515" y="180"/>
                      </a:lnTo>
                      <a:lnTo>
                        <a:pt x="474" y="182"/>
                      </a:lnTo>
                      <a:lnTo>
                        <a:pt x="432" y="184"/>
                      </a:lnTo>
                      <a:lnTo>
                        <a:pt x="392" y="184"/>
                      </a:lnTo>
                      <a:lnTo>
                        <a:pt x="352" y="186"/>
                      </a:lnTo>
                      <a:lnTo>
                        <a:pt x="314" y="186"/>
                      </a:lnTo>
                      <a:lnTo>
                        <a:pt x="278" y="188"/>
                      </a:lnTo>
                      <a:lnTo>
                        <a:pt x="242" y="190"/>
                      </a:lnTo>
                      <a:lnTo>
                        <a:pt x="205" y="190"/>
                      </a:lnTo>
                      <a:lnTo>
                        <a:pt x="171" y="190"/>
                      </a:lnTo>
                      <a:lnTo>
                        <a:pt x="139" y="190"/>
                      </a:lnTo>
                      <a:lnTo>
                        <a:pt x="108" y="190"/>
                      </a:lnTo>
                      <a:lnTo>
                        <a:pt x="78" y="188"/>
                      </a:lnTo>
                      <a:lnTo>
                        <a:pt x="51" y="186"/>
                      </a:lnTo>
                      <a:lnTo>
                        <a:pt x="23" y="186"/>
                      </a:lnTo>
                      <a:lnTo>
                        <a:pt x="0" y="184"/>
                      </a:lnTo>
                      <a:lnTo>
                        <a:pt x="8" y="146"/>
                      </a:lnTo>
                      <a:lnTo>
                        <a:pt x="8" y="1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8" name="Freeform 142"/>
                <p:cNvSpPr>
                  <a:spLocks/>
                </p:cNvSpPr>
                <p:nvPr/>
              </p:nvSpPr>
              <p:spPr bwMode="auto">
                <a:xfrm>
                  <a:off x="4065" y="3063"/>
                  <a:ext cx="26" cy="65"/>
                </a:xfrm>
                <a:custGeom>
                  <a:avLst/>
                  <a:gdLst>
                    <a:gd name="T0" fmla="*/ 28 w 57"/>
                    <a:gd name="T1" fmla="*/ 0 h 146"/>
                    <a:gd name="T2" fmla="*/ 0 w 57"/>
                    <a:gd name="T3" fmla="*/ 146 h 146"/>
                    <a:gd name="T4" fmla="*/ 32 w 57"/>
                    <a:gd name="T5" fmla="*/ 138 h 146"/>
                    <a:gd name="T6" fmla="*/ 57 w 57"/>
                    <a:gd name="T7" fmla="*/ 0 h 146"/>
                    <a:gd name="T8" fmla="*/ 28 w 57"/>
                    <a:gd name="T9" fmla="*/ 0 h 146"/>
                    <a:gd name="T10" fmla="*/ 28 w 57"/>
                    <a:gd name="T11" fmla="*/ 0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7" h="146">
                      <a:moveTo>
                        <a:pt x="28" y="0"/>
                      </a:moveTo>
                      <a:lnTo>
                        <a:pt x="0" y="146"/>
                      </a:lnTo>
                      <a:lnTo>
                        <a:pt x="32" y="138"/>
                      </a:lnTo>
                      <a:lnTo>
                        <a:pt x="57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" name="Freeform 143"/>
                <p:cNvSpPr>
                  <a:spLocks/>
                </p:cNvSpPr>
                <p:nvPr/>
              </p:nvSpPr>
              <p:spPr bwMode="auto">
                <a:xfrm>
                  <a:off x="3985" y="3059"/>
                  <a:ext cx="139" cy="161"/>
                </a:xfrm>
                <a:custGeom>
                  <a:avLst/>
                  <a:gdLst>
                    <a:gd name="T0" fmla="*/ 0 w 294"/>
                    <a:gd name="T1" fmla="*/ 371 h 371"/>
                    <a:gd name="T2" fmla="*/ 36 w 294"/>
                    <a:gd name="T3" fmla="*/ 4 h 371"/>
                    <a:gd name="T4" fmla="*/ 294 w 294"/>
                    <a:gd name="T5" fmla="*/ 0 h 371"/>
                    <a:gd name="T6" fmla="*/ 256 w 294"/>
                    <a:gd name="T7" fmla="*/ 339 h 371"/>
                    <a:gd name="T8" fmla="*/ 218 w 294"/>
                    <a:gd name="T9" fmla="*/ 346 h 371"/>
                    <a:gd name="T10" fmla="*/ 256 w 294"/>
                    <a:gd name="T11" fmla="*/ 33 h 371"/>
                    <a:gd name="T12" fmla="*/ 68 w 294"/>
                    <a:gd name="T13" fmla="*/ 29 h 371"/>
                    <a:gd name="T14" fmla="*/ 36 w 294"/>
                    <a:gd name="T15" fmla="*/ 367 h 371"/>
                    <a:gd name="T16" fmla="*/ 0 w 294"/>
                    <a:gd name="T17" fmla="*/ 371 h 371"/>
                    <a:gd name="T18" fmla="*/ 0 w 294"/>
                    <a:gd name="T19" fmla="*/ 371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94" h="371">
                      <a:moveTo>
                        <a:pt x="0" y="371"/>
                      </a:moveTo>
                      <a:lnTo>
                        <a:pt x="36" y="4"/>
                      </a:lnTo>
                      <a:lnTo>
                        <a:pt x="294" y="0"/>
                      </a:lnTo>
                      <a:lnTo>
                        <a:pt x="256" y="339"/>
                      </a:lnTo>
                      <a:lnTo>
                        <a:pt x="218" y="346"/>
                      </a:lnTo>
                      <a:lnTo>
                        <a:pt x="256" y="33"/>
                      </a:lnTo>
                      <a:lnTo>
                        <a:pt x="68" y="29"/>
                      </a:lnTo>
                      <a:lnTo>
                        <a:pt x="36" y="367"/>
                      </a:lnTo>
                      <a:lnTo>
                        <a:pt x="0" y="371"/>
                      </a:lnTo>
                      <a:lnTo>
                        <a:pt x="0" y="3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0" name="Freeform 144"/>
                <p:cNvSpPr>
                  <a:spLocks/>
                </p:cNvSpPr>
                <p:nvPr/>
              </p:nvSpPr>
              <p:spPr bwMode="auto">
                <a:xfrm>
                  <a:off x="3886" y="2867"/>
                  <a:ext cx="263" cy="50"/>
                </a:xfrm>
                <a:custGeom>
                  <a:avLst/>
                  <a:gdLst>
                    <a:gd name="T0" fmla="*/ 27 w 558"/>
                    <a:gd name="T1" fmla="*/ 23 h 114"/>
                    <a:gd name="T2" fmla="*/ 36 w 558"/>
                    <a:gd name="T3" fmla="*/ 27 h 114"/>
                    <a:gd name="T4" fmla="*/ 52 w 558"/>
                    <a:gd name="T5" fmla="*/ 33 h 114"/>
                    <a:gd name="T6" fmla="*/ 61 w 558"/>
                    <a:gd name="T7" fmla="*/ 35 h 114"/>
                    <a:gd name="T8" fmla="*/ 73 w 558"/>
                    <a:gd name="T9" fmla="*/ 40 h 114"/>
                    <a:gd name="T10" fmla="*/ 84 w 558"/>
                    <a:gd name="T11" fmla="*/ 44 h 114"/>
                    <a:gd name="T12" fmla="*/ 97 w 558"/>
                    <a:gd name="T13" fmla="*/ 48 h 114"/>
                    <a:gd name="T14" fmla="*/ 111 w 558"/>
                    <a:gd name="T15" fmla="*/ 52 h 114"/>
                    <a:gd name="T16" fmla="*/ 126 w 558"/>
                    <a:gd name="T17" fmla="*/ 57 h 114"/>
                    <a:gd name="T18" fmla="*/ 143 w 558"/>
                    <a:gd name="T19" fmla="*/ 59 h 114"/>
                    <a:gd name="T20" fmla="*/ 160 w 558"/>
                    <a:gd name="T21" fmla="*/ 63 h 114"/>
                    <a:gd name="T22" fmla="*/ 177 w 558"/>
                    <a:gd name="T23" fmla="*/ 67 h 114"/>
                    <a:gd name="T24" fmla="*/ 196 w 558"/>
                    <a:gd name="T25" fmla="*/ 71 h 114"/>
                    <a:gd name="T26" fmla="*/ 215 w 558"/>
                    <a:gd name="T27" fmla="*/ 73 h 114"/>
                    <a:gd name="T28" fmla="*/ 236 w 558"/>
                    <a:gd name="T29" fmla="*/ 74 h 114"/>
                    <a:gd name="T30" fmla="*/ 255 w 558"/>
                    <a:gd name="T31" fmla="*/ 76 h 114"/>
                    <a:gd name="T32" fmla="*/ 278 w 558"/>
                    <a:gd name="T33" fmla="*/ 76 h 114"/>
                    <a:gd name="T34" fmla="*/ 299 w 558"/>
                    <a:gd name="T35" fmla="*/ 76 h 114"/>
                    <a:gd name="T36" fmla="*/ 322 w 558"/>
                    <a:gd name="T37" fmla="*/ 74 h 114"/>
                    <a:gd name="T38" fmla="*/ 343 w 558"/>
                    <a:gd name="T39" fmla="*/ 73 h 114"/>
                    <a:gd name="T40" fmla="*/ 365 w 558"/>
                    <a:gd name="T41" fmla="*/ 71 h 114"/>
                    <a:gd name="T42" fmla="*/ 388 w 558"/>
                    <a:gd name="T43" fmla="*/ 65 h 114"/>
                    <a:gd name="T44" fmla="*/ 411 w 558"/>
                    <a:gd name="T45" fmla="*/ 61 h 114"/>
                    <a:gd name="T46" fmla="*/ 434 w 558"/>
                    <a:gd name="T47" fmla="*/ 54 h 114"/>
                    <a:gd name="T48" fmla="*/ 459 w 558"/>
                    <a:gd name="T49" fmla="*/ 46 h 114"/>
                    <a:gd name="T50" fmla="*/ 481 w 558"/>
                    <a:gd name="T51" fmla="*/ 36 h 114"/>
                    <a:gd name="T52" fmla="*/ 504 w 558"/>
                    <a:gd name="T53" fmla="*/ 25 h 114"/>
                    <a:gd name="T54" fmla="*/ 527 w 558"/>
                    <a:gd name="T55" fmla="*/ 14 h 114"/>
                    <a:gd name="T56" fmla="*/ 550 w 558"/>
                    <a:gd name="T57" fmla="*/ 0 h 114"/>
                    <a:gd name="T58" fmla="*/ 556 w 558"/>
                    <a:gd name="T59" fmla="*/ 38 h 114"/>
                    <a:gd name="T60" fmla="*/ 552 w 558"/>
                    <a:gd name="T61" fmla="*/ 42 h 114"/>
                    <a:gd name="T62" fmla="*/ 540 w 558"/>
                    <a:gd name="T63" fmla="*/ 48 h 114"/>
                    <a:gd name="T64" fmla="*/ 527 w 558"/>
                    <a:gd name="T65" fmla="*/ 57 h 114"/>
                    <a:gd name="T66" fmla="*/ 512 w 558"/>
                    <a:gd name="T67" fmla="*/ 65 h 114"/>
                    <a:gd name="T68" fmla="*/ 502 w 558"/>
                    <a:gd name="T69" fmla="*/ 69 h 114"/>
                    <a:gd name="T70" fmla="*/ 489 w 558"/>
                    <a:gd name="T71" fmla="*/ 74 h 114"/>
                    <a:gd name="T72" fmla="*/ 478 w 558"/>
                    <a:gd name="T73" fmla="*/ 78 h 114"/>
                    <a:gd name="T74" fmla="*/ 462 w 558"/>
                    <a:gd name="T75" fmla="*/ 84 h 114"/>
                    <a:gd name="T76" fmla="*/ 449 w 558"/>
                    <a:gd name="T77" fmla="*/ 90 h 114"/>
                    <a:gd name="T78" fmla="*/ 432 w 558"/>
                    <a:gd name="T79" fmla="*/ 95 h 114"/>
                    <a:gd name="T80" fmla="*/ 415 w 558"/>
                    <a:gd name="T81" fmla="*/ 99 h 114"/>
                    <a:gd name="T82" fmla="*/ 398 w 558"/>
                    <a:gd name="T83" fmla="*/ 103 h 114"/>
                    <a:gd name="T84" fmla="*/ 379 w 558"/>
                    <a:gd name="T85" fmla="*/ 107 h 114"/>
                    <a:gd name="T86" fmla="*/ 358 w 558"/>
                    <a:gd name="T87" fmla="*/ 109 h 114"/>
                    <a:gd name="T88" fmla="*/ 337 w 558"/>
                    <a:gd name="T89" fmla="*/ 111 h 114"/>
                    <a:gd name="T90" fmla="*/ 316 w 558"/>
                    <a:gd name="T91" fmla="*/ 112 h 114"/>
                    <a:gd name="T92" fmla="*/ 291 w 558"/>
                    <a:gd name="T93" fmla="*/ 112 h 114"/>
                    <a:gd name="T94" fmla="*/ 268 w 558"/>
                    <a:gd name="T95" fmla="*/ 112 h 114"/>
                    <a:gd name="T96" fmla="*/ 244 w 558"/>
                    <a:gd name="T97" fmla="*/ 112 h 114"/>
                    <a:gd name="T98" fmla="*/ 219 w 558"/>
                    <a:gd name="T99" fmla="*/ 111 h 114"/>
                    <a:gd name="T100" fmla="*/ 191 w 558"/>
                    <a:gd name="T101" fmla="*/ 107 h 114"/>
                    <a:gd name="T102" fmla="*/ 164 w 558"/>
                    <a:gd name="T103" fmla="*/ 101 h 114"/>
                    <a:gd name="T104" fmla="*/ 135 w 558"/>
                    <a:gd name="T105" fmla="*/ 95 h 114"/>
                    <a:gd name="T106" fmla="*/ 107 w 558"/>
                    <a:gd name="T107" fmla="*/ 86 h 114"/>
                    <a:gd name="T108" fmla="*/ 76 w 558"/>
                    <a:gd name="T109" fmla="*/ 76 h 114"/>
                    <a:gd name="T110" fmla="*/ 46 w 558"/>
                    <a:gd name="T111" fmla="*/ 65 h 114"/>
                    <a:gd name="T112" fmla="*/ 16 w 558"/>
                    <a:gd name="T113" fmla="*/ 54 h 114"/>
                    <a:gd name="T114" fmla="*/ 23 w 558"/>
                    <a:gd name="T115" fmla="*/ 21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558" h="114">
                      <a:moveTo>
                        <a:pt x="23" y="21"/>
                      </a:moveTo>
                      <a:lnTo>
                        <a:pt x="27" y="23"/>
                      </a:lnTo>
                      <a:lnTo>
                        <a:pt x="31" y="23"/>
                      </a:lnTo>
                      <a:lnTo>
                        <a:pt x="36" y="27"/>
                      </a:lnTo>
                      <a:lnTo>
                        <a:pt x="42" y="29"/>
                      </a:lnTo>
                      <a:lnTo>
                        <a:pt x="52" y="33"/>
                      </a:lnTo>
                      <a:lnTo>
                        <a:pt x="55" y="35"/>
                      </a:lnTo>
                      <a:lnTo>
                        <a:pt x="61" y="35"/>
                      </a:lnTo>
                      <a:lnTo>
                        <a:pt x="67" y="38"/>
                      </a:lnTo>
                      <a:lnTo>
                        <a:pt x="73" y="40"/>
                      </a:lnTo>
                      <a:lnTo>
                        <a:pt x="78" y="42"/>
                      </a:lnTo>
                      <a:lnTo>
                        <a:pt x="84" y="44"/>
                      </a:lnTo>
                      <a:lnTo>
                        <a:pt x="90" y="46"/>
                      </a:lnTo>
                      <a:lnTo>
                        <a:pt x="97" y="48"/>
                      </a:lnTo>
                      <a:lnTo>
                        <a:pt x="103" y="50"/>
                      </a:lnTo>
                      <a:lnTo>
                        <a:pt x="111" y="52"/>
                      </a:lnTo>
                      <a:lnTo>
                        <a:pt x="118" y="54"/>
                      </a:lnTo>
                      <a:lnTo>
                        <a:pt x="126" y="57"/>
                      </a:lnTo>
                      <a:lnTo>
                        <a:pt x="133" y="59"/>
                      </a:lnTo>
                      <a:lnTo>
                        <a:pt x="143" y="59"/>
                      </a:lnTo>
                      <a:lnTo>
                        <a:pt x="151" y="61"/>
                      </a:lnTo>
                      <a:lnTo>
                        <a:pt x="160" y="63"/>
                      </a:lnTo>
                      <a:lnTo>
                        <a:pt x="168" y="65"/>
                      </a:lnTo>
                      <a:lnTo>
                        <a:pt x="177" y="67"/>
                      </a:lnTo>
                      <a:lnTo>
                        <a:pt x="187" y="69"/>
                      </a:lnTo>
                      <a:lnTo>
                        <a:pt x="196" y="71"/>
                      </a:lnTo>
                      <a:lnTo>
                        <a:pt x="206" y="71"/>
                      </a:lnTo>
                      <a:lnTo>
                        <a:pt x="215" y="73"/>
                      </a:lnTo>
                      <a:lnTo>
                        <a:pt x="227" y="73"/>
                      </a:lnTo>
                      <a:lnTo>
                        <a:pt x="236" y="74"/>
                      </a:lnTo>
                      <a:lnTo>
                        <a:pt x="246" y="74"/>
                      </a:lnTo>
                      <a:lnTo>
                        <a:pt x="255" y="76"/>
                      </a:lnTo>
                      <a:lnTo>
                        <a:pt x="267" y="76"/>
                      </a:lnTo>
                      <a:lnTo>
                        <a:pt x="278" y="76"/>
                      </a:lnTo>
                      <a:lnTo>
                        <a:pt x="288" y="76"/>
                      </a:lnTo>
                      <a:lnTo>
                        <a:pt x="299" y="76"/>
                      </a:lnTo>
                      <a:lnTo>
                        <a:pt x="308" y="74"/>
                      </a:lnTo>
                      <a:lnTo>
                        <a:pt x="322" y="74"/>
                      </a:lnTo>
                      <a:lnTo>
                        <a:pt x="331" y="73"/>
                      </a:lnTo>
                      <a:lnTo>
                        <a:pt x="343" y="73"/>
                      </a:lnTo>
                      <a:lnTo>
                        <a:pt x="354" y="71"/>
                      </a:lnTo>
                      <a:lnTo>
                        <a:pt x="365" y="71"/>
                      </a:lnTo>
                      <a:lnTo>
                        <a:pt x="377" y="69"/>
                      </a:lnTo>
                      <a:lnTo>
                        <a:pt x="388" y="65"/>
                      </a:lnTo>
                      <a:lnTo>
                        <a:pt x="400" y="63"/>
                      </a:lnTo>
                      <a:lnTo>
                        <a:pt x="411" y="61"/>
                      </a:lnTo>
                      <a:lnTo>
                        <a:pt x="423" y="57"/>
                      </a:lnTo>
                      <a:lnTo>
                        <a:pt x="434" y="54"/>
                      </a:lnTo>
                      <a:lnTo>
                        <a:pt x="445" y="50"/>
                      </a:lnTo>
                      <a:lnTo>
                        <a:pt x="459" y="46"/>
                      </a:lnTo>
                      <a:lnTo>
                        <a:pt x="470" y="42"/>
                      </a:lnTo>
                      <a:lnTo>
                        <a:pt x="481" y="36"/>
                      </a:lnTo>
                      <a:lnTo>
                        <a:pt x="493" y="31"/>
                      </a:lnTo>
                      <a:lnTo>
                        <a:pt x="504" y="25"/>
                      </a:lnTo>
                      <a:lnTo>
                        <a:pt x="516" y="19"/>
                      </a:lnTo>
                      <a:lnTo>
                        <a:pt x="527" y="14"/>
                      </a:lnTo>
                      <a:lnTo>
                        <a:pt x="539" y="6"/>
                      </a:lnTo>
                      <a:lnTo>
                        <a:pt x="550" y="0"/>
                      </a:lnTo>
                      <a:lnTo>
                        <a:pt x="558" y="38"/>
                      </a:lnTo>
                      <a:lnTo>
                        <a:pt x="556" y="38"/>
                      </a:lnTo>
                      <a:lnTo>
                        <a:pt x="554" y="40"/>
                      </a:lnTo>
                      <a:lnTo>
                        <a:pt x="552" y="42"/>
                      </a:lnTo>
                      <a:lnTo>
                        <a:pt x="546" y="46"/>
                      </a:lnTo>
                      <a:lnTo>
                        <a:pt x="540" y="48"/>
                      </a:lnTo>
                      <a:lnTo>
                        <a:pt x="535" y="52"/>
                      </a:lnTo>
                      <a:lnTo>
                        <a:pt x="527" y="57"/>
                      </a:lnTo>
                      <a:lnTo>
                        <a:pt x="518" y="61"/>
                      </a:lnTo>
                      <a:lnTo>
                        <a:pt x="512" y="65"/>
                      </a:lnTo>
                      <a:lnTo>
                        <a:pt x="508" y="67"/>
                      </a:lnTo>
                      <a:lnTo>
                        <a:pt x="502" y="69"/>
                      </a:lnTo>
                      <a:lnTo>
                        <a:pt x="497" y="71"/>
                      </a:lnTo>
                      <a:lnTo>
                        <a:pt x="489" y="74"/>
                      </a:lnTo>
                      <a:lnTo>
                        <a:pt x="483" y="76"/>
                      </a:lnTo>
                      <a:lnTo>
                        <a:pt x="478" y="78"/>
                      </a:lnTo>
                      <a:lnTo>
                        <a:pt x="472" y="82"/>
                      </a:lnTo>
                      <a:lnTo>
                        <a:pt x="462" y="84"/>
                      </a:lnTo>
                      <a:lnTo>
                        <a:pt x="457" y="88"/>
                      </a:lnTo>
                      <a:lnTo>
                        <a:pt x="449" y="90"/>
                      </a:lnTo>
                      <a:lnTo>
                        <a:pt x="442" y="92"/>
                      </a:lnTo>
                      <a:lnTo>
                        <a:pt x="432" y="95"/>
                      </a:lnTo>
                      <a:lnTo>
                        <a:pt x="424" y="97"/>
                      </a:lnTo>
                      <a:lnTo>
                        <a:pt x="415" y="99"/>
                      </a:lnTo>
                      <a:lnTo>
                        <a:pt x="407" y="101"/>
                      </a:lnTo>
                      <a:lnTo>
                        <a:pt x="398" y="103"/>
                      </a:lnTo>
                      <a:lnTo>
                        <a:pt x="388" y="105"/>
                      </a:lnTo>
                      <a:lnTo>
                        <a:pt x="379" y="107"/>
                      </a:lnTo>
                      <a:lnTo>
                        <a:pt x="367" y="109"/>
                      </a:lnTo>
                      <a:lnTo>
                        <a:pt x="358" y="109"/>
                      </a:lnTo>
                      <a:lnTo>
                        <a:pt x="348" y="111"/>
                      </a:lnTo>
                      <a:lnTo>
                        <a:pt x="337" y="111"/>
                      </a:lnTo>
                      <a:lnTo>
                        <a:pt x="327" y="112"/>
                      </a:lnTo>
                      <a:lnTo>
                        <a:pt x="316" y="112"/>
                      </a:lnTo>
                      <a:lnTo>
                        <a:pt x="305" y="112"/>
                      </a:lnTo>
                      <a:lnTo>
                        <a:pt x="291" y="112"/>
                      </a:lnTo>
                      <a:lnTo>
                        <a:pt x="280" y="114"/>
                      </a:lnTo>
                      <a:lnTo>
                        <a:pt x="268" y="112"/>
                      </a:lnTo>
                      <a:lnTo>
                        <a:pt x="255" y="112"/>
                      </a:lnTo>
                      <a:lnTo>
                        <a:pt x="244" y="112"/>
                      </a:lnTo>
                      <a:lnTo>
                        <a:pt x="232" y="112"/>
                      </a:lnTo>
                      <a:lnTo>
                        <a:pt x="219" y="111"/>
                      </a:lnTo>
                      <a:lnTo>
                        <a:pt x="206" y="109"/>
                      </a:lnTo>
                      <a:lnTo>
                        <a:pt x="191" y="107"/>
                      </a:lnTo>
                      <a:lnTo>
                        <a:pt x="179" y="103"/>
                      </a:lnTo>
                      <a:lnTo>
                        <a:pt x="164" y="101"/>
                      </a:lnTo>
                      <a:lnTo>
                        <a:pt x="151" y="97"/>
                      </a:lnTo>
                      <a:lnTo>
                        <a:pt x="135" y="95"/>
                      </a:lnTo>
                      <a:lnTo>
                        <a:pt x="122" y="92"/>
                      </a:lnTo>
                      <a:lnTo>
                        <a:pt x="107" y="86"/>
                      </a:lnTo>
                      <a:lnTo>
                        <a:pt x="92" y="82"/>
                      </a:lnTo>
                      <a:lnTo>
                        <a:pt x="76" y="76"/>
                      </a:lnTo>
                      <a:lnTo>
                        <a:pt x="61" y="71"/>
                      </a:lnTo>
                      <a:lnTo>
                        <a:pt x="46" y="65"/>
                      </a:lnTo>
                      <a:lnTo>
                        <a:pt x="31" y="59"/>
                      </a:lnTo>
                      <a:lnTo>
                        <a:pt x="16" y="54"/>
                      </a:lnTo>
                      <a:lnTo>
                        <a:pt x="0" y="46"/>
                      </a:lnTo>
                      <a:lnTo>
                        <a:pt x="23" y="21"/>
                      </a:lnTo>
                      <a:lnTo>
                        <a:pt x="23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1" name="Freeform 145"/>
                <p:cNvSpPr>
                  <a:spLocks/>
                </p:cNvSpPr>
                <p:nvPr/>
              </p:nvSpPr>
              <p:spPr bwMode="auto">
                <a:xfrm>
                  <a:off x="3834" y="2802"/>
                  <a:ext cx="63" cy="25"/>
                </a:xfrm>
                <a:custGeom>
                  <a:avLst/>
                  <a:gdLst>
                    <a:gd name="T0" fmla="*/ 0 w 131"/>
                    <a:gd name="T1" fmla="*/ 0 h 57"/>
                    <a:gd name="T2" fmla="*/ 131 w 131"/>
                    <a:gd name="T3" fmla="*/ 10 h 57"/>
                    <a:gd name="T4" fmla="*/ 131 w 131"/>
                    <a:gd name="T5" fmla="*/ 57 h 57"/>
                    <a:gd name="T6" fmla="*/ 25 w 131"/>
                    <a:gd name="T7" fmla="*/ 46 h 57"/>
                    <a:gd name="T8" fmla="*/ 0 w 131"/>
                    <a:gd name="T9" fmla="*/ 0 h 57"/>
                    <a:gd name="T10" fmla="*/ 0 w 131"/>
                    <a:gd name="T11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1" h="57">
                      <a:moveTo>
                        <a:pt x="0" y="0"/>
                      </a:moveTo>
                      <a:lnTo>
                        <a:pt x="131" y="10"/>
                      </a:lnTo>
                      <a:lnTo>
                        <a:pt x="131" y="57"/>
                      </a:lnTo>
                      <a:lnTo>
                        <a:pt x="25" y="46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2" name="Freeform 146"/>
                <p:cNvSpPr>
                  <a:spLocks/>
                </p:cNvSpPr>
                <p:nvPr/>
              </p:nvSpPr>
              <p:spPr bwMode="auto">
                <a:xfrm>
                  <a:off x="3895" y="2682"/>
                  <a:ext cx="230" cy="58"/>
                </a:xfrm>
                <a:custGeom>
                  <a:avLst/>
                  <a:gdLst>
                    <a:gd name="T0" fmla="*/ 2 w 487"/>
                    <a:gd name="T1" fmla="*/ 64 h 133"/>
                    <a:gd name="T2" fmla="*/ 12 w 487"/>
                    <a:gd name="T3" fmla="*/ 68 h 133"/>
                    <a:gd name="T4" fmla="*/ 25 w 487"/>
                    <a:gd name="T5" fmla="*/ 72 h 133"/>
                    <a:gd name="T6" fmla="*/ 35 w 487"/>
                    <a:gd name="T7" fmla="*/ 76 h 133"/>
                    <a:gd name="T8" fmla="*/ 44 w 487"/>
                    <a:gd name="T9" fmla="*/ 78 h 133"/>
                    <a:gd name="T10" fmla="*/ 56 w 487"/>
                    <a:gd name="T11" fmla="*/ 81 h 133"/>
                    <a:gd name="T12" fmla="*/ 67 w 487"/>
                    <a:gd name="T13" fmla="*/ 83 h 133"/>
                    <a:gd name="T14" fmla="*/ 80 w 487"/>
                    <a:gd name="T15" fmla="*/ 85 h 133"/>
                    <a:gd name="T16" fmla="*/ 95 w 487"/>
                    <a:gd name="T17" fmla="*/ 89 h 133"/>
                    <a:gd name="T18" fmla="*/ 111 w 487"/>
                    <a:gd name="T19" fmla="*/ 91 h 133"/>
                    <a:gd name="T20" fmla="*/ 126 w 487"/>
                    <a:gd name="T21" fmla="*/ 95 h 133"/>
                    <a:gd name="T22" fmla="*/ 143 w 487"/>
                    <a:gd name="T23" fmla="*/ 97 h 133"/>
                    <a:gd name="T24" fmla="*/ 160 w 487"/>
                    <a:gd name="T25" fmla="*/ 98 h 133"/>
                    <a:gd name="T26" fmla="*/ 177 w 487"/>
                    <a:gd name="T27" fmla="*/ 98 h 133"/>
                    <a:gd name="T28" fmla="*/ 196 w 487"/>
                    <a:gd name="T29" fmla="*/ 98 h 133"/>
                    <a:gd name="T30" fmla="*/ 215 w 487"/>
                    <a:gd name="T31" fmla="*/ 98 h 133"/>
                    <a:gd name="T32" fmla="*/ 234 w 487"/>
                    <a:gd name="T33" fmla="*/ 97 h 133"/>
                    <a:gd name="T34" fmla="*/ 255 w 487"/>
                    <a:gd name="T35" fmla="*/ 95 h 133"/>
                    <a:gd name="T36" fmla="*/ 274 w 487"/>
                    <a:gd name="T37" fmla="*/ 93 h 133"/>
                    <a:gd name="T38" fmla="*/ 295 w 487"/>
                    <a:gd name="T39" fmla="*/ 89 h 133"/>
                    <a:gd name="T40" fmla="*/ 316 w 487"/>
                    <a:gd name="T41" fmla="*/ 83 h 133"/>
                    <a:gd name="T42" fmla="*/ 335 w 487"/>
                    <a:gd name="T43" fmla="*/ 78 h 133"/>
                    <a:gd name="T44" fmla="*/ 356 w 487"/>
                    <a:gd name="T45" fmla="*/ 72 h 133"/>
                    <a:gd name="T46" fmla="*/ 377 w 487"/>
                    <a:gd name="T47" fmla="*/ 62 h 133"/>
                    <a:gd name="T48" fmla="*/ 398 w 487"/>
                    <a:gd name="T49" fmla="*/ 53 h 133"/>
                    <a:gd name="T50" fmla="*/ 419 w 487"/>
                    <a:gd name="T51" fmla="*/ 41 h 133"/>
                    <a:gd name="T52" fmla="*/ 440 w 487"/>
                    <a:gd name="T53" fmla="*/ 30 h 133"/>
                    <a:gd name="T54" fmla="*/ 461 w 487"/>
                    <a:gd name="T55" fmla="*/ 15 h 133"/>
                    <a:gd name="T56" fmla="*/ 480 w 487"/>
                    <a:gd name="T57" fmla="*/ 0 h 133"/>
                    <a:gd name="T58" fmla="*/ 487 w 487"/>
                    <a:gd name="T59" fmla="*/ 43 h 133"/>
                    <a:gd name="T60" fmla="*/ 481 w 487"/>
                    <a:gd name="T61" fmla="*/ 45 h 133"/>
                    <a:gd name="T62" fmla="*/ 472 w 487"/>
                    <a:gd name="T63" fmla="*/ 51 h 133"/>
                    <a:gd name="T64" fmla="*/ 459 w 487"/>
                    <a:gd name="T65" fmla="*/ 60 h 133"/>
                    <a:gd name="T66" fmla="*/ 445 w 487"/>
                    <a:gd name="T67" fmla="*/ 66 h 133"/>
                    <a:gd name="T68" fmla="*/ 436 w 487"/>
                    <a:gd name="T69" fmla="*/ 72 h 133"/>
                    <a:gd name="T70" fmla="*/ 426 w 487"/>
                    <a:gd name="T71" fmla="*/ 78 h 133"/>
                    <a:gd name="T72" fmla="*/ 415 w 487"/>
                    <a:gd name="T73" fmla="*/ 83 h 133"/>
                    <a:gd name="T74" fmla="*/ 402 w 487"/>
                    <a:gd name="T75" fmla="*/ 89 h 133"/>
                    <a:gd name="T76" fmla="*/ 388 w 487"/>
                    <a:gd name="T77" fmla="*/ 93 h 133"/>
                    <a:gd name="T78" fmla="*/ 373 w 487"/>
                    <a:gd name="T79" fmla="*/ 98 h 133"/>
                    <a:gd name="T80" fmla="*/ 360 w 487"/>
                    <a:gd name="T81" fmla="*/ 104 h 133"/>
                    <a:gd name="T82" fmla="*/ 343 w 487"/>
                    <a:gd name="T83" fmla="*/ 110 h 133"/>
                    <a:gd name="T84" fmla="*/ 326 w 487"/>
                    <a:gd name="T85" fmla="*/ 114 h 133"/>
                    <a:gd name="T86" fmla="*/ 308 w 487"/>
                    <a:gd name="T87" fmla="*/ 119 h 133"/>
                    <a:gd name="T88" fmla="*/ 289 w 487"/>
                    <a:gd name="T89" fmla="*/ 121 h 133"/>
                    <a:gd name="T90" fmla="*/ 270 w 487"/>
                    <a:gd name="T91" fmla="*/ 125 h 133"/>
                    <a:gd name="T92" fmla="*/ 251 w 487"/>
                    <a:gd name="T93" fmla="*/ 129 h 133"/>
                    <a:gd name="T94" fmla="*/ 230 w 487"/>
                    <a:gd name="T95" fmla="*/ 131 h 133"/>
                    <a:gd name="T96" fmla="*/ 210 w 487"/>
                    <a:gd name="T97" fmla="*/ 133 h 133"/>
                    <a:gd name="T98" fmla="*/ 189 w 487"/>
                    <a:gd name="T99" fmla="*/ 133 h 133"/>
                    <a:gd name="T100" fmla="*/ 166 w 487"/>
                    <a:gd name="T101" fmla="*/ 133 h 133"/>
                    <a:gd name="T102" fmla="*/ 141 w 487"/>
                    <a:gd name="T103" fmla="*/ 131 h 133"/>
                    <a:gd name="T104" fmla="*/ 118 w 487"/>
                    <a:gd name="T105" fmla="*/ 127 h 133"/>
                    <a:gd name="T106" fmla="*/ 95 w 487"/>
                    <a:gd name="T107" fmla="*/ 125 h 133"/>
                    <a:gd name="T108" fmla="*/ 71 w 487"/>
                    <a:gd name="T109" fmla="*/ 119 h 133"/>
                    <a:gd name="T110" fmla="*/ 46 w 487"/>
                    <a:gd name="T111" fmla="*/ 114 h 133"/>
                    <a:gd name="T112" fmla="*/ 21 w 487"/>
                    <a:gd name="T113" fmla="*/ 106 h 133"/>
                    <a:gd name="T114" fmla="*/ 0 w 487"/>
                    <a:gd name="T115" fmla="*/ 64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87" h="133">
                      <a:moveTo>
                        <a:pt x="0" y="64"/>
                      </a:moveTo>
                      <a:lnTo>
                        <a:pt x="2" y="64"/>
                      </a:lnTo>
                      <a:lnTo>
                        <a:pt x="4" y="66"/>
                      </a:lnTo>
                      <a:lnTo>
                        <a:pt x="12" y="68"/>
                      </a:lnTo>
                      <a:lnTo>
                        <a:pt x="17" y="70"/>
                      </a:lnTo>
                      <a:lnTo>
                        <a:pt x="25" y="72"/>
                      </a:lnTo>
                      <a:lnTo>
                        <a:pt x="29" y="72"/>
                      </a:lnTo>
                      <a:lnTo>
                        <a:pt x="35" y="76"/>
                      </a:lnTo>
                      <a:lnTo>
                        <a:pt x="38" y="76"/>
                      </a:lnTo>
                      <a:lnTo>
                        <a:pt x="44" y="78"/>
                      </a:lnTo>
                      <a:lnTo>
                        <a:pt x="50" y="79"/>
                      </a:lnTo>
                      <a:lnTo>
                        <a:pt x="56" y="81"/>
                      </a:lnTo>
                      <a:lnTo>
                        <a:pt x="61" y="81"/>
                      </a:lnTo>
                      <a:lnTo>
                        <a:pt x="67" y="83"/>
                      </a:lnTo>
                      <a:lnTo>
                        <a:pt x="73" y="83"/>
                      </a:lnTo>
                      <a:lnTo>
                        <a:pt x="80" y="85"/>
                      </a:lnTo>
                      <a:lnTo>
                        <a:pt x="88" y="87"/>
                      </a:lnTo>
                      <a:lnTo>
                        <a:pt x="95" y="89"/>
                      </a:lnTo>
                      <a:lnTo>
                        <a:pt x="103" y="89"/>
                      </a:lnTo>
                      <a:lnTo>
                        <a:pt x="111" y="91"/>
                      </a:lnTo>
                      <a:lnTo>
                        <a:pt x="118" y="93"/>
                      </a:lnTo>
                      <a:lnTo>
                        <a:pt x="126" y="95"/>
                      </a:lnTo>
                      <a:lnTo>
                        <a:pt x="133" y="95"/>
                      </a:lnTo>
                      <a:lnTo>
                        <a:pt x="143" y="97"/>
                      </a:lnTo>
                      <a:lnTo>
                        <a:pt x="151" y="97"/>
                      </a:lnTo>
                      <a:lnTo>
                        <a:pt x="160" y="98"/>
                      </a:lnTo>
                      <a:lnTo>
                        <a:pt x="170" y="98"/>
                      </a:lnTo>
                      <a:lnTo>
                        <a:pt x="177" y="98"/>
                      </a:lnTo>
                      <a:lnTo>
                        <a:pt x="187" y="98"/>
                      </a:lnTo>
                      <a:lnTo>
                        <a:pt x="196" y="98"/>
                      </a:lnTo>
                      <a:lnTo>
                        <a:pt x="206" y="98"/>
                      </a:lnTo>
                      <a:lnTo>
                        <a:pt x="215" y="98"/>
                      </a:lnTo>
                      <a:lnTo>
                        <a:pt x="225" y="97"/>
                      </a:lnTo>
                      <a:lnTo>
                        <a:pt x="234" y="97"/>
                      </a:lnTo>
                      <a:lnTo>
                        <a:pt x="244" y="97"/>
                      </a:lnTo>
                      <a:lnTo>
                        <a:pt x="255" y="95"/>
                      </a:lnTo>
                      <a:lnTo>
                        <a:pt x="265" y="93"/>
                      </a:lnTo>
                      <a:lnTo>
                        <a:pt x="274" y="93"/>
                      </a:lnTo>
                      <a:lnTo>
                        <a:pt x="284" y="89"/>
                      </a:lnTo>
                      <a:lnTo>
                        <a:pt x="295" y="89"/>
                      </a:lnTo>
                      <a:lnTo>
                        <a:pt x="305" y="85"/>
                      </a:lnTo>
                      <a:lnTo>
                        <a:pt x="316" y="83"/>
                      </a:lnTo>
                      <a:lnTo>
                        <a:pt x="326" y="81"/>
                      </a:lnTo>
                      <a:lnTo>
                        <a:pt x="335" y="78"/>
                      </a:lnTo>
                      <a:lnTo>
                        <a:pt x="346" y="74"/>
                      </a:lnTo>
                      <a:lnTo>
                        <a:pt x="356" y="72"/>
                      </a:lnTo>
                      <a:lnTo>
                        <a:pt x="367" y="66"/>
                      </a:lnTo>
                      <a:lnTo>
                        <a:pt x="377" y="62"/>
                      </a:lnTo>
                      <a:lnTo>
                        <a:pt x="388" y="57"/>
                      </a:lnTo>
                      <a:lnTo>
                        <a:pt x="398" y="53"/>
                      </a:lnTo>
                      <a:lnTo>
                        <a:pt x="409" y="47"/>
                      </a:lnTo>
                      <a:lnTo>
                        <a:pt x="419" y="41"/>
                      </a:lnTo>
                      <a:lnTo>
                        <a:pt x="428" y="36"/>
                      </a:lnTo>
                      <a:lnTo>
                        <a:pt x="440" y="30"/>
                      </a:lnTo>
                      <a:lnTo>
                        <a:pt x="449" y="22"/>
                      </a:lnTo>
                      <a:lnTo>
                        <a:pt x="461" y="15"/>
                      </a:lnTo>
                      <a:lnTo>
                        <a:pt x="470" y="7"/>
                      </a:lnTo>
                      <a:lnTo>
                        <a:pt x="480" y="0"/>
                      </a:lnTo>
                      <a:lnTo>
                        <a:pt x="487" y="43"/>
                      </a:lnTo>
                      <a:lnTo>
                        <a:pt x="487" y="43"/>
                      </a:lnTo>
                      <a:lnTo>
                        <a:pt x="485" y="43"/>
                      </a:lnTo>
                      <a:lnTo>
                        <a:pt x="481" y="45"/>
                      </a:lnTo>
                      <a:lnTo>
                        <a:pt x="478" y="47"/>
                      </a:lnTo>
                      <a:lnTo>
                        <a:pt x="472" y="51"/>
                      </a:lnTo>
                      <a:lnTo>
                        <a:pt x="466" y="55"/>
                      </a:lnTo>
                      <a:lnTo>
                        <a:pt x="459" y="60"/>
                      </a:lnTo>
                      <a:lnTo>
                        <a:pt x="451" y="64"/>
                      </a:lnTo>
                      <a:lnTo>
                        <a:pt x="445" y="66"/>
                      </a:lnTo>
                      <a:lnTo>
                        <a:pt x="442" y="70"/>
                      </a:lnTo>
                      <a:lnTo>
                        <a:pt x="436" y="72"/>
                      </a:lnTo>
                      <a:lnTo>
                        <a:pt x="432" y="74"/>
                      </a:lnTo>
                      <a:lnTo>
                        <a:pt x="426" y="78"/>
                      </a:lnTo>
                      <a:lnTo>
                        <a:pt x="421" y="79"/>
                      </a:lnTo>
                      <a:lnTo>
                        <a:pt x="415" y="83"/>
                      </a:lnTo>
                      <a:lnTo>
                        <a:pt x="409" y="85"/>
                      </a:lnTo>
                      <a:lnTo>
                        <a:pt x="402" y="89"/>
                      </a:lnTo>
                      <a:lnTo>
                        <a:pt x="396" y="91"/>
                      </a:lnTo>
                      <a:lnTo>
                        <a:pt x="388" y="93"/>
                      </a:lnTo>
                      <a:lnTo>
                        <a:pt x="381" y="97"/>
                      </a:lnTo>
                      <a:lnTo>
                        <a:pt x="373" y="98"/>
                      </a:lnTo>
                      <a:lnTo>
                        <a:pt x="367" y="102"/>
                      </a:lnTo>
                      <a:lnTo>
                        <a:pt x="360" y="104"/>
                      </a:lnTo>
                      <a:lnTo>
                        <a:pt x="352" y="108"/>
                      </a:lnTo>
                      <a:lnTo>
                        <a:pt x="343" y="110"/>
                      </a:lnTo>
                      <a:lnTo>
                        <a:pt x="335" y="112"/>
                      </a:lnTo>
                      <a:lnTo>
                        <a:pt x="326" y="114"/>
                      </a:lnTo>
                      <a:lnTo>
                        <a:pt x="318" y="117"/>
                      </a:lnTo>
                      <a:lnTo>
                        <a:pt x="308" y="119"/>
                      </a:lnTo>
                      <a:lnTo>
                        <a:pt x="299" y="121"/>
                      </a:lnTo>
                      <a:lnTo>
                        <a:pt x="289" y="121"/>
                      </a:lnTo>
                      <a:lnTo>
                        <a:pt x="282" y="125"/>
                      </a:lnTo>
                      <a:lnTo>
                        <a:pt x="270" y="125"/>
                      </a:lnTo>
                      <a:lnTo>
                        <a:pt x="261" y="127"/>
                      </a:lnTo>
                      <a:lnTo>
                        <a:pt x="251" y="129"/>
                      </a:lnTo>
                      <a:lnTo>
                        <a:pt x="242" y="131"/>
                      </a:lnTo>
                      <a:lnTo>
                        <a:pt x="230" y="131"/>
                      </a:lnTo>
                      <a:lnTo>
                        <a:pt x="219" y="133"/>
                      </a:lnTo>
                      <a:lnTo>
                        <a:pt x="210" y="133"/>
                      </a:lnTo>
                      <a:lnTo>
                        <a:pt x="200" y="133"/>
                      </a:lnTo>
                      <a:lnTo>
                        <a:pt x="189" y="133"/>
                      </a:lnTo>
                      <a:lnTo>
                        <a:pt x="177" y="133"/>
                      </a:lnTo>
                      <a:lnTo>
                        <a:pt x="166" y="133"/>
                      </a:lnTo>
                      <a:lnTo>
                        <a:pt x="154" y="133"/>
                      </a:lnTo>
                      <a:lnTo>
                        <a:pt x="141" y="131"/>
                      </a:lnTo>
                      <a:lnTo>
                        <a:pt x="130" y="129"/>
                      </a:lnTo>
                      <a:lnTo>
                        <a:pt x="118" y="127"/>
                      </a:lnTo>
                      <a:lnTo>
                        <a:pt x="107" y="127"/>
                      </a:lnTo>
                      <a:lnTo>
                        <a:pt x="95" y="125"/>
                      </a:lnTo>
                      <a:lnTo>
                        <a:pt x="82" y="121"/>
                      </a:lnTo>
                      <a:lnTo>
                        <a:pt x="71" y="119"/>
                      </a:lnTo>
                      <a:lnTo>
                        <a:pt x="59" y="117"/>
                      </a:lnTo>
                      <a:lnTo>
                        <a:pt x="46" y="114"/>
                      </a:lnTo>
                      <a:lnTo>
                        <a:pt x="33" y="110"/>
                      </a:lnTo>
                      <a:lnTo>
                        <a:pt x="21" y="106"/>
                      </a:lnTo>
                      <a:lnTo>
                        <a:pt x="8" y="102"/>
                      </a:lnTo>
                      <a:lnTo>
                        <a:pt x="0" y="64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3" name="Freeform 147"/>
                <p:cNvSpPr>
                  <a:spLocks/>
                </p:cNvSpPr>
                <p:nvPr/>
              </p:nvSpPr>
              <p:spPr bwMode="auto">
                <a:xfrm>
                  <a:off x="3902" y="2499"/>
                  <a:ext cx="201" cy="54"/>
                </a:xfrm>
                <a:custGeom>
                  <a:avLst/>
                  <a:gdLst>
                    <a:gd name="T0" fmla="*/ 1 w 424"/>
                    <a:gd name="T1" fmla="*/ 49 h 123"/>
                    <a:gd name="T2" fmla="*/ 9 w 424"/>
                    <a:gd name="T3" fmla="*/ 53 h 123"/>
                    <a:gd name="T4" fmla="*/ 20 w 424"/>
                    <a:gd name="T5" fmla="*/ 59 h 123"/>
                    <a:gd name="T6" fmla="*/ 28 w 424"/>
                    <a:gd name="T7" fmla="*/ 62 h 123"/>
                    <a:gd name="T8" fmla="*/ 38 w 424"/>
                    <a:gd name="T9" fmla="*/ 64 h 123"/>
                    <a:gd name="T10" fmla="*/ 47 w 424"/>
                    <a:gd name="T11" fmla="*/ 68 h 123"/>
                    <a:gd name="T12" fmla="*/ 59 w 424"/>
                    <a:gd name="T13" fmla="*/ 72 h 123"/>
                    <a:gd name="T14" fmla="*/ 70 w 424"/>
                    <a:gd name="T15" fmla="*/ 74 h 123"/>
                    <a:gd name="T16" fmla="*/ 81 w 424"/>
                    <a:gd name="T17" fmla="*/ 78 h 123"/>
                    <a:gd name="T18" fmla="*/ 95 w 424"/>
                    <a:gd name="T19" fmla="*/ 79 h 123"/>
                    <a:gd name="T20" fmla="*/ 108 w 424"/>
                    <a:gd name="T21" fmla="*/ 83 h 123"/>
                    <a:gd name="T22" fmla="*/ 123 w 424"/>
                    <a:gd name="T23" fmla="*/ 85 h 123"/>
                    <a:gd name="T24" fmla="*/ 138 w 424"/>
                    <a:gd name="T25" fmla="*/ 89 h 123"/>
                    <a:gd name="T26" fmla="*/ 154 w 424"/>
                    <a:gd name="T27" fmla="*/ 89 h 123"/>
                    <a:gd name="T28" fmla="*/ 169 w 424"/>
                    <a:gd name="T29" fmla="*/ 91 h 123"/>
                    <a:gd name="T30" fmla="*/ 184 w 424"/>
                    <a:gd name="T31" fmla="*/ 91 h 123"/>
                    <a:gd name="T32" fmla="*/ 203 w 424"/>
                    <a:gd name="T33" fmla="*/ 91 h 123"/>
                    <a:gd name="T34" fmla="*/ 218 w 424"/>
                    <a:gd name="T35" fmla="*/ 87 h 123"/>
                    <a:gd name="T36" fmla="*/ 235 w 424"/>
                    <a:gd name="T37" fmla="*/ 85 h 123"/>
                    <a:gd name="T38" fmla="*/ 253 w 424"/>
                    <a:gd name="T39" fmla="*/ 83 h 123"/>
                    <a:gd name="T40" fmla="*/ 272 w 424"/>
                    <a:gd name="T41" fmla="*/ 79 h 123"/>
                    <a:gd name="T42" fmla="*/ 289 w 424"/>
                    <a:gd name="T43" fmla="*/ 74 h 123"/>
                    <a:gd name="T44" fmla="*/ 306 w 424"/>
                    <a:gd name="T45" fmla="*/ 68 h 123"/>
                    <a:gd name="T46" fmla="*/ 325 w 424"/>
                    <a:gd name="T47" fmla="*/ 59 h 123"/>
                    <a:gd name="T48" fmla="*/ 342 w 424"/>
                    <a:gd name="T49" fmla="*/ 51 h 123"/>
                    <a:gd name="T50" fmla="*/ 359 w 424"/>
                    <a:gd name="T51" fmla="*/ 40 h 123"/>
                    <a:gd name="T52" fmla="*/ 376 w 424"/>
                    <a:gd name="T53" fmla="*/ 28 h 123"/>
                    <a:gd name="T54" fmla="*/ 393 w 424"/>
                    <a:gd name="T55" fmla="*/ 15 h 123"/>
                    <a:gd name="T56" fmla="*/ 412 w 424"/>
                    <a:gd name="T57" fmla="*/ 0 h 123"/>
                    <a:gd name="T58" fmla="*/ 420 w 424"/>
                    <a:gd name="T59" fmla="*/ 55 h 123"/>
                    <a:gd name="T60" fmla="*/ 408 w 424"/>
                    <a:gd name="T61" fmla="*/ 60 h 123"/>
                    <a:gd name="T62" fmla="*/ 399 w 424"/>
                    <a:gd name="T63" fmla="*/ 68 h 123"/>
                    <a:gd name="T64" fmla="*/ 388 w 424"/>
                    <a:gd name="T65" fmla="*/ 74 h 123"/>
                    <a:gd name="T66" fmla="*/ 378 w 424"/>
                    <a:gd name="T67" fmla="*/ 78 h 123"/>
                    <a:gd name="T68" fmla="*/ 369 w 424"/>
                    <a:gd name="T69" fmla="*/ 81 h 123"/>
                    <a:gd name="T70" fmla="*/ 359 w 424"/>
                    <a:gd name="T71" fmla="*/ 87 h 123"/>
                    <a:gd name="T72" fmla="*/ 348 w 424"/>
                    <a:gd name="T73" fmla="*/ 91 h 123"/>
                    <a:gd name="T74" fmla="*/ 336 w 424"/>
                    <a:gd name="T75" fmla="*/ 97 h 123"/>
                    <a:gd name="T76" fmla="*/ 323 w 424"/>
                    <a:gd name="T77" fmla="*/ 100 h 123"/>
                    <a:gd name="T78" fmla="*/ 310 w 424"/>
                    <a:gd name="T79" fmla="*/ 104 h 123"/>
                    <a:gd name="T80" fmla="*/ 298 w 424"/>
                    <a:gd name="T81" fmla="*/ 108 h 123"/>
                    <a:gd name="T82" fmla="*/ 283 w 424"/>
                    <a:gd name="T83" fmla="*/ 112 h 123"/>
                    <a:gd name="T84" fmla="*/ 268 w 424"/>
                    <a:gd name="T85" fmla="*/ 116 h 123"/>
                    <a:gd name="T86" fmla="*/ 251 w 424"/>
                    <a:gd name="T87" fmla="*/ 117 h 123"/>
                    <a:gd name="T88" fmla="*/ 233 w 424"/>
                    <a:gd name="T89" fmla="*/ 121 h 123"/>
                    <a:gd name="T90" fmla="*/ 216 w 424"/>
                    <a:gd name="T91" fmla="*/ 121 h 123"/>
                    <a:gd name="T92" fmla="*/ 197 w 424"/>
                    <a:gd name="T93" fmla="*/ 123 h 123"/>
                    <a:gd name="T94" fmla="*/ 180 w 424"/>
                    <a:gd name="T95" fmla="*/ 123 h 123"/>
                    <a:gd name="T96" fmla="*/ 161 w 424"/>
                    <a:gd name="T97" fmla="*/ 123 h 123"/>
                    <a:gd name="T98" fmla="*/ 140 w 424"/>
                    <a:gd name="T99" fmla="*/ 121 h 123"/>
                    <a:gd name="T100" fmla="*/ 119 w 424"/>
                    <a:gd name="T101" fmla="*/ 119 h 123"/>
                    <a:gd name="T102" fmla="*/ 98 w 424"/>
                    <a:gd name="T103" fmla="*/ 116 h 123"/>
                    <a:gd name="T104" fmla="*/ 78 w 424"/>
                    <a:gd name="T105" fmla="*/ 110 h 123"/>
                    <a:gd name="T106" fmla="*/ 55 w 424"/>
                    <a:gd name="T107" fmla="*/ 104 h 123"/>
                    <a:gd name="T108" fmla="*/ 34 w 424"/>
                    <a:gd name="T109" fmla="*/ 97 h 123"/>
                    <a:gd name="T110" fmla="*/ 11 w 424"/>
                    <a:gd name="T111" fmla="*/ 91 h 123"/>
                    <a:gd name="T112" fmla="*/ 0 w 424"/>
                    <a:gd name="T113" fmla="*/ 49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424" h="123">
                      <a:moveTo>
                        <a:pt x="0" y="49"/>
                      </a:moveTo>
                      <a:lnTo>
                        <a:pt x="1" y="49"/>
                      </a:lnTo>
                      <a:lnTo>
                        <a:pt x="5" y="51"/>
                      </a:lnTo>
                      <a:lnTo>
                        <a:pt x="9" y="53"/>
                      </a:lnTo>
                      <a:lnTo>
                        <a:pt x="15" y="55"/>
                      </a:lnTo>
                      <a:lnTo>
                        <a:pt x="20" y="59"/>
                      </a:lnTo>
                      <a:lnTo>
                        <a:pt x="24" y="59"/>
                      </a:lnTo>
                      <a:lnTo>
                        <a:pt x="28" y="62"/>
                      </a:lnTo>
                      <a:lnTo>
                        <a:pt x="34" y="62"/>
                      </a:lnTo>
                      <a:lnTo>
                        <a:pt x="38" y="64"/>
                      </a:lnTo>
                      <a:lnTo>
                        <a:pt x="43" y="66"/>
                      </a:lnTo>
                      <a:lnTo>
                        <a:pt x="47" y="68"/>
                      </a:lnTo>
                      <a:lnTo>
                        <a:pt x="53" y="68"/>
                      </a:lnTo>
                      <a:lnTo>
                        <a:pt x="59" y="72"/>
                      </a:lnTo>
                      <a:lnTo>
                        <a:pt x="62" y="72"/>
                      </a:lnTo>
                      <a:lnTo>
                        <a:pt x="70" y="74"/>
                      </a:lnTo>
                      <a:lnTo>
                        <a:pt x="76" y="76"/>
                      </a:lnTo>
                      <a:lnTo>
                        <a:pt x="81" y="78"/>
                      </a:lnTo>
                      <a:lnTo>
                        <a:pt x="87" y="79"/>
                      </a:lnTo>
                      <a:lnTo>
                        <a:pt x="95" y="79"/>
                      </a:lnTo>
                      <a:lnTo>
                        <a:pt x="102" y="81"/>
                      </a:lnTo>
                      <a:lnTo>
                        <a:pt x="108" y="83"/>
                      </a:lnTo>
                      <a:lnTo>
                        <a:pt x="116" y="85"/>
                      </a:lnTo>
                      <a:lnTo>
                        <a:pt x="123" y="85"/>
                      </a:lnTo>
                      <a:lnTo>
                        <a:pt x="131" y="87"/>
                      </a:lnTo>
                      <a:lnTo>
                        <a:pt x="138" y="89"/>
                      </a:lnTo>
                      <a:lnTo>
                        <a:pt x="146" y="89"/>
                      </a:lnTo>
                      <a:lnTo>
                        <a:pt x="154" y="89"/>
                      </a:lnTo>
                      <a:lnTo>
                        <a:pt x="161" y="89"/>
                      </a:lnTo>
                      <a:lnTo>
                        <a:pt x="169" y="91"/>
                      </a:lnTo>
                      <a:lnTo>
                        <a:pt x="176" y="91"/>
                      </a:lnTo>
                      <a:lnTo>
                        <a:pt x="184" y="91"/>
                      </a:lnTo>
                      <a:lnTo>
                        <a:pt x="194" y="91"/>
                      </a:lnTo>
                      <a:lnTo>
                        <a:pt x="203" y="91"/>
                      </a:lnTo>
                      <a:lnTo>
                        <a:pt x="209" y="89"/>
                      </a:lnTo>
                      <a:lnTo>
                        <a:pt x="218" y="87"/>
                      </a:lnTo>
                      <a:lnTo>
                        <a:pt x="228" y="87"/>
                      </a:lnTo>
                      <a:lnTo>
                        <a:pt x="235" y="85"/>
                      </a:lnTo>
                      <a:lnTo>
                        <a:pt x="245" y="85"/>
                      </a:lnTo>
                      <a:lnTo>
                        <a:pt x="253" y="83"/>
                      </a:lnTo>
                      <a:lnTo>
                        <a:pt x="262" y="81"/>
                      </a:lnTo>
                      <a:lnTo>
                        <a:pt x="272" y="79"/>
                      </a:lnTo>
                      <a:lnTo>
                        <a:pt x="279" y="76"/>
                      </a:lnTo>
                      <a:lnTo>
                        <a:pt x="289" y="74"/>
                      </a:lnTo>
                      <a:lnTo>
                        <a:pt x="298" y="70"/>
                      </a:lnTo>
                      <a:lnTo>
                        <a:pt x="306" y="68"/>
                      </a:lnTo>
                      <a:lnTo>
                        <a:pt x="315" y="62"/>
                      </a:lnTo>
                      <a:lnTo>
                        <a:pt x="325" y="59"/>
                      </a:lnTo>
                      <a:lnTo>
                        <a:pt x="332" y="55"/>
                      </a:lnTo>
                      <a:lnTo>
                        <a:pt x="342" y="51"/>
                      </a:lnTo>
                      <a:lnTo>
                        <a:pt x="351" y="45"/>
                      </a:lnTo>
                      <a:lnTo>
                        <a:pt x="359" y="40"/>
                      </a:lnTo>
                      <a:lnTo>
                        <a:pt x="369" y="34"/>
                      </a:lnTo>
                      <a:lnTo>
                        <a:pt x="376" y="28"/>
                      </a:lnTo>
                      <a:lnTo>
                        <a:pt x="386" y="21"/>
                      </a:lnTo>
                      <a:lnTo>
                        <a:pt x="393" y="15"/>
                      </a:lnTo>
                      <a:lnTo>
                        <a:pt x="403" y="7"/>
                      </a:lnTo>
                      <a:lnTo>
                        <a:pt x="412" y="0"/>
                      </a:lnTo>
                      <a:lnTo>
                        <a:pt x="424" y="53"/>
                      </a:lnTo>
                      <a:lnTo>
                        <a:pt x="420" y="55"/>
                      </a:lnTo>
                      <a:lnTo>
                        <a:pt x="414" y="59"/>
                      </a:lnTo>
                      <a:lnTo>
                        <a:pt x="408" y="60"/>
                      </a:lnTo>
                      <a:lnTo>
                        <a:pt x="405" y="64"/>
                      </a:lnTo>
                      <a:lnTo>
                        <a:pt x="399" y="68"/>
                      </a:lnTo>
                      <a:lnTo>
                        <a:pt x="391" y="72"/>
                      </a:lnTo>
                      <a:lnTo>
                        <a:pt x="388" y="74"/>
                      </a:lnTo>
                      <a:lnTo>
                        <a:pt x="382" y="76"/>
                      </a:lnTo>
                      <a:lnTo>
                        <a:pt x="378" y="78"/>
                      </a:lnTo>
                      <a:lnTo>
                        <a:pt x="374" y="79"/>
                      </a:lnTo>
                      <a:lnTo>
                        <a:pt x="369" y="81"/>
                      </a:lnTo>
                      <a:lnTo>
                        <a:pt x="365" y="85"/>
                      </a:lnTo>
                      <a:lnTo>
                        <a:pt x="359" y="87"/>
                      </a:lnTo>
                      <a:lnTo>
                        <a:pt x="353" y="89"/>
                      </a:lnTo>
                      <a:lnTo>
                        <a:pt x="348" y="91"/>
                      </a:lnTo>
                      <a:lnTo>
                        <a:pt x="342" y="93"/>
                      </a:lnTo>
                      <a:lnTo>
                        <a:pt x="336" y="97"/>
                      </a:lnTo>
                      <a:lnTo>
                        <a:pt x="330" y="98"/>
                      </a:lnTo>
                      <a:lnTo>
                        <a:pt x="323" y="100"/>
                      </a:lnTo>
                      <a:lnTo>
                        <a:pt x="317" y="102"/>
                      </a:lnTo>
                      <a:lnTo>
                        <a:pt x="310" y="104"/>
                      </a:lnTo>
                      <a:lnTo>
                        <a:pt x="304" y="108"/>
                      </a:lnTo>
                      <a:lnTo>
                        <a:pt x="298" y="108"/>
                      </a:lnTo>
                      <a:lnTo>
                        <a:pt x="291" y="110"/>
                      </a:lnTo>
                      <a:lnTo>
                        <a:pt x="283" y="112"/>
                      </a:lnTo>
                      <a:lnTo>
                        <a:pt x="275" y="114"/>
                      </a:lnTo>
                      <a:lnTo>
                        <a:pt x="268" y="116"/>
                      </a:lnTo>
                      <a:lnTo>
                        <a:pt x="258" y="116"/>
                      </a:lnTo>
                      <a:lnTo>
                        <a:pt x="251" y="117"/>
                      </a:lnTo>
                      <a:lnTo>
                        <a:pt x="243" y="119"/>
                      </a:lnTo>
                      <a:lnTo>
                        <a:pt x="233" y="121"/>
                      </a:lnTo>
                      <a:lnTo>
                        <a:pt x="226" y="121"/>
                      </a:lnTo>
                      <a:lnTo>
                        <a:pt x="216" y="121"/>
                      </a:lnTo>
                      <a:lnTo>
                        <a:pt x="209" y="123"/>
                      </a:lnTo>
                      <a:lnTo>
                        <a:pt x="197" y="123"/>
                      </a:lnTo>
                      <a:lnTo>
                        <a:pt x="190" y="123"/>
                      </a:lnTo>
                      <a:lnTo>
                        <a:pt x="180" y="123"/>
                      </a:lnTo>
                      <a:lnTo>
                        <a:pt x="171" y="123"/>
                      </a:lnTo>
                      <a:lnTo>
                        <a:pt x="161" y="123"/>
                      </a:lnTo>
                      <a:lnTo>
                        <a:pt x="150" y="121"/>
                      </a:lnTo>
                      <a:lnTo>
                        <a:pt x="140" y="121"/>
                      </a:lnTo>
                      <a:lnTo>
                        <a:pt x="131" y="121"/>
                      </a:lnTo>
                      <a:lnTo>
                        <a:pt x="119" y="119"/>
                      </a:lnTo>
                      <a:lnTo>
                        <a:pt x="110" y="117"/>
                      </a:lnTo>
                      <a:lnTo>
                        <a:pt x="98" y="116"/>
                      </a:lnTo>
                      <a:lnTo>
                        <a:pt x="89" y="114"/>
                      </a:lnTo>
                      <a:lnTo>
                        <a:pt x="78" y="110"/>
                      </a:lnTo>
                      <a:lnTo>
                        <a:pt x="66" y="108"/>
                      </a:lnTo>
                      <a:lnTo>
                        <a:pt x="55" y="104"/>
                      </a:lnTo>
                      <a:lnTo>
                        <a:pt x="45" y="102"/>
                      </a:lnTo>
                      <a:lnTo>
                        <a:pt x="34" y="97"/>
                      </a:lnTo>
                      <a:lnTo>
                        <a:pt x="22" y="95"/>
                      </a:lnTo>
                      <a:lnTo>
                        <a:pt x="11" y="91"/>
                      </a:lnTo>
                      <a:lnTo>
                        <a:pt x="0" y="85"/>
                      </a:lnTo>
                      <a:lnTo>
                        <a:pt x="0" y="49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" name="Freeform 148"/>
                <p:cNvSpPr>
                  <a:spLocks/>
                </p:cNvSpPr>
                <p:nvPr/>
              </p:nvSpPr>
              <p:spPr bwMode="auto">
                <a:xfrm>
                  <a:off x="3902" y="2509"/>
                  <a:ext cx="201" cy="53"/>
                </a:xfrm>
                <a:custGeom>
                  <a:avLst/>
                  <a:gdLst>
                    <a:gd name="T0" fmla="*/ 1 w 424"/>
                    <a:gd name="T1" fmla="*/ 52 h 124"/>
                    <a:gd name="T2" fmla="*/ 9 w 424"/>
                    <a:gd name="T3" fmla="*/ 54 h 124"/>
                    <a:gd name="T4" fmla="*/ 20 w 424"/>
                    <a:gd name="T5" fmla="*/ 59 h 124"/>
                    <a:gd name="T6" fmla="*/ 28 w 424"/>
                    <a:gd name="T7" fmla="*/ 63 h 124"/>
                    <a:gd name="T8" fmla="*/ 38 w 424"/>
                    <a:gd name="T9" fmla="*/ 65 h 124"/>
                    <a:gd name="T10" fmla="*/ 47 w 424"/>
                    <a:gd name="T11" fmla="*/ 69 h 124"/>
                    <a:gd name="T12" fmla="*/ 59 w 424"/>
                    <a:gd name="T13" fmla="*/ 73 h 124"/>
                    <a:gd name="T14" fmla="*/ 70 w 424"/>
                    <a:gd name="T15" fmla="*/ 75 h 124"/>
                    <a:gd name="T16" fmla="*/ 81 w 424"/>
                    <a:gd name="T17" fmla="*/ 78 h 124"/>
                    <a:gd name="T18" fmla="*/ 95 w 424"/>
                    <a:gd name="T19" fmla="*/ 82 h 124"/>
                    <a:gd name="T20" fmla="*/ 108 w 424"/>
                    <a:gd name="T21" fmla="*/ 84 h 124"/>
                    <a:gd name="T22" fmla="*/ 123 w 424"/>
                    <a:gd name="T23" fmla="*/ 86 h 124"/>
                    <a:gd name="T24" fmla="*/ 138 w 424"/>
                    <a:gd name="T25" fmla="*/ 90 h 124"/>
                    <a:gd name="T26" fmla="*/ 154 w 424"/>
                    <a:gd name="T27" fmla="*/ 90 h 124"/>
                    <a:gd name="T28" fmla="*/ 169 w 424"/>
                    <a:gd name="T29" fmla="*/ 92 h 124"/>
                    <a:gd name="T30" fmla="*/ 184 w 424"/>
                    <a:gd name="T31" fmla="*/ 92 h 124"/>
                    <a:gd name="T32" fmla="*/ 203 w 424"/>
                    <a:gd name="T33" fmla="*/ 92 h 124"/>
                    <a:gd name="T34" fmla="*/ 218 w 424"/>
                    <a:gd name="T35" fmla="*/ 88 h 124"/>
                    <a:gd name="T36" fmla="*/ 235 w 424"/>
                    <a:gd name="T37" fmla="*/ 86 h 124"/>
                    <a:gd name="T38" fmla="*/ 253 w 424"/>
                    <a:gd name="T39" fmla="*/ 84 h 124"/>
                    <a:gd name="T40" fmla="*/ 272 w 424"/>
                    <a:gd name="T41" fmla="*/ 80 h 124"/>
                    <a:gd name="T42" fmla="*/ 289 w 424"/>
                    <a:gd name="T43" fmla="*/ 75 h 124"/>
                    <a:gd name="T44" fmla="*/ 306 w 424"/>
                    <a:gd name="T45" fmla="*/ 69 h 124"/>
                    <a:gd name="T46" fmla="*/ 325 w 424"/>
                    <a:gd name="T47" fmla="*/ 59 h 124"/>
                    <a:gd name="T48" fmla="*/ 342 w 424"/>
                    <a:gd name="T49" fmla="*/ 52 h 124"/>
                    <a:gd name="T50" fmla="*/ 359 w 424"/>
                    <a:gd name="T51" fmla="*/ 40 h 124"/>
                    <a:gd name="T52" fmla="*/ 376 w 424"/>
                    <a:gd name="T53" fmla="*/ 29 h 124"/>
                    <a:gd name="T54" fmla="*/ 393 w 424"/>
                    <a:gd name="T55" fmla="*/ 16 h 124"/>
                    <a:gd name="T56" fmla="*/ 412 w 424"/>
                    <a:gd name="T57" fmla="*/ 0 h 124"/>
                    <a:gd name="T58" fmla="*/ 420 w 424"/>
                    <a:gd name="T59" fmla="*/ 56 h 124"/>
                    <a:gd name="T60" fmla="*/ 408 w 424"/>
                    <a:gd name="T61" fmla="*/ 61 h 124"/>
                    <a:gd name="T62" fmla="*/ 399 w 424"/>
                    <a:gd name="T63" fmla="*/ 69 h 124"/>
                    <a:gd name="T64" fmla="*/ 388 w 424"/>
                    <a:gd name="T65" fmla="*/ 75 h 124"/>
                    <a:gd name="T66" fmla="*/ 378 w 424"/>
                    <a:gd name="T67" fmla="*/ 78 h 124"/>
                    <a:gd name="T68" fmla="*/ 369 w 424"/>
                    <a:gd name="T69" fmla="*/ 82 h 124"/>
                    <a:gd name="T70" fmla="*/ 359 w 424"/>
                    <a:gd name="T71" fmla="*/ 88 h 124"/>
                    <a:gd name="T72" fmla="*/ 348 w 424"/>
                    <a:gd name="T73" fmla="*/ 92 h 124"/>
                    <a:gd name="T74" fmla="*/ 336 w 424"/>
                    <a:gd name="T75" fmla="*/ 97 h 124"/>
                    <a:gd name="T76" fmla="*/ 323 w 424"/>
                    <a:gd name="T77" fmla="*/ 101 h 124"/>
                    <a:gd name="T78" fmla="*/ 310 w 424"/>
                    <a:gd name="T79" fmla="*/ 105 h 124"/>
                    <a:gd name="T80" fmla="*/ 298 w 424"/>
                    <a:gd name="T81" fmla="*/ 111 h 124"/>
                    <a:gd name="T82" fmla="*/ 283 w 424"/>
                    <a:gd name="T83" fmla="*/ 113 h 124"/>
                    <a:gd name="T84" fmla="*/ 268 w 424"/>
                    <a:gd name="T85" fmla="*/ 116 h 124"/>
                    <a:gd name="T86" fmla="*/ 251 w 424"/>
                    <a:gd name="T87" fmla="*/ 118 h 124"/>
                    <a:gd name="T88" fmla="*/ 233 w 424"/>
                    <a:gd name="T89" fmla="*/ 122 h 124"/>
                    <a:gd name="T90" fmla="*/ 216 w 424"/>
                    <a:gd name="T91" fmla="*/ 122 h 124"/>
                    <a:gd name="T92" fmla="*/ 197 w 424"/>
                    <a:gd name="T93" fmla="*/ 124 h 124"/>
                    <a:gd name="T94" fmla="*/ 180 w 424"/>
                    <a:gd name="T95" fmla="*/ 124 h 124"/>
                    <a:gd name="T96" fmla="*/ 161 w 424"/>
                    <a:gd name="T97" fmla="*/ 124 h 124"/>
                    <a:gd name="T98" fmla="*/ 140 w 424"/>
                    <a:gd name="T99" fmla="*/ 122 h 124"/>
                    <a:gd name="T100" fmla="*/ 119 w 424"/>
                    <a:gd name="T101" fmla="*/ 120 h 124"/>
                    <a:gd name="T102" fmla="*/ 98 w 424"/>
                    <a:gd name="T103" fmla="*/ 116 h 124"/>
                    <a:gd name="T104" fmla="*/ 78 w 424"/>
                    <a:gd name="T105" fmla="*/ 111 h 124"/>
                    <a:gd name="T106" fmla="*/ 55 w 424"/>
                    <a:gd name="T107" fmla="*/ 105 h 124"/>
                    <a:gd name="T108" fmla="*/ 34 w 424"/>
                    <a:gd name="T109" fmla="*/ 99 h 124"/>
                    <a:gd name="T110" fmla="*/ 11 w 424"/>
                    <a:gd name="T111" fmla="*/ 92 h 124"/>
                    <a:gd name="T112" fmla="*/ 0 w 424"/>
                    <a:gd name="T113" fmla="*/ 5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424" h="124">
                      <a:moveTo>
                        <a:pt x="0" y="50"/>
                      </a:moveTo>
                      <a:lnTo>
                        <a:pt x="1" y="52"/>
                      </a:lnTo>
                      <a:lnTo>
                        <a:pt x="5" y="52"/>
                      </a:lnTo>
                      <a:lnTo>
                        <a:pt x="9" y="54"/>
                      </a:lnTo>
                      <a:lnTo>
                        <a:pt x="15" y="57"/>
                      </a:lnTo>
                      <a:lnTo>
                        <a:pt x="20" y="59"/>
                      </a:lnTo>
                      <a:lnTo>
                        <a:pt x="24" y="59"/>
                      </a:lnTo>
                      <a:lnTo>
                        <a:pt x="28" y="63"/>
                      </a:lnTo>
                      <a:lnTo>
                        <a:pt x="34" y="63"/>
                      </a:lnTo>
                      <a:lnTo>
                        <a:pt x="38" y="65"/>
                      </a:lnTo>
                      <a:lnTo>
                        <a:pt x="43" y="67"/>
                      </a:lnTo>
                      <a:lnTo>
                        <a:pt x="47" y="69"/>
                      </a:lnTo>
                      <a:lnTo>
                        <a:pt x="53" y="69"/>
                      </a:lnTo>
                      <a:lnTo>
                        <a:pt x="59" y="73"/>
                      </a:lnTo>
                      <a:lnTo>
                        <a:pt x="62" y="73"/>
                      </a:lnTo>
                      <a:lnTo>
                        <a:pt x="70" y="75"/>
                      </a:lnTo>
                      <a:lnTo>
                        <a:pt x="76" y="76"/>
                      </a:lnTo>
                      <a:lnTo>
                        <a:pt x="81" y="78"/>
                      </a:lnTo>
                      <a:lnTo>
                        <a:pt x="87" y="80"/>
                      </a:lnTo>
                      <a:lnTo>
                        <a:pt x="95" y="82"/>
                      </a:lnTo>
                      <a:lnTo>
                        <a:pt x="102" y="82"/>
                      </a:lnTo>
                      <a:lnTo>
                        <a:pt x="108" y="84"/>
                      </a:lnTo>
                      <a:lnTo>
                        <a:pt x="116" y="86"/>
                      </a:lnTo>
                      <a:lnTo>
                        <a:pt x="123" y="86"/>
                      </a:lnTo>
                      <a:lnTo>
                        <a:pt x="131" y="88"/>
                      </a:lnTo>
                      <a:lnTo>
                        <a:pt x="138" y="90"/>
                      </a:lnTo>
                      <a:lnTo>
                        <a:pt x="146" y="90"/>
                      </a:lnTo>
                      <a:lnTo>
                        <a:pt x="154" y="90"/>
                      </a:lnTo>
                      <a:lnTo>
                        <a:pt x="161" y="90"/>
                      </a:lnTo>
                      <a:lnTo>
                        <a:pt x="169" y="92"/>
                      </a:lnTo>
                      <a:lnTo>
                        <a:pt x="176" y="92"/>
                      </a:lnTo>
                      <a:lnTo>
                        <a:pt x="184" y="92"/>
                      </a:lnTo>
                      <a:lnTo>
                        <a:pt x="194" y="92"/>
                      </a:lnTo>
                      <a:lnTo>
                        <a:pt x="203" y="92"/>
                      </a:lnTo>
                      <a:lnTo>
                        <a:pt x="209" y="90"/>
                      </a:lnTo>
                      <a:lnTo>
                        <a:pt x="218" y="88"/>
                      </a:lnTo>
                      <a:lnTo>
                        <a:pt x="228" y="88"/>
                      </a:lnTo>
                      <a:lnTo>
                        <a:pt x="235" y="86"/>
                      </a:lnTo>
                      <a:lnTo>
                        <a:pt x="245" y="86"/>
                      </a:lnTo>
                      <a:lnTo>
                        <a:pt x="253" y="84"/>
                      </a:lnTo>
                      <a:lnTo>
                        <a:pt x="262" y="82"/>
                      </a:lnTo>
                      <a:lnTo>
                        <a:pt x="272" y="80"/>
                      </a:lnTo>
                      <a:lnTo>
                        <a:pt x="279" y="76"/>
                      </a:lnTo>
                      <a:lnTo>
                        <a:pt x="289" y="75"/>
                      </a:lnTo>
                      <a:lnTo>
                        <a:pt x="298" y="71"/>
                      </a:lnTo>
                      <a:lnTo>
                        <a:pt x="306" y="69"/>
                      </a:lnTo>
                      <a:lnTo>
                        <a:pt x="315" y="63"/>
                      </a:lnTo>
                      <a:lnTo>
                        <a:pt x="325" y="59"/>
                      </a:lnTo>
                      <a:lnTo>
                        <a:pt x="332" y="56"/>
                      </a:lnTo>
                      <a:lnTo>
                        <a:pt x="342" y="52"/>
                      </a:lnTo>
                      <a:lnTo>
                        <a:pt x="351" y="46"/>
                      </a:lnTo>
                      <a:lnTo>
                        <a:pt x="359" y="40"/>
                      </a:lnTo>
                      <a:lnTo>
                        <a:pt x="369" y="35"/>
                      </a:lnTo>
                      <a:lnTo>
                        <a:pt x="376" y="29"/>
                      </a:lnTo>
                      <a:lnTo>
                        <a:pt x="386" y="21"/>
                      </a:lnTo>
                      <a:lnTo>
                        <a:pt x="393" y="16"/>
                      </a:lnTo>
                      <a:lnTo>
                        <a:pt x="403" y="8"/>
                      </a:lnTo>
                      <a:lnTo>
                        <a:pt x="412" y="0"/>
                      </a:lnTo>
                      <a:lnTo>
                        <a:pt x="424" y="54"/>
                      </a:lnTo>
                      <a:lnTo>
                        <a:pt x="420" y="56"/>
                      </a:lnTo>
                      <a:lnTo>
                        <a:pt x="414" y="59"/>
                      </a:lnTo>
                      <a:lnTo>
                        <a:pt x="408" y="61"/>
                      </a:lnTo>
                      <a:lnTo>
                        <a:pt x="405" y="65"/>
                      </a:lnTo>
                      <a:lnTo>
                        <a:pt x="399" y="69"/>
                      </a:lnTo>
                      <a:lnTo>
                        <a:pt x="391" y="73"/>
                      </a:lnTo>
                      <a:lnTo>
                        <a:pt x="388" y="75"/>
                      </a:lnTo>
                      <a:lnTo>
                        <a:pt x="382" y="76"/>
                      </a:lnTo>
                      <a:lnTo>
                        <a:pt x="378" y="78"/>
                      </a:lnTo>
                      <a:lnTo>
                        <a:pt x="374" y="82"/>
                      </a:lnTo>
                      <a:lnTo>
                        <a:pt x="369" y="82"/>
                      </a:lnTo>
                      <a:lnTo>
                        <a:pt x="365" y="86"/>
                      </a:lnTo>
                      <a:lnTo>
                        <a:pt x="359" y="88"/>
                      </a:lnTo>
                      <a:lnTo>
                        <a:pt x="353" y="90"/>
                      </a:lnTo>
                      <a:lnTo>
                        <a:pt x="348" y="92"/>
                      </a:lnTo>
                      <a:lnTo>
                        <a:pt x="342" y="94"/>
                      </a:lnTo>
                      <a:lnTo>
                        <a:pt x="336" y="97"/>
                      </a:lnTo>
                      <a:lnTo>
                        <a:pt x="330" y="99"/>
                      </a:lnTo>
                      <a:lnTo>
                        <a:pt x="323" y="101"/>
                      </a:lnTo>
                      <a:lnTo>
                        <a:pt x="317" y="103"/>
                      </a:lnTo>
                      <a:lnTo>
                        <a:pt x="310" y="105"/>
                      </a:lnTo>
                      <a:lnTo>
                        <a:pt x="304" y="109"/>
                      </a:lnTo>
                      <a:lnTo>
                        <a:pt x="298" y="111"/>
                      </a:lnTo>
                      <a:lnTo>
                        <a:pt x="291" y="111"/>
                      </a:lnTo>
                      <a:lnTo>
                        <a:pt x="283" y="113"/>
                      </a:lnTo>
                      <a:lnTo>
                        <a:pt x="275" y="114"/>
                      </a:lnTo>
                      <a:lnTo>
                        <a:pt x="268" y="116"/>
                      </a:lnTo>
                      <a:lnTo>
                        <a:pt x="258" y="118"/>
                      </a:lnTo>
                      <a:lnTo>
                        <a:pt x="251" y="118"/>
                      </a:lnTo>
                      <a:lnTo>
                        <a:pt x="243" y="120"/>
                      </a:lnTo>
                      <a:lnTo>
                        <a:pt x="233" y="122"/>
                      </a:lnTo>
                      <a:lnTo>
                        <a:pt x="226" y="122"/>
                      </a:lnTo>
                      <a:lnTo>
                        <a:pt x="216" y="122"/>
                      </a:lnTo>
                      <a:lnTo>
                        <a:pt x="209" y="124"/>
                      </a:lnTo>
                      <a:lnTo>
                        <a:pt x="197" y="124"/>
                      </a:lnTo>
                      <a:lnTo>
                        <a:pt x="190" y="124"/>
                      </a:lnTo>
                      <a:lnTo>
                        <a:pt x="180" y="124"/>
                      </a:lnTo>
                      <a:lnTo>
                        <a:pt x="171" y="124"/>
                      </a:lnTo>
                      <a:lnTo>
                        <a:pt x="161" y="124"/>
                      </a:lnTo>
                      <a:lnTo>
                        <a:pt x="150" y="122"/>
                      </a:lnTo>
                      <a:lnTo>
                        <a:pt x="140" y="122"/>
                      </a:lnTo>
                      <a:lnTo>
                        <a:pt x="131" y="122"/>
                      </a:lnTo>
                      <a:lnTo>
                        <a:pt x="119" y="120"/>
                      </a:lnTo>
                      <a:lnTo>
                        <a:pt x="110" y="118"/>
                      </a:lnTo>
                      <a:lnTo>
                        <a:pt x="98" y="116"/>
                      </a:lnTo>
                      <a:lnTo>
                        <a:pt x="89" y="114"/>
                      </a:lnTo>
                      <a:lnTo>
                        <a:pt x="78" y="111"/>
                      </a:lnTo>
                      <a:lnTo>
                        <a:pt x="66" y="109"/>
                      </a:lnTo>
                      <a:lnTo>
                        <a:pt x="55" y="105"/>
                      </a:lnTo>
                      <a:lnTo>
                        <a:pt x="45" y="103"/>
                      </a:lnTo>
                      <a:lnTo>
                        <a:pt x="34" y="99"/>
                      </a:lnTo>
                      <a:lnTo>
                        <a:pt x="22" y="95"/>
                      </a:lnTo>
                      <a:lnTo>
                        <a:pt x="11" y="92"/>
                      </a:lnTo>
                      <a:lnTo>
                        <a:pt x="0" y="86"/>
                      </a:lnTo>
                      <a:lnTo>
                        <a:pt x="0" y="5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5" name="Freeform 149"/>
                <p:cNvSpPr>
                  <a:spLocks/>
                </p:cNvSpPr>
                <p:nvPr/>
              </p:nvSpPr>
              <p:spPr bwMode="auto">
                <a:xfrm>
                  <a:off x="3427" y="2861"/>
                  <a:ext cx="209" cy="221"/>
                </a:xfrm>
                <a:custGeom>
                  <a:avLst/>
                  <a:gdLst>
                    <a:gd name="T0" fmla="*/ 0 w 445"/>
                    <a:gd name="T1" fmla="*/ 454 h 508"/>
                    <a:gd name="T2" fmla="*/ 2 w 445"/>
                    <a:gd name="T3" fmla="*/ 452 h 508"/>
                    <a:gd name="T4" fmla="*/ 7 w 445"/>
                    <a:gd name="T5" fmla="*/ 447 h 508"/>
                    <a:gd name="T6" fmla="*/ 9 w 445"/>
                    <a:gd name="T7" fmla="*/ 443 h 508"/>
                    <a:gd name="T8" fmla="*/ 13 w 445"/>
                    <a:gd name="T9" fmla="*/ 439 h 508"/>
                    <a:gd name="T10" fmla="*/ 19 w 445"/>
                    <a:gd name="T11" fmla="*/ 435 h 508"/>
                    <a:gd name="T12" fmla="*/ 24 w 445"/>
                    <a:gd name="T13" fmla="*/ 432 h 508"/>
                    <a:gd name="T14" fmla="*/ 28 w 445"/>
                    <a:gd name="T15" fmla="*/ 426 h 508"/>
                    <a:gd name="T16" fmla="*/ 34 w 445"/>
                    <a:gd name="T17" fmla="*/ 420 h 508"/>
                    <a:gd name="T18" fmla="*/ 40 w 445"/>
                    <a:gd name="T19" fmla="*/ 413 h 508"/>
                    <a:gd name="T20" fmla="*/ 47 w 445"/>
                    <a:gd name="T21" fmla="*/ 407 h 508"/>
                    <a:gd name="T22" fmla="*/ 53 w 445"/>
                    <a:gd name="T23" fmla="*/ 399 h 508"/>
                    <a:gd name="T24" fmla="*/ 61 w 445"/>
                    <a:gd name="T25" fmla="*/ 394 h 508"/>
                    <a:gd name="T26" fmla="*/ 66 w 445"/>
                    <a:gd name="T27" fmla="*/ 386 h 508"/>
                    <a:gd name="T28" fmla="*/ 76 w 445"/>
                    <a:gd name="T29" fmla="*/ 378 h 508"/>
                    <a:gd name="T30" fmla="*/ 83 w 445"/>
                    <a:gd name="T31" fmla="*/ 369 h 508"/>
                    <a:gd name="T32" fmla="*/ 91 w 445"/>
                    <a:gd name="T33" fmla="*/ 361 h 508"/>
                    <a:gd name="T34" fmla="*/ 99 w 445"/>
                    <a:gd name="T35" fmla="*/ 352 h 508"/>
                    <a:gd name="T36" fmla="*/ 108 w 445"/>
                    <a:gd name="T37" fmla="*/ 344 h 508"/>
                    <a:gd name="T38" fmla="*/ 116 w 445"/>
                    <a:gd name="T39" fmla="*/ 333 h 508"/>
                    <a:gd name="T40" fmla="*/ 125 w 445"/>
                    <a:gd name="T41" fmla="*/ 323 h 508"/>
                    <a:gd name="T42" fmla="*/ 135 w 445"/>
                    <a:gd name="T43" fmla="*/ 314 h 508"/>
                    <a:gd name="T44" fmla="*/ 144 w 445"/>
                    <a:gd name="T45" fmla="*/ 304 h 508"/>
                    <a:gd name="T46" fmla="*/ 154 w 445"/>
                    <a:gd name="T47" fmla="*/ 295 h 508"/>
                    <a:gd name="T48" fmla="*/ 163 w 445"/>
                    <a:gd name="T49" fmla="*/ 283 h 508"/>
                    <a:gd name="T50" fmla="*/ 173 w 445"/>
                    <a:gd name="T51" fmla="*/ 274 h 508"/>
                    <a:gd name="T52" fmla="*/ 182 w 445"/>
                    <a:gd name="T53" fmla="*/ 264 h 508"/>
                    <a:gd name="T54" fmla="*/ 192 w 445"/>
                    <a:gd name="T55" fmla="*/ 253 h 508"/>
                    <a:gd name="T56" fmla="*/ 203 w 445"/>
                    <a:gd name="T57" fmla="*/ 243 h 508"/>
                    <a:gd name="T58" fmla="*/ 213 w 445"/>
                    <a:gd name="T59" fmla="*/ 232 h 508"/>
                    <a:gd name="T60" fmla="*/ 222 w 445"/>
                    <a:gd name="T61" fmla="*/ 222 h 508"/>
                    <a:gd name="T62" fmla="*/ 232 w 445"/>
                    <a:gd name="T63" fmla="*/ 211 h 508"/>
                    <a:gd name="T64" fmla="*/ 241 w 445"/>
                    <a:gd name="T65" fmla="*/ 200 h 508"/>
                    <a:gd name="T66" fmla="*/ 251 w 445"/>
                    <a:gd name="T67" fmla="*/ 190 h 508"/>
                    <a:gd name="T68" fmla="*/ 260 w 445"/>
                    <a:gd name="T69" fmla="*/ 181 h 508"/>
                    <a:gd name="T70" fmla="*/ 270 w 445"/>
                    <a:gd name="T71" fmla="*/ 169 h 508"/>
                    <a:gd name="T72" fmla="*/ 279 w 445"/>
                    <a:gd name="T73" fmla="*/ 160 h 508"/>
                    <a:gd name="T74" fmla="*/ 289 w 445"/>
                    <a:gd name="T75" fmla="*/ 150 h 508"/>
                    <a:gd name="T76" fmla="*/ 298 w 445"/>
                    <a:gd name="T77" fmla="*/ 141 h 508"/>
                    <a:gd name="T78" fmla="*/ 306 w 445"/>
                    <a:gd name="T79" fmla="*/ 129 h 508"/>
                    <a:gd name="T80" fmla="*/ 315 w 445"/>
                    <a:gd name="T81" fmla="*/ 120 h 508"/>
                    <a:gd name="T82" fmla="*/ 323 w 445"/>
                    <a:gd name="T83" fmla="*/ 110 h 508"/>
                    <a:gd name="T84" fmla="*/ 332 w 445"/>
                    <a:gd name="T85" fmla="*/ 101 h 508"/>
                    <a:gd name="T86" fmla="*/ 340 w 445"/>
                    <a:gd name="T87" fmla="*/ 93 h 508"/>
                    <a:gd name="T88" fmla="*/ 350 w 445"/>
                    <a:gd name="T89" fmla="*/ 84 h 508"/>
                    <a:gd name="T90" fmla="*/ 357 w 445"/>
                    <a:gd name="T91" fmla="*/ 76 h 508"/>
                    <a:gd name="T92" fmla="*/ 365 w 445"/>
                    <a:gd name="T93" fmla="*/ 69 h 508"/>
                    <a:gd name="T94" fmla="*/ 370 w 445"/>
                    <a:gd name="T95" fmla="*/ 61 h 508"/>
                    <a:gd name="T96" fmla="*/ 378 w 445"/>
                    <a:gd name="T97" fmla="*/ 53 h 508"/>
                    <a:gd name="T98" fmla="*/ 384 w 445"/>
                    <a:gd name="T99" fmla="*/ 46 h 508"/>
                    <a:gd name="T100" fmla="*/ 390 w 445"/>
                    <a:gd name="T101" fmla="*/ 38 h 508"/>
                    <a:gd name="T102" fmla="*/ 395 w 445"/>
                    <a:gd name="T103" fmla="*/ 32 h 508"/>
                    <a:gd name="T104" fmla="*/ 401 w 445"/>
                    <a:gd name="T105" fmla="*/ 27 h 508"/>
                    <a:gd name="T106" fmla="*/ 407 w 445"/>
                    <a:gd name="T107" fmla="*/ 21 h 508"/>
                    <a:gd name="T108" fmla="*/ 410 w 445"/>
                    <a:gd name="T109" fmla="*/ 17 h 508"/>
                    <a:gd name="T110" fmla="*/ 418 w 445"/>
                    <a:gd name="T111" fmla="*/ 10 h 508"/>
                    <a:gd name="T112" fmla="*/ 424 w 445"/>
                    <a:gd name="T113" fmla="*/ 4 h 508"/>
                    <a:gd name="T114" fmla="*/ 428 w 445"/>
                    <a:gd name="T115" fmla="*/ 0 h 508"/>
                    <a:gd name="T116" fmla="*/ 429 w 445"/>
                    <a:gd name="T117" fmla="*/ 0 h 508"/>
                    <a:gd name="T118" fmla="*/ 445 w 445"/>
                    <a:gd name="T119" fmla="*/ 50 h 508"/>
                    <a:gd name="T120" fmla="*/ 11 w 445"/>
                    <a:gd name="T121" fmla="*/ 508 h 508"/>
                    <a:gd name="T122" fmla="*/ 0 w 445"/>
                    <a:gd name="T123" fmla="*/ 454 h 508"/>
                    <a:gd name="T124" fmla="*/ 0 w 445"/>
                    <a:gd name="T125" fmla="*/ 454 h 5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45" h="508">
                      <a:moveTo>
                        <a:pt x="0" y="454"/>
                      </a:moveTo>
                      <a:lnTo>
                        <a:pt x="2" y="452"/>
                      </a:lnTo>
                      <a:lnTo>
                        <a:pt x="7" y="447"/>
                      </a:lnTo>
                      <a:lnTo>
                        <a:pt x="9" y="443"/>
                      </a:lnTo>
                      <a:lnTo>
                        <a:pt x="13" y="439"/>
                      </a:lnTo>
                      <a:lnTo>
                        <a:pt x="19" y="435"/>
                      </a:lnTo>
                      <a:lnTo>
                        <a:pt x="24" y="432"/>
                      </a:lnTo>
                      <a:lnTo>
                        <a:pt x="28" y="426"/>
                      </a:lnTo>
                      <a:lnTo>
                        <a:pt x="34" y="420"/>
                      </a:lnTo>
                      <a:lnTo>
                        <a:pt x="40" y="413"/>
                      </a:lnTo>
                      <a:lnTo>
                        <a:pt x="47" y="407"/>
                      </a:lnTo>
                      <a:lnTo>
                        <a:pt x="53" y="399"/>
                      </a:lnTo>
                      <a:lnTo>
                        <a:pt x="61" y="394"/>
                      </a:lnTo>
                      <a:lnTo>
                        <a:pt x="66" y="386"/>
                      </a:lnTo>
                      <a:lnTo>
                        <a:pt x="76" y="378"/>
                      </a:lnTo>
                      <a:lnTo>
                        <a:pt x="83" y="369"/>
                      </a:lnTo>
                      <a:lnTo>
                        <a:pt x="91" y="361"/>
                      </a:lnTo>
                      <a:lnTo>
                        <a:pt x="99" y="352"/>
                      </a:lnTo>
                      <a:lnTo>
                        <a:pt x="108" y="344"/>
                      </a:lnTo>
                      <a:lnTo>
                        <a:pt x="116" y="333"/>
                      </a:lnTo>
                      <a:lnTo>
                        <a:pt x="125" y="323"/>
                      </a:lnTo>
                      <a:lnTo>
                        <a:pt x="135" y="314"/>
                      </a:lnTo>
                      <a:lnTo>
                        <a:pt x="144" y="304"/>
                      </a:lnTo>
                      <a:lnTo>
                        <a:pt x="154" y="295"/>
                      </a:lnTo>
                      <a:lnTo>
                        <a:pt x="163" y="283"/>
                      </a:lnTo>
                      <a:lnTo>
                        <a:pt x="173" y="274"/>
                      </a:lnTo>
                      <a:lnTo>
                        <a:pt x="182" y="264"/>
                      </a:lnTo>
                      <a:lnTo>
                        <a:pt x="192" y="253"/>
                      </a:lnTo>
                      <a:lnTo>
                        <a:pt x="203" y="243"/>
                      </a:lnTo>
                      <a:lnTo>
                        <a:pt x="213" y="232"/>
                      </a:lnTo>
                      <a:lnTo>
                        <a:pt x="222" y="222"/>
                      </a:lnTo>
                      <a:lnTo>
                        <a:pt x="232" y="211"/>
                      </a:lnTo>
                      <a:lnTo>
                        <a:pt x="241" y="200"/>
                      </a:lnTo>
                      <a:lnTo>
                        <a:pt x="251" y="190"/>
                      </a:lnTo>
                      <a:lnTo>
                        <a:pt x="260" y="181"/>
                      </a:lnTo>
                      <a:lnTo>
                        <a:pt x="270" y="169"/>
                      </a:lnTo>
                      <a:lnTo>
                        <a:pt x="279" y="160"/>
                      </a:lnTo>
                      <a:lnTo>
                        <a:pt x="289" y="150"/>
                      </a:lnTo>
                      <a:lnTo>
                        <a:pt x="298" y="141"/>
                      </a:lnTo>
                      <a:lnTo>
                        <a:pt x="306" y="129"/>
                      </a:lnTo>
                      <a:lnTo>
                        <a:pt x="315" y="120"/>
                      </a:lnTo>
                      <a:lnTo>
                        <a:pt x="323" y="110"/>
                      </a:lnTo>
                      <a:lnTo>
                        <a:pt x="332" y="101"/>
                      </a:lnTo>
                      <a:lnTo>
                        <a:pt x="340" y="93"/>
                      </a:lnTo>
                      <a:lnTo>
                        <a:pt x="350" y="84"/>
                      </a:lnTo>
                      <a:lnTo>
                        <a:pt x="357" y="76"/>
                      </a:lnTo>
                      <a:lnTo>
                        <a:pt x="365" y="69"/>
                      </a:lnTo>
                      <a:lnTo>
                        <a:pt x="370" y="61"/>
                      </a:lnTo>
                      <a:lnTo>
                        <a:pt x="378" y="53"/>
                      </a:lnTo>
                      <a:lnTo>
                        <a:pt x="384" y="46"/>
                      </a:lnTo>
                      <a:lnTo>
                        <a:pt x="390" y="38"/>
                      </a:lnTo>
                      <a:lnTo>
                        <a:pt x="395" y="32"/>
                      </a:lnTo>
                      <a:lnTo>
                        <a:pt x="401" y="27"/>
                      </a:lnTo>
                      <a:lnTo>
                        <a:pt x="407" y="21"/>
                      </a:lnTo>
                      <a:lnTo>
                        <a:pt x="410" y="17"/>
                      </a:lnTo>
                      <a:lnTo>
                        <a:pt x="418" y="10"/>
                      </a:lnTo>
                      <a:lnTo>
                        <a:pt x="424" y="4"/>
                      </a:lnTo>
                      <a:lnTo>
                        <a:pt x="428" y="0"/>
                      </a:lnTo>
                      <a:lnTo>
                        <a:pt x="429" y="0"/>
                      </a:lnTo>
                      <a:lnTo>
                        <a:pt x="445" y="50"/>
                      </a:lnTo>
                      <a:lnTo>
                        <a:pt x="11" y="508"/>
                      </a:lnTo>
                      <a:lnTo>
                        <a:pt x="0" y="454"/>
                      </a:lnTo>
                      <a:lnTo>
                        <a:pt x="0" y="45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6" name="Freeform 150"/>
                <p:cNvSpPr>
                  <a:spLocks/>
                </p:cNvSpPr>
                <p:nvPr/>
              </p:nvSpPr>
              <p:spPr bwMode="auto">
                <a:xfrm>
                  <a:off x="3182" y="3041"/>
                  <a:ext cx="771" cy="42"/>
                </a:xfrm>
                <a:custGeom>
                  <a:avLst/>
                  <a:gdLst>
                    <a:gd name="T0" fmla="*/ 16 w 1634"/>
                    <a:gd name="T1" fmla="*/ 66 h 98"/>
                    <a:gd name="T2" fmla="*/ 1634 w 1634"/>
                    <a:gd name="T3" fmla="*/ 0 h 98"/>
                    <a:gd name="T4" fmla="*/ 1634 w 1634"/>
                    <a:gd name="T5" fmla="*/ 34 h 98"/>
                    <a:gd name="T6" fmla="*/ 0 w 1634"/>
                    <a:gd name="T7" fmla="*/ 98 h 98"/>
                    <a:gd name="T8" fmla="*/ 16 w 1634"/>
                    <a:gd name="T9" fmla="*/ 66 h 98"/>
                    <a:gd name="T10" fmla="*/ 16 w 1634"/>
                    <a:gd name="T11" fmla="*/ 66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34" h="98">
                      <a:moveTo>
                        <a:pt x="16" y="66"/>
                      </a:moveTo>
                      <a:lnTo>
                        <a:pt x="1634" y="0"/>
                      </a:lnTo>
                      <a:lnTo>
                        <a:pt x="1634" y="34"/>
                      </a:lnTo>
                      <a:lnTo>
                        <a:pt x="0" y="98"/>
                      </a:lnTo>
                      <a:lnTo>
                        <a:pt x="16" y="66"/>
                      </a:lnTo>
                      <a:lnTo>
                        <a:pt x="16" y="6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7" name="Freeform 151"/>
                <p:cNvSpPr>
                  <a:spLocks/>
                </p:cNvSpPr>
                <p:nvPr/>
              </p:nvSpPr>
              <p:spPr bwMode="auto">
                <a:xfrm>
                  <a:off x="3176" y="3049"/>
                  <a:ext cx="772" cy="45"/>
                </a:xfrm>
                <a:custGeom>
                  <a:avLst/>
                  <a:gdLst>
                    <a:gd name="T0" fmla="*/ 15 w 1634"/>
                    <a:gd name="T1" fmla="*/ 67 h 101"/>
                    <a:gd name="T2" fmla="*/ 1634 w 1634"/>
                    <a:gd name="T3" fmla="*/ 0 h 101"/>
                    <a:gd name="T4" fmla="*/ 1634 w 1634"/>
                    <a:gd name="T5" fmla="*/ 37 h 101"/>
                    <a:gd name="T6" fmla="*/ 0 w 1634"/>
                    <a:gd name="T7" fmla="*/ 101 h 101"/>
                    <a:gd name="T8" fmla="*/ 15 w 1634"/>
                    <a:gd name="T9" fmla="*/ 67 h 101"/>
                    <a:gd name="T10" fmla="*/ 15 w 1634"/>
                    <a:gd name="T11" fmla="*/ 6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34" h="101">
                      <a:moveTo>
                        <a:pt x="15" y="67"/>
                      </a:moveTo>
                      <a:lnTo>
                        <a:pt x="1634" y="0"/>
                      </a:lnTo>
                      <a:lnTo>
                        <a:pt x="1634" y="37"/>
                      </a:lnTo>
                      <a:lnTo>
                        <a:pt x="0" y="101"/>
                      </a:lnTo>
                      <a:lnTo>
                        <a:pt x="15" y="67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8" name="Freeform 152"/>
                <p:cNvSpPr>
                  <a:spLocks/>
                </p:cNvSpPr>
                <p:nvPr/>
              </p:nvSpPr>
              <p:spPr bwMode="auto">
                <a:xfrm>
                  <a:off x="3657" y="2848"/>
                  <a:ext cx="207" cy="217"/>
                </a:xfrm>
                <a:custGeom>
                  <a:avLst/>
                  <a:gdLst>
                    <a:gd name="T0" fmla="*/ 0 w 438"/>
                    <a:gd name="T1" fmla="*/ 450 h 498"/>
                    <a:gd name="T2" fmla="*/ 417 w 438"/>
                    <a:gd name="T3" fmla="*/ 0 h 498"/>
                    <a:gd name="T4" fmla="*/ 438 w 438"/>
                    <a:gd name="T5" fmla="*/ 38 h 498"/>
                    <a:gd name="T6" fmla="*/ 14 w 438"/>
                    <a:gd name="T7" fmla="*/ 498 h 498"/>
                    <a:gd name="T8" fmla="*/ 0 w 438"/>
                    <a:gd name="T9" fmla="*/ 450 h 498"/>
                    <a:gd name="T10" fmla="*/ 0 w 438"/>
                    <a:gd name="T11" fmla="*/ 450 h 4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8" h="498">
                      <a:moveTo>
                        <a:pt x="0" y="450"/>
                      </a:moveTo>
                      <a:lnTo>
                        <a:pt x="417" y="0"/>
                      </a:lnTo>
                      <a:lnTo>
                        <a:pt x="438" y="38"/>
                      </a:lnTo>
                      <a:lnTo>
                        <a:pt x="14" y="498"/>
                      </a:lnTo>
                      <a:lnTo>
                        <a:pt x="0" y="450"/>
                      </a:lnTo>
                      <a:lnTo>
                        <a:pt x="0" y="4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9" name="Freeform 153"/>
                <p:cNvSpPr>
                  <a:spLocks/>
                </p:cNvSpPr>
                <p:nvPr/>
              </p:nvSpPr>
              <p:spPr bwMode="auto">
                <a:xfrm>
                  <a:off x="3347" y="2696"/>
                  <a:ext cx="321" cy="379"/>
                </a:xfrm>
                <a:custGeom>
                  <a:avLst/>
                  <a:gdLst>
                    <a:gd name="T0" fmla="*/ 0 w 679"/>
                    <a:gd name="T1" fmla="*/ 317 h 868"/>
                    <a:gd name="T2" fmla="*/ 453 w 679"/>
                    <a:gd name="T3" fmla="*/ 0 h 868"/>
                    <a:gd name="T4" fmla="*/ 487 w 679"/>
                    <a:gd name="T5" fmla="*/ 21 h 868"/>
                    <a:gd name="T6" fmla="*/ 618 w 679"/>
                    <a:gd name="T7" fmla="*/ 422 h 868"/>
                    <a:gd name="T8" fmla="*/ 679 w 679"/>
                    <a:gd name="T9" fmla="*/ 857 h 868"/>
                    <a:gd name="T10" fmla="*/ 637 w 679"/>
                    <a:gd name="T11" fmla="*/ 868 h 868"/>
                    <a:gd name="T12" fmla="*/ 573 w 679"/>
                    <a:gd name="T13" fmla="*/ 426 h 868"/>
                    <a:gd name="T14" fmla="*/ 451 w 679"/>
                    <a:gd name="T15" fmla="*/ 57 h 868"/>
                    <a:gd name="T16" fmla="*/ 8 w 679"/>
                    <a:gd name="T17" fmla="*/ 372 h 868"/>
                    <a:gd name="T18" fmla="*/ 0 w 679"/>
                    <a:gd name="T19" fmla="*/ 317 h 868"/>
                    <a:gd name="T20" fmla="*/ 0 w 679"/>
                    <a:gd name="T21" fmla="*/ 317 h 8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79" h="868">
                      <a:moveTo>
                        <a:pt x="0" y="317"/>
                      </a:moveTo>
                      <a:lnTo>
                        <a:pt x="453" y="0"/>
                      </a:lnTo>
                      <a:lnTo>
                        <a:pt x="487" y="21"/>
                      </a:lnTo>
                      <a:lnTo>
                        <a:pt x="618" y="422"/>
                      </a:lnTo>
                      <a:lnTo>
                        <a:pt x="679" y="857"/>
                      </a:lnTo>
                      <a:lnTo>
                        <a:pt x="637" y="868"/>
                      </a:lnTo>
                      <a:lnTo>
                        <a:pt x="573" y="426"/>
                      </a:lnTo>
                      <a:lnTo>
                        <a:pt x="451" y="57"/>
                      </a:lnTo>
                      <a:lnTo>
                        <a:pt x="8" y="372"/>
                      </a:lnTo>
                      <a:lnTo>
                        <a:pt x="0" y="317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0" name="Freeform 154"/>
                <p:cNvSpPr>
                  <a:spLocks/>
                </p:cNvSpPr>
                <p:nvPr/>
              </p:nvSpPr>
              <p:spPr bwMode="auto">
                <a:xfrm>
                  <a:off x="3167" y="2688"/>
                  <a:ext cx="272" cy="574"/>
                </a:xfrm>
                <a:custGeom>
                  <a:avLst/>
                  <a:gdLst>
                    <a:gd name="T0" fmla="*/ 6 w 576"/>
                    <a:gd name="T1" fmla="*/ 1315 h 1319"/>
                    <a:gd name="T2" fmla="*/ 0 w 576"/>
                    <a:gd name="T3" fmla="*/ 262 h 1319"/>
                    <a:gd name="T4" fmla="*/ 323 w 576"/>
                    <a:gd name="T5" fmla="*/ 0 h 1319"/>
                    <a:gd name="T6" fmla="*/ 358 w 576"/>
                    <a:gd name="T7" fmla="*/ 8 h 1319"/>
                    <a:gd name="T8" fmla="*/ 426 w 576"/>
                    <a:gd name="T9" fmla="*/ 418 h 1319"/>
                    <a:gd name="T10" fmla="*/ 576 w 576"/>
                    <a:gd name="T11" fmla="*/ 901 h 1319"/>
                    <a:gd name="T12" fmla="*/ 531 w 576"/>
                    <a:gd name="T13" fmla="*/ 908 h 1319"/>
                    <a:gd name="T14" fmla="*/ 377 w 576"/>
                    <a:gd name="T15" fmla="*/ 429 h 1319"/>
                    <a:gd name="T16" fmla="*/ 318 w 576"/>
                    <a:gd name="T17" fmla="*/ 51 h 1319"/>
                    <a:gd name="T18" fmla="*/ 36 w 576"/>
                    <a:gd name="T19" fmla="*/ 276 h 1319"/>
                    <a:gd name="T20" fmla="*/ 48 w 576"/>
                    <a:gd name="T21" fmla="*/ 1319 h 1319"/>
                    <a:gd name="T22" fmla="*/ 6 w 576"/>
                    <a:gd name="T23" fmla="*/ 1315 h 1319"/>
                    <a:gd name="T24" fmla="*/ 6 w 576"/>
                    <a:gd name="T25" fmla="*/ 1315 h 1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576" h="1319">
                      <a:moveTo>
                        <a:pt x="6" y="1315"/>
                      </a:moveTo>
                      <a:lnTo>
                        <a:pt x="0" y="262"/>
                      </a:lnTo>
                      <a:lnTo>
                        <a:pt x="323" y="0"/>
                      </a:lnTo>
                      <a:lnTo>
                        <a:pt x="358" y="8"/>
                      </a:lnTo>
                      <a:lnTo>
                        <a:pt x="426" y="418"/>
                      </a:lnTo>
                      <a:lnTo>
                        <a:pt x="576" y="901"/>
                      </a:lnTo>
                      <a:lnTo>
                        <a:pt x="531" y="908"/>
                      </a:lnTo>
                      <a:lnTo>
                        <a:pt x="377" y="429"/>
                      </a:lnTo>
                      <a:lnTo>
                        <a:pt x="318" y="51"/>
                      </a:lnTo>
                      <a:lnTo>
                        <a:pt x="36" y="276"/>
                      </a:lnTo>
                      <a:lnTo>
                        <a:pt x="48" y="1319"/>
                      </a:lnTo>
                      <a:lnTo>
                        <a:pt x="6" y="1315"/>
                      </a:lnTo>
                      <a:lnTo>
                        <a:pt x="6" y="13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1" name="Freeform 155"/>
                <p:cNvSpPr>
                  <a:spLocks/>
                </p:cNvSpPr>
                <p:nvPr/>
              </p:nvSpPr>
              <p:spPr bwMode="auto">
                <a:xfrm>
                  <a:off x="3418" y="2856"/>
                  <a:ext cx="210" cy="222"/>
                </a:xfrm>
                <a:custGeom>
                  <a:avLst/>
                  <a:gdLst>
                    <a:gd name="T0" fmla="*/ 0 w 443"/>
                    <a:gd name="T1" fmla="*/ 456 h 509"/>
                    <a:gd name="T2" fmla="*/ 3 w 443"/>
                    <a:gd name="T3" fmla="*/ 452 h 509"/>
                    <a:gd name="T4" fmla="*/ 7 w 443"/>
                    <a:gd name="T5" fmla="*/ 448 h 509"/>
                    <a:gd name="T6" fmla="*/ 11 w 443"/>
                    <a:gd name="T7" fmla="*/ 444 h 509"/>
                    <a:gd name="T8" fmla="*/ 15 w 443"/>
                    <a:gd name="T9" fmla="*/ 441 h 509"/>
                    <a:gd name="T10" fmla="*/ 19 w 443"/>
                    <a:gd name="T11" fmla="*/ 435 h 509"/>
                    <a:gd name="T12" fmla="*/ 24 w 443"/>
                    <a:gd name="T13" fmla="*/ 431 h 509"/>
                    <a:gd name="T14" fmla="*/ 30 w 443"/>
                    <a:gd name="T15" fmla="*/ 425 h 509"/>
                    <a:gd name="T16" fmla="*/ 34 w 443"/>
                    <a:gd name="T17" fmla="*/ 420 h 509"/>
                    <a:gd name="T18" fmla="*/ 39 w 443"/>
                    <a:gd name="T19" fmla="*/ 414 h 509"/>
                    <a:gd name="T20" fmla="*/ 47 w 443"/>
                    <a:gd name="T21" fmla="*/ 408 h 509"/>
                    <a:gd name="T22" fmla="*/ 53 w 443"/>
                    <a:gd name="T23" fmla="*/ 401 h 509"/>
                    <a:gd name="T24" fmla="*/ 60 w 443"/>
                    <a:gd name="T25" fmla="*/ 393 h 509"/>
                    <a:gd name="T26" fmla="*/ 68 w 443"/>
                    <a:gd name="T27" fmla="*/ 386 h 509"/>
                    <a:gd name="T28" fmla="*/ 76 w 443"/>
                    <a:gd name="T29" fmla="*/ 380 h 509"/>
                    <a:gd name="T30" fmla="*/ 83 w 443"/>
                    <a:gd name="T31" fmla="*/ 370 h 509"/>
                    <a:gd name="T32" fmla="*/ 91 w 443"/>
                    <a:gd name="T33" fmla="*/ 361 h 509"/>
                    <a:gd name="T34" fmla="*/ 98 w 443"/>
                    <a:gd name="T35" fmla="*/ 351 h 509"/>
                    <a:gd name="T36" fmla="*/ 108 w 443"/>
                    <a:gd name="T37" fmla="*/ 344 h 509"/>
                    <a:gd name="T38" fmla="*/ 116 w 443"/>
                    <a:gd name="T39" fmla="*/ 334 h 509"/>
                    <a:gd name="T40" fmla="*/ 125 w 443"/>
                    <a:gd name="T41" fmla="*/ 325 h 509"/>
                    <a:gd name="T42" fmla="*/ 135 w 443"/>
                    <a:gd name="T43" fmla="*/ 313 h 509"/>
                    <a:gd name="T44" fmla="*/ 144 w 443"/>
                    <a:gd name="T45" fmla="*/ 306 h 509"/>
                    <a:gd name="T46" fmla="*/ 154 w 443"/>
                    <a:gd name="T47" fmla="*/ 294 h 509"/>
                    <a:gd name="T48" fmla="*/ 163 w 443"/>
                    <a:gd name="T49" fmla="*/ 285 h 509"/>
                    <a:gd name="T50" fmla="*/ 173 w 443"/>
                    <a:gd name="T51" fmla="*/ 273 h 509"/>
                    <a:gd name="T52" fmla="*/ 182 w 443"/>
                    <a:gd name="T53" fmla="*/ 264 h 509"/>
                    <a:gd name="T54" fmla="*/ 192 w 443"/>
                    <a:gd name="T55" fmla="*/ 252 h 509"/>
                    <a:gd name="T56" fmla="*/ 201 w 443"/>
                    <a:gd name="T57" fmla="*/ 243 h 509"/>
                    <a:gd name="T58" fmla="*/ 213 w 443"/>
                    <a:gd name="T59" fmla="*/ 233 h 509"/>
                    <a:gd name="T60" fmla="*/ 222 w 443"/>
                    <a:gd name="T61" fmla="*/ 224 h 509"/>
                    <a:gd name="T62" fmla="*/ 232 w 443"/>
                    <a:gd name="T63" fmla="*/ 211 h 509"/>
                    <a:gd name="T64" fmla="*/ 241 w 443"/>
                    <a:gd name="T65" fmla="*/ 201 h 509"/>
                    <a:gd name="T66" fmla="*/ 251 w 443"/>
                    <a:gd name="T67" fmla="*/ 190 h 509"/>
                    <a:gd name="T68" fmla="*/ 260 w 443"/>
                    <a:gd name="T69" fmla="*/ 180 h 509"/>
                    <a:gd name="T70" fmla="*/ 270 w 443"/>
                    <a:gd name="T71" fmla="*/ 169 h 509"/>
                    <a:gd name="T72" fmla="*/ 279 w 443"/>
                    <a:gd name="T73" fmla="*/ 159 h 509"/>
                    <a:gd name="T74" fmla="*/ 289 w 443"/>
                    <a:gd name="T75" fmla="*/ 150 h 509"/>
                    <a:gd name="T76" fmla="*/ 298 w 443"/>
                    <a:gd name="T77" fmla="*/ 140 h 509"/>
                    <a:gd name="T78" fmla="*/ 306 w 443"/>
                    <a:gd name="T79" fmla="*/ 131 h 509"/>
                    <a:gd name="T80" fmla="*/ 315 w 443"/>
                    <a:gd name="T81" fmla="*/ 121 h 509"/>
                    <a:gd name="T82" fmla="*/ 323 w 443"/>
                    <a:gd name="T83" fmla="*/ 110 h 509"/>
                    <a:gd name="T84" fmla="*/ 332 w 443"/>
                    <a:gd name="T85" fmla="*/ 102 h 509"/>
                    <a:gd name="T86" fmla="*/ 340 w 443"/>
                    <a:gd name="T87" fmla="*/ 93 h 509"/>
                    <a:gd name="T88" fmla="*/ 349 w 443"/>
                    <a:gd name="T89" fmla="*/ 85 h 509"/>
                    <a:gd name="T90" fmla="*/ 357 w 443"/>
                    <a:gd name="T91" fmla="*/ 76 h 509"/>
                    <a:gd name="T92" fmla="*/ 365 w 443"/>
                    <a:gd name="T93" fmla="*/ 68 h 509"/>
                    <a:gd name="T94" fmla="*/ 370 w 443"/>
                    <a:gd name="T95" fmla="*/ 61 h 509"/>
                    <a:gd name="T96" fmla="*/ 378 w 443"/>
                    <a:gd name="T97" fmla="*/ 53 h 509"/>
                    <a:gd name="T98" fmla="*/ 384 w 443"/>
                    <a:gd name="T99" fmla="*/ 45 h 509"/>
                    <a:gd name="T100" fmla="*/ 389 w 443"/>
                    <a:gd name="T101" fmla="*/ 40 h 509"/>
                    <a:gd name="T102" fmla="*/ 395 w 443"/>
                    <a:gd name="T103" fmla="*/ 32 h 509"/>
                    <a:gd name="T104" fmla="*/ 401 w 443"/>
                    <a:gd name="T105" fmla="*/ 26 h 509"/>
                    <a:gd name="T106" fmla="*/ 407 w 443"/>
                    <a:gd name="T107" fmla="*/ 23 h 509"/>
                    <a:gd name="T108" fmla="*/ 410 w 443"/>
                    <a:gd name="T109" fmla="*/ 19 h 509"/>
                    <a:gd name="T110" fmla="*/ 418 w 443"/>
                    <a:gd name="T111" fmla="*/ 9 h 509"/>
                    <a:gd name="T112" fmla="*/ 424 w 443"/>
                    <a:gd name="T113" fmla="*/ 4 h 509"/>
                    <a:gd name="T114" fmla="*/ 427 w 443"/>
                    <a:gd name="T115" fmla="*/ 2 h 509"/>
                    <a:gd name="T116" fmla="*/ 429 w 443"/>
                    <a:gd name="T117" fmla="*/ 0 h 509"/>
                    <a:gd name="T118" fmla="*/ 443 w 443"/>
                    <a:gd name="T119" fmla="*/ 51 h 509"/>
                    <a:gd name="T120" fmla="*/ 11 w 443"/>
                    <a:gd name="T121" fmla="*/ 509 h 509"/>
                    <a:gd name="T122" fmla="*/ 0 w 443"/>
                    <a:gd name="T123" fmla="*/ 456 h 509"/>
                    <a:gd name="T124" fmla="*/ 0 w 443"/>
                    <a:gd name="T125" fmla="*/ 456 h 5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443" h="509">
                      <a:moveTo>
                        <a:pt x="0" y="456"/>
                      </a:moveTo>
                      <a:lnTo>
                        <a:pt x="3" y="452"/>
                      </a:lnTo>
                      <a:lnTo>
                        <a:pt x="7" y="448"/>
                      </a:lnTo>
                      <a:lnTo>
                        <a:pt x="11" y="444"/>
                      </a:lnTo>
                      <a:lnTo>
                        <a:pt x="15" y="441"/>
                      </a:lnTo>
                      <a:lnTo>
                        <a:pt x="19" y="435"/>
                      </a:lnTo>
                      <a:lnTo>
                        <a:pt x="24" y="431"/>
                      </a:lnTo>
                      <a:lnTo>
                        <a:pt x="30" y="425"/>
                      </a:lnTo>
                      <a:lnTo>
                        <a:pt x="34" y="420"/>
                      </a:lnTo>
                      <a:lnTo>
                        <a:pt x="39" y="414"/>
                      </a:lnTo>
                      <a:lnTo>
                        <a:pt x="47" y="408"/>
                      </a:lnTo>
                      <a:lnTo>
                        <a:pt x="53" y="401"/>
                      </a:lnTo>
                      <a:lnTo>
                        <a:pt x="60" y="393"/>
                      </a:lnTo>
                      <a:lnTo>
                        <a:pt x="68" y="386"/>
                      </a:lnTo>
                      <a:lnTo>
                        <a:pt x="76" y="380"/>
                      </a:lnTo>
                      <a:lnTo>
                        <a:pt x="83" y="370"/>
                      </a:lnTo>
                      <a:lnTo>
                        <a:pt x="91" y="361"/>
                      </a:lnTo>
                      <a:lnTo>
                        <a:pt x="98" y="351"/>
                      </a:lnTo>
                      <a:lnTo>
                        <a:pt x="108" y="344"/>
                      </a:lnTo>
                      <a:lnTo>
                        <a:pt x="116" y="334"/>
                      </a:lnTo>
                      <a:lnTo>
                        <a:pt x="125" y="325"/>
                      </a:lnTo>
                      <a:lnTo>
                        <a:pt x="135" y="313"/>
                      </a:lnTo>
                      <a:lnTo>
                        <a:pt x="144" y="306"/>
                      </a:lnTo>
                      <a:lnTo>
                        <a:pt x="154" y="294"/>
                      </a:lnTo>
                      <a:lnTo>
                        <a:pt x="163" y="285"/>
                      </a:lnTo>
                      <a:lnTo>
                        <a:pt x="173" y="273"/>
                      </a:lnTo>
                      <a:lnTo>
                        <a:pt x="182" y="264"/>
                      </a:lnTo>
                      <a:lnTo>
                        <a:pt x="192" y="252"/>
                      </a:lnTo>
                      <a:lnTo>
                        <a:pt x="201" y="243"/>
                      </a:lnTo>
                      <a:lnTo>
                        <a:pt x="213" y="233"/>
                      </a:lnTo>
                      <a:lnTo>
                        <a:pt x="222" y="224"/>
                      </a:lnTo>
                      <a:lnTo>
                        <a:pt x="232" y="211"/>
                      </a:lnTo>
                      <a:lnTo>
                        <a:pt x="241" y="201"/>
                      </a:lnTo>
                      <a:lnTo>
                        <a:pt x="251" y="190"/>
                      </a:lnTo>
                      <a:lnTo>
                        <a:pt x="260" y="180"/>
                      </a:lnTo>
                      <a:lnTo>
                        <a:pt x="270" y="169"/>
                      </a:lnTo>
                      <a:lnTo>
                        <a:pt x="279" y="159"/>
                      </a:lnTo>
                      <a:lnTo>
                        <a:pt x="289" y="150"/>
                      </a:lnTo>
                      <a:lnTo>
                        <a:pt x="298" y="140"/>
                      </a:lnTo>
                      <a:lnTo>
                        <a:pt x="306" y="131"/>
                      </a:lnTo>
                      <a:lnTo>
                        <a:pt x="315" y="121"/>
                      </a:lnTo>
                      <a:lnTo>
                        <a:pt x="323" y="110"/>
                      </a:lnTo>
                      <a:lnTo>
                        <a:pt x="332" y="102"/>
                      </a:lnTo>
                      <a:lnTo>
                        <a:pt x="340" y="93"/>
                      </a:lnTo>
                      <a:lnTo>
                        <a:pt x="349" y="85"/>
                      </a:lnTo>
                      <a:lnTo>
                        <a:pt x="357" y="76"/>
                      </a:lnTo>
                      <a:lnTo>
                        <a:pt x="365" y="68"/>
                      </a:lnTo>
                      <a:lnTo>
                        <a:pt x="370" y="61"/>
                      </a:lnTo>
                      <a:lnTo>
                        <a:pt x="378" y="53"/>
                      </a:lnTo>
                      <a:lnTo>
                        <a:pt x="384" y="45"/>
                      </a:lnTo>
                      <a:lnTo>
                        <a:pt x="389" y="40"/>
                      </a:lnTo>
                      <a:lnTo>
                        <a:pt x="395" y="32"/>
                      </a:lnTo>
                      <a:lnTo>
                        <a:pt x="401" y="26"/>
                      </a:lnTo>
                      <a:lnTo>
                        <a:pt x="407" y="23"/>
                      </a:lnTo>
                      <a:lnTo>
                        <a:pt x="410" y="19"/>
                      </a:lnTo>
                      <a:lnTo>
                        <a:pt x="418" y="9"/>
                      </a:lnTo>
                      <a:lnTo>
                        <a:pt x="424" y="4"/>
                      </a:lnTo>
                      <a:lnTo>
                        <a:pt x="427" y="2"/>
                      </a:lnTo>
                      <a:lnTo>
                        <a:pt x="429" y="0"/>
                      </a:lnTo>
                      <a:lnTo>
                        <a:pt x="443" y="51"/>
                      </a:lnTo>
                      <a:lnTo>
                        <a:pt x="11" y="509"/>
                      </a:lnTo>
                      <a:lnTo>
                        <a:pt x="0" y="456"/>
                      </a:lnTo>
                      <a:lnTo>
                        <a:pt x="0" y="4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2" name="Freeform 156"/>
                <p:cNvSpPr>
                  <a:spLocks/>
                </p:cNvSpPr>
                <p:nvPr/>
              </p:nvSpPr>
              <p:spPr bwMode="auto">
                <a:xfrm>
                  <a:off x="3179" y="2858"/>
                  <a:ext cx="182" cy="238"/>
                </a:xfrm>
                <a:custGeom>
                  <a:avLst/>
                  <a:gdLst>
                    <a:gd name="T0" fmla="*/ 0 w 386"/>
                    <a:gd name="T1" fmla="*/ 489 h 546"/>
                    <a:gd name="T2" fmla="*/ 374 w 386"/>
                    <a:gd name="T3" fmla="*/ 0 h 546"/>
                    <a:gd name="T4" fmla="*/ 386 w 386"/>
                    <a:gd name="T5" fmla="*/ 63 h 546"/>
                    <a:gd name="T6" fmla="*/ 5 w 386"/>
                    <a:gd name="T7" fmla="*/ 546 h 546"/>
                    <a:gd name="T8" fmla="*/ 0 w 386"/>
                    <a:gd name="T9" fmla="*/ 489 h 546"/>
                    <a:gd name="T10" fmla="*/ 0 w 386"/>
                    <a:gd name="T11" fmla="*/ 489 h 5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86" h="546">
                      <a:moveTo>
                        <a:pt x="0" y="489"/>
                      </a:moveTo>
                      <a:lnTo>
                        <a:pt x="374" y="0"/>
                      </a:lnTo>
                      <a:lnTo>
                        <a:pt x="386" y="63"/>
                      </a:lnTo>
                      <a:lnTo>
                        <a:pt x="5" y="546"/>
                      </a:lnTo>
                      <a:lnTo>
                        <a:pt x="0" y="489"/>
                      </a:lnTo>
                      <a:lnTo>
                        <a:pt x="0" y="48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3" name="Freeform 157"/>
                <p:cNvSpPr>
                  <a:spLocks/>
                </p:cNvSpPr>
                <p:nvPr/>
              </p:nvSpPr>
              <p:spPr bwMode="auto">
                <a:xfrm>
                  <a:off x="3615" y="2710"/>
                  <a:ext cx="321" cy="345"/>
                </a:xfrm>
                <a:custGeom>
                  <a:avLst/>
                  <a:gdLst>
                    <a:gd name="T0" fmla="*/ 0 w 681"/>
                    <a:gd name="T1" fmla="*/ 297 h 793"/>
                    <a:gd name="T2" fmla="*/ 386 w 681"/>
                    <a:gd name="T3" fmla="*/ 0 h 793"/>
                    <a:gd name="T4" fmla="*/ 417 w 681"/>
                    <a:gd name="T5" fmla="*/ 21 h 793"/>
                    <a:gd name="T6" fmla="*/ 546 w 681"/>
                    <a:gd name="T7" fmla="*/ 361 h 793"/>
                    <a:gd name="T8" fmla="*/ 681 w 681"/>
                    <a:gd name="T9" fmla="*/ 793 h 793"/>
                    <a:gd name="T10" fmla="*/ 628 w 681"/>
                    <a:gd name="T11" fmla="*/ 793 h 793"/>
                    <a:gd name="T12" fmla="*/ 506 w 681"/>
                    <a:gd name="T13" fmla="*/ 375 h 793"/>
                    <a:gd name="T14" fmla="*/ 386 w 681"/>
                    <a:gd name="T15" fmla="*/ 50 h 793"/>
                    <a:gd name="T16" fmla="*/ 10 w 681"/>
                    <a:gd name="T17" fmla="*/ 340 h 793"/>
                    <a:gd name="T18" fmla="*/ 0 w 681"/>
                    <a:gd name="T19" fmla="*/ 297 h 793"/>
                    <a:gd name="T20" fmla="*/ 0 w 681"/>
                    <a:gd name="T21" fmla="*/ 297 h 7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81" h="793">
                      <a:moveTo>
                        <a:pt x="0" y="297"/>
                      </a:moveTo>
                      <a:lnTo>
                        <a:pt x="386" y="0"/>
                      </a:lnTo>
                      <a:lnTo>
                        <a:pt x="417" y="21"/>
                      </a:lnTo>
                      <a:lnTo>
                        <a:pt x="546" y="361"/>
                      </a:lnTo>
                      <a:lnTo>
                        <a:pt x="681" y="793"/>
                      </a:lnTo>
                      <a:lnTo>
                        <a:pt x="628" y="793"/>
                      </a:lnTo>
                      <a:lnTo>
                        <a:pt x="506" y="375"/>
                      </a:lnTo>
                      <a:lnTo>
                        <a:pt x="386" y="50"/>
                      </a:lnTo>
                      <a:lnTo>
                        <a:pt x="10" y="340"/>
                      </a:lnTo>
                      <a:lnTo>
                        <a:pt x="0" y="297"/>
                      </a:lnTo>
                      <a:lnTo>
                        <a:pt x="0" y="2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4" name="Freeform 158"/>
                <p:cNvSpPr>
                  <a:spLocks/>
                </p:cNvSpPr>
                <p:nvPr/>
              </p:nvSpPr>
              <p:spPr bwMode="auto">
                <a:xfrm>
                  <a:off x="3908" y="2872"/>
                  <a:ext cx="310" cy="338"/>
                </a:xfrm>
                <a:custGeom>
                  <a:avLst/>
                  <a:gdLst>
                    <a:gd name="T0" fmla="*/ 0 w 656"/>
                    <a:gd name="T1" fmla="*/ 348 h 773"/>
                    <a:gd name="T2" fmla="*/ 601 w 656"/>
                    <a:gd name="T3" fmla="*/ 310 h 773"/>
                    <a:gd name="T4" fmla="*/ 489 w 656"/>
                    <a:gd name="T5" fmla="*/ 13 h 773"/>
                    <a:gd name="T6" fmla="*/ 530 w 656"/>
                    <a:gd name="T7" fmla="*/ 0 h 773"/>
                    <a:gd name="T8" fmla="*/ 656 w 656"/>
                    <a:gd name="T9" fmla="*/ 317 h 773"/>
                    <a:gd name="T10" fmla="*/ 620 w 656"/>
                    <a:gd name="T11" fmla="*/ 773 h 773"/>
                    <a:gd name="T12" fmla="*/ 576 w 656"/>
                    <a:gd name="T13" fmla="*/ 771 h 773"/>
                    <a:gd name="T14" fmla="*/ 610 w 656"/>
                    <a:gd name="T15" fmla="*/ 346 h 773"/>
                    <a:gd name="T16" fmla="*/ 17 w 656"/>
                    <a:gd name="T17" fmla="*/ 386 h 773"/>
                    <a:gd name="T18" fmla="*/ 0 w 656"/>
                    <a:gd name="T19" fmla="*/ 348 h 773"/>
                    <a:gd name="T20" fmla="*/ 0 w 656"/>
                    <a:gd name="T21" fmla="*/ 348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56" h="773">
                      <a:moveTo>
                        <a:pt x="0" y="348"/>
                      </a:moveTo>
                      <a:lnTo>
                        <a:pt x="601" y="310"/>
                      </a:lnTo>
                      <a:lnTo>
                        <a:pt x="489" y="13"/>
                      </a:lnTo>
                      <a:lnTo>
                        <a:pt x="530" y="0"/>
                      </a:lnTo>
                      <a:lnTo>
                        <a:pt x="656" y="317"/>
                      </a:lnTo>
                      <a:lnTo>
                        <a:pt x="620" y="773"/>
                      </a:lnTo>
                      <a:lnTo>
                        <a:pt x="576" y="771"/>
                      </a:lnTo>
                      <a:lnTo>
                        <a:pt x="610" y="346"/>
                      </a:lnTo>
                      <a:lnTo>
                        <a:pt x="17" y="386"/>
                      </a:lnTo>
                      <a:lnTo>
                        <a:pt x="0" y="348"/>
                      </a:lnTo>
                      <a:lnTo>
                        <a:pt x="0" y="3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5" name="Freeform 159"/>
                <p:cNvSpPr>
                  <a:spLocks/>
                </p:cNvSpPr>
                <p:nvPr/>
              </p:nvSpPr>
              <p:spPr bwMode="auto">
                <a:xfrm>
                  <a:off x="3914" y="3028"/>
                  <a:ext cx="48" cy="199"/>
                </a:xfrm>
                <a:custGeom>
                  <a:avLst/>
                  <a:gdLst>
                    <a:gd name="T0" fmla="*/ 0 w 101"/>
                    <a:gd name="T1" fmla="*/ 456 h 456"/>
                    <a:gd name="T2" fmla="*/ 59 w 101"/>
                    <a:gd name="T3" fmla="*/ 0 h 456"/>
                    <a:gd name="T4" fmla="*/ 101 w 101"/>
                    <a:gd name="T5" fmla="*/ 2 h 456"/>
                    <a:gd name="T6" fmla="*/ 40 w 101"/>
                    <a:gd name="T7" fmla="*/ 452 h 456"/>
                    <a:gd name="T8" fmla="*/ 0 w 101"/>
                    <a:gd name="T9" fmla="*/ 456 h 456"/>
                    <a:gd name="T10" fmla="*/ 0 w 101"/>
                    <a:gd name="T11" fmla="*/ 456 h 4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1" h="456">
                      <a:moveTo>
                        <a:pt x="0" y="456"/>
                      </a:moveTo>
                      <a:lnTo>
                        <a:pt x="59" y="0"/>
                      </a:lnTo>
                      <a:lnTo>
                        <a:pt x="101" y="2"/>
                      </a:lnTo>
                      <a:lnTo>
                        <a:pt x="40" y="452"/>
                      </a:lnTo>
                      <a:lnTo>
                        <a:pt x="0" y="456"/>
                      </a:lnTo>
                      <a:lnTo>
                        <a:pt x="0" y="4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6" name="Freeform 160"/>
                <p:cNvSpPr>
                  <a:spLocks/>
                </p:cNvSpPr>
                <p:nvPr/>
              </p:nvSpPr>
              <p:spPr bwMode="auto">
                <a:xfrm>
                  <a:off x="3913" y="2381"/>
                  <a:ext cx="170" cy="63"/>
                </a:xfrm>
                <a:custGeom>
                  <a:avLst/>
                  <a:gdLst>
                    <a:gd name="T0" fmla="*/ 12 w 360"/>
                    <a:gd name="T1" fmla="*/ 30 h 142"/>
                    <a:gd name="T2" fmla="*/ 19 w 360"/>
                    <a:gd name="T3" fmla="*/ 40 h 142"/>
                    <a:gd name="T4" fmla="*/ 27 w 360"/>
                    <a:gd name="T5" fmla="*/ 49 h 142"/>
                    <a:gd name="T6" fmla="*/ 38 w 360"/>
                    <a:gd name="T7" fmla="*/ 61 h 142"/>
                    <a:gd name="T8" fmla="*/ 54 w 360"/>
                    <a:gd name="T9" fmla="*/ 72 h 142"/>
                    <a:gd name="T10" fmla="*/ 65 w 360"/>
                    <a:gd name="T11" fmla="*/ 81 h 142"/>
                    <a:gd name="T12" fmla="*/ 75 w 360"/>
                    <a:gd name="T13" fmla="*/ 85 h 142"/>
                    <a:gd name="T14" fmla="*/ 84 w 360"/>
                    <a:gd name="T15" fmla="*/ 93 h 142"/>
                    <a:gd name="T16" fmla="*/ 94 w 360"/>
                    <a:gd name="T17" fmla="*/ 97 h 142"/>
                    <a:gd name="T18" fmla="*/ 103 w 360"/>
                    <a:gd name="T19" fmla="*/ 100 h 142"/>
                    <a:gd name="T20" fmla="*/ 114 w 360"/>
                    <a:gd name="T21" fmla="*/ 104 h 142"/>
                    <a:gd name="T22" fmla="*/ 126 w 360"/>
                    <a:gd name="T23" fmla="*/ 106 h 142"/>
                    <a:gd name="T24" fmla="*/ 137 w 360"/>
                    <a:gd name="T25" fmla="*/ 108 h 142"/>
                    <a:gd name="T26" fmla="*/ 151 w 360"/>
                    <a:gd name="T27" fmla="*/ 108 h 142"/>
                    <a:gd name="T28" fmla="*/ 162 w 360"/>
                    <a:gd name="T29" fmla="*/ 106 h 142"/>
                    <a:gd name="T30" fmla="*/ 177 w 360"/>
                    <a:gd name="T31" fmla="*/ 104 h 142"/>
                    <a:gd name="T32" fmla="*/ 191 w 360"/>
                    <a:gd name="T33" fmla="*/ 100 h 142"/>
                    <a:gd name="T34" fmla="*/ 206 w 360"/>
                    <a:gd name="T35" fmla="*/ 97 h 142"/>
                    <a:gd name="T36" fmla="*/ 219 w 360"/>
                    <a:gd name="T37" fmla="*/ 89 h 142"/>
                    <a:gd name="T38" fmla="*/ 234 w 360"/>
                    <a:gd name="T39" fmla="*/ 80 h 142"/>
                    <a:gd name="T40" fmla="*/ 251 w 360"/>
                    <a:gd name="T41" fmla="*/ 70 h 142"/>
                    <a:gd name="T42" fmla="*/ 267 w 360"/>
                    <a:gd name="T43" fmla="*/ 59 h 142"/>
                    <a:gd name="T44" fmla="*/ 282 w 360"/>
                    <a:gd name="T45" fmla="*/ 43 h 142"/>
                    <a:gd name="T46" fmla="*/ 299 w 360"/>
                    <a:gd name="T47" fmla="*/ 26 h 142"/>
                    <a:gd name="T48" fmla="*/ 316 w 360"/>
                    <a:gd name="T49" fmla="*/ 9 h 142"/>
                    <a:gd name="T50" fmla="*/ 360 w 360"/>
                    <a:gd name="T51" fmla="*/ 24 h 142"/>
                    <a:gd name="T52" fmla="*/ 358 w 360"/>
                    <a:gd name="T53" fmla="*/ 26 h 142"/>
                    <a:gd name="T54" fmla="*/ 352 w 360"/>
                    <a:gd name="T55" fmla="*/ 34 h 142"/>
                    <a:gd name="T56" fmla="*/ 341 w 360"/>
                    <a:gd name="T57" fmla="*/ 43 h 142"/>
                    <a:gd name="T58" fmla="*/ 327 w 360"/>
                    <a:gd name="T59" fmla="*/ 59 h 142"/>
                    <a:gd name="T60" fmla="*/ 318 w 360"/>
                    <a:gd name="T61" fmla="*/ 66 h 142"/>
                    <a:gd name="T62" fmla="*/ 308 w 360"/>
                    <a:gd name="T63" fmla="*/ 74 h 142"/>
                    <a:gd name="T64" fmla="*/ 299 w 360"/>
                    <a:gd name="T65" fmla="*/ 81 h 142"/>
                    <a:gd name="T66" fmla="*/ 289 w 360"/>
                    <a:gd name="T67" fmla="*/ 89 h 142"/>
                    <a:gd name="T68" fmla="*/ 278 w 360"/>
                    <a:gd name="T69" fmla="*/ 97 h 142"/>
                    <a:gd name="T70" fmla="*/ 267 w 360"/>
                    <a:gd name="T71" fmla="*/ 104 h 142"/>
                    <a:gd name="T72" fmla="*/ 255 w 360"/>
                    <a:gd name="T73" fmla="*/ 112 h 142"/>
                    <a:gd name="T74" fmla="*/ 242 w 360"/>
                    <a:gd name="T75" fmla="*/ 119 h 142"/>
                    <a:gd name="T76" fmla="*/ 229 w 360"/>
                    <a:gd name="T77" fmla="*/ 125 h 142"/>
                    <a:gd name="T78" fmla="*/ 215 w 360"/>
                    <a:gd name="T79" fmla="*/ 131 h 142"/>
                    <a:gd name="T80" fmla="*/ 200 w 360"/>
                    <a:gd name="T81" fmla="*/ 135 h 142"/>
                    <a:gd name="T82" fmla="*/ 187 w 360"/>
                    <a:gd name="T83" fmla="*/ 140 h 142"/>
                    <a:gd name="T84" fmla="*/ 172 w 360"/>
                    <a:gd name="T85" fmla="*/ 140 h 142"/>
                    <a:gd name="T86" fmla="*/ 156 w 360"/>
                    <a:gd name="T87" fmla="*/ 142 h 142"/>
                    <a:gd name="T88" fmla="*/ 141 w 360"/>
                    <a:gd name="T89" fmla="*/ 142 h 142"/>
                    <a:gd name="T90" fmla="*/ 126 w 360"/>
                    <a:gd name="T91" fmla="*/ 142 h 142"/>
                    <a:gd name="T92" fmla="*/ 111 w 360"/>
                    <a:gd name="T93" fmla="*/ 138 h 142"/>
                    <a:gd name="T94" fmla="*/ 94 w 360"/>
                    <a:gd name="T95" fmla="*/ 133 h 142"/>
                    <a:gd name="T96" fmla="*/ 78 w 360"/>
                    <a:gd name="T97" fmla="*/ 127 h 142"/>
                    <a:gd name="T98" fmla="*/ 63 w 360"/>
                    <a:gd name="T99" fmla="*/ 118 h 142"/>
                    <a:gd name="T100" fmla="*/ 46 w 360"/>
                    <a:gd name="T101" fmla="*/ 106 h 142"/>
                    <a:gd name="T102" fmla="*/ 31 w 360"/>
                    <a:gd name="T103" fmla="*/ 93 h 142"/>
                    <a:gd name="T104" fmla="*/ 14 w 360"/>
                    <a:gd name="T105" fmla="*/ 78 h 142"/>
                    <a:gd name="T106" fmla="*/ 0 w 360"/>
                    <a:gd name="T107" fmla="*/ 61 h 142"/>
                    <a:gd name="T108" fmla="*/ 10 w 360"/>
                    <a:gd name="T109" fmla="*/ 28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360" h="142">
                      <a:moveTo>
                        <a:pt x="10" y="28"/>
                      </a:moveTo>
                      <a:lnTo>
                        <a:pt x="12" y="30"/>
                      </a:lnTo>
                      <a:lnTo>
                        <a:pt x="16" y="36"/>
                      </a:lnTo>
                      <a:lnTo>
                        <a:pt x="19" y="40"/>
                      </a:lnTo>
                      <a:lnTo>
                        <a:pt x="23" y="43"/>
                      </a:lnTo>
                      <a:lnTo>
                        <a:pt x="27" y="49"/>
                      </a:lnTo>
                      <a:lnTo>
                        <a:pt x="33" y="55"/>
                      </a:lnTo>
                      <a:lnTo>
                        <a:pt x="38" y="61"/>
                      </a:lnTo>
                      <a:lnTo>
                        <a:pt x="46" y="66"/>
                      </a:lnTo>
                      <a:lnTo>
                        <a:pt x="54" y="72"/>
                      </a:lnTo>
                      <a:lnTo>
                        <a:pt x="61" y="80"/>
                      </a:lnTo>
                      <a:lnTo>
                        <a:pt x="65" y="81"/>
                      </a:lnTo>
                      <a:lnTo>
                        <a:pt x="69" y="83"/>
                      </a:lnTo>
                      <a:lnTo>
                        <a:pt x="75" y="85"/>
                      </a:lnTo>
                      <a:lnTo>
                        <a:pt x="78" y="89"/>
                      </a:lnTo>
                      <a:lnTo>
                        <a:pt x="84" y="93"/>
                      </a:lnTo>
                      <a:lnTo>
                        <a:pt x="88" y="95"/>
                      </a:lnTo>
                      <a:lnTo>
                        <a:pt x="94" y="97"/>
                      </a:lnTo>
                      <a:lnTo>
                        <a:pt x="99" y="99"/>
                      </a:lnTo>
                      <a:lnTo>
                        <a:pt x="103" y="100"/>
                      </a:lnTo>
                      <a:lnTo>
                        <a:pt x="109" y="102"/>
                      </a:lnTo>
                      <a:lnTo>
                        <a:pt x="114" y="104"/>
                      </a:lnTo>
                      <a:lnTo>
                        <a:pt x="120" y="104"/>
                      </a:lnTo>
                      <a:lnTo>
                        <a:pt x="126" y="106"/>
                      </a:lnTo>
                      <a:lnTo>
                        <a:pt x="132" y="106"/>
                      </a:lnTo>
                      <a:lnTo>
                        <a:pt x="137" y="108"/>
                      </a:lnTo>
                      <a:lnTo>
                        <a:pt x="145" y="108"/>
                      </a:lnTo>
                      <a:lnTo>
                        <a:pt x="151" y="108"/>
                      </a:lnTo>
                      <a:lnTo>
                        <a:pt x="158" y="108"/>
                      </a:lnTo>
                      <a:lnTo>
                        <a:pt x="162" y="106"/>
                      </a:lnTo>
                      <a:lnTo>
                        <a:pt x="170" y="106"/>
                      </a:lnTo>
                      <a:lnTo>
                        <a:pt x="177" y="104"/>
                      </a:lnTo>
                      <a:lnTo>
                        <a:pt x="183" y="102"/>
                      </a:lnTo>
                      <a:lnTo>
                        <a:pt x="191" y="100"/>
                      </a:lnTo>
                      <a:lnTo>
                        <a:pt x="198" y="99"/>
                      </a:lnTo>
                      <a:lnTo>
                        <a:pt x="206" y="97"/>
                      </a:lnTo>
                      <a:lnTo>
                        <a:pt x="211" y="93"/>
                      </a:lnTo>
                      <a:lnTo>
                        <a:pt x="219" y="89"/>
                      </a:lnTo>
                      <a:lnTo>
                        <a:pt x="227" y="85"/>
                      </a:lnTo>
                      <a:lnTo>
                        <a:pt x="234" y="80"/>
                      </a:lnTo>
                      <a:lnTo>
                        <a:pt x="242" y="76"/>
                      </a:lnTo>
                      <a:lnTo>
                        <a:pt x="251" y="70"/>
                      </a:lnTo>
                      <a:lnTo>
                        <a:pt x="259" y="64"/>
                      </a:lnTo>
                      <a:lnTo>
                        <a:pt x="267" y="59"/>
                      </a:lnTo>
                      <a:lnTo>
                        <a:pt x="274" y="51"/>
                      </a:lnTo>
                      <a:lnTo>
                        <a:pt x="282" y="43"/>
                      </a:lnTo>
                      <a:lnTo>
                        <a:pt x="291" y="36"/>
                      </a:lnTo>
                      <a:lnTo>
                        <a:pt x="299" y="26"/>
                      </a:lnTo>
                      <a:lnTo>
                        <a:pt x="308" y="19"/>
                      </a:lnTo>
                      <a:lnTo>
                        <a:pt x="316" y="9"/>
                      </a:lnTo>
                      <a:lnTo>
                        <a:pt x="326" y="0"/>
                      </a:lnTo>
                      <a:lnTo>
                        <a:pt x="360" y="24"/>
                      </a:lnTo>
                      <a:lnTo>
                        <a:pt x="360" y="24"/>
                      </a:lnTo>
                      <a:lnTo>
                        <a:pt x="358" y="26"/>
                      </a:lnTo>
                      <a:lnTo>
                        <a:pt x="354" y="28"/>
                      </a:lnTo>
                      <a:lnTo>
                        <a:pt x="352" y="34"/>
                      </a:lnTo>
                      <a:lnTo>
                        <a:pt x="347" y="38"/>
                      </a:lnTo>
                      <a:lnTo>
                        <a:pt x="341" y="43"/>
                      </a:lnTo>
                      <a:lnTo>
                        <a:pt x="333" y="51"/>
                      </a:lnTo>
                      <a:lnTo>
                        <a:pt x="327" y="59"/>
                      </a:lnTo>
                      <a:lnTo>
                        <a:pt x="322" y="62"/>
                      </a:lnTo>
                      <a:lnTo>
                        <a:pt x="318" y="66"/>
                      </a:lnTo>
                      <a:lnTo>
                        <a:pt x="312" y="68"/>
                      </a:lnTo>
                      <a:lnTo>
                        <a:pt x="308" y="74"/>
                      </a:lnTo>
                      <a:lnTo>
                        <a:pt x="305" y="76"/>
                      </a:lnTo>
                      <a:lnTo>
                        <a:pt x="299" y="81"/>
                      </a:lnTo>
                      <a:lnTo>
                        <a:pt x="293" y="85"/>
                      </a:lnTo>
                      <a:lnTo>
                        <a:pt x="289" y="89"/>
                      </a:lnTo>
                      <a:lnTo>
                        <a:pt x="284" y="93"/>
                      </a:lnTo>
                      <a:lnTo>
                        <a:pt x="278" y="97"/>
                      </a:lnTo>
                      <a:lnTo>
                        <a:pt x="272" y="100"/>
                      </a:lnTo>
                      <a:lnTo>
                        <a:pt x="267" y="104"/>
                      </a:lnTo>
                      <a:lnTo>
                        <a:pt x="261" y="108"/>
                      </a:lnTo>
                      <a:lnTo>
                        <a:pt x="255" y="112"/>
                      </a:lnTo>
                      <a:lnTo>
                        <a:pt x="248" y="116"/>
                      </a:lnTo>
                      <a:lnTo>
                        <a:pt x="242" y="119"/>
                      </a:lnTo>
                      <a:lnTo>
                        <a:pt x="234" y="121"/>
                      </a:lnTo>
                      <a:lnTo>
                        <a:pt x="229" y="125"/>
                      </a:lnTo>
                      <a:lnTo>
                        <a:pt x="223" y="127"/>
                      </a:lnTo>
                      <a:lnTo>
                        <a:pt x="215" y="131"/>
                      </a:lnTo>
                      <a:lnTo>
                        <a:pt x="208" y="133"/>
                      </a:lnTo>
                      <a:lnTo>
                        <a:pt x="200" y="135"/>
                      </a:lnTo>
                      <a:lnTo>
                        <a:pt x="192" y="137"/>
                      </a:lnTo>
                      <a:lnTo>
                        <a:pt x="187" y="140"/>
                      </a:lnTo>
                      <a:lnTo>
                        <a:pt x="179" y="140"/>
                      </a:lnTo>
                      <a:lnTo>
                        <a:pt x="172" y="140"/>
                      </a:lnTo>
                      <a:lnTo>
                        <a:pt x="164" y="142"/>
                      </a:lnTo>
                      <a:lnTo>
                        <a:pt x="156" y="142"/>
                      </a:lnTo>
                      <a:lnTo>
                        <a:pt x="149" y="142"/>
                      </a:lnTo>
                      <a:lnTo>
                        <a:pt x="141" y="142"/>
                      </a:lnTo>
                      <a:lnTo>
                        <a:pt x="134" y="142"/>
                      </a:lnTo>
                      <a:lnTo>
                        <a:pt x="126" y="142"/>
                      </a:lnTo>
                      <a:lnTo>
                        <a:pt x="118" y="140"/>
                      </a:lnTo>
                      <a:lnTo>
                        <a:pt x="111" y="138"/>
                      </a:lnTo>
                      <a:lnTo>
                        <a:pt x="101" y="135"/>
                      </a:lnTo>
                      <a:lnTo>
                        <a:pt x="94" y="133"/>
                      </a:lnTo>
                      <a:lnTo>
                        <a:pt x="86" y="129"/>
                      </a:lnTo>
                      <a:lnTo>
                        <a:pt x="78" y="127"/>
                      </a:lnTo>
                      <a:lnTo>
                        <a:pt x="71" y="121"/>
                      </a:lnTo>
                      <a:lnTo>
                        <a:pt x="63" y="118"/>
                      </a:lnTo>
                      <a:lnTo>
                        <a:pt x="56" y="112"/>
                      </a:lnTo>
                      <a:lnTo>
                        <a:pt x="46" y="106"/>
                      </a:lnTo>
                      <a:lnTo>
                        <a:pt x="38" y="100"/>
                      </a:lnTo>
                      <a:lnTo>
                        <a:pt x="31" y="93"/>
                      </a:lnTo>
                      <a:lnTo>
                        <a:pt x="23" y="85"/>
                      </a:lnTo>
                      <a:lnTo>
                        <a:pt x="14" y="78"/>
                      </a:lnTo>
                      <a:lnTo>
                        <a:pt x="8" y="68"/>
                      </a:lnTo>
                      <a:lnTo>
                        <a:pt x="0" y="61"/>
                      </a:lnTo>
                      <a:lnTo>
                        <a:pt x="10" y="28"/>
                      </a:lnTo>
                      <a:lnTo>
                        <a:pt x="1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7" name="Freeform 161"/>
                <p:cNvSpPr>
                  <a:spLocks/>
                </p:cNvSpPr>
                <p:nvPr/>
              </p:nvSpPr>
              <p:spPr bwMode="auto">
                <a:xfrm>
                  <a:off x="3923" y="2384"/>
                  <a:ext cx="118" cy="32"/>
                </a:xfrm>
                <a:custGeom>
                  <a:avLst/>
                  <a:gdLst>
                    <a:gd name="T0" fmla="*/ 48 w 251"/>
                    <a:gd name="T1" fmla="*/ 8 h 73"/>
                    <a:gd name="T2" fmla="*/ 57 w 251"/>
                    <a:gd name="T3" fmla="*/ 17 h 73"/>
                    <a:gd name="T4" fmla="*/ 71 w 251"/>
                    <a:gd name="T5" fmla="*/ 25 h 73"/>
                    <a:gd name="T6" fmla="*/ 80 w 251"/>
                    <a:gd name="T7" fmla="*/ 31 h 73"/>
                    <a:gd name="T8" fmla="*/ 90 w 251"/>
                    <a:gd name="T9" fmla="*/ 35 h 73"/>
                    <a:gd name="T10" fmla="*/ 101 w 251"/>
                    <a:gd name="T11" fmla="*/ 36 h 73"/>
                    <a:gd name="T12" fmla="*/ 113 w 251"/>
                    <a:gd name="T13" fmla="*/ 38 h 73"/>
                    <a:gd name="T14" fmla="*/ 126 w 251"/>
                    <a:gd name="T15" fmla="*/ 38 h 73"/>
                    <a:gd name="T16" fmla="*/ 139 w 251"/>
                    <a:gd name="T17" fmla="*/ 36 h 73"/>
                    <a:gd name="T18" fmla="*/ 152 w 251"/>
                    <a:gd name="T19" fmla="*/ 33 h 73"/>
                    <a:gd name="T20" fmla="*/ 168 w 251"/>
                    <a:gd name="T21" fmla="*/ 25 h 73"/>
                    <a:gd name="T22" fmla="*/ 183 w 251"/>
                    <a:gd name="T23" fmla="*/ 16 h 73"/>
                    <a:gd name="T24" fmla="*/ 200 w 251"/>
                    <a:gd name="T25" fmla="*/ 2 h 73"/>
                    <a:gd name="T26" fmla="*/ 249 w 251"/>
                    <a:gd name="T27" fmla="*/ 2 h 73"/>
                    <a:gd name="T28" fmla="*/ 240 w 251"/>
                    <a:gd name="T29" fmla="*/ 8 h 73"/>
                    <a:gd name="T30" fmla="*/ 232 w 251"/>
                    <a:gd name="T31" fmla="*/ 17 h 73"/>
                    <a:gd name="T32" fmla="*/ 221 w 251"/>
                    <a:gd name="T33" fmla="*/ 25 h 73"/>
                    <a:gd name="T34" fmla="*/ 208 w 251"/>
                    <a:gd name="T35" fmla="*/ 36 h 73"/>
                    <a:gd name="T36" fmla="*/ 194 w 251"/>
                    <a:gd name="T37" fmla="*/ 46 h 73"/>
                    <a:gd name="T38" fmla="*/ 177 w 251"/>
                    <a:gd name="T39" fmla="*/ 55 h 73"/>
                    <a:gd name="T40" fmla="*/ 166 w 251"/>
                    <a:gd name="T41" fmla="*/ 61 h 73"/>
                    <a:gd name="T42" fmla="*/ 154 w 251"/>
                    <a:gd name="T43" fmla="*/ 65 h 73"/>
                    <a:gd name="T44" fmla="*/ 145 w 251"/>
                    <a:gd name="T45" fmla="*/ 67 h 73"/>
                    <a:gd name="T46" fmla="*/ 135 w 251"/>
                    <a:gd name="T47" fmla="*/ 69 h 73"/>
                    <a:gd name="T48" fmla="*/ 126 w 251"/>
                    <a:gd name="T49" fmla="*/ 71 h 73"/>
                    <a:gd name="T50" fmla="*/ 114 w 251"/>
                    <a:gd name="T51" fmla="*/ 71 h 73"/>
                    <a:gd name="T52" fmla="*/ 103 w 251"/>
                    <a:gd name="T53" fmla="*/ 71 h 73"/>
                    <a:gd name="T54" fmla="*/ 93 w 251"/>
                    <a:gd name="T55" fmla="*/ 71 h 73"/>
                    <a:gd name="T56" fmla="*/ 82 w 251"/>
                    <a:gd name="T57" fmla="*/ 67 h 73"/>
                    <a:gd name="T58" fmla="*/ 71 w 251"/>
                    <a:gd name="T59" fmla="*/ 63 h 73"/>
                    <a:gd name="T60" fmla="*/ 61 w 251"/>
                    <a:gd name="T61" fmla="*/ 57 h 73"/>
                    <a:gd name="T62" fmla="*/ 50 w 251"/>
                    <a:gd name="T63" fmla="*/ 52 h 73"/>
                    <a:gd name="T64" fmla="*/ 38 w 251"/>
                    <a:gd name="T65" fmla="*/ 44 h 73"/>
                    <a:gd name="T66" fmla="*/ 27 w 251"/>
                    <a:gd name="T67" fmla="*/ 35 h 73"/>
                    <a:gd name="T68" fmla="*/ 17 w 251"/>
                    <a:gd name="T69" fmla="*/ 25 h 73"/>
                    <a:gd name="T70" fmla="*/ 6 w 251"/>
                    <a:gd name="T71" fmla="*/ 12 h 73"/>
                    <a:gd name="T72" fmla="*/ 46 w 251"/>
                    <a:gd name="T73" fmla="*/ 6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51" h="73">
                      <a:moveTo>
                        <a:pt x="46" y="6"/>
                      </a:moveTo>
                      <a:lnTo>
                        <a:pt x="48" y="8"/>
                      </a:lnTo>
                      <a:lnTo>
                        <a:pt x="52" y="12"/>
                      </a:lnTo>
                      <a:lnTo>
                        <a:pt x="57" y="17"/>
                      </a:lnTo>
                      <a:lnTo>
                        <a:pt x="63" y="21"/>
                      </a:lnTo>
                      <a:lnTo>
                        <a:pt x="71" y="25"/>
                      </a:lnTo>
                      <a:lnTo>
                        <a:pt x="74" y="27"/>
                      </a:lnTo>
                      <a:lnTo>
                        <a:pt x="80" y="31"/>
                      </a:lnTo>
                      <a:lnTo>
                        <a:pt x="84" y="33"/>
                      </a:lnTo>
                      <a:lnTo>
                        <a:pt x="90" y="35"/>
                      </a:lnTo>
                      <a:lnTo>
                        <a:pt x="95" y="36"/>
                      </a:lnTo>
                      <a:lnTo>
                        <a:pt x="101" y="36"/>
                      </a:lnTo>
                      <a:lnTo>
                        <a:pt x="107" y="38"/>
                      </a:lnTo>
                      <a:lnTo>
                        <a:pt x="113" y="38"/>
                      </a:lnTo>
                      <a:lnTo>
                        <a:pt x="118" y="38"/>
                      </a:lnTo>
                      <a:lnTo>
                        <a:pt x="126" y="38"/>
                      </a:lnTo>
                      <a:lnTo>
                        <a:pt x="132" y="38"/>
                      </a:lnTo>
                      <a:lnTo>
                        <a:pt x="139" y="36"/>
                      </a:lnTo>
                      <a:lnTo>
                        <a:pt x="145" y="35"/>
                      </a:lnTo>
                      <a:lnTo>
                        <a:pt x="152" y="33"/>
                      </a:lnTo>
                      <a:lnTo>
                        <a:pt x="160" y="29"/>
                      </a:lnTo>
                      <a:lnTo>
                        <a:pt x="168" y="25"/>
                      </a:lnTo>
                      <a:lnTo>
                        <a:pt x="175" y="19"/>
                      </a:lnTo>
                      <a:lnTo>
                        <a:pt x="183" y="16"/>
                      </a:lnTo>
                      <a:lnTo>
                        <a:pt x="190" y="10"/>
                      </a:lnTo>
                      <a:lnTo>
                        <a:pt x="200" y="2"/>
                      </a:lnTo>
                      <a:lnTo>
                        <a:pt x="251" y="0"/>
                      </a:lnTo>
                      <a:lnTo>
                        <a:pt x="249" y="2"/>
                      </a:lnTo>
                      <a:lnTo>
                        <a:pt x="244" y="6"/>
                      </a:lnTo>
                      <a:lnTo>
                        <a:pt x="240" y="8"/>
                      </a:lnTo>
                      <a:lnTo>
                        <a:pt x="238" y="12"/>
                      </a:lnTo>
                      <a:lnTo>
                        <a:pt x="232" y="17"/>
                      </a:lnTo>
                      <a:lnTo>
                        <a:pt x="229" y="21"/>
                      </a:lnTo>
                      <a:lnTo>
                        <a:pt x="221" y="25"/>
                      </a:lnTo>
                      <a:lnTo>
                        <a:pt x="215" y="31"/>
                      </a:lnTo>
                      <a:lnTo>
                        <a:pt x="208" y="36"/>
                      </a:lnTo>
                      <a:lnTo>
                        <a:pt x="202" y="42"/>
                      </a:lnTo>
                      <a:lnTo>
                        <a:pt x="194" y="46"/>
                      </a:lnTo>
                      <a:lnTo>
                        <a:pt x="187" y="50"/>
                      </a:lnTo>
                      <a:lnTo>
                        <a:pt x="177" y="55"/>
                      </a:lnTo>
                      <a:lnTo>
                        <a:pt x="170" y="61"/>
                      </a:lnTo>
                      <a:lnTo>
                        <a:pt x="166" y="61"/>
                      </a:lnTo>
                      <a:lnTo>
                        <a:pt x="160" y="63"/>
                      </a:lnTo>
                      <a:lnTo>
                        <a:pt x="154" y="65"/>
                      </a:lnTo>
                      <a:lnTo>
                        <a:pt x="151" y="67"/>
                      </a:lnTo>
                      <a:lnTo>
                        <a:pt x="145" y="67"/>
                      </a:lnTo>
                      <a:lnTo>
                        <a:pt x="141" y="69"/>
                      </a:lnTo>
                      <a:lnTo>
                        <a:pt x="135" y="69"/>
                      </a:lnTo>
                      <a:lnTo>
                        <a:pt x="130" y="71"/>
                      </a:lnTo>
                      <a:lnTo>
                        <a:pt x="126" y="71"/>
                      </a:lnTo>
                      <a:lnTo>
                        <a:pt x="120" y="71"/>
                      </a:lnTo>
                      <a:lnTo>
                        <a:pt x="114" y="71"/>
                      </a:lnTo>
                      <a:lnTo>
                        <a:pt x="109" y="73"/>
                      </a:lnTo>
                      <a:lnTo>
                        <a:pt x="103" y="71"/>
                      </a:lnTo>
                      <a:lnTo>
                        <a:pt x="99" y="71"/>
                      </a:lnTo>
                      <a:lnTo>
                        <a:pt x="93" y="71"/>
                      </a:lnTo>
                      <a:lnTo>
                        <a:pt x="90" y="69"/>
                      </a:lnTo>
                      <a:lnTo>
                        <a:pt x="82" y="67"/>
                      </a:lnTo>
                      <a:lnTo>
                        <a:pt x="76" y="67"/>
                      </a:lnTo>
                      <a:lnTo>
                        <a:pt x="71" y="63"/>
                      </a:lnTo>
                      <a:lnTo>
                        <a:pt x="67" y="61"/>
                      </a:lnTo>
                      <a:lnTo>
                        <a:pt x="61" y="57"/>
                      </a:lnTo>
                      <a:lnTo>
                        <a:pt x="55" y="55"/>
                      </a:lnTo>
                      <a:lnTo>
                        <a:pt x="50" y="52"/>
                      </a:lnTo>
                      <a:lnTo>
                        <a:pt x="44" y="50"/>
                      </a:lnTo>
                      <a:lnTo>
                        <a:pt x="38" y="44"/>
                      </a:lnTo>
                      <a:lnTo>
                        <a:pt x="33" y="40"/>
                      </a:lnTo>
                      <a:lnTo>
                        <a:pt x="27" y="35"/>
                      </a:lnTo>
                      <a:lnTo>
                        <a:pt x="23" y="31"/>
                      </a:lnTo>
                      <a:lnTo>
                        <a:pt x="17" y="25"/>
                      </a:lnTo>
                      <a:lnTo>
                        <a:pt x="12" y="19"/>
                      </a:lnTo>
                      <a:lnTo>
                        <a:pt x="6" y="12"/>
                      </a:lnTo>
                      <a:lnTo>
                        <a:pt x="0" y="6"/>
                      </a:lnTo>
                      <a:lnTo>
                        <a:pt x="46" y="6"/>
                      </a:lnTo>
                      <a:lnTo>
                        <a:pt x="46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8" name="Freeform 162"/>
                <p:cNvSpPr>
                  <a:spLocks/>
                </p:cNvSpPr>
                <p:nvPr/>
              </p:nvSpPr>
              <p:spPr bwMode="auto">
                <a:xfrm>
                  <a:off x="4145" y="2815"/>
                  <a:ext cx="59" cy="37"/>
                </a:xfrm>
                <a:custGeom>
                  <a:avLst/>
                  <a:gdLst>
                    <a:gd name="T0" fmla="*/ 0 w 126"/>
                    <a:gd name="T1" fmla="*/ 55 h 83"/>
                    <a:gd name="T2" fmla="*/ 120 w 126"/>
                    <a:gd name="T3" fmla="*/ 0 h 83"/>
                    <a:gd name="T4" fmla="*/ 126 w 126"/>
                    <a:gd name="T5" fmla="*/ 34 h 83"/>
                    <a:gd name="T6" fmla="*/ 2 w 126"/>
                    <a:gd name="T7" fmla="*/ 83 h 83"/>
                    <a:gd name="T8" fmla="*/ 0 w 126"/>
                    <a:gd name="T9" fmla="*/ 55 h 83"/>
                    <a:gd name="T10" fmla="*/ 0 w 126"/>
                    <a:gd name="T11" fmla="*/ 5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6" h="83">
                      <a:moveTo>
                        <a:pt x="0" y="55"/>
                      </a:moveTo>
                      <a:lnTo>
                        <a:pt x="120" y="0"/>
                      </a:lnTo>
                      <a:lnTo>
                        <a:pt x="126" y="34"/>
                      </a:lnTo>
                      <a:lnTo>
                        <a:pt x="2" y="83"/>
                      </a:lnTo>
                      <a:lnTo>
                        <a:pt x="0" y="55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" name="Freeform 163"/>
                <p:cNvSpPr>
                  <a:spLocks/>
                </p:cNvSpPr>
                <p:nvPr/>
              </p:nvSpPr>
              <p:spPr bwMode="auto">
                <a:xfrm>
                  <a:off x="4141" y="2787"/>
                  <a:ext cx="56" cy="33"/>
                </a:xfrm>
                <a:custGeom>
                  <a:avLst/>
                  <a:gdLst>
                    <a:gd name="T0" fmla="*/ 10 w 118"/>
                    <a:gd name="T1" fmla="*/ 44 h 76"/>
                    <a:gd name="T2" fmla="*/ 19 w 118"/>
                    <a:gd name="T3" fmla="*/ 42 h 76"/>
                    <a:gd name="T4" fmla="*/ 23 w 118"/>
                    <a:gd name="T5" fmla="*/ 40 h 76"/>
                    <a:gd name="T6" fmla="*/ 27 w 118"/>
                    <a:gd name="T7" fmla="*/ 38 h 76"/>
                    <a:gd name="T8" fmla="*/ 31 w 118"/>
                    <a:gd name="T9" fmla="*/ 36 h 76"/>
                    <a:gd name="T10" fmla="*/ 37 w 118"/>
                    <a:gd name="T11" fmla="*/ 34 h 76"/>
                    <a:gd name="T12" fmla="*/ 42 w 118"/>
                    <a:gd name="T13" fmla="*/ 32 h 76"/>
                    <a:gd name="T14" fmla="*/ 48 w 118"/>
                    <a:gd name="T15" fmla="*/ 29 h 76"/>
                    <a:gd name="T16" fmla="*/ 54 w 118"/>
                    <a:gd name="T17" fmla="*/ 27 h 76"/>
                    <a:gd name="T18" fmla="*/ 59 w 118"/>
                    <a:gd name="T19" fmla="*/ 25 h 76"/>
                    <a:gd name="T20" fmla="*/ 63 w 118"/>
                    <a:gd name="T21" fmla="*/ 23 h 76"/>
                    <a:gd name="T22" fmla="*/ 69 w 118"/>
                    <a:gd name="T23" fmla="*/ 21 h 76"/>
                    <a:gd name="T24" fmla="*/ 73 w 118"/>
                    <a:gd name="T25" fmla="*/ 17 h 76"/>
                    <a:gd name="T26" fmla="*/ 78 w 118"/>
                    <a:gd name="T27" fmla="*/ 15 h 76"/>
                    <a:gd name="T28" fmla="*/ 84 w 118"/>
                    <a:gd name="T29" fmla="*/ 13 h 76"/>
                    <a:gd name="T30" fmla="*/ 88 w 118"/>
                    <a:gd name="T31" fmla="*/ 11 h 76"/>
                    <a:gd name="T32" fmla="*/ 94 w 118"/>
                    <a:gd name="T33" fmla="*/ 9 h 76"/>
                    <a:gd name="T34" fmla="*/ 97 w 118"/>
                    <a:gd name="T35" fmla="*/ 8 h 76"/>
                    <a:gd name="T36" fmla="*/ 105 w 118"/>
                    <a:gd name="T37" fmla="*/ 4 h 76"/>
                    <a:gd name="T38" fmla="*/ 111 w 118"/>
                    <a:gd name="T39" fmla="*/ 2 h 76"/>
                    <a:gd name="T40" fmla="*/ 115 w 118"/>
                    <a:gd name="T41" fmla="*/ 0 h 76"/>
                    <a:gd name="T42" fmla="*/ 116 w 118"/>
                    <a:gd name="T43" fmla="*/ 0 h 76"/>
                    <a:gd name="T44" fmla="*/ 118 w 118"/>
                    <a:gd name="T45" fmla="*/ 27 h 76"/>
                    <a:gd name="T46" fmla="*/ 6 w 118"/>
                    <a:gd name="T47" fmla="*/ 76 h 76"/>
                    <a:gd name="T48" fmla="*/ 6 w 118"/>
                    <a:gd name="T49" fmla="*/ 72 h 76"/>
                    <a:gd name="T50" fmla="*/ 6 w 118"/>
                    <a:gd name="T51" fmla="*/ 68 h 76"/>
                    <a:gd name="T52" fmla="*/ 4 w 118"/>
                    <a:gd name="T53" fmla="*/ 63 h 76"/>
                    <a:gd name="T54" fmla="*/ 2 w 118"/>
                    <a:gd name="T55" fmla="*/ 57 h 76"/>
                    <a:gd name="T56" fmla="*/ 0 w 118"/>
                    <a:gd name="T57" fmla="*/ 49 h 76"/>
                    <a:gd name="T58" fmla="*/ 0 w 118"/>
                    <a:gd name="T59" fmla="*/ 44 h 76"/>
                    <a:gd name="T60" fmla="*/ 10 w 118"/>
                    <a:gd name="T61" fmla="*/ 44 h 76"/>
                    <a:gd name="T62" fmla="*/ 10 w 118"/>
                    <a:gd name="T63" fmla="*/ 44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18" h="76">
                      <a:moveTo>
                        <a:pt x="10" y="44"/>
                      </a:moveTo>
                      <a:lnTo>
                        <a:pt x="19" y="42"/>
                      </a:lnTo>
                      <a:lnTo>
                        <a:pt x="23" y="40"/>
                      </a:lnTo>
                      <a:lnTo>
                        <a:pt x="27" y="38"/>
                      </a:lnTo>
                      <a:lnTo>
                        <a:pt x="31" y="36"/>
                      </a:lnTo>
                      <a:lnTo>
                        <a:pt x="37" y="34"/>
                      </a:lnTo>
                      <a:lnTo>
                        <a:pt x="42" y="32"/>
                      </a:lnTo>
                      <a:lnTo>
                        <a:pt x="48" y="29"/>
                      </a:lnTo>
                      <a:lnTo>
                        <a:pt x="54" y="27"/>
                      </a:lnTo>
                      <a:lnTo>
                        <a:pt x="59" y="25"/>
                      </a:lnTo>
                      <a:lnTo>
                        <a:pt x="63" y="23"/>
                      </a:lnTo>
                      <a:lnTo>
                        <a:pt x="69" y="21"/>
                      </a:lnTo>
                      <a:lnTo>
                        <a:pt x="73" y="17"/>
                      </a:lnTo>
                      <a:lnTo>
                        <a:pt x="78" y="15"/>
                      </a:lnTo>
                      <a:lnTo>
                        <a:pt x="84" y="13"/>
                      </a:lnTo>
                      <a:lnTo>
                        <a:pt x="88" y="11"/>
                      </a:lnTo>
                      <a:lnTo>
                        <a:pt x="94" y="9"/>
                      </a:lnTo>
                      <a:lnTo>
                        <a:pt x="97" y="8"/>
                      </a:lnTo>
                      <a:lnTo>
                        <a:pt x="105" y="4"/>
                      </a:lnTo>
                      <a:lnTo>
                        <a:pt x="111" y="2"/>
                      </a:lnTo>
                      <a:lnTo>
                        <a:pt x="115" y="0"/>
                      </a:lnTo>
                      <a:lnTo>
                        <a:pt x="116" y="0"/>
                      </a:lnTo>
                      <a:lnTo>
                        <a:pt x="118" y="27"/>
                      </a:lnTo>
                      <a:lnTo>
                        <a:pt x="6" y="76"/>
                      </a:lnTo>
                      <a:lnTo>
                        <a:pt x="6" y="72"/>
                      </a:lnTo>
                      <a:lnTo>
                        <a:pt x="6" y="68"/>
                      </a:lnTo>
                      <a:lnTo>
                        <a:pt x="4" y="63"/>
                      </a:lnTo>
                      <a:lnTo>
                        <a:pt x="2" y="57"/>
                      </a:lnTo>
                      <a:lnTo>
                        <a:pt x="0" y="49"/>
                      </a:lnTo>
                      <a:lnTo>
                        <a:pt x="0" y="44"/>
                      </a:lnTo>
                      <a:lnTo>
                        <a:pt x="10" y="44"/>
                      </a:lnTo>
                      <a:lnTo>
                        <a:pt x="10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" name="Freeform 164"/>
                <p:cNvSpPr>
                  <a:spLocks/>
                </p:cNvSpPr>
                <p:nvPr/>
              </p:nvSpPr>
              <p:spPr bwMode="auto">
                <a:xfrm>
                  <a:off x="4136" y="2750"/>
                  <a:ext cx="55" cy="36"/>
                </a:xfrm>
                <a:custGeom>
                  <a:avLst/>
                  <a:gdLst>
                    <a:gd name="T0" fmla="*/ 2 w 118"/>
                    <a:gd name="T1" fmla="*/ 56 h 84"/>
                    <a:gd name="T2" fmla="*/ 112 w 118"/>
                    <a:gd name="T3" fmla="*/ 0 h 84"/>
                    <a:gd name="T4" fmla="*/ 118 w 118"/>
                    <a:gd name="T5" fmla="*/ 33 h 84"/>
                    <a:gd name="T6" fmla="*/ 0 w 118"/>
                    <a:gd name="T7" fmla="*/ 84 h 84"/>
                    <a:gd name="T8" fmla="*/ 2 w 118"/>
                    <a:gd name="T9" fmla="*/ 56 h 84"/>
                    <a:gd name="T10" fmla="*/ 2 w 118"/>
                    <a:gd name="T11" fmla="*/ 56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8" h="84">
                      <a:moveTo>
                        <a:pt x="2" y="56"/>
                      </a:moveTo>
                      <a:lnTo>
                        <a:pt x="112" y="0"/>
                      </a:lnTo>
                      <a:lnTo>
                        <a:pt x="118" y="33"/>
                      </a:lnTo>
                      <a:lnTo>
                        <a:pt x="0" y="84"/>
                      </a:lnTo>
                      <a:lnTo>
                        <a:pt x="2" y="56"/>
                      </a:lnTo>
                      <a:lnTo>
                        <a:pt x="2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1" name="Freeform 165"/>
                <p:cNvSpPr>
                  <a:spLocks/>
                </p:cNvSpPr>
                <p:nvPr/>
              </p:nvSpPr>
              <p:spPr bwMode="auto">
                <a:xfrm>
                  <a:off x="4129" y="2714"/>
                  <a:ext cx="55" cy="36"/>
                </a:xfrm>
                <a:custGeom>
                  <a:avLst/>
                  <a:gdLst>
                    <a:gd name="T0" fmla="*/ 0 w 116"/>
                    <a:gd name="T1" fmla="*/ 59 h 83"/>
                    <a:gd name="T2" fmla="*/ 108 w 116"/>
                    <a:gd name="T3" fmla="*/ 0 h 83"/>
                    <a:gd name="T4" fmla="*/ 116 w 116"/>
                    <a:gd name="T5" fmla="*/ 28 h 83"/>
                    <a:gd name="T6" fmla="*/ 5 w 116"/>
                    <a:gd name="T7" fmla="*/ 83 h 83"/>
                    <a:gd name="T8" fmla="*/ 0 w 116"/>
                    <a:gd name="T9" fmla="*/ 59 h 83"/>
                    <a:gd name="T10" fmla="*/ 0 w 116"/>
                    <a:gd name="T11" fmla="*/ 59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6" h="83">
                      <a:moveTo>
                        <a:pt x="0" y="59"/>
                      </a:moveTo>
                      <a:lnTo>
                        <a:pt x="108" y="0"/>
                      </a:lnTo>
                      <a:lnTo>
                        <a:pt x="116" y="28"/>
                      </a:lnTo>
                      <a:lnTo>
                        <a:pt x="5" y="83"/>
                      </a:lnTo>
                      <a:lnTo>
                        <a:pt x="0" y="59"/>
                      </a:lnTo>
                      <a:lnTo>
                        <a:pt x="0" y="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2" name="Freeform 166"/>
                <p:cNvSpPr>
                  <a:spLocks/>
                </p:cNvSpPr>
                <p:nvPr/>
              </p:nvSpPr>
              <p:spPr bwMode="auto">
                <a:xfrm>
                  <a:off x="4127" y="2678"/>
                  <a:ext cx="49" cy="34"/>
                </a:xfrm>
                <a:custGeom>
                  <a:avLst/>
                  <a:gdLst>
                    <a:gd name="T0" fmla="*/ 0 w 105"/>
                    <a:gd name="T1" fmla="*/ 51 h 78"/>
                    <a:gd name="T2" fmla="*/ 97 w 105"/>
                    <a:gd name="T3" fmla="*/ 0 h 78"/>
                    <a:gd name="T4" fmla="*/ 105 w 105"/>
                    <a:gd name="T5" fmla="*/ 29 h 78"/>
                    <a:gd name="T6" fmla="*/ 4 w 105"/>
                    <a:gd name="T7" fmla="*/ 78 h 78"/>
                    <a:gd name="T8" fmla="*/ 0 w 105"/>
                    <a:gd name="T9" fmla="*/ 51 h 78"/>
                    <a:gd name="T10" fmla="*/ 0 w 105"/>
                    <a:gd name="T11" fmla="*/ 51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5" h="78">
                      <a:moveTo>
                        <a:pt x="0" y="51"/>
                      </a:moveTo>
                      <a:lnTo>
                        <a:pt x="97" y="0"/>
                      </a:lnTo>
                      <a:lnTo>
                        <a:pt x="105" y="29"/>
                      </a:lnTo>
                      <a:lnTo>
                        <a:pt x="4" y="78"/>
                      </a:lnTo>
                      <a:lnTo>
                        <a:pt x="0" y="51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3" name="Freeform 167"/>
                <p:cNvSpPr>
                  <a:spLocks/>
                </p:cNvSpPr>
                <p:nvPr/>
              </p:nvSpPr>
              <p:spPr bwMode="auto">
                <a:xfrm>
                  <a:off x="4126" y="2634"/>
                  <a:ext cx="49" cy="36"/>
                </a:xfrm>
                <a:custGeom>
                  <a:avLst/>
                  <a:gdLst>
                    <a:gd name="T0" fmla="*/ 0 w 105"/>
                    <a:gd name="T1" fmla="*/ 59 h 84"/>
                    <a:gd name="T2" fmla="*/ 103 w 105"/>
                    <a:gd name="T3" fmla="*/ 0 h 84"/>
                    <a:gd name="T4" fmla="*/ 105 w 105"/>
                    <a:gd name="T5" fmla="*/ 25 h 84"/>
                    <a:gd name="T6" fmla="*/ 6 w 105"/>
                    <a:gd name="T7" fmla="*/ 84 h 84"/>
                    <a:gd name="T8" fmla="*/ 0 w 105"/>
                    <a:gd name="T9" fmla="*/ 59 h 84"/>
                    <a:gd name="T10" fmla="*/ 0 w 105"/>
                    <a:gd name="T11" fmla="*/ 59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5" h="84">
                      <a:moveTo>
                        <a:pt x="0" y="59"/>
                      </a:moveTo>
                      <a:lnTo>
                        <a:pt x="103" y="0"/>
                      </a:lnTo>
                      <a:lnTo>
                        <a:pt x="105" y="25"/>
                      </a:lnTo>
                      <a:lnTo>
                        <a:pt x="6" y="84"/>
                      </a:lnTo>
                      <a:lnTo>
                        <a:pt x="0" y="59"/>
                      </a:lnTo>
                      <a:lnTo>
                        <a:pt x="0" y="5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4" name="Freeform 168"/>
                <p:cNvSpPr>
                  <a:spLocks/>
                </p:cNvSpPr>
                <p:nvPr/>
              </p:nvSpPr>
              <p:spPr bwMode="auto">
                <a:xfrm>
                  <a:off x="4093" y="2381"/>
                  <a:ext cx="140" cy="489"/>
                </a:xfrm>
                <a:custGeom>
                  <a:avLst/>
                  <a:gdLst>
                    <a:gd name="T0" fmla="*/ 0 w 294"/>
                    <a:gd name="T1" fmla="*/ 62 h 1121"/>
                    <a:gd name="T2" fmla="*/ 87 w 294"/>
                    <a:gd name="T3" fmla="*/ 0 h 1121"/>
                    <a:gd name="T4" fmla="*/ 294 w 294"/>
                    <a:gd name="T5" fmla="*/ 1062 h 1121"/>
                    <a:gd name="T6" fmla="*/ 293 w 294"/>
                    <a:gd name="T7" fmla="*/ 1062 h 1121"/>
                    <a:gd name="T8" fmla="*/ 291 w 294"/>
                    <a:gd name="T9" fmla="*/ 1064 h 1121"/>
                    <a:gd name="T10" fmla="*/ 285 w 294"/>
                    <a:gd name="T11" fmla="*/ 1068 h 1121"/>
                    <a:gd name="T12" fmla="*/ 279 w 294"/>
                    <a:gd name="T13" fmla="*/ 1072 h 1121"/>
                    <a:gd name="T14" fmla="*/ 273 w 294"/>
                    <a:gd name="T15" fmla="*/ 1072 h 1121"/>
                    <a:gd name="T16" fmla="*/ 270 w 294"/>
                    <a:gd name="T17" fmla="*/ 1074 h 1121"/>
                    <a:gd name="T18" fmla="*/ 264 w 294"/>
                    <a:gd name="T19" fmla="*/ 1077 h 1121"/>
                    <a:gd name="T20" fmla="*/ 260 w 294"/>
                    <a:gd name="T21" fmla="*/ 1079 h 1121"/>
                    <a:gd name="T22" fmla="*/ 254 w 294"/>
                    <a:gd name="T23" fmla="*/ 1081 h 1121"/>
                    <a:gd name="T24" fmla="*/ 249 w 294"/>
                    <a:gd name="T25" fmla="*/ 1085 h 1121"/>
                    <a:gd name="T26" fmla="*/ 243 w 294"/>
                    <a:gd name="T27" fmla="*/ 1087 h 1121"/>
                    <a:gd name="T28" fmla="*/ 239 w 294"/>
                    <a:gd name="T29" fmla="*/ 1091 h 1121"/>
                    <a:gd name="T30" fmla="*/ 232 w 294"/>
                    <a:gd name="T31" fmla="*/ 1093 h 1121"/>
                    <a:gd name="T32" fmla="*/ 226 w 294"/>
                    <a:gd name="T33" fmla="*/ 1094 h 1121"/>
                    <a:gd name="T34" fmla="*/ 220 w 294"/>
                    <a:gd name="T35" fmla="*/ 1096 h 1121"/>
                    <a:gd name="T36" fmla="*/ 215 w 294"/>
                    <a:gd name="T37" fmla="*/ 1100 h 1121"/>
                    <a:gd name="T38" fmla="*/ 207 w 294"/>
                    <a:gd name="T39" fmla="*/ 1102 h 1121"/>
                    <a:gd name="T40" fmla="*/ 201 w 294"/>
                    <a:gd name="T41" fmla="*/ 1104 h 1121"/>
                    <a:gd name="T42" fmla="*/ 196 w 294"/>
                    <a:gd name="T43" fmla="*/ 1108 h 1121"/>
                    <a:gd name="T44" fmla="*/ 190 w 294"/>
                    <a:gd name="T45" fmla="*/ 1110 h 1121"/>
                    <a:gd name="T46" fmla="*/ 184 w 294"/>
                    <a:gd name="T47" fmla="*/ 1112 h 1121"/>
                    <a:gd name="T48" fmla="*/ 178 w 294"/>
                    <a:gd name="T49" fmla="*/ 1113 h 1121"/>
                    <a:gd name="T50" fmla="*/ 171 w 294"/>
                    <a:gd name="T51" fmla="*/ 1115 h 1121"/>
                    <a:gd name="T52" fmla="*/ 167 w 294"/>
                    <a:gd name="T53" fmla="*/ 1115 h 1121"/>
                    <a:gd name="T54" fmla="*/ 161 w 294"/>
                    <a:gd name="T55" fmla="*/ 1117 h 1121"/>
                    <a:gd name="T56" fmla="*/ 156 w 294"/>
                    <a:gd name="T57" fmla="*/ 1119 h 1121"/>
                    <a:gd name="T58" fmla="*/ 152 w 294"/>
                    <a:gd name="T59" fmla="*/ 1119 h 1121"/>
                    <a:gd name="T60" fmla="*/ 148 w 294"/>
                    <a:gd name="T61" fmla="*/ 1121 h 1121"/>
                    <a:gd name="T62" fmla="*/ 144 w 294"/>
                    <a:gd name="T63" fmla="*/ 1093 h 1121"/>
                    <a:gd name="T64" fmla="*/ 251 w 294"/>
                    <a:gd name="T65" fmla="*/ 1047 h 1121"/>
                    <a:gd name="T66" fmla="*/ 74 w 294"/>
                    <a:gd name="T67" fmla="*/ 57 h 1121"/>
                    <a:gd name="T68" fmla="*/ 9 w 294"/>
                    <a:gd name="T69" fmla="*/ 95 h 1121"/>
                    <a:gd name="T70" fmla="*/ 0 w 294"/>
                    <a:gd name="T71" fmla="*/ 62 h 1121"/>
                    <a:gd name="T72" fmla="*/ 0 w 294"/>
                    <a:gd name="T73" fmla="*/ 62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94" h="1121">
                      <a:moveTo>
                        <a:pt x="0" y="62"/>
                      </a:moveTo>
                      <a:lnTo>
                        <a:pt x="87" y="0"/>
                      </a:lnTo>
                      <a:lnTo>
                        <a:pt x="294" y="1062"/>
                      </a:lnTo>
                      <a:lnTo>
                        <a:pt x="293" y="1062"/>
                      </a:lnTo>
                      <a:lnTo>
                        <a:pt x="291" y="1064"/>
                      </a:lnTo>
                      <a:lnTo>
                        <a:pt x="285" y="1068"/>
                      </a:lnTo>
                      <a:lnTo>
                        <a:pt x="279" y="1072"/>
                      </a:lnTo>
                      <a:lnTo>
                        <a:pt x="273" y="1072"/>
                      </a:lnTo>
                      <a:lnTo>
                        <a:pt x="270" y="1074"/>
                      </a:lnTo>
                      <a:lnTo>
                        <a:pt x="264" y="1077"/>
                      </a:lnTo>
                      <a:lnTo>
                        <a:pt x="260" y="1079"/>
                      </a:lnTo>
                      <a:lnTo>
                        <a:pt x="254" y="1081"/>
                      </a:lnTo>
                      <a:lnTo>
                        <a:pt x="249" y="1085"/>
                      </a:lnTo>
                      <a:lnTo>
                        <a:pt x="243" y="1087"/>
                      </a:lnTo>
                      <a:lnTo>
                        <a:pt x="239" y="1091"/>
                      </a:lnTo>
                      <a:lnTo>
                        <a:pt x="232" y="1093"/>
                      </a:lnTo>
                      <a:lnTo>
                        <a:pt x="226" y="1094"/>
                      </a:lnTo>
                      <a:lnTo>
                        <a:pt x="220" y="1096"/>
                      </a:lnTo>
                      <a:lnTo>
                        <a:pt x="215" y="1100"/>
                      </a:lnTo>
                      <a:lnTo>
                        <a:pt x="207" y="1102"/>
                      </a:lnTo>
                      <a:lnTo>
                        <a:pt x="201" y="1104"/>
                      </a:lnTo>
                      <a:lnTo>
                        <a:pt x="196" y="1108"/>
                      </a:lnTo>
                      <a:lnTo>
                        <a:pt x="190" y="1110"/>
                      </a:lnTo>
                      <a:lnTo>
                        <a:pt x="184" y="1112"/>
                      </a:lnTo>
                      <a:lnTo>
                        <a:pt x="178" y="1113"/>
                      </a:lnTo>
                      <a:lnTo>
                        <a:pt x="171" y="1115"/>
                      </a:lnTo>
                      <a:lnTo>
                        <a:pt x="167" y="1115"/>
                      </a:lnTo>
                      <a:lnTo>
                        <a:pt x="161" y="1117"/>
                      </a:lnTo>
                      <a:lnTo>
                        <a:pt x="156" y="1119"/>
                      </a:lnTo>
                      <a:lnTo>
                        <a:pt x="152" y="1119"/>
                      </a:lnTo>
                      <a:lnTo>
                        <a:pt x="148" y="1121"/>
                      </a:lnTo>
                      <a:lnTo>
                        <a:pt x="144" y="1093"/>
                      </a:lnTo>
                      <a:lnTo>
                        <a:pt x="251" y="1047"/>
                      </a:lnTo>
                      <a:lnTo>
                        <a:pt x="74" y="57"/>
                      </a:lnTo>
                      <a:lnTo>
                        <a:pt x="9" y="95"/>
                      </a:lnTo>
                      <a:lnTo>
                        <a:pt x="0" y="62"/>
                      </a:lnTo>
                      <a:lnTo>
                        <a:pt x="0" y="6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5" name="Freeform 169"/>
                <p:cNvSpPr>
                  <a:spLocks/>
                </p:cNvSpPr>
                <p:nvPr/>
              </p:nvSpPr>
              <p:spPr bwMode="auto">
                <a:xfrm>
                  <a:off x="4082" y="2389"/>
                  <a:ext cx="137" cy="490"/>
                </a:xfrm>
                <a:custGeom>
                  <a:avLst/>
                  <a:gdLst>
                    <a:gd name="T0" fmla="*/ 0 w 291"/>
                    <a:gd name="T1" fmla="*/ 64 h 1123"/>
                    <a:gd name="T2" fmla="*/ 84 w 291"/>
                    <a:gd name="T3" fmla="*/ 0 h 1123"/>
                    <a:gd name="T4" fmla="*/ 291 w 291"/>
                    <a:gd name="T5" fmla="*/ 1066 h 1123"/>
                    <a:gd name="T6" fmla="*/ 291 w 291"/>
                    <a:gd name="T7" fmla="*/ 1066 h 1123"/>
                    <a:gd name="T8" fmla="*/ 287 w 291"/>
                    <a:gd name="T9" fmla="*/ 1068 h 1123"/>
                    <a:gd name="T10" fmla="*/ 281 w 291"/>
                    <a:gd name="T11" fmla="*/ 1070 h 1123"/>
                    <a:gd name="T12" fmla="*/ 276 w 291"/>
                    <a:gd name="T13" fmla="*/ 1074 h 1123"/>
                    <a:gd name="T14" fmla="*/ 270 w 291"/>
                    <a:gd name="T15" fmla="*/ 1076 h 1123"/>
                    <a:gd name="T16" fmla="*/ 266 w 291"/>
                    <a:gd name="T17" fmla="*/ 1077 h 1123"/>
                    <a:gd name="T18" fmla="*/ 262 w 291"/>
                    <a:gd name="T19" fmla="*/ 1079 h 1123"/>
                    <a:gd name="T20" fmla="*/ 257 w 291"/>
                    <a:gd name="T21" fmla="*/ 1083 h 1123"/>
                    <a:gd name="T22" fmla="*/ 251 w 291"/>
                    <a:gd name="T23" fmla="*/ 1085 h 1123"/>
                    <a:gd name="T24" fmla="*/ 247 w 291"/>
                    <a:gd name="T25" fmla="*/ 1087 h 1123"/>
                    <a:gd name="T26" fmla="*/ 241 w 291"/>
                    <a:gd name="T27" fmla="*/ 1091 h 1123"/>
                    <a:gd name="T28" fmla="*/ 238 w 291"/>
                    <a:gd name="T29" fmla="*/ 1093 h 1123"/>
                    <a:gd name="T30" fmla="*/ 230 w 291"/>
                    <a:gd name="T31" fmla="*/ 1095 h 1123"/>
                    <a:gd name="T32" fmla="*/ 224 w 291"/>
                    <a:gd name="T33" fmla="*/ 1098 h 1123"/>
                    <a:gd name="T34" fmla="*/ 219 w 291"/>
                    <a:gd name="T35" fmla="*/ 1100 h 1123"/>
                    <a:gd name="T36" fmla="*/ 213 w 291"/>
                    <a:gd name="T37" fmla="*/ 1102 h 1123"/>
                    <a:gd name="T38" fmla="*/ 205 w 291"/>
                    <a:gd name="T39" fmla="*/ 1104 h 1123"/>
                    <a:gd name="T40" fmla="*/ 200 w 291"/>
                    <a:gd name="T41" fmla="*/ 1108 h 1123"/>
                    <a:gd name="T42" fmla="*/ 194 w 291"/>
                    <a:gd name="T43" fmla="*/ 1110 h 1123"/>
                    <a:gd name="T44" fmla="*/ 188 w 291"/>
                    <a:gd name="T45" fmla="*/ 1112 h 1123"/>
                    <a:gd name="T46" fmla="*/ 182 w 291"/>
                    <a:gd name="T47" fmla="*/ 1114 h 1123"/>
                    <a:gd name="T48" fmla="*/ 177 w 291"/>
                    <a:gd name="T49" fmla="*/ 1115 h 1123"/>
                    <a:gd name="T50" fmla="*/ 171 w 291"/>
                    <a:gd name="T51" fmla="*/ 1117 h 1123"/>
                    <a:gd name="T52" fmla="*/ 165 w 291"/>
                    <a:gd name="T53" fmla="*/ 1119 h 1123"/>
                    <a:gd name="T54" fmla="*/ 160 w 291"/>
                    <a:gd name="T55" fmla="*/ 1119 h 1123"/>
                    <a:gd name="T56" fmla="*/ 156 w 291"/>
                    <a:gd name="T57" fmla="*/ 1121 h 1123"/>
                    <a:gd name="T58" fmla="*/ 150 w 291"/>
                    <a:gd name="T59" fmla="*/ 1121 h 1123"/>
                    <a:gd name="T60" fmla="*/ 146 w 291"/>
                    <a:gd name="T61" fmla="*/ 1123 h 1123"/>
                    <a:gd name="T62" fmla="*/ 143 w 291"/>
                    <a:gd name="T63" fmla="*/ 1093 h 1123"/>
                    <a:gd name="T64" fmla="*/ 249 w 291"/>
                    <a:gd name="T65" fmla="*/ 1047 h 1123"/>
                    <a:gd name="T66" fmla="*/ 70 w 291"/>
                    <a:gd name="T67" fmla="*/ 57 h 1123"/>
                    <a:gd name="T68" fmla="*/ 6 w 291"/>
                    <a:gd name="T69" fmla="*/ 97 h 1123"/>
                    <a:gd name="T70" fmla="*/ 0 w 291"/>
                    <a:gd name="T71" fmla="*/ 64 h 1123"/>
                    <a:gd name="T72" fmla="*/ 0 w 291"/>
                    <a:gd name="T73" fmla="*/ 64 h 1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91" h="1123">
                      <a:moveTo>
                        <a:pt x="0" y="64"/>
                      </a:moveTo>
                      <a:lnTo>
                        <a:pt x="84" y="0"/>
                      </a:lnTo>
                      <a:lnTo>
                        <a:pt x="291" y="1066"/>
                      </a:lnTo>
                      <a:lnTo>
                        <a:pt x="291" y="1066"/>
                      </a:lnTo>
                      <a:lnTo>
                        <a:pt x="287" y="1068"/>
                      </a:lnTo>
                      <a:lnTo>
                        <a:pt x="281" y="1070"/>
                      </a:lnTo>
                      <a:lnTo>
                        <a:pt x="276" y="1074"/>
                      </a:lnTo>
                      <a:lnTo>
                        <a:pt x="270" y="1076"/>
                      </a:lnTo>
                      <a:lnTo>
                        <a:pt x="266" y="1077"/>
                      </a:lnTo>
                      <a:lnTo>
                        <a:pt x="262" y="1079"/>
                      </a:lnTo>
                      <a:lnTo>
                        <a:pt x="257" y="1083"/>
                      </a:lnTo>
                      <a:lnTo>
                        <a:pt x="251" y="1085"/>
                      </a:lnTo>
                      <a:lnTo>
                        <a:pt x="247" y="1087"/>
                      </a:lnTo>
                      <a:lnTo>
                        <a:pt x="241" y="1091"/>
                      </a:lnTo>
                      <a:lnTo>
                        <a:pt x="238" y="1093"/>
                      </a:lnTo>
                      <a:lnTo>
                        <a:pt x="230" y="1095"/>
                      </a:lnTo>
                      <a:lnTo>
                        <a:pt x="224" y="1098"/>
                      </a:lnTo>
                      <a:lnTo>
                        <a:pt x="219" y="1100"/>
                      </a:lnTo>
                      <a:lnTo>
                        <a:pt x="213" y="1102"/>
                      </a:lnTo>
                      <a:lnTo>
                        <a:pt x="205" y="1104"/>
                      </a:lnTo>
                      <a:lnTo>
                        <a:pt x="200" y="1108"/>
                      </a:lnTo>
                      <a:lnTo>
                        <a:pt x="194" y="1110"/>
                      </a:lnTo>
                      <a:lnTo>
                        <a:pt x="188" y="1112"/>
                      </a:lnTo>
                      <a:lnTo>
                        <a:pt x="182" y="1114"/>
                      </a:lnTo>
                      <a:lnTo>
                        <a:pt x="177" y="1115"/>
                      </a:lnTo>
                      <a:lnTo>
                        <a:pt x="171" y="1117"/>
                      </a:lnTo>
                      <a:lnTo>
                        <a:pt x="165" y="1119"/>
                      </a:lnTo>
                      <a:lnTo>
                        <a:pt x="160" y="1119"/>
                      </a:lnTo>
                      <a:lnTo>
                        <a:pt x="156" y="1121"/>
                      </a:lnTo>
                      <a:lnTo>
                        <a:pt x="150" y="1121"/>
                      </a:lnTo>
                      <a:lnTo>
                        <a:pt x="146" y="1123"/>
                      </a:lnTo>
                      <a:lnTo>
                        <a:pt x="143" y="1093"/>
                      </a:lnTo>
                      <a:lnTo>
                        <a:pt x="249" y="1047"/>
                      </a:lnTo>
                      <a:lnTo>
                        <a:pt x="70" y="57"/>
                      </a:lnTo>
                      <a:lnTo>
                        <a:pt x="6" y="97"/>
                      </a:lnTo>
                      <a:lnTo>
                        <a:pt x="0" y="64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6" name="Freeform 170"/>
                <p:cNvSpPr>
                  <a:spLocks/>
                </p:cNvSpPr>
                <p:nvPr/>
              </p:nvSpPr>
              <p:spPr bwMode="auto">
                <a:xfrm>
                  <a:off x="4115" y="2611"/>
                  <a:ext cx="48" cy="34"/>
                </a:xfrm>
                <a:custGeom>
                  <a:avLst/>
                  <a:gdLst>
                    <a:gd name="T0" fmla="*/ 0 w 103"/>
                    <a:gd name="T1" fmla="*/ 57 h 78"/>
                    <a:gd name="T2" fmla="*/ 95 w 103"/>
                    <a:gd name="T3" fmla="*/ 0 h 78"/>
                    <a:gd name="T4" fmla="*/ 103 w 103"/>
                    <a:gd name="T5" fmla="*/ 29 h 78"/>
                    <a:gd name="T6" fmla="*/ 14 w 103"/>
                    <a:gd name="T7" fmla="*/ 78 h 78"/>
                    <a:gd name="T8" fmla="*/ 0 w 103"/>
                    <a:gd name="T9" fmla="*/ 57 h 78"/>
                    <a:gd name="T10" fmla="*/ 0 w 103"/>
                    <a:gd name="T11" fmla="*/ 57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3" h="78">
                      <a:moveTo>
                        <a:pt x="0" y="57"/>
                      </a:moveTo>
                      <a:lnTo>
                        <a:pt x="95" y="0"/>
                      </a:lnTo>
                      <a:lnTo>
                        <a:pt x="103" y="29"/>
                      </a:lnTo>
                      <a:lnTo>
                        <a:pt x="14" y="78"/>
                      </a:lnTo>
                      <a:lnTo>
                        <a:pt x="0" y="57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7" name="Freeform 171"/>
                <p:cNvSpPr>
                  <a:spLocks/>
                </p:cNvSpPr>
                <p:nvPr/>
              </p:nvSpPr>
              <p:spPr bwMode="auto">
                <a:xfrm>
                  <a:off x="4121" y="2645"/>
                  <a:ext cx="49" cy="37"/>
                </a:xfrm>
                <a:custGeom>
                  <a:avLst/>
                  <a:gdLst>
                    <a:gd name="T0" fmla="*/ 0 w 102"/>
                    <a:gd name="T1" fmla="*/ 61 h 86"/>
                    <a:gd name="T2" fmla="*/ 100 w 102"/>
                    <a:gd name="T3" fmla="*/ 0 h 86"/>
                    <a:gd name="T4" fmla="*/ 102 w 102"/>
                    <a:gd name="T5" fmla="*/ 25 h 86"/>
                    <a:gd name="T6" fmla="*/ 3 w 102"/>
                    <a:gd name="T7" fmla="*/ 86 h 86"/>
                    <a:gd name="T8" fmla="*/ 0 w 102"/>
                    <a:gd name="T9" fmla="*/ 61 h 86"/>
                    <a:gd name="T10" fmla="*/ 0 w 102"/>
                    <a:gd name="T11" fmla="*/ 61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2" h="86">
                      <a:moveTo>
                        <a:pt x="0" y="61"/>
                      </a:moveTo>
                      <a:lnTo>
                        <a:pt x="100" y="0"/>
                      </a:lnTo>
                      <a:lnTo>
                        <a:pt x="102" y="25"/>
                      </a:lnTo>
                      <a:lnTo>
                        <a:pt x="3" y="86"/>
                      </a:lnTo>
                      <a:lnTo>
                        <a:pt x="0" y="61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8" name="Freeform 172"/>
                <p:cNvSpPr>
                  <a:spLocks/>
                </p:cNvSpPr>
                <p:nvPr/>
              </p:nvSpPr>
              <p:spPr bwMode="auto">
                <a:xfrm>
                  <a:off x="4111" y="2580"/>
                  <a:ext cx="46" cy="32"/>
                </a:xfrm>
                <a:custGeom>
                  <a:avLst/>
                  <a:gdLst>
                    <a:gd name="T0" fmla="*/ 0 w 97"/>
                    <a:gd name="T1" fmla="*/ 49 h 74"/>
                    <a:gd name="T2" fmla="*/ 2 w 97"/>
                    <a:gd name="T3" fmla="*/ 49 h 74"/>
                    <a:gd name="T4" fmla="*/ 5 w 97"/>
                    <a:gd name="T5" fmla="*/ 45 h 74"/>
                    <a:gd name="T6" fmla="*/ 11 w 97"/>
                    <a:gd name="T7" fmla="*/ 44 h 74"/>
                    <a:gd name="T8" fmla="*/ 19 w 97"/>
                    <a:gd name="T9" fmla="*/ 40 h 74"/>
                    <a:gd name="T10" fmla="*/ 24 w 97"/>
                    <a:gd name="T11" fmla="*/ 36 h 74"/>
                    <a:gd name="T12" fmla="*/ 34 w 97"/>
                    <a:gd name="T13" fmla="*/ 32 h 74"/>
                    <a:gd name="T14" fmla="*/ 42 w 97"/>
                    <a:gd name="T15" fmla="*/ 28 h 74"/>
                    <a:gd name="T16" fmla="*/ 51 w 97"/>
                    <a:gd name="T17" fmla="*/ 25 h 74"/>
                    <a:gd name="T18" fmla="*/ 57 w 97"/>
                    <a:gd name="T19" fmla="*/ 19 h 74"/>
                    <a:gd name="T20" fmla="*/ 66 w 97"/>
                    <a:gd name="T21" fmla="*/ 15 h 74"/>
                    <a:gd name="T22" fmla="*/ 72 w 97"/>
                    <a:gd name="T23" fmla="*/ 11 h 74"/>
                    <a:gd name="T24" fmla="*/ 80 w 97"/>
                    <a:gd name="T25" fmla="*/ 7 h 74"/>
                    <a:gd name="T26" fmla="*/ 85 w 97"/>
                    <a:gd name="T27" fmla="*/ 4 h 74"/>
                    <a:gd name="T28" fmla="*/ 89 w 97"/>
                    <a:gd name="T29" fmla="*/ 2 h 74"/>
                    <a:gd name="T30" fmla="*/ 93 w 97"/>
                    <a:gd name="T31" fmla="*/ 0 h 74"/>
                    <a:gd name="T32" fmla="*/ 93 w 97"/>
                    <a:gd name="T33" fmla="*/ 0 h 74"/>
                    <a:gd name="T34" fmla="*/ 97 w 97"/>
                    <a:gd name="T35" fmla="*/ 28 h 74"/>
                    <a:gd name="T36" fmla="*/ 5 w 97"/>
                    <a:gd name="T37" fmla="*/ 74 h 74"/>
                    <a:gd name="T38" fmla="*/ 0 w 97"/>
                    <a:gd name="T39" fmla="*/ 49 h 74"/>
                    <a:gd name="T40" fmla="*/ 0 w 97"/>
                    <a:gd name="T41" fmla="*/ 49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7" h="74">
                      <a:moveTo>
                        <a:pt x="0" y="49"/>
                      </a:moveTo>
                      <a:lnTo>
                        <a:pt x="2" y="49"/>
                      </a:lnTo>
                      <a:lnTo>
                        <a:pt x="5" y="45"/>
                      </a:lnTo>
                      <a:lnTo>
                        <a:pt x="11" y="44"/>
                      </a:lnTo>
                      <a:lnTo>
                        <a:pt x="19" y="40"/>
                      </a:lnTo>
                      <a:lnTo>
                        <a:pt x="24" y="36"/>
                      </a:lnTo>
                      <a:lnTo>
                        <a:pt x="34" y="32"/>
                      </a:lnTo>
                      <a:lnTo>
                        <a:pt x="42" y="28"/>
                      </a:lnTo>
                      <a:lnTo>
                        <a:pt x="51" y="25"/>
                      </a:lnTo>
                      <a:lnTo>
                        <a:pt x="57" y="19"/>
                      </a:lnTo>
                      <a:lnTo>
                        <a:pt x="66" y="15"/>
                      </a:lnTo>
                      <a:lnTo>
                        <a:pt x="72" y="11"/>
                      </a:lnTo>
                      <a:lnTo>
                        <a:pt x="80" y="7"/>
                      </a:lnTo>
                      <a:lnTo>
                        <a:pt x="85" y="4"/>
                      </a:lnTo>
                      <a:lnTo>
                        <a:pt x="89" y="2"/>
                      </a:lnTo>
                      <a:lnTo>
                        <a:pt x="93" y="0"/>
                      </a:lnTo>
                      <a:lnTo>
                        <a:pt x="93" y="0"/>
                      </a:lnTo>
                      <a:lnTo>
                        <a:pt x="97" y="28"/>
                      </a:lnTo>
                      <a:lnTo>
                        <a:pt x="5" y="74"/>
                      </a:lnTo>
                      <a:lnTo>
                        <a:pt x="0" y="49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9" name="Freeform 173"/>
                <p:cNvSpPr>
                  <a:spLocks/>
                </p:cNvSpPr>
                <p:nvPr/>
              </p:nvSpPr>
              <p:spPr bwMode="auto">
                <a:xfrm>
                  <a:off x="3884" y="2377"/>
                  <a:ext cx="276" cy="515"/>
                </a:xfrm>
                <a:custGeom>
                  <a:avLst/>
                  <a:gdLst>
                    <a:gd name="T0" fmla="*/ 43 w 583"/>
                    <a:gd name="T1" fmla="*/ 1181 h 1184"/>
                    <a:gd name="T2" fmla="*/ 43 w 583"/>
                    <a:gd name="T3" fmla="*/ 1167 h 1184"/>
                    <a:gd name="T4" fmla="*/ 43 w 583"/>
                    <a:gd name="T5" fmla="*/ 1144 h 1184"/>
                    <a:gd name="T6" fmla="*/ 43 w 583"/>
                    <a:gd name="T7" fmla="*/ 1110 h 1184"/>
                    <a:gd name="T8" fmla="*/ 43 w 583"/>
                    <a:gd name="T9" fmla="*/ 1072 h 1184"/>
                    <a:gd name="T10" fmla="*/ 41 w 583"/>
                    <a:gd name="T11" fmla="*/ 1023 h 1184"/>
                    <a:gd name="T12" fmla="*/ 41 w 583"/>
                    <a:gd name="T13" fmla="*/ 970 h 1184"/>
                    <a:gd name="T14" fmla="*/ 41 w 583"/>
                    <a:gd name="T15" fmla="*/ 909 h 1184"/>
                    <a:gd name="T16" fmla="*/ 41 w 583"/>
                    <a:gd name="T17" fmla="*/ 846 h 1184"/>
                    <a:gd name="T18" fmla="*/ 41 w 583"/>
                    <a:gd name="T19" fmla="*/ 778 h 1184"/>
                    <a:gd name="T20" fmla="*/ 45 w 583"/>
                    <a:gd name="T21" fmla="*/ 709 h 1184"/>
                    <a:gd name="T22" fmla="*/ 45 w 583"/>
                    <a:gd name="T23" fmla="*/ 635 h 1184"/>
                    <a:gd name="T24" fmla="*/ 45 w 583"/>
                    <a:gd name="T25" fmla="*/ 565 h 1184"/>
                    <a:gd name="T26" fmla="*/ 47 w 583"/>
                    <a:gd name="T27" fmla="*/ 493 h 1184"/>
                    <a:gd name="T28" fmla="*/ 51 w 583"/>
                    <a:gd name="T29" fmla="*/ 422 h 1184"/>
                    <a:gd name="T30" fmla="*/ 55 w 583"/>
                    <a:gd name="T31" fmla="*/ 352 h 1184"/>
                    <a:gd name="T32" fmla="*/ 58 w 583"/>
                    <a:gd name="T33" fmla="*/ 287 h 1184"/>
                    <a:gd name="T34" fmla="*/ 62 w 583"/>
                    <a:gd name="T35" fmla="*/ 225 h 1184"/>
                    <a:gd name="T36" fmla="*/ 68 w 583"/>
                    <a:gd name="T37" fmla="*/ 169 h 1184"/>
                    <a:gd name="T38" fmla="*/ 74 w 583"/>
                    <a:gd name="T39" fmla="*/ 118 h 1184"/>
                    <a:gd name="T40" fmla="*/ 81 w 583"/>
                    <a:gd name="T41" fmla="*/ 74 h 1184"/>
                    <a:gd name="T42" fmla="*/ 397 w 583"/>
                    <a:gd name="T43" fmla="*/ 44 h 1184"/>
                    <a:gd name="T44" fmla="*/ 424 w 583"/>
                    <a:gd name="T45" fmla="*/ 0 h 1184"/>
                    <a:gd name="T46" fmla="*/ 47 w 583"/>
                    <a:gd name="T47" fmla="*/ 25 h 1184"/>
                    <a:gd name="T48" fmla="*/ 45 w 583"/>
                    <a:gd name="T49" fmla="*/ 38 h 1184"/>
                    <a:gd name="T50" fmla="*/ 45 w 583"/>
                    <a:gd name="T51" fmla="*/ 59 h 1184"/>
                    <a:gd name="T52" fmla="*/ 41 w 583"/>
                    <a:gd name="T53" fmla="*/ 86 h 1184"/>
                    <a:gd name="T54" fmla="*/ 39 w 583"/>
                    <a:gd name="T55" fmla="*/ 120 h 1184"/>
                    <a:gd name="T56" fmla="*/ 36 w 583"/>
                    <a:gd name="T57" fmla="*/ 158 h 1184"/>
                    <a:gd name="T58" fmla="*/ 34 w 583"/>
                    <a:gd name="T59" fmla="*/ 204 h 1184"/>
                    <a:gd name="T60" fmla="*/ 30 w 583"/>
                    <a:gd name="T61" fmla="*/ 253 h 1184"/>
                    <a:gd name="T62" fmla="*/ 26 w 583"/>
                    <a:gd name="T63" fmla="*/ 308 h 1184"/>
                    <a:gd name="T64" fmla="*/ 22 w 583"/>
                    <a:gd name="T65" fmla="*/ 367 h 1184"/>
                    <a:gd name="T66" fmla="*/ 20 w 583"/>
                    <a:gd name="T67" fmla="*/ 430 h 1184"/>
                    <a:gd name="T68" fmla="*/ 15 w 583"/>
                    <a:gd name="T69" fmla="*/ 496 h 1184"/>
                    <a:gd name="T70" fmla="*/ 13 w 583"/>
                    <a:gd name="T71" fmla="*/ 565 h 1184"/>
                    <a:gd name="T72" fmla="*/ 9 w 583"/>
                    <a:gd name="T73" fmla="*/ 635 h 1184"/>
                    <a:gd name="T74" fmla="*/ 7 w 583"/>
                    <a:gd name="T75" fmla="*/ 709 h 1184"/>
                    <a:gd name="T76" fmla="*/ 3 w 583"/>
                    <a:gd name="T77" fmla="*/ 785 h 1184"/>
                    <a:gd name="T78" fmla="*/ 1 w 583"/>
                    <a:gd name="T79" fmla="*/ 863 h 1184"/>
                    <a:gd name="T80" fmla="*/ 0 w 583"/>
                    <a:gd name="T81" fmla="*/ 941 h 1184"/>
                    <a:gd name="T82" fmla="*/ 0 w 583"/>
                    <a:gd name="T83" fmla="*/ 1019 h 1184"/>
                    <a:gd name="T84" fmla="*/ 0 w 583"/>
                    <a:gd name="T85" fmla="*/ 1099 h 1184"/>
                    <a:gd name="T86" fmla="*/ 1 w 583"/>
                    <a:gd name="T87" fmla="*/ 1181 h 1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583" h="1184">
                      <a:moveTo>
                        <a:pt x="45" y="1184"/>
                      </a:moveTo>
                      <a:lnTo>
                        <a:pt x="43" y="1182"/>
                      </a:lnTo>
                      <a:lnTo>
                        <a:pt x="43" y="1181"/>
                      </a:lnTo>
                      <a:lnTo>
                        <a:pt x="43" y="1177"/>
                      </a:lnTo>
                      <a:lnTo>
                        <a:pt x="43" y="1173"/>
                      </a:lnTo>
                      <a:lnTo>
                        <a:pt x="43" y="1167"/>
                      </a:lnTo>
                      <a:lnTo>
                        <a:pt x="43" y="1162"/>
                      </a:lnTo>
                      <a:lnTo>
                        <a:pt x="43" y="1152"/>
                      </a:lnTo>
                      <a:lnTo>
                        <a:pt x="43" y="1144"/>
                      </a:lnTo>
                      <a:lnTo>
                        <a:pt x="43" y="1133"/>
                      </a:lnTo>
                      <a:lnTo>
                        <a:pt x="43" y="1124"/>
                      </a:lnTo>
                      <a:lnTo>
                        <a:pt x="43" y="1110"/>
                      </a:lnTo>
                      <a:lnTo>
                        <a:pt x="43" y="1099"/>
                      </a:lnTo>
                      <a:lnTo>
                        <a:pt x="43" y="1086"/>
                      </a:lnTo>
                      <a:lnTo>
                        <a:pt x="43" y="1072"/>
                      </a:lnTo>
                      <a:lnTo>
                        <a:pt x="43" y="1055"/>
                      </a:lnTo>
                      <a:lnTo>
                        <a:pt x="43" y="1042"/>
                      </a:lnTo>
                      <a:lnTo>
                        <a:pt x="41" y="1023"/>
                      </a:lnTo>
                      <a:lnTo>
                        <a:pt x="41" y="1006"/>
                      </a:lnTo>
                      <a:lnTo>
                        <a:pt x="41" y="987"/>
                      </a:lnTo>
                      <a:lnTo>
                        <a:pt x="41" y="970"/>
                      </a:lnTo>
                      <a:lnTo>
                        <a:pt x="41" y="949"/>
                      </a:lnTo>
                      <a:lnTo>
                        <a:pt x="41" y="930"/>
                      </a:lnTo>
                      <a:lnTo>
                        <a:pt x="41" y="909"/>
                      </a:lnTo>
                      <a:lnTo>
                        <a:pt x="41" y="890"/>
                      </a:lnTo>
                      <a:lnTo>
                        <a:pt x="41" y="867"/>
                      </a:lnTo>
                      <a:lnTo>
                        <a:pt x="41" y="846"/>
                      </a:lnTo>
                      <a:lnTo>
                        <a:pt x="41" y="823"/>
                      </a:lnTo>
                      <a:lnTo>
                        <a:pt x="41" y="802"/>
                      </a:lnTo>
                      <a:lnTo>
                        <a:pt x="41" y="778"/>
                      </a:lnTo>
                      <a:lnTo>
                        <a:pt x="43" y="755"/>
                      </a:lnTo>
                      <a:lnTo>
                        <a:pt x="43" y="732"/>
                      </a:lnTo>
                      <a:lnTo>
                        <a:pt x="45" y="709"/>
                      </a:lnTo>
                      <a:lnTo>
                        <a:pt x="45" y="685"/>
                      </a:lnTo>
                      <a:lnTo>
                        <a:pt x="45" y="660"/>
                      </a:lnTo>
                      <a:lnTo>
                        <a:pt x="45" y="635"/>
                      </a:lnTo>
                      <a:lnTo>
                        <a:pt x="45" y="612"/>
                      </a:lnTo>
                      <a:lnTo>
                        <a:pt x="45" y="588"/>
                      </a:lnTo>
                      <a:lnTo>
                        <a:pt x="45" y="565"/>
                      </a:lnTo>
                      <a:lnTo>
                        <a:pt x="47" y="540"/>
                      </a:lnTo>
                      <a:lnTo>
                        <a:pt x="47" y="517"/>
                      </a:lnTo>
                      <a:lnTo>
                        <a:pt x="47" y="493"/>
                      </a:lnTo>
                      <a:lnTo>
                        <a:pt x="49" y="468"/>
                      </a:lnTo>
                      <a:lnTo>
                        <a:pt x="49" y="445"/>
                      </a:lnTo>
                      <a:lnTo>
                        <a:pt x="51" y="422"/>
                      </a:lnTo>
                      <a:lnTo>
                        <a:pt x="51" y="398"/>
                      </a:lnTo>
                      <a:lnTo>
                        <a:pt x="53" y="375"/>
                      </a:lnTo>
                      <a:lnTo>
                        <a:pt x="55" y="352"/>
                      </a:lnTo>
                      <a:lnTo>
                        <a:pt x="57" y="331"/>
                      </a:lnTo>
                      <a:lnTo>
                        <a:pt x="57" y="308"/>
                      </a:lnTo>
                      <a:lnTo>
                        <a:pt x="58" y="287"/>
                      </a:lnTo>
                      <a:lnTo>
                        <a:pt x="58" y="266"/>
                      </a:lnTo>
                      <a:lnTo>
                        <a:pt x="60" y="246"/>
                      </a:lnTo>
                      <a:lnTo>
                        <a:pt x="62" y="225"/>
                      </a:lnTo>
                      <a:lnTo>
                        <a:pt x="64" y="206"/>
                      </a:lnTo>
                      <a:lnTo>
                        <a:pt x="66" y="187"/>
                      </a:lnTo>
                      <a:lnTo>
                        <a:pt x="68" y="169"/>
                      </a:lnTo>
                      <a:lnTo>
                        <a:pt x="70" y="152"/>
                      </a:lnTo>
                      <a:lnTo>
                        <a:pt x="72" y="135"/>
                      </a:lnTo>
                      <a:lnTo>
                        <a:pt x="74" y="118"/>
                      </a:lnTo>
                      <a:lnTo>
                        <a:pt x="76" y="103"/>
                      </a:lnTo>
                      <a:lnTo>
                        <a:pt x="79" y="88"/>
                      </a:lnTo>
                      <a:lnTo>
                        <a:pt x="81" y="74"/>
                      </a:lnTo>
                      <a:lnTo>
                        <a:pt x="83" y="63"/>
                      </a:lnTo>
                      <a:lnTo>
                        <a:pt x="87" y="52"/>
                      </a:lnTo>
                      <a:lnTo>
                        <a:pt x="397" y="44"/>
                      </a:lnTo>
                      <a:lnTo>
                        <a:pt x="542" y="1169"/>
                      </a:lnTo>
                      <a:lnTo>
                        <a:pt x="583" y="1160"/>
                      </a:lnTo>
                      <a:lnTo>
                        <a:pt x="424" y="0"/>
                      </a:lnTo>
                      <a:lnTo>
                        <a:pt x="49" y="19"/>
                      </a:lnTo>
                      <a:lnTo>
                        <a:pt x="49" y="19"/>
                      </a:lnTo>
                      <a:lnTo>
                        <a:pt x="47" y="25"/>
                      </a:lnTo>
                      <a:lnTo>
                        <a:pt x="47" y="27"/>
                      </a:lnTo>
                      <a:lnTo>
                        <a:pt x="47" y="33"/>
                      </a:lnTo>
                      <a:lnTo>
                        <a:pt x="45" y="38"/>
                      </a:lnTo>
                      <a:lnTo>
                        <a:pt x="45" y="44"/>
                      </a:lnTo>
                      <a:lnTo>
                        <a:pt x="45" y="52"/>
                      </a:lnTo>
                      <a:lnTo>
                        <a:pt x="45" y="59"/>
                      </a:lnTo>
                      <a:lnTo>
                        <a:pt x="43" y="67"/>
                      </a:lnTo>
                      <a:lnTo>
                        <a:pt x="43" y="76"/>
                      </a:lnTo>
                      <a:lnTo>
                        <a:pt x="41" y="86"/>
                      </a:lnTo>
                      <a:lnTo>
                        <a:pt x="41" y="97"/>
                      </a:lnTo>
                      <a:lnTo>
                        <a:pt x="39" y="109"/>
                      </a:lnTo>
                      <a:lnTo>
                        <a:pt x="39" y="120"/>
                      </a:lnTo>
                      <a:lnTo>
                        <a:pt x="39" y="131"/>
                      </a:lnTo>
                      <a:lnTo>
                        <a:pt x="38" y="145"/>
                      </a:lnTo>
                      <a:lnTo>
                        <a:pt x="36" y="158"/>
                      </a:lnTo>
                      <a:lnTo>
                        <a:pt x="36" y="173"/>
                      </a:lnTo>
                      <a:lnTo>
                        <a:pt x="34" y="189"/>
                      </a:lnTo>
                      <a:lnTo>
                        <a:pt x="34" y="204"/>
                      </a:lnTo>
                      <a:lnTo>
                        <a:pt x="32" y="219"/>
                      </a:lnTo>
                      <a:lnTo>
                        <a:pt x="32" y="236"/>
                      </a:lnTo>
                      <a:lnTo>
                        <a:pt x="30" y="253"/>
                      </a:lnTo>
                      <a:lnTo>
                        <a:pt x="28" y="272"/>
                      </a:lnTo>
                      <a:lnTo>
                        <a:pt x="26" y="289"/>
                      </a:lnTo>
                      <a:lnTo>
                        <a:pt x="26" y="308"/>
                      </a:lnTo>
                      <a:lnTo>
                        <a:pt x="24" y="327"/>
                      </a:lnTo>
                      <a:lnTo>
                        <a:pt x="24" y="346"/>
                      </a:lnTo>
                      <a:lnTo>
                        <a:pt x="22" y="367"/>
                      </a:lnTo>
                      <a:lnTo>
                        <a:pt x="22" y="388"/>
                      </a:lnTo>
                      <a:lnTo>
                        <a:pt x="20" y="409"/>
                      </a:lnTo>
                      <a:lnTo>
                        <a:pt x="20" y="430"/>
                      </a:lnTo>
                      <a:lnTo>
                        <a:pt x="19" y="451"/>
                      </a:lnTo>
                      <a:lnTo>
                        <a:pt x="17" y="474"/>
                      </a:lnTo>
                      <a:lnTo>
                        <a:pt x="15" y="496"/>
                      </a:lnTo>
                      <a:lnTo>
                        <a:pt x="15" y="517"/>
                      </a:lnTo>
                      <a:lnTo>
                        <a:pt x="13" y="540"/>
                      </a:lnTo>
                      <a:lnTo>
                        <a:pt x="13" y="565"/>
                      </a:lnTo>
                      <a:lnTo>
                        <a:pt x="11" y="588"/>
                      </a:lnTo>
                      <a:lnTo>
                        <a:pt x="11" y="612"/>
                      </a:lnTo>
                      <a:lnTo>
                        <a:pt x="9" y="635"/>
                      </a:lnTo>
                      <a:lnTo>
                        <a:pt x="9" y="660"/>
                      </a:lnTo>
                      <a:lnTo>
                        <a:pt x="7" y="685"/>
                      </a:lnTo>
                      <a:lnTo>
                        <a:pt x="7" y="709"/>
                      </a:lnTo>
                      <a:lnTo>
                        <a:pt x="5" y="734"/>
                      </a:lnTo>
                      <a:lnTo>
                        <a:pt x="5" y="761"/>
                      </a:lnTo>
                      <a:lnTo>
                        <a:pt x="3" y="785"/>
                      </a:lnTo>
                      <a:lnTo>
                        <a:pt x="3" y="810"/>
                      </a:lnTo>
                      <a:lnTo>
                        <a:pt x="1" y="837"/>
                      </a:lnTo>
                      <a:lnTo>
                        <a:pt x="1" y="863"/>
                      </a:lnTo>
                      <a:lnTo>
                        <a:pt x="1" y="888"/>
                      </a:lnTo>
                      <a:lnTo>
                        <a:pt x="0" y="914"/>
                      </a:lnTo>
                      <a:lnTo>
                        <a:pt x="0" y="941"/>
                      </a:lnTo>
                      <a:lnTo>
                        <a:pt x="0" y="968"/>
                      </a:lnTo>
                      <a:lnTo>
                        <a:pt x="0" y="994"/>
                      </a:lnTo>
                      <a:lnTo>
                        <a:pt x="0" y="1019"/>
                      </a:lnTo>
                      <a:lnTo>
                        <a:pt x="0" y="1046"/>
                      </a:lnTo>
                      <a:lnTo>
                        <a:pt x="0" y="1072"/>
                      </a:lnTo>
                      <a:lnTo>
                        <a:pt x="0" y="1099"/>
                      </a:lnTo>
                      <a:lnTo>
                        <a:pt x="0" y="1127"/>
                      </a:lnTo>
                      <a:lnTo>
                        <a:pt x="0" y="1152"/>
                      </a:lnTo>
                      <a:lnTo>
                        <a:pt x="1" y="1181"/>
                      </a:lnTo>
                      <a:lnTo>
                        <a:pt x="45" y="1184"/>
                      </a:lnTo>
                      <a:lnTo>
                        <a:pt x="45" y="11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0" name="Freeform 174"/>
                <p:cNvSpPr>
                  <a:spLocks/>
                </p:cNvSpPr>
                <p:nvPr/>
              </p:nvSpPr>
              <p:spPr bwMode="auto">
                <a:xfrm>
                  <a:off x="4108" y="2554"/>
                  <a:ext cx="44" cy="32"/>
                </a:xfrm>
                <a:custGeom>
                  <a:avLst/>
                  <a:gdLst>
                    <a:gd name="T0" fmla="*/ 0 w 91"/>
                    <a:gd name="T1" fmla="*/ 46 h 72"/>
                    <a:gd name="T2" fmla="*/ 82 w 91"/>
                    <a:gd name="T3" fmla="*/ 0 h 72"/>
                    <a:gd name="T4" fmla="*/ 91 w 91"/>
                    <a:gd name="T5" fmla="*/ 25 h 72"/>
                    <a:gd name="T6" fmla="*/ 2 w 91"/>
                    <a:gd name="T7" fmla="*/ 72 h 72"/>
                    <a:gd name="T8" fmla="*/ 0 w 91"/>
                    <a:gd name="T9" fmla="*/ 46 h 72"/>
                    <a:gd name="T10" fmla="*/ 0 w 91"/>
                    <a:gd name="T11" fmla="*/ 46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1" h="72">
                      <a:moveTo>
                        <a:pt x="0" y="46"/>
                      </a:moveTo>
                      <a:lnTo>
                        <a:pt x="82" y="0"/>
                      </a:lnTo>
                      <a:lnTo>
                        <a:pt x="91" y="25"/>
                      </a:lnTo>
                      <a:lnTo>
                        <a:pt x="2" y="72"/>
                      </a:lnTo>
                      <a:lnTo>
                        <a:pt x="0" y="46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1" name="Freeform 175"/>
                <p:cNvSpPr>
                  <a:spLocks/>
                </p:cNvSpPr>
                <p:nvPr/>
              </p:nvSpPr>
              <p:spPr bwMode="auto">
                <a:xfrm>
                  <a:off x="4103" y="2526"/>
                  <a:ext cx="41" cy="27"/>
                </a:xfrm>
                <a:custGeom>
                  <a:avLst/>
                  <a:gdLst>
                    <a:gd name="T0" fmla="*/ 0 w 87"/>
                    <a:gd name="T1" fmla="*/ 44 h 65"/>
                    <a:gd name="T2" fmla="*/ 85 w 87"/>
                    <a:gd name="T3" fmla="*/ 0 h 65"/>
                    <a:gd name="T4" fmla="*/ 87 w 87"/>
                    <a:gd name="T5" fmla="*/ 27 h 65"/>
                    <a:gd name="T6" fmla="*/ 5 w 87"/>
                    <a:gd name="T7" fmla="*/ 65 h 65"/>
                    <a:gd name="T8" fmla="*/ 0 w 87"/>
                    <a:gd name="T9" fmla="*/ 44 h 65"/>
                    <a:gd name="T10" fmla="*/ 0 w 87"/>
                    <a:gd name="T11" fmla="*/ 4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7" h="65">
                      <a:moveTo>
                        <a:pt x="0" y="44"/>
                      </a:moveTo>
                      <a:lnTo>
                        <a:pt x="85" y="0"/>
                      </a:lnTo>
                      <a:lnTo>
                        <a:pt x="87" y="27"/>
                      </a:lnTo>
                      <a:lnTo>
                        <a:pt x="5" y="65"/>
                      </a:lnTo>
                      <a:lnTo>
                        <a:pt x="0" y="44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2" name="Freeform 176"/>
                <p:cNvSpPr>
                  <a:spLocks/>
                </p:cNvSpPr>
                <p:nvPr/>
              </p:nvSpPr>
              <p:spPr bwMode="auto">
                <a:xfrm>
                  <a:off x="4099" y="2496"/>
                  <a:ext cx="38" cy="23"/>
                </a:xfrm>
                <a:custGeom>
                  <a:avLst/>
                  <a:gdLst>
                    <a:gd name="T0" fmla="*/ 0 w 80"/>
                    <a:gd name="T1" fmla="*/ 30 h 53"/>
                    <a:gd name="T2" fmla="*/ 78 w 80"/>
                    <a:gd name="T3" fmla="*/ 0 h 53"/>
                    <a:gd name="T4" fmla="*/ 80 w 80"/>
                    <a:gd name="T5" fmla="*/ 25 h 53"/>
                    <a:gd name="T6" fmla="*/ 4 w 80"/>
                    <a:gd name="T7" fmla="*/ 53 h 53"/>
                    <a:gd name="T8" fmla="*/ 0 w 80"/>
                    <a:gd name="T9" fmla="*/ 30 h 53"/>
                    <a:gd name="T10" fmla="*/ 0 w 80"/>
                    <a:gd name="T11" fmla="*/ 3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0" h="53">
                      <a:moveTo>
                        <a:pt x="0" y="30"/>
                      </a:moveTo>
                      <a:lnTo>
                        <a:pt x="78" y="0"/>
                      </a:lnTo>
                      <a:lnTo>
                        <a:pt x="80" y="25"/>
                      </a:lnTo>
                      <a:lnTo>
                        <a:pt x="4" y="53"/>
                      </a:lnTo>
                      <a:lnTo>
                        <a:pt x="0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3" name="Freeform 177"/>
                <p:cNvSpPr>
                  <a:spLocks/>
                </p:cNvSpPr>
                <p:nvPr/>
              </p:nvSpPr>
              <p:spPr bwMode="auto">
                <a:xfrm>
                  <a:off x="4090" y="2458"/>
                  <a:ext cx="42" cy="28"/>
                </a:xfrm>
                <a:custGeom>
                  <a:avLst/>
                  <a:gdLst>
                    <a:gd name="T0" fmla="*/ 0 w 89"/>
                    <a:gd name="T1" fmla="*/ 45 h 66"/>
                    <a:gd name="T2" fmla="*/ 84 w 89"/>
                    <a:gd name="T3" fmla="*/ 0 h 66"/>
                    <a:gd name="T4" fmla="*/ 89 w 89"/>
                    <a:gd name="T5" fmla="*/ 24 h 66"/>
                    <a:gd name="T6" fmla="*/ 8 w 89"/>
                    <a:gd name="T7" fmla="*/ 66 h 66"/>
                    <a:gd name="T8" fmla="*/ 0 w 89"/>
                    <a:gd name="T9" fmla="*/ 45 h 66"/>
                    <a:gd name="T10" fmla="*/ 0 w 89"/>
                    <a:gd name="T11" fmla="*/ 45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9" h="66">
                      <a:moveTo>
                        <a:pt x="0" y="45"/>
                      </a:moveTo>
                      <a:lnTo>
                        <a:pt x="84" y="0"/>
                      </a:lnTo>
                      <a:lnTo>
                        <a:pt x="89" y="24"/>
                      </a:lnTo>
                      <a:lnTo>
                        <a:pt x="8" y="66"/>
                      </a:lnTo>
                      <a:lnTo>
                        <a:pt x="0" y="45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4" name="Freeform 178"/>
                <p:cNvSpPr>
                  <a:spLocks/>
                </p:cNvSpPr>
                <p:nvPr/>
              </p:nvSpPr>
              <p:spPr bwMode="auto">
                <a:xfrm>
                  <a:off x="4086" y="2428"/>
                  <a:ext cx="39" cy="32"/>
                </a:xfrm>
                <a:custGeom>
                  <a:avLst/>
                  <a:gdLst>
                    <a:gd name="T0" fmla="*/ 0 w 83"/>
                    <a:gd name="T1" fmla="*/ 46 h 74"/>
                    <a:gd name="T2" fmla="*/ 76 w 83"/>
                    <a:gd name="T3" fmla="*/ 0 h 74"/>
                    <a:gd name="T4" fmla="*/ 83 w 83"/>
                    <a:gd name="T5" fmla="*/ 31 h 74"/>
                    <a:gd name="T6" fmla="*/ 5 w 83"/>
                    <a:gd name="T7" fmla="*/ 74 h 74"/>
                    <a:gd name="T8" fmla="*/ 0 w 83"/>
                    <a:gd name="T9" fmla="*/ 46 h 74"/>
                    <a:gd name="T10" fmla="*/ 0 w 83"/>
                    <a:gd name="T11" fmla="*/ 46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3" h="74">
                      <a:moveTo>
                        <a:pt x="0" y="46"/>
                      </a:moveTo>
                      <a:lnTo>
                        <a:pt x="76" y="0"/>
                      </a:lnTo>
                      <a:lnTo>
                        <a:pt x="83" y="31"/>
                      </a:lnTo>
                      <a:lnTo>
                        <a:pt x="5" y="74"/>
                      </a:lnTo>
                      <a:lnTo>
                        <a:pt x="0" y="46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5" name="Freeform 179"/>
                <p:cNvSpPr>
                  <a:spLocks/>
                </p:cNvSpPr>
                <p:nvPr/>
              </p:nvSpPr>
              <p:spPr bwMode="auto">
                <a:xfrm>
                  <a:off x="3541" y="2974"/>
                  <a:ext cx="71" cy="57"/>
                </a:xfrm>
                <a:custGeom>
                  <a:avLst/>
                  <a:gdLst>
                    <a:gd name="T0" fmla="*/ 76 w 150"/>
                    <a:gd name="T1" fmla="*/ 102 h 133"/>
                    <a:gd name="T2" fmla="*/ 86 w 150"/>
                    <a:gd name="T3" fmla="*/ 100 h 133"/>
                    <a:gd name="T4" fmla="*/ 97 w 150"/>
                    <a:gd name="T5" fmla="*/ 97 h 133"/>
                    <a:gd name="T6" fmla="*/ 109 w 150"/>
                    <a:gd name="T7" fmla="*/ 89 h 133"/>
                    <a:gd name="T8" fmla="*/ 114 w 150"/>
                    <a:gd name="T9" fmla="*/ 76 h 133"/>
                    <a:gd name="T10" fmla="*/ 114 w 150"/>
                    <a:gd name="T11" fmla="*/ 62 h 133"/>
                    <a:gd name="T12" fmla="*/ 110 w 150"/>
                    <a:gd name="T13" fmla="*/ 49 h 133"/>
                    <a:gd name="T14" fmla="*/ 103 w 150"/>
                    <a:gd name="T15" fmla="*/ 38 h 133"/>
                    <a:gd name="T16" fmla="*/ 91 w 150"/>
                    <a:gd name="T17" fmla="*/ 32 h 133"/>
                    <a:gd name="T18" fmla="*/ 86 w 150"/>
                    <a:gd name="T19" fmla="*/ 22 h 133"/>
                    <a:gd name="T20" fmla="*/ 86 w 150"/>
                    <a:gd name="T21" fmla="*/ 5 h 133"/>
                    <a:gd name="T22" fmla="*/ 91 w 150"/>
                    <a:gd name="T23" fmla="*/ 0 h 133"/>
                    <a:gd name="T24" fmla="*/ 105 w 150"/>
                    <a:gd name="T25" fmla="*/ 3 h 133"/>
                    <a:gd name="T26" fmla="*/ 116 w 150"/>
                    <a:gd name="T27" fmla="*/ 9 h 133"/>
                    <a:gd name="T28" fmla="*/ 126 w 150"/>
                    <a:gd name="T29" fmla="*/ 17 h 133"/>
                    <a:gd name="T30" fmla="*/ 133 w 150"/>
                    <a:gd name="T31" fmla="*/ 26 h 133"/>
                    <a:gd name="T32" fmla="*/ 141 w 150"/>
                    <a:gd name="T33" fmla="*/ 36 h 133"/>
                    <a:gd name="T34" fmla="*/ 145 w 150"/>
                    <a:gd name="T35" fmla="*/ 47 h 133"/>
                    <a:gd name="T36" fmla="*/ 149 w 150"/>
                    <a:gd name="T37" fmla="*/ 60 h 133"/>
                    <a:gd name="T38" fmla="*/ 149 w 150"/>
                    <a:gd name="T39" fmla="*/ 72 h 133"/>
                    <a:gd name="T40" fmla="*/ 145 w 150"/>
                    <a:gd name="T41" fmla="*/ 85 h 133"/>
                    <a:gd name="T42" fmla="*/ 139 w 150"/>
                    <a:gd name="T43" fmla="*/ 97 h 133"/>
                    <a:gd name="T44" fmla="*/ 131 w 150"/>
                    <a:gd name="T45" fmla="*/ 108 h 133"/>
                    <a:gd name="T46" fmla="*/ 122 w 150"/>
                    <a:gd name="T47" fmla="*/ 116 h 133"/>
                    <a:gd name="T48" fmla="*/ 109 w 150"/>
                    <a:gd name="T49" fmla="*/ 123 h 133"/>
                    <a:gd name="T50" fmla="*/ 95 w 150"/>
                    <a:gd name="T51" fmla="*/ 129 h 133"/>
                    <a:gd name="T52" fmla="*/ 80 w 150"/>
                    <a:gd name="T53" fmla="*/ 133 h 133"/>
                    <a:gd name="T54" fmla="*/ 67 w 150"/>
                    <a:gd name="T55" fmla="*/ 133 h 133"/>
                    <a:gd name="T56" fmla="*/ 52 w 150"/>
                    <a:gd name="T57" fmla="*/ 129 h 133"/>
                    <a:gd name="T58" fmla="*/ 38 w 150"/>
                    <a:gd name="T59" fmla="*/ 123 h 133"/>
                    <a:gd name="T60" fmla="*/ 27 w 150"/>
                    <a:gd name="T61" fmla="*/ 116 h 133"/>
                    <a:gd name="T62" fmla="*/ 15 w 150"/>
                    <a:gd name="T63" fmla="*/ 108 h 133"/>
                    <a:gd name="T64" fmla="*/ 8 w 150"/>
                    <a:gd name="T65" fmla="*/ 97 h 133"/>
                    <a:gd name="T66" fmla="*/ 4 w 150"/>
                    <a:gd name="T67" fmla="*/ 85 h 133"/>
                    <a:gd name="T68" fmla="*/ 0 w 150"/>
                    <a:gd name="T69" fmla="*/ 72 h 133"/>
                    <a:gd name="T70" fmla="*/ 0 w 150"/>
                    <a:gd name="T71" fmla="*/ 60 h 133"/>
                    <a:gd name="T72" fmla="*/ 2 w 150"/>
                    <a:gd name="T73" fmla="*/ 47 h 133"/>
                    <a:gd name="T74" fmla="*/ 8 w 150"/>
                    <a:gd name="T75" fmla="*/ 36 h 133"/>
                    <a:gd name="T76" fmla="*/ 13 w 150"/>
                    <a:gd name="T77" fmla="*/ 26 h 133"/>
                    <a:gd name="T78" fmla="*/ 21 w 150"/>
                    <a:gd name="T79" fmla="*/ 17 h 133"/>
                    <a:gd name="T80" fmla="*/ 31 w 150"/>
                    <a:gd name="T81" fmla="*/ 9 h 133"/>
                    <a:gd name="T82" fmla="*/ 42 w 150"/>
                    <a:gd name="T83" fmla="*/ 3 h 133"/>
                    <a:gd name="T84" fmla="*/ 55 w 150"/>
                    <a:gd name="T85" fmla="*/ 0 h 133"/>
                    <a:gd name="T86" fmla="*/ 63 w 150"/>
                    <a:gd name="T87" fmla="*/ 5 h 133"/>
                    <a:gd name="T88" fmla="*/ 63 w 150"/>
                    <a:gd name="T89" fmla="*/ 22 h 133"/>
                    <a:gd name="T90" fmla="*/ 53 w 150"/>
                    <a:gd name="T91" fmla="*/ 32 h 133"/>
                    <a:gd name="T92" fmla="*/ 42 w 150"/>
                    <a:gd name="T93" fmla="*/ 38 h 133"/>
                    <a:gd name="T94" fmla="*/ 34 w 150"/>
                    <a:gd name="T95" fmla="*/ 49 h 133"/>
                    <a:gd name="T96" fmla="*/ 31 w 150"/>
                    <a:gd name="T97" fmla="*/ 60 h 133"/>
                    <a:gd name="T98" fmla="*/ 31 w 150"/>
                    <a:gd name="T99" fmla="*/ 76 h 133"/>
                    <a:gd name="T100" fmla="*/ 36 w 150"/>
                    <a:gd name="T101" fmla="*/ 89 h 133"/>
                    <a:gd name="T102" fmla="*/ 48 w 150"/>
                    <a:gd name="T103" fmla="*/ 97 h 133"/>
                    <a:gd name="T104" fmla="*/ 59 w 150"/>
                    <a:gd name="T105" fmla="*/ 100 h 133"/>
                    <a:gd name="T106" fmla="*/ 69 w 150"/>
                    <a:gd name="T107" fmla="*/ 102 h 133"/>
                    <a:gd name="T108" fmla="*/ 72 w 150"/>
                    <a:gd name="T109" fmla="*/ 102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50" h="133">
                      <a:moveTo>
                        <a:pt x="72" y="102"/>
                      </a:moveTo>
                      <a:lnTo>
                        <a:pt x="76" y="102"/>
                      </a:lnTo>
                      <a:lnTo>
                        <a:pt x="82" y="102"/>
                      </a:lnTo>
                      <a:lnTo>
                        <a:pt x="86" y="100"/>
                      </a:lnTo>
                      <a:lnTo>
                        <a:pt x="90" y="100"/>
                      </a:lnTo>
                      <a:lnTo>
                        <a:pt x="97" y="97"/>
                      </a:lnTo>
                      <a:lnTo>
                        <a:pt x="105" y="95"/>
                      </a:lnTo>
                      <a:lnTo>
                        <a:pt x="109" y="89"/>
                      </a:lnTo>
                      <a:lnTo>
                        <a:pt x="112" y="83"/>
                      </a:lnTo>
                      <a:lnTo>
                        <a:pt x="114" y="76"/>
                      </a:lnTo>
                      <a:lnTo>
                        <a:pt x="116" y="70"/>
                      </a:lnTo>
                      <a:lnTo>
                        <a:pt x="114" y="62"/>
                      </a:lnTo>
                      <a:lnTo>
                        <a:pt x="112" y="55"/>
                      </a:lnTo>
                      <a:lnTo>
                        <a:pt x="110" y="49"/>
                      </a:lnTo>
                      <a:lnTo>
                        <a:pt x="107" y="43"/>
                      </a:lnTo>
                      <a:lnTo>
                        <a:pt x="103" y="38"/>
                      </a:lnTo>
                      <a:lnTo>
                        <a:pt x="97" y="34"/>
                      </a:lnTo>
                      <a:lnTo>
                        <a:pt x="91" y="32"/>
                      </a:lnTo>
                      <a:lnTo>
                        <a:pt x="86" y="30"/>
                      </a:lnTo>
                      <a:lnTo>
                        <a:pt x="86" y="22"/>
                      </a:lnTo>
                      <a:lnTo>
                        <a:pt x="86" y="13"/>
                      </a:lnTo>
                      <a:lnTo>
                        <a:pt x="86" y="5"/>
                      </a:lnTo>
                      <a:lnTo>
                        <a:pt x="86" y="0"/>
                      </a:lnTo>
                      <a:lnTo>
                        <a:pt x="91" y="0"/>
                      </a:lnTo>
                      <a:lnTo>
                        <a:pt x="97" y="2"/>
                      </a:lnTo>
                      <a:lnTo>
                        <a:pt x="105" y="3"/>
                      </a:lnTo>
                      <a:lnTo>
                        <a:pt x="110" y="7"/>
                      </a:lnTo>
                      <a:lnTo>
                        <a:pt x="116" y="9"/>
                      </a:lnTo>
                      <a:lnTo>
                        <a:pt x="122" y="13"/>
                      </a:lnTo>
                      <a:lnTo>
                        <a:pt x="126" y="17"/>
                      </a:lnTo>
                      <a:lnTo>
                        <a:pt x="131" y="22"/>
                      </a:lnTo>
                      <a:lnTo>
                        <a:pt x="133" y="26"/>
                      </a:lnTo>
                      <a:lnTo>
                        <a:pt x="139" y="32"/>
                      </a:lnTo>
                      <a:lnTo>
                        <a:pt x="141" y="36"/>
                      </a:lnTo>
                      <a:lnTo>
                        <a:pt x="145" y="41"/>
                      </a:lnTo>
                      <a:lnTo>
                        <a:pt x="145" y="47"/>
                      </a:lnTo>
                      <a:lnTo>
                        <a:pt x="149" y="55"/>
                      </a:lnTo>
                      <a:lnTo>
                        <a:pt x="149" y="60"/>
                      </a:lnTo>
                      <a:lnTo>
                        <a:pt x="150" y="66"/>
                      </a:lnTo>
                      <a:lnTo>
                        <a:pt x="149" y="72"/>
                      </a:lnTo>
                      <a:lnTo>
                        <a:pt x="147" y="79"/>
                      </a:lnTo>
                      <a:lnTo>
                        <a:pt x="145" y="85"/>
                      </a:lnTo>
                      <a:lnTo>
                        <a:pt x="143" y="93"/>
                      </a:lnTo>
                      <a:lnTo>
                        <a:pt x="139" y="97"/>
                      </a:lnTo>
                      <a:lnTo>
                        <a:pt x="135" y="102"/>
                      </a:lnTo>
                      <a:lnTo>
                        <a:pt x="131" y="108"/>
                      </a:lnTo>
                      <a:lnTo>
                        <a:pt x="128" y="114"/>
                      </a:lnTo>
                      <a:lnTo>
                        <a:pt x="122" y="116"/>
                      </a:lnTo>
                      <a:lnTo>
                        <a:pt x="116" y="121"/>
                      </a:lnTo>
                      <a:lnTo>
                        <a:pt x="109" y="123"/>
                      </a:lnTo>
                      <a:lnTo>
                        <a:pt x="103" y="127"/>
                      </a:lnTo>
                      <a:lnTo>
                        <a:pt x="95" y="129"/>
                      </a:lnTo>
                      <a:lnTo>
                        <a:pt x="88" y="131"/>
                      </a:lnTo>
                      <a:lnTo>
                        <a:pt x="80" y="133"/>
                      </a:lnTo>
                      <a:lnTo>
                        <a:pt x="74" y="133"/>
                      </a:lnTo>
                      <a:lnTo>
                        <a:pt x="67" y="133"/>
                      </a:lnTo>
                      <a:lnTo>
                        <a:pt x="59" y="131"/>
                      </a:lnTo>
                      <a:lnTo>
                        <a:pt x="52" y="129"/>
                      </a:lnTo>
                      <a:lnTo>
                        <a:pt x="44" y="127"/>
                      </a:lnTo>
                      <a:lnTo>
                        <a:pt x="38" y="123"/>
                      </a:lnTo>
                      <a:lnTo>
                        <a:pt x="33" y="121"/>
                      </a:lnTo>
                      <a:lnTo>
                        <a:pt x="27" y="116"/>
                      </a:lnTo>
                      <a:lnTo>
                        <a:pt x="21" y="114"/>
                      </a:lnTo>
                      <a:lnTo>
                        <a:pt x="15" y="108"/>
                      </a:lnTo>
                      <a:lnTo>
                        <a:pt x="12" y="102"/>
                      </a:lnTo>
                      <a:lnTo>
                        <a:pt x="8" y="97"/>
                      </a:lnTo>
                      <a:lnTo>
                        <a:pt x="6" y="93"/>
                      </a:lnTo>
                      <a:lnTo>
                        <a:pt x="4" y="85"/>
                      </a:lnTo>
                      <a:lnTo>
                        <a:pt x="2" y="79"/>
                      </a:lnTo>
                      <a:lnTo>
                        <a:pt x="0" y="72"/>
                      </a:lnTo>
                      <a:lnTo>
                        <a:pt x="0" y="66"/>
                      </a:lnTo>
                      <a:lnTo>
                        <a:pt x="0" y="60"/>
                      </a:lnTo>
                      <a:lnTo>
                        <a:pt x="2" y="55"/>
                      </a:lnTo>
                      <a:lnTo>
                        <a:pt x="2" y="47"/>
                      </a:lnTo>
                      <a:lnTo>
                        <a:pt x="4" y="43"/>
                      </a:lnTo>
                      <a:lnTo>
                        <a:pt x="8" y="36"/>
                      </a:lnTo>
                      <a:lnTo>
                        <a:pt x="10" y="32"/>
                      </a:lnTo>
                      <a:lnTo>
                        <a:pt x="13" y="26"/>
                      </a:lnTo>
                      <a:lnTo>
                        <a:pt x="17" y="22"/>
                      </a:lnTo>
                      <a:lnTo>
                        <a:pt x="21" y="17"/>
                      </a:lnTo>
                      <a:lnTo>
                        <a:pt x="27" y="13"/>
                      </a:lnTo>
                      <a:lnTo>
                        <a:pt x="31" y="9"/>
                      </a:lnTo>
                      <a:lnTo>
                        <a:pt x="36" y="7"/>
                      </a:lnTo>
                      <a:lnTo>
                        <a:pt x="42" y="3"/>
                      </a:lnTo>
                      <a:lnTo>
                        <a:pt x="48" y="2"/>
                      </a:lnTo>
                      <a:lnTo>
                        <a:pt x="55" y="0"/>
                      </a:lnTo>
                      <a:lnTo>
                        <a:pt x="63" y="0"/>
                      </a:lnTo>
                      <a:lnTo>
                        <a:pt x="63" y="5"/>
                      </a:lnTo>
                      <a:lnTo>
                        <a:pt x="63" y="13"/>
                      </a:lnTo>
                      <a:lnTo>
                        <a:pt x="63" y="22"/>
                      </a:lnTo>
                      <a:lnTo>
                        <a:pt x="63" y="30"/>
                      </a:lnTo>
                      <a:lnTo>
                        <a:pt x="53" y="32"/>
                      </a:lnTo>
                      <a:lnTo>
                        <a:pt x="48" y="34"/>
                      </a:lnTo>
                      <a:lnTo>
                        <a:pt x="42" y="38"/>
                      </a:lnTo>
                      <a:lnTo>
                        <a:pt x="38" y="43"/>
                      </a:lnTo>
                      <a:lnTo>
                        <a:pt x="34" y="49"/>
                      </a:lnTo>
                      <a:lnTo>
                        <a:pt x="33" y="55"/>
                      </a:lnTo>
                      <a:lnTo>
                        <a:pt x="31" y="60"/>
                      </a:lnTo>
                      <a:lnTo>
                        <a:pt x="31" y="68"/>
                      </a:lnTo>
                      <a:lnTo>
                        <a:pt x="31" y="76"/>
                      </a:lnTo>
                      <a:lnTo>
                        <a:pt x="33" y="83"/>
                      </a:lnTo>
                      <a:lnTo>
                        <a:pt x="36" y="89"/>
                      </a:lnTo>
                      <a:lnTo>
                        <a:pt x="42" y="95"/>
                      </a:lnTo>
                      <a:lnTo>
                        <a:pt x="48" y="97"/>
                      </a:lnTo>
                      <a:lnTo>
                        <a:pt x="55" y="100"/>
                      </a:lnTo>
                      <a:lnTo>
                        <a:pt x="59" y="100"/>
                      </a:lnTo>
                      <a:lnTo>
                        <a:pt x="63" y="102"/>
                      </a:lnTo>
                      <a:lnTo>
                        <a:pt x="69" y="102"/>
                      </a:lnTo>
                      <a:lnTo>
                        <a:pt x="72" y="102"/>
                      </a:lnTo>
                      <a:lnTo>
                        <a:pt x="72" y="1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6" name="Freeform 180"/>
                <p:cNvSpPr>
                  <a:spLocks/>
                </p:cNvSpPr>
                <p:nvPr/>
              </p:nvSpPr>
              <p:spPr bwMode="auto">
                <a:xfrm>
                  <a:off x="3563" y="2974"/>
                  <a:ext cx="24" cy="12"/>
                </a:xfrm>
                <a:custGeom>
                  <a:avLst/>
                  <a:gdLst>
                    <a:gd name="T0" fmla="*/ 11 w 49"/>
                    <a:gd name="T1" fmla="*/ 28 h 28"/>
                    <a:gd name="T2" fmla="*/ 36 w 49"/>
                    <a:gd name="T3" fmla="*/ 28 h 28"/>
                    <a:gd name="T4" fmla="*/ 49 w 49"/>
                    <a:gd name="T5" fmla="*/ 17 h 28"/>
                    <a:gd name="T6" fmla="*/ 36 w 49"/>
                    <a:gd name="T7" fmla="*/ 2 h 28"/>
                    <a:gd name="T8" fmla="*/ 11 w 49"/>
                    <a:gd name="T9" fmla="*/ 0 h 28"/>
                    <a:gd name="T10" fmla="*/ 0 w 49"/>
                    <a:gd name="T11" fmla="*/ 17 h 28"/>
                    <a:gd name="T12" fmla="*/ 11 w 49"/>
                    <a:gd name="T13" fmla="*/ 28 h 28"/>
                    <a:gd name="T14" fmla="*/ 11 w 49"/>
                    <a:gd name="T15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9" h="28">
                      <a:moveTo>
                        <a:pt x="11" y="28"/>
                      </a:moveTo>
                      <a:lnTo>
                        <a:pt x="36" y="28"/>
                      </a:lnTo>
                      <a:lnTo>
                        <a:pt x="49" y="17"/>
                      </a:lnTo>
                      <a:lnTo>
                        <a:pt x="36" y="2"/>
                      </a:lnTo>
                      <a:lnTo>
                        <a:pt x="11" y="0"/>
                      </a:lnTo>
                      <a:lnTo>
                        <a:pt x="0" y="17"/>
                      </a:lnTo>
                      <a:lnTo>
                        <a:pt x="11" y="28"/>
                      </a:lnTo>
                      <a:lnTo>
                        <a:pt x="11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7" name="Freeform 181"/>
                <p:cNvSpPr>
                  <a:spLocks/>
                </p:cNvSpPr>
                <p:nvPr/>
              </p:nvSpPr>
              <p:spPr bwMode="auto">
                <a:xfrm>
                  <a:off x="3317" y="2981"/>
                  <a:ext cx="24" cy="14"/>
                </a:xfrm>
                <a:custGeom>
                  <a:avLst/>
                  <a:gdLst>
                    <a:gd name="T0" fmla="*/ 11 w 49"/>
                    <a:gd name="T1" fmla="*/ 30 h 30"/>
                    <a:gd name="T2" fmla="*/ 38 w 49"/>
                    <a:gd name="T3" fmla="*/ 30 h 30"/>
                    <a:gd name="T4" fmla="*/ 49 w 49"/>
                    <a:gd name="T5" fmla="*/ 17 h 30"/>
                    <a:gd name="T6" fmla="*/ 38 w 49"/>
                    <a:gd name="T7" fmla="*/ 2 h 30"/>
                    <a:gd name="T8" fmla="*/ 11 w 49"/>
                    <a:gd name="T9" fmla="*/ 0 h 30"/>
                    <a:gd name="T10" fmla="*/ 0 w 49"/>
                    <a:gd name="T11" fmla="*/ 17 h 30"/>
                    <a:gd name="T12" fmla="*/ 11 w 49"/>
                    <a:gd name="T13" fmla="*/ 30 h 30"/>
                    <a:gd name="T14" fmla="*/ 11 w 49"/>
                    <a:gd name="T15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9" h="30">
                      <a:moveTo>
                        <a:pt x="11" y="30"/>
                      </a:moveTo>
                      <a:lnTo>
                        <a:pt x="38" y="30"/>
                      </a:lnTo>
                      <a:lnTo>
                        <a:pt x="49" y="17"/>
                      </a:lnTo>
                      <a:lnTo>
                        <a:pt x="38" y="2"/>
                      </a:lnTo>
                      <a:lnTo>
                        <a:pt x="11" y="0"/>
                      </a:lnTo>
                      <a:lnTo>
                        <a:pt x="0" y="17"/>
                      </a:lnTo>
                      <a:lnTo>
                        <a:pt x="11" y="30"/>
                      </a:lnTo>
                      <a:lnTo>
                        <a:pt x="11" y="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8" name="Freeform 182"/>
                <p:cNvSpPr>
                  <a:spLocks/>
                </p:cNvSpPr>
                <p:nvPr/>
              </p:nvSpPr>
              <p:spPr bwMode="auto">
                <a:xfrm>
                  <a:off x="3806" y="2970"/>
                  <a:ext cx="25" cy="12"/>
                </a:xfrm>
                <a:custGeom>
                  <a:avLst/>
                  <a:gdLst>
                    <a:gd name="T0" fmla="*/ 12 w 51"/>
                    <a:gd name="T1" fmla="*/ 29 h 29"/>
                    <a:gd name="T2" fmla="*/ 36 w 51"/>
                    <a:gd name="T3" fmla="*/ 29 h 29"/>
                    <a:gd name="T4" fmla="*/ 51 w 51"/>
                    <a:gd name="T5" fmla="*/ 15 h 29"/>
                    <a:gd name="T6" fmla="*/ 36 w 51"/>
                    <a:gd name="T7" fmla="*/ 2 h 29"/>
                    <a:gd name="T8" fmla="*/ 10 w 51"/>
                    <a:gd name="T9" fmla="*/ 0 h 29"/>
                    <a:gd name="T10" fmla="*/ 0 w 51"/>
                    <a:gd name="T11" fmla="*/ 15 h 29"/>
                    <a:gd name="T12" fmla="*/ 12 w 51"/>
                    <a:gd name="T13" fmla="*/ 29 h 29"/>
                    <a:gd name="T14" fmla="*/ 12 w 51"/>
                    <a:gd name="T15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1" h="29">
                      <a:moveTo>
                        <a:pt x="12" y="29"/>
                      </a:moveTo>
                      <a:lnTo>
                        <a:pt x="36" y="29"/>
                      </a:lnTo>
                      <a:lnTo>
                        <a:pt x="51" y="15"/>
                      </a:lnTo>
                      <a:lnTo>
                        <a:pt x="36" y="2"/>
                      </a:lnTo>
                      <a:lnTo>
                        <a:pt x="10" y="0"/>
                      </a:lnTo>
                      <a:lnTo>
                        <a:pt x="0" y="15"/>
                      </a:lnTo>
                      <a:lnTo>
                        <a:pt x="12" y="29"/>
                      </a:lnTo>
                      <a:lnTo>
                        <a:pt x="12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42" name="Rectangle 183"/>
              <p:cNvSpPr>
                <a:spLocks noChangeArrowheads="1"/>
              </p:cNvSpPr>
              <p:nvPr/>
            </p:nvSpPr>
            <p:spPr bwMode="auto">
              <a:xfrm>
                <a:off x="3426" y="3546"/>
                <a:ext cx="646" cy="1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2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zh-CN" altLang="en-US" sz="1600" dirty="0" smtClean="0"/>
                  <a:t>采购、生产</a:t>
                </a:r>
                <a:endParaRPr lang="en-US" altLang="zh-CN" sz="1600" dirty="0"/>
              </a:p>
            </p:txBody>
          </p:sp>
        </p:grpSp>
        <p:grpSp>
          <p:nvGrpSpPr>
            <p:cNvPr id="689" name="Group 419"/>
            <p:cNvGrpSpPr>
              <a:grpSpLocks/>
            </p:cNvGrpSpPr>
            <p:nvPr/>
          </p:nvGrpSpPr>
          <p:grpSpPr bwMode="auto">
            <a:xfrm>
              <a:off x="7814289" y="4119442"/>
              <a:ext cx="669112" cy="687041"/>
              <a:chOff x="192" y="1392"/>
              <a:chExt cx="1584" cy="1888"/>
            </a:xfrm>
          </p:grpSpPr>
          <p:grpSp>
            <p:nvGrpSpPr>
              <p:cNvPr id="691" name="Group 392"/>
              <p:cNvGrpSpPr>
                <a:grpSpLocks/>
              </p:cNvGrpSpPr>
              <p:nvPr/>
            </p:nvGrpSpPr>
            <p:grpSpPr bwMode="auto">
              <a:xfrm>
                <a:off x="192" y="1392"/>
                <a:ext cx="1584" cy="1888"/>
                <a:chOff x="192" y="1392"/>
                <a:chExt cx="1584" cy="1888"/>
              </a:xfrm>
            </p:grpSpPr>
            <p:sp>
              <p:nvSpPr>
                <p:cNvPr id="714" name="Freeform 192"/>
                <p:cNvSpPr>
                  <a:spLocks/>
                </p:cNvSpPr>
                <p:nvPr/>
              </p:nvSpPr>
              <p:spPr bwMode="auto">
                <a:xfrm>
                  <a:off x="1353" y="2936"/>
                  <a:ext cx="423" cy="316"/>
                </a:xfrm>
                <a:custGeom>
                  <a:avLst/>
                  <a:gdLst>
                    <a:gd name="T0" fmla="*/ 6 w 423"/>
                    <a:gd name="T1" fmla="*/ 316 h 316"/>
                    <a:gd name="T2" fmla="*/ 257 w 423"/>
                    <a:gd name="T3" fmla="*/ 225 h 316"/>
                    <a:gd name="T4" fmla="*/ 423 w 423"/>
                    <a:gd name="T5" fmla="*/ 0 h 316"/>
                    <a:gd name="T6" fmla="*/ 0 w 423"/>
                    <a:gd name="T7" fmla="*/ 0 h 316"/>
                    <a:gd name="T8" fmla="*/ 6 w 423"/>
                    <a:gd name="T9" fmla="*/ 316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3" h="316">
                      <a:moveTo>
                        <a:pt x="6" y="316"/>
                      </a:moveTo>
                      <a:lnTo>
                        <a:pt x="257" y="225"/>
                      </a:lnTo>
                      <a:lnTo>
                        <a:pt x="423" y="0"/>
                      </a:lnTo>
                      <a:lnTo>
                        <a:pt x="0" y="0"/>
                      </a:lnTo>
                      <a:lnTo>
                        <a:pt x="6" y="316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5" name="Freeform 193"/>
                <p:cNvSpPr>
                  <a:spLocks/>
                </p:cNvSpPr>
                <p:nvPr/>
              </p:nvSpPr>
              <p:spPr bwMode="auto">
                <a:xfrm>
                  <a:off x="491" y="1400"/>
                  <a:ext cx="992" cy="1819"/>
                </a:xfrm>
                <a:custGeom>
                  <a:avLst/>
                  <a:gdLst>
                    <a:gd name="T0" fmla="*/ 73 w 992"/>
                    <a:gd name="T1" fmla="*/ 25 h 1819"/>
                    <a:gd name="T2" fmla="*/ 85 w 992"/>
                    <a:gd name="T3" fmla="*/ 13 h 1819"/>
                    <a:gd name="T4" fmla="*/ 97 w 992"/>
                    <a:gd name="T5" fmla="*/ 4 h 1819"/>
                    <a:gd name="T6" fmla="*/ 112 w 992"/>
                    <a:gd name="T7" fmla="*/ 4 h 1819"/>
                    <a:gd name="T8" fmla="*/ 919 w 992"/>
                    <a:gd name="T9" fmla="*/ 0 h 1819"/>
                    <a:gd name="T10" fmla="*/ 934 w 992"/>
                    <a:gd name="T11" fmla="*/ 4 h 1819"/>
                    <a:gd name="T12" fmla="*/ 946 w 992"/>
                    <a:gd name="T13" fmla="*/ 8 h 1819"/>
                    <a:gd name="T14" fmla="*/ 959 w 992"/>
                    <a:gd name="T15" fmla="*/ 17 h 1819"/>
                    <a:gd name="T16" fmla="*/ 971 w 992"/>
                    <a:gd name="T17" fmla="*/ 29 h 1819"/>
                    <a:gd name="T18" fmla="*/ 980 w 992"/>
                    <a:gd name="T19" fmla="*/ 45 h 1819"/>
                    <a:gd name="T20" fmla="*/ 986 w 992"/>
                    <a:gd name="T21" fmla="*/ 62 h 1819"/>
                    <a:gd name="T22" fmla="*/ 989 w 992"/>
                    <a:gd name="T23" fmla="*/ 82 h 1819"/>
                    <a:gd name="T24" fmla="*/ 992 w 992"/>
                    <a:gd name="T25" fmla="*/ 103 h 1819"/>
                    <a:gd name="T26" fmla="*/ 992 w 992"/>
                    <a:gd name="T27" fmla="*/ 1667 h 1819"/>
                    <a:gd name="T28" fmla="*/ 989 w 992"/>
                    <a:gd name="T29" fmla="*/ 1687 h 1819"/>
                    <a:gd name="T30" fmla="*/ 983 w 992"/>
                    <a:gd name="T31" fmla="*/ 1704 h 1819"/>
                    <a:gd name="T32" fmla="*/ 974 w 992"/>
                    <a:gd name="T33" fmla="*/ 1720 h 1819"/>
                    <a:gd name="T34" fmla="*/ 907 w 992"/>
                    <a:gd name="T35" fmla="*/ 1811 h 1819"/>
                    <a:gd name="T36" fmla="*/ 913 w 992"/>
                    <a:gd name="T37" fmla="*/ 1794 h 1819"/>
                    <a:gd name="T38" fmla="*/ 919 w 992"/>
                    <a:gd name="T39" fmla="*/ 1774 h 1819"/>
                    <a:gd name="T40" fmla="*/ 919 w 992"/>
                    <a:gd name="T41" fmla="*/ 1753 h 1819"/>
                    <a:gd name="T42" fmla="*/ 919 w 992"/>
                    <a:gd name="T43" fmla="*/ 189 h 1819"/>
                    <a:gd name="T44" fmla="*/ 916 w 992"/>
                    <a:gd name="T45" fmla="*/ 169 h 1819"/>
                    <a:gd name="T46" fmla="*/ 910 w 992"/>
                    <a:gd name="T47" fmla="*/ 152 h 1819"/>
                    <a:gd name="T48" fmla="*/ 904 w 992"/>
                    <a:gd name="T49" fmla="*/ 136 h 1819"/>
                    <a:gd name="T50" fmla="*/ 895 w 992"/>
                    <a:gd name="T51" fmla="*/ 123 h 1819"/>
                    <a:gd name="T52" fmla="*/ 883 w 992"/>
                    <a:gd name="T53" fmla="*/ 111 h 1819"/>
                    <a:gd name="T54" fmla="*/ 868 w 992"/>
                    <a:gd name="T55" fmla="*/ 103 h 1819"/>
                    <a:gd name="T56" fmla="*/ 856 w 992"/>
                    <a:gd name="T57" fmla="*/ 99 h 1819"/>
                    <a:gd name="T58" fmla="*/ 46 w 992"/>
                    <a:gd name="T59" fmla="*/ 99 h 1819"/>
                    <a:gd name="T60" fmla="*/ 34 w 992"/>
                    <a:gd name="T61" fmla="*/ 99 h 1819"/>
                    <a:gd name="T62" fmla="*/ 18 w 992"/>
                    <a:gd name="T63" fmla="*/ 107 h 1819"/>
                    <a:gd name="T64" fmla="*/ 6 w 992"/>
                    <a:gd name="T65" fmla="*/ 115 h 18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992" h="1819">
                      <a:moveTo>
                        <a:pt x="0" y="123"/>
                      </a:moveTo>
                      <a:lnTo>
                        <a:pt x="73" y="25"/>
                      </a:lnTo>
                      <a:lnTo>
                        <a:pt x="79" y="17"/>
                      </a:lnTo>
                      <a:lnTo>
                        <a:pt x="85" y="13"/>
                      </a:lnTo>
                      <a:lnTo>
                        <a:pt x="91" y="8"/>
                      </a:lnTo>
                      <a:lnTo>
                        <a:pt x="97" y="4"/>
                      </a:lnTo>
                      <a:lnTo>
                        <a:pt x="103" y="4"/>
                      </a:lnTo>
                      <a:lnTo>
                        <a:pt x="112" y="4"/>
                      </a:lnTo>
                      <a:lnTo>
                        <a:pt x="118" y="0"/>
                      </a:lnTo>
                      <a:lnTo>
                        <a:pt x="919" y="0"/>
                      </a:lnTo>
                      <a:lnTo>
                        <a:pt x="925" y="4"/>
                      </a:lnTo>
                      <a:lnTo>
                        <a:pt x="934" y="4"/>
                      </a:lnTo>
                      <a:lnTo>
                        <a:pt x="940" y="4"/>
                      </a:lnTo>
                      <a:lnTo>
                        <a:pt x="946" y="8"/>
                      </a:lnTo>
                      <a:lnTo>
                        <a:pt x="952" y="13"/>
                      </a:lnTo>
                      <a:lnTo>
                        <a:pt x="959" y="17"/>
                      </a:lnTo>
                      <a:lnTo>
                        <a:pt x="965" y="25"/>
                      </a:lnTo>
                      <a:lnTo>
                        <a:pt x="971" y="29"/>
                      </a:lnTo>
                      <a:lnTo>
                        <a:pt x="974" y="37"/>
                      </a:lnTo>
                      <a:lnTo>
                        <a:pt x="980" y="45"/>
                      </a:lnTo>
                      <a:lnTo>
                        <a:pt x="983" y="54"/>
                      </a:lnTo>
                      <a:lnTo>
                        <a:pt x="986" y="62"/>
                      </a:lnTo>
                      <a:lnTo>
                        <a:pt x="989" y="70"/>
                      </a:lnTo>
                      <a:lnTo>
                        <a:pt x="989" y="82"/>
                      </a:lnTo>
                      <a:lnTo>
                        <a:pt x="992" y="91"/>
                      </a:lnTo>
                      <a:lnTo>
                        <a:pt x="992" y="103"/>
                      </a:lnTo>
                      <a:lnTo>
                        <a:pt x="992" y="1659"/>
                      </a:lnTo>
                      <a:lnTo>
                        <a:pt x="992" y="1667"/>
                      </a:lnTo>
                      <a:lnTo>
                        <a:pt x="989" y="1679"/>
                      </a:lnTo>
                      <a:lnTo>
                        <a:pt x="989" y="1687"/>
                      </a:lnTo>
                      <a:lnTo>
                        <a:pt x="986" y="1696"/>
                      </a:lnTo>
                      <a:lnTo>
                        <a:pt x="983" y="1704"/>
                      </a:lnTo>
                      <a:lnTo>
                        <a:pt x="980" y="1712"/>
                      </a:lnTo>
                      <a:lnTo>
                        <a:pt x="974" y="1720"/>
                      </a:lnTo>
                      <a:lnTo>
                        <a:pt x="904" y="1819"/>
                      </a:lnTo>
                      <a:lnTo>
                        <a:pt x="907" y="1811"/>
                      </a:lnTo>
                      <a:lnTo>
                        <a:pt x="910" y="1802"/>
                      </a:lnTo>
                      <a:lnTo>
                        <a:pt x="913" y="1794"/>
                      </a:lnTo>
                      <a:lnTo>
                        <a:pt x="916" y="1786"/>
                      </a:lnTo>
                      <a:lnTo>
                        <a:pt x="919" y="1774"/>
                      </a:lnTo>
                      <a:lnTo>
                        <a:pt x="919" y="1765"/>
                      </a:lnTo>
                      <a:lnTo>
                        <a:pt x="919" y="1753"/>
                      </a:lnTo>
                      <a:lnTo>
                        <a:pt x="919" y="197"/>
                      </a:lnTo>
                      <a:lnTo>
                        <a:pt x="919" y="189"/>
                      </a:lnTo>
                      <a:lnTo>
                        <a:pt x="919" y="177"/>
                      </a:lnTo>
                      <a:lnTo>
                        <a:pt x="916" y="169"/>
                      </a:lnTo>
                      <a:lnTo>
                        <a:pt x="913" y="160"/>
                      </a:lnTo>
                      <a:lnTo>
                        <a:pt x="910" y="152"/>
                      </a:lnTo>
                      <a:lnTo>
                        <a:pt x="907" y="144"/>
                      </a:lnTo>
                      <a:lnTo>
                        <a:pt x="904" y="136"/>
                      </a:lnTo>
                      <a:lnTo>
                        <a:pt x="898" y="127"/>
                      </a:lnTo>
                      <a:lnTo>
                        <a:pt x="895" y="123"/>
                      </a:lnTo>
                      <a:lnTo>
                        <a:pt x="889" y="115"/>
                      </a:lnTo>
                      <a:lnTo>
                        <a:pt x="883" y="111"/>
                      </a:lnTo>
                      <a:lnTo>
                        <a:pt x="874" y="107"/>
                      </a:lnTo>
                      <a:lnTo>
                        <a:pt x="868" y="103"/>
                      </a:lnTo>
                      <a:lnTo>
                        <a:pt x="862" y="99"/>
                      </a:lnTo>
                      <a:lnTo>
                        <a:pt x="856" y="99"/>
                      </a:lnTo>
                      <a:lnTo>
                        <a:pt x="847" y="99"/>
                      </a:lnTo>
                      <a:lnTo>
                        <a:pt x="46" y="99"/>
                      </a:lnTo>
                      <a:lnTo>
                        <a:pt x="40" y="99"/>
                      </a:lnTo>
                      <a:lnTo>
                        <a:pt x="34" y="99"/>
                      </a:lnTo>
                      <a:lnTo>
                        <a:pt x="24" y="103"/>
                      </a:lnTo>
                      <a:lnTo>
                        <a:pt x="18" y="107"/>
                      </a:lnTo>
                      <a:lnTo>
                        <a:pt x="12" y="111"/>
                      </a:lnTo>
                      <a:lnTo>
                        <a:pt x="6" y="115"/>
                      </a:lnTo>
                      <a:lnTo>
                        <a:pt x="0" y="123"/>
                      </a:lnTo>
                      <a:close/>
                    </a:path>
                  </a:pathLst>
                </a:custGeom>
                <a:solidFill>
                  <a:srgbClr val="FFFFA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6" name="Freeform 194"/>
                <p:cNvSpPr>
                  <a:spLocks/>
                </p:cNvSpPr>
                <p:nvPr/>
              </p:nvSpPr>
              <p:spPr bwMode="auto">
                <a:xfrm>
                  <a:off x="485" y="1417"/>
                  <a:ext cx="82" cy="110"/>
                </a:xfrm>
                <a:custGeom>
                  <a:avLst/>
                  <a:gdLst>
                    <a:gd name="T0" fmla="*/ 73 w 82"/>
                    <a:gd name="T1" fmla="*/ 0 h 110"/>
                    <a:gd name="T2" fmla="*/ 73 w 82"/>
                    <a:gd name="T3" fmla="*/ 0 h 110"/>
                    <a:gd name="T4" fmla="*/ 0 w 82"/>
                    <a:gd name="T5" fmla="*/ 98 h 110"/>
                    <a:gd name="T6" fmla="*/ 12 w 82"/>
                    <a:gd name="T7" fmla="*/ 110 h 110"/>
                    <a:gd name="T8" fmla="*/ 82 w 82"/>
                    <a:gd name="T9" fmla="*/ 16 h 110"/>
                    <a:gd name="T10" fmla="*/ 82 w 82"/>
                    <a:gd name="T11" fmla="*/ 16 h 110"/>
                    <a:gd name="T12" fmla="*/ 73 w 82"/>
                    <a:gd name="T13" fmla="*/ 0 h 110"/>
                    <a:gd name="T14" fmla="*/ 73 w 82"/>
                    <a:gd name="T15" fmla="*/ 0 h 110"/>
                    <a:gd name="T16" fmla="*/ 73 w 82"/>
                    <a:gd name="T17" fmla="*/ 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2" h="110">
                      <a:moveTo>
                        <a:pt x="73" y="0"/>
                      </a:moveTo>
                      <a:lnTo>
                        <a:pt x="73" y="0"/>
                      </a:lnTo>
                      <a:lnTo>
                        <a:pt x="0" y="98"/>
                      </a:lnTo>
                      <a:lnTo>
                        <a:pt x="12" y="110"/>
                      </a:lnTo>
                      <a:lnTo>
                        <a:pt x="82" y="16"/>
                      </a:lnTo>
                      <a:lnTo>
                        <a:pt x="82" y="16"/>
                      </a:lnTo>
                      <a:lnTo>
                        <a:pt x="73" y="0"/>
                      </a:lnTo>
                      <a:lnTo>
                        <a:pt x="73" y="0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" name="Freeform 195"/>
                <p:cNvSpPr>
                  <a:spLocks/>
                </p:cNvSpPr>
                <p:nvPr/>
              </p:nvSpPr>
              <p:spPr bwMode="auto">
                <a:xfrm>
                  <a:off x="558" y="1408"/>
                  <a:ext cx="15" cy="25"/>
                </a:xfrm>
                <a:custGeom>
                  <a:avLst/>
                  <a:gdLst>
                    <a:gd name="T0" fmla="*/ 6 w 15"/>
                    <a:gd name="T1" fmla="*/ 0 h 25"/>
                    <a:gd name="T2" fmla="*/ 6 w 15"/>
                    <a:gd name="T3" fmla="*/ 5 h 25"/>
                    <a:gd name="T4" fmla="*/ 0 w 15"/>
                    <a:gd name="T5" fmla="*/ 9 h 25"/>
                    <a:gd name="T6" fmla="*/ 9 w 15"/>
                    <a:gd name="T7" fmla="*/ 25 h 25"/>
                    <a:gd name="T8" fmla="*/ 15 w 15"/>
                    <a:gd name="T9" fmla="*/ 17 h 25"/>
                    <a:gd name="T10" fmla="*/ 15 w 15"/>
                    <a:gd name="T11" fmla="*/ 21 h 25"/>
                    <a:gd name="T12" fmla="*/ 6 w 15"/>
                    <a:gd name="T13" fmla="*/ 0 h 25"/>
                    <a:gd name="T14" fmla="*/ 6 w 15"/>
                    <a:gd name="T15" fmla="*/ 5 h 25"/>
                    <a:gd name="T16" fmla="*/ 6 w 15"/>
                    <a:gd name="T17" fmla="*/ 5 h 25"/>
                    <a:gd name="T18" fmla="*/ 6 w 15"/>
                    <a:gd name="T1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6" y="0"/>
                      </a:moveTo>
                      <a:lnTo>
                        <a:pt x="6" y="5"/>
                      </a:lnTo>
                      <a:lnTo>
                        <a:pt x="0" y="9"/>
                      </a:lnTo>
                      <a:lnTo>
                        <a:pt x="9" y="25"/>
                      </a:lnTo>
                      <a:lnTo>
                        <a:pt x="15" y="17"/>
                      </a:lnTo>
                      <a:lnTo>
                        <a:pt x="15" y="21"/>
                      </a:lnTo>
                      <a:lnTo>
                        <a:pt x="6" y="0"/>
                      </a:lnTo>
                      <a:lnTo>
                        <a:pt x="6" y="5"/>
                      </a:lnTo>
                      <a:lnTo>
                        <a:pt x="6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" name="Freeform 196"/>
                <p:cNvSpPr>
                  <a:spLocks/>
                </p:cNvSpPr>
                <p:nvPr/>
              </p:nvSpPr>
              <p:spPr bwMode="auto">
                <a:xfrm>
                  <a:off x="564" y="1404"/>
                  <a:ext cx="15" cy="25"/>
                </a:xfrm>
                <a:custGeom>
                  <a:avLst/>
                  <a:gdLst>
                    <a:gd name="T0" fmla="*/ 9 w 15"/>
                    <a:gd name="T1" fmla="*/ 0 h 25"/>
                    <a:gd name="T2" fmla="*/ 6 w 15"/>
                    <a:gd name="T3" fmla="*/ 0 h 25"/>
                    <a:gd name="T4" fmla="*/ 0 w 15"/>
                    <a:gd name="T5" fmla="*/ 4 h 25"/>
                    <a:gd name="T6" fmla="*/ 9 w 15"/>
                    <a:gd name="T7" fmla="*/ 25 h 25"/>
                    <a:gd name="T8" fmla="*/ 15 w 15"/>
                    <a:gd name="T9" fmla="*/ 17 h 25"/>
                    <a:gd name="T10" fmla="*/ 15 w 15"/>
                    <a:gd name="T11" fmla="*/ 17 h 25"/>
                    <a:gd name="T12" fmla="*/ 9 w 15"/>
                    <a:gd name="T13" fmla="*/ 0 h 25"/>
                    <a:gd name="T14" fmla="*/ 9 w 15"/>
                    <a:gd name="T15" fmla="*/ 0 h 25"/>
                    <a:gd name="T16" fmla="*/ 6 w 15"/>
                    <a:gd name="T17" fmla="*/ 0 h 25"/>
                    <a:gd name="T18" fmla="*/ 9 w 15"/>
                    <a:gd name="T1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9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9" y="25"/>
                      </a:lnTo>
                      <a:lnTo>
                        <a:pt x="15" y="17"/>
                      </a:lnTo>
                      <a:lnTo>
                        <a:pt x="15" y="17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" name="Freeform 197"/>
                <p:cNvSpPr>
                  <a:spLocks/>
                </p:cNvSpPr>
                <p:nvPr/>
              </p:nvSpPr>
              <p:spPr bwMode="auto">
                <a:xfrm>
                  <a:off x="573" y="1400"/>
                  <a:ext cx="12" cy="21"/>
                </a:xfrm>
                <a:custGeom>
                  <a:avLst/>
                  <a:gdLst>
                    <a:gd name="T0" fmla="*/ 6 w 12"/>
                    <a:gd name="T1" fmla="*/ 0 h 21"/>
                    <a:gd name="T2" fmla="*/ 6 w 12"/>
                    <a:gd name="T3" fmla="*/ 0 h 21"/>
                    <a:gd name="T4" fmla="*/ 0 w 12"/>
                    <a:gd name="T5" fmla="*/ 4 h 21"/>
                    <a:gd name="T6" fmla="*/ 6 w 12"/>
                    <a:gd name="T7" fmla="*/ 21 h 21"/>
                    <a:gd name="T8" fmla="*/ 12 w 12"/>
                    <a:gd name="T9" fmla="*/ 17 h 21"/>
                    <a:gd name="T10" fmla="*/ 9 w 12"/>
                    <a:gd name="T11" fmla="*/ 17 h 21"/>
                    <a:gd name="T12" fmla="*/ 6 w 12"/>
                    <a:gd name="T13" fmla="*/ 0 h 21"/>
                    <a:gd name="T14" fmla="*/ 6 w 12"/>
                    <a:gd name="T15" fmla="*/ 0 h 21"/>
                    <a:gd name="T16" fmla="*/ 6 w 12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6" y="21"/>
                      </a:lnTo>
                      <a:lnTo>
                        <a:pt x="12" y="17"/>
                      </a:lnTo>
                      <a:lnTo>
                        <a:pt x="9" y="17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0" name="Freeform 198"/>
                <p:cNvSpPr>
                  <a:spLocks/>
                </p:cNvSpPr>
                <p:nvPr/>
              </p:nvSpPr>
              <p:spPr bwMode="auto">
                <a:xfrm>
                  <a:off x="579" y="1396"/>
                  <a:ext cx="12" cy="21"/>
                </a:xfrm>
                <a:custGeom>
                  <a:avLst/>
                  <a:gdLst>
                    <a:gd name="T0" fmla="*/ 6 w 12"/>
                    <a:gd name="T1" fmla="*/ 0 h 21"/>
                    <a:gd name="T2" fmla="*/ 6 w 12"/>
                    <a:gd name="T3" fmla="*/ 0 h 21"/>
                    <a:gd name="T4" fmla="*/ 0 w 12"/>
                    <a:gd name="T5" fmla="*/ 4 h 21"/>
                    <a:gd name="T6" fmla="*/ 3 w 12"/>
                    <a:gd name="T7" fmla="*/ 21 h 21"/>
                    <a:gd name="T8" fmla="*/ 12 w 12"/>
                    <a:gd name="T9" fmla="*/ 21 h 21"/>
                    <a:gd name="T10" fmla="*/ 12 w 12"/>
                    <a:gd name="T11" fmla="*/ 21 h 21"/>
                    <a:gd name="T12" fmla="*/ 6 w 12"/>
                    <a:gd name="T13" fmla="*/ 0 h 21"/>
                    <a:gd name="T14" fmla="*/ 6 w 12"/>
                    <a:gd name="T15" fmla="*/ 0 h 21"/>
                    <a:gd name="T16" fmla="*/ 6 w 12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3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" name="Freeform 199"/>
                <p:cNvSpPr>
                  <a:spLocks/>
                </p:cNvSpPr>
                <p:nvPr/>
              </p:nvSpPr>
              <p:spPr bwMode="auto">
                <a:xfrm>
                  <a:off x="585" y="1396"/>
                  <a:ext cx="12" cy="21"/>
                </a:xfrm>
                <a:custGeom>
                  <a:avLst/>
                  <a:gdLst>
                    <a:gd name="T0" fmla="*/ 9 w 12"/>
                    <a:gd name="T1" fmla="*/ 0 h 21"/>
                    <a:gd name="T2" fmla="*/ 9 w 12"/>
                    <a:gd name="T3" fmla="*/ 0 h 21"/>
                    <a:gd name="T4" fmla="*/ 0 w 12"/>
                    <a:gd name="T5" fmla="*/ 0 h 21"/>
                    <a:gd name="T6" fmla="*/ 6 w 12"/>
                    <a:gd name="T7" fmla="*/ 21 h 21"/>
                    <a:gd name="T8" fmla="*/ 12 w 12"/>
                    <a:gd name="T9" fmla="*/ 17 h 21"/>
                    <a:gd name="T10" fmla="*/ 12 w 12"/>
                    <a:gd name="T11" fmla="*/ 17 h 21"/>
                    <a:gd name="T12" fmla="*/ 9 w 12"/>
                    <a:gd name="T13" fmla="*/ 0 h 21"/>
                    <a:gd name="T14" fmla="*/ 9 w 12"/>
                    <a:gd name="T15" fmla="*/ 0 h 21"/>
                    <a:gd name="T16" fmla="*/ 9 w 12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6" y="21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" name="Freeform 200"/>
                <p:cNvSpPr>
                  <a:spLocks/>
                </p:cNvSpPr>
                <p:nvPr/>
              </p:nvSpPr>
              <p:spPr bwMode="auto">
                <a:xfrm>
                  <a:off x="594" y="1392"/>
                  <a:ext cx="9" cy="21"/>
                </a:xfrm>
                <a:custGeom>
                  <a:avLst/>
                  <a:gdLst>
                    <a:gd name="T0" fmla="*/ 9 w 9"/>
                    <a:gd name="T1" fmla="*/ 0 h 21"/>
                    <a:gd name="T2" fmla="*/ 6 w 9"/>
                    <a:gd name="T3" fmla="*/ 0 h 21"/>
                    <a:gd name="T4" fmla="*/ 0 w 9"/>
                    <a:gd name="T5" fmla="*/ 4 h 21"/>
                    <a:gd name="T6" fmla="*/ 3 w 9"/>
                    <a:gd name="T7" fmla="*/ 21 h 21"/>
                    <a:gd name="T8" fmla="*/ 9 w 9"/>
                    <a:gd name="T9" fmla="*/ 21 h 21"/>
                    <a:gd name="T10" fmla="*/ 9 w 9"/>
                    <a:gd name="T11" fmla="*/ 21 h 21"/>
                    <a:gd name="T12" fmla="*/ 9 w 9"/>
                    <a:gd name="T13" fmla="*/ 0 h 21"/>
                    <a:gd name="T14" fmla="*/ 6 w 9"/>
                    <a:gd name="T15" fmla="*/ 0 h 21"/>
                    <a:gd name="T16" fmla="*/ 6 w 9"/>
                    <a:gd name="T17" fmla="*/ 0 h 21"/>
                    <a:gd name="T18" fmla="*/ 9 w 9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1">
                      <a:moveTo>
                        <a:pt x="9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3" y="21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" name="Freeform 201"/>
                <p:cNvSpPr>
                  <a:spLocks/>
                </p:cNvSpPr>
                <p:nvPr/>
              </p:nvSpPr>
              <p:spPr bwMode="auto">
                <a:xfrm>
                  <a:off x="603" y="1392"/>
                  <a:ext cx="6" cy="21"/>
                </a:xfrm>
                <a:custGeom>
                  <a:avLst/>
                  <a:gdLst>
                    <a:gd name="T0" fmla="*/ 6 w 6"/>
                    <a:gd name="T1" fmla="*/ 0 h 21"/>
                    <a:gd name="T2" fmla="*/ 6 w 6"/>
                    <a:gd name="T3" fmla="*/ 0 h 21"/>
                    <a:gd name="T4" fmla="*/ 0 w 6"/>
                    <a:gd name="T5" fmla="*/ 0 h 21"/>
                    <a:gd name="T6" fmla="*/ 0 w 6"/>
                    <a:gd name="T7" fmla="*/ 21 h 21"/>
                    <a:gd name="T8" fmla="*/ 6 w 6"/>
                    <a:gd name="T9" fmla="*/ 21 h 21"/>
                    <a:gd name="T10" fmla="*/ 6 w 6"/>
                    <a:gd name="T11" fmla="*/ 21 h 21"/>
                    <a:gd name="T12" fmla="*/ 6 w 6"/>
                    <a:gd name="T13" fmla="*/ 0 h 21"/>
                    <a:gd name="T14" fmla="*/ 6 w 6"/>
                    <a:gd name="T15" fmla="*/ 0 h 21"/>
                    <a:gd name="T16" fmla="*/ 6 w 6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" h="2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" name="Freeform 202"/>
                <p:cNvSpPr>
                  <a:spLocks/>
                </p:cNvSpPr>
                <p:nvPr/>
              </p:nvSpPr>
              <p:spPr bwMode="auto">
                <a:xfrm>
                  <a:off x="609" y="1392"/>
                  <a:ext cx="801" cy="21"/>
                </a:xfrm>
                <a:custGeom>
                  <a:avLst/>
                  <a:gdLst>
                    <a:gd name="T0" fmla="*/ 801 w 801"/>
                    <a:gd name="T1" fmla="*/ 0 h 21"/>
                    <a:gd name="T2" fmla="*/ 801 w 801"/>
                    <a:gd name="T3" fmla="*/ 0 h 21"/>
                    <a:gd name="T4" fmla="*/ 0 w 801"/>
                    <a:gd name="T5" fmla="*/ 0 h 21"/>
                    <a:gd name="T6" fmla="*/ 0 w 801"/>
                    <a:gd name="T7" fmla="*/ 21 h 21"/>
                    <a:gd name="T8" fmla="*/ 801 w 801"/>
                    <a:gd name="T9" fmla="*/ 21 h 21"/>
                    <a:gd name="T10" fmla="*/ 801 w 801"/>
                    <a:gd name="T11" fmla="*/ 21 h 21"/>
                    <a:gd name="T12" fmla="*/ 801 w 801"/>
                    <a:gd name="T13" fmla="*/ 0 h 21"/>
                    <a:gd name="T14" fmla="*/ 801 w 801"/>
                    <a:gd name="T15" fmla="*/ 0 h 21"/>
                    <a:gd name="T16" fmla="*/ 801 w 801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1" h="21">
                      <a:moveTo>
                        <a:pt x="801" y="0"/>
                      </a:move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801" y="21"/>
                      </a:lnTo>
                      <a:lnTo>
                        <a:pt x="801" y="21"/>
                      </a:lnTo>
                      <a:lnTo>
                        <a:pt x="801" y="0"/>
                      </a:lnTo>
                      <a:lnTo>
                        <a:pt x="801" y="0"/>
                      </a:lnTo>
                      <a:lnTo>
                        <a:pt x="8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" name="Freeform 203"/>
                <p:cNvSpPr>
                  <a:spLocks/>
                </p:cNvSpPr>
                <p:nvPr/>
              </p:nvSpPr>
              <p:spPr bwMode="auto">
                <a:xfrm>
                  <a:off x="1410" y="1392"/>
                  <a:ext cx="9" cy="21"/>
                </a:xfrm>
                <a:custGeom>
                  <a:avLst/>
                  <a:gdLst>
                    <a:gd name="T0" fmla="*/ 9 w 9"/>
                    <a:gd name="T1" fmla="*/ 0 h 21"/>
                    <a:gd name="T2" fmla="*/ 6 w 9"/>
                    <a:gd name="T3" fmla="*/ 0 h 21"/>
                    <a:gd name="T4" fmla="*/ 0 w 9"/>
                    <a:gd name="T5" fmla="*/ 0 h 21"/>
                    <a:gd name="T6" fmla="*/ 0 w 9"/>
                    <a:gd name="T7" fmla="*/ 21 h 21"/>
                    <a:gd name="T8" fmla="*/ 6 w 9"/>
                    <a:gd name="T9" fmla="*/ 21 h 21"/>
                    <a:gd name="T10" fmla="*/ 6 w 9"/>
                    <a:gd name="T11" fmla="*/ 21 h 21"/>
                    <a:gd name="T12" fmla="*/ 9 w 9"/>
                    <a:gd name="T13" fmla="*/ 0 h 21"/>
                    <a:gd name="T14" fmla="*/ 6 w 9"/>
                    <a:gd name="T15" fmla="*/ 0 h 21"/>
                    <a:gd name="T16" fmla="*/ 6 w 9"/>
                    <a:gd name="T17" fmla="*/ 0 h 21"/>
                    <a:gd name="T18" fmla="*/ 9 w 9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1">
                      <a:moveTo>
                        <a:pt x="9" y="0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" name="Freeform 204"/>
                <p:cNvSpPr>
                  <a:spLocks/>
                </p:cNvSpPr>
                <p:nvPr/>
              </p:nvSpPr>
              <p:spPr bwMode="auto">
                <a:xfrm>
                  <a:off x="1416" y="1392"/>
                  <a:ext cx="9" cy="21"/>
                </a:xfrm>
                <a:custGeom>
                  <a:avLst/>
                  <a:gdLst>
                    <a:gd name="T0" fmla="*/ 9 w 9"/>
                    <a:gd name="T1" fmla="*/ 4 h 21"/>
                    <a:gd name="T2" fmla="*/ 9 w 9"/>
                    <a:gd name="T3" fmla="*/ 4 h 21"/>
                    <a:gd name="T4" fmla="*/ 3 w 9"/>
                    <a:gd name="T5" fmla="*/ 0 h 21"/>
                    <a:gd name="T6" fmla="*/ 0 w 9"/>
                    <a:gd name="T7" fmla="*/ 21 h 21"/>
                    <a:gd name="T8" fmla="*/ 6 w 9"/>
                    <a:gd name="T9" fmla="*/ 21 h 21"/>
                    <a:gd name="T10" fmla="*/ 6 w 9"/>
                    <a:gd name="T11" fmla="*/ 21 h 21"/>
                    <a:gd name="T12" fmla="*/ 9 w 9"/>
                    <a:gd name="T13" fmla="*/ 4 h 21"/>
                    <a:gd name="T14" fmla="*/ 9 w 9"/>
                    <a:gd name="T15" fmla="*/ 4 h 21"/>
                    <a:gd name="T16" fmla="*/ 9 w 9"/>
                    <a:gd name="T17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9" y="4"/>
                      </a:moveTo>
                      <a:lnTo>
                        <a:pt x="9" y="4"/>
                      </a:lnTo>
                      <a:lnTo>
                        <a:pt x="3" y="0"/>
                      </a:ln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9" y="4"/>
                      </a:lnTo>
                      <a:lnTo>
                        <a:pt x="9" y="4"/>
                      </a:lnTo>
                      <a:lnTo>
                        <a:pt x="9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" name="Freeform 205"/>
                <p:cNvSpPr>
                  <a:spLocks/>
                </p:cNvSpPr>
                <p:nvPr/>
              </p:nvSpPr>
              <p:spPr bwMode="auto">
                <a:xfrm>
                  <a:off x="1422" y="1396"/>
                  <a:ext cx="12" cy="21"/>
                </a:xfrm>
                <a:custGeom>
                  <a:avLst/>
                  <a:gdLst>
                    <a:gd name="T0" fmla="*/ 12 w 12"/>
                    <a:gd name="T1" fmla="*/ 0 h 21"/>
                    <a:gd name="T2" fmla="*/ 9 w 12"/>
                    <a:gd name="T3" fmla="*/ 0 h 21"/>
                    <a:gd name="T4" fmla="*/ 3 w 12"/>
                    <a:gd name="T5" fmla="*/ 0 h 21"/>
                    <a:gd name="T6" fmla="*/ 0 w 12"/>
                    <a:gd name="T7" fmla="*/ 17 h 21"/>
                    <a:gd name="T8" fmla="*/ 6 w 12"/>
                    <a:gd name="T9" fmla="*/ 21 h 21"/>
                    <a:gd name="T10" fmla="*/ 6 w 12"/>
                    <a:gd name="T11" fmla="*/ 21 h 21"/>
                    <a:gd name="T12" fmla="*/ 12 w 12"/>
                    <a:gd name="T13" fmla="*/ 0 h 21"/>
                    <a:gd name="T14" fmla="*/ 12 w 12"/>
                    <a:gd name="T15" fmla="*/ 0 h 21"/>
                    <a:gd name="T16" fmla="*/ 9 w 12"/>
                    <a:gd name="T17" fmla="*/ 0 h 21"/>
                    <a:gd name="T18" fmla="*/ 12 w 12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1">
                      <a:moveTo>
                        <a:pt x="12" y="0"/>
                      </a:moveTo>
                      <a:lnTo>
                        <a:pt x="9" y="0"/>
                      </a:lnTo>
                      <a:lnTo>
                        <a:pt x="3" y="0"/>
                      </a:ln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" name="Freeform 206"/>
                <p:cNvSpPr>
                  <a:spLocks/>
                </p:cNvSpPr>
                <p:nvPr/>
              </p:nvSpPr>
              <p:spPr bwMode="auto">
                <a:xfrm>
                  <a:off x="1428" y="1396"/>
                  <a:ext cx="12" cy="21"/>
                </a:xfrm>
                <a:custGeom>
                  <a:avLst/>
                  <a:gdLst>
                    <a:gd name="T0" fmla="*/ 12 w 12"/>
                    <a:gd name="T1" fmla="*/ 4 h 21"/>
                    <a:gd name="T2" fmla="*/ 12 w 12"/>
                    <a:gd name="T3" fmla="*/ 4 h 21"/>
                    <a:gd name="T4" fmla="*/ 6 w 12"/>
                    <a:gd name="T5" fmla="*/ 0 h 21"/>
                    <a:gd name="T6" fmla="*/ 0 w 12"/>
                    <a:gd name="T7" fmla="*/ 21 h 21"/>
                    <a:gd name="T8" fmla="*/ 6 w 12"/>
                    <a:gd name="T9" fmla="*/ 21 h 21"/>
                    <a:gd name="T10" fmla="*/ 6 w 12"/>
                    <a:gd name="T11" fmla="*/ 21 h 21"/>
                    <a:gd name="T12" fmla="*/ 12 w 12"/>
                    <a:gd name="T13" fmla="*/ 4 h 21"/>
                    <a:gd name="T14" fmla="*/ 12 w 12"/>
                    <a:gd name="T15" fmla="*/ 4 h 21"/>
                    <a:gd name="T16" fmla="*/ 12 w 12"/>
                    <a:gd name="T17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" name="Freeform 207"/>
                <p:cNvSpPr>
                  <a:spLocks/>
                </p:cNvSpPr>
                <p:nvPr/>
              </p:nvSpPr>
              <p:spPr bwMode="auto">
                <a:xfrm>
                  <a:off x="1434" y="1400"/>
                  <a:ext cx="13" cy="21"/>
                </a:xfrm>
                <a:custGeom>
                  <a:avLst/>
                  <a:gdLst>
                    <a:gd name="T0" fmla="*/ 13 w 13"/>
                    <a:gd name="T1" fmla="*/ 4 h 21"/>
                    <a:gd name="T2" fmla="*/ 13 w 13"/>
                    <a:gd name="T3" fmla="*/ 4 h 21"/>
                    <a:gd name="T4" fmla="*/ 6 w 13"/>
                    <a:gd name="T5" fmla="*/ 0 h 21"/>
                    <a:gd name="T6" fmla="*/ 0 w 13"/>
                    <a:gd name="T7" fmla="*/ 17 h 21"/>
                    <a:gd name="T8" fmla="*/ 6 w 13"/>
                    <a:gd name="T9" fmla="*/ 21 h 21"/>
                    <a:gd name="T10" fmla="*/ 6 w 13"/>
                    <a:gd name="T11" fmla="*/ 21 h 21"/>
                    <a:gd name="T12" fmla="*/ 13 w 13"/>
                    <a:gd name="T13" fmla="*/ 4 h 21"/>
                    <a:gd name="T14" fmla="*/ 13 w 13"/>
                    <a:gd name="T15" fmla="*/ 4 h 21"/>
                    <a:gd name="T16" fmla="*/ 13 w 13"/>
                    <a:gd name="T17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" h="21">
                      <a:moveTo>
                        <a:pt x="13" y="4"/>
                      </a:moveTo>
                      <a:lnTo>
                        <a:pt x="13" y="4"/>
                      </a:lnTo>
                      <a:lnTo>
                        <a:pt x="6" y="0"/>
                      </a:ln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13" y="4"/>
                      </a:lnTo>
                      <a:lnTo>
                        <a:pt x="13" y="4"/>
                      </a:lnTo>
                      <a:lnTo>
                        <a:pt x="13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" name="Freeform 208"/>
                <p:cNvSpPr>
                  <a:spLocks/>
                </p:cNvSpPr>
                <p:nvPr/>
              </p:nvSpPr>
              <p:spPr bwMode="auto">
                <a:xfrm>
                  <a:off x="1440" y="1404"/>
                  <a:ext cx="16" cy="25"/>
                </a:xfrm>
                <a:custGeom>
                  <a:avLst/>
                  <a:gdLst>
                    <a:gd name="T0" fmla="*/ 16 w 16"/>
                    <a:gd name="T1" fmla="*/ 9 h 25"/>
                    <a:gd name="T2" fmla="*/ 13 w 16"/>
                    <a:gd name="T3" fmla="*/ 4 h 25"/>
                    <a:gd name="T4" fmla="*/ 7 w 16"/>
                    <a:gd name="T5" fmla="*/ 0 h 25"/>
                    <a:gd name="T6" fmla="*/ 0 w 16"/>
                    <a:gd name="T7" fmla="*/ 17 h 25"/>
                    <a:gd name="T8" fmla="*/ 7 w 16"/>
                    <a:gd name="T9" fmla="*/ 25 h 25"/>
                    <a:gd name="T10" fmla="*/ 7 w 16"/>
                    <a:gd name="T11" fmla="*/ 21 h 25"/>
                    <a:gd name="T12" fmla="*/ 16 w 16"/>
                    <a:gd name="T13" fmla="*/ 9 h 25"/>
                    <a:gd name="T14" fmla="*/ 16 w 16"/>
                    <a:gd name="T15" fmla="*/ 9 h 25"/>
                    <a:gd name="T16" fmla="*/ 13 w 16"/>
                    <a:gd name="T17" fmla="*/ 4 h 25"/>
                    <a:gd name="T18" fmla="*/ 16 w 16"/>
                    <a:gd name="T19" fmla="*/ 9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6" h="25">
                      <a:moveTo>
                        <a:pt x="16" y="9"/>
                      </a:moveTo>
                      <a:lnTo>
                        <a:pt x="13" y="4"/>
                      </a:lnTo>
                      <a:lnTo>
                        <a:pt x="7" y="0"/>
                      </a:lnTo>
                      <a:lnTo>
                        <a:pt x="0" y="17"/>
                      </a:lnTo>
                      <a:lnTo>
                        <a:pt x="7" y="25"/>
                      </a:lnTo>
                      <a:lnTo>
                        <a:pt x="7" y="21"/>
                      </a:lnTo>
                      <a:lnTo>
                        <a:pt x="16" y="9"/>
                      </a:lnTo>
                      <a:lnTo>
                        <a:pt x="16" y="9"/>
                      </a:lnTo>
                      <a:lnTo>
                        <a:pt x="13" y="4"/>
                      </a:lnTo>
                      <a:lnTo>
                        <a:pt x="16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1" name="Freeform 209"/>
                <p:cNvSpPr>
                  <a:spLocks/>
                </p:cNvSpPr>
                <p:nvPr/>
              </p:nvSpPr>
              <p:spPr bwMode="auto">
                <a:xfrm>
                  <a:off x="1447" y="1413"/>
                  <a:ext cx="15" cy="20"/>
                </a:xfrm>
                <a:custGeom>
                  <a:avLst/>
                  <a:gdLst>
                    <a:gd name="T0" fmla="*/ 15 w 15"/>
                    <a:gd name="T1" fmla="*/ 4 h 20"/>
                    <a:gd name="T2" fmla="*/ 15 w 15"/>
                    <a:gd name="T3" fmla="*/ 4 h 20"/>
                    <a:gd name="T4" fmla="*/ 9 w 15"/>
                    <a:gd name="T5" fmla="*/ 0 h 20"/>
                    <a:gd name="T6" fmla="*/ 0 w 15"/>
                    <a:gd name="T7" fmla="*/ 12 h 20"/>
                    <a:gd name="T8" fmla="*/ 6 w 15"/>
                    <a:gd name="T9" fmla="*/ 20 h 20"/>
                    <a:gd name="T10" fmla="*/ 6 w 15"/>
                    <a:gd name="T11" fmla="*/ 20 h 20"/>
                    <a:gd name="T12" fmla="*/ 15 w 15"/>
                    <a:gd name="T13" fmla="*/ 4 h 20"/>
                    <a:gd name="T14" fmla="*/ 15 w 15"/>
                    <a:gd name="T15" fmla="*/ 4 h 20"/>
                    <a:gd name="T16" fmla="*/ 15 w 15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4"/>
                      </a:move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2" name="Freeform 210"/>
                <p:cNvSpPr>
                  <a:spLocks/>
                </p:cNvSpPr>
                <p:nvPr/>
              </p:nvSpPr>
              <p:spPr bwMode="auto">
                <a:xfrm>
                  <a:off x="1453" y="1417"/>
                  <a:ext cx="15" cy="20"/>
                </a:xfrm>
                <a:custGeom>
                  <a:avLst/>
                  <a:gdLst>
                    <a:gd name="T0" fmla="*/ 15 w 15"/>
                    <a:gd name="T1" fmla="*/ 8 h 20"/>
                    <a:gd name="T2" fmla="*/ 12 w 15"/>
                    <a:gd name="T3" fmla="*/ 8 h 20"/>
                    <a:gd name="T4" fmla="*/ 9 w 15"/>
                    <a:gd name="T5" fmla="*/ 0 h 20"/>
                    <a:gd name="T6" fmla="*/ 0 w 15"/>
                    <a:gd name="T7" fmla="*/ 16 h 20"/>
                    <a:gd name="T8" fmla="*/ 3 w 15"/>
                    <a:gd name="T9" fmla="*/ 20 h 20"/>
                    <a:gd name="T10" fmla="*/ 3 w 15"/>
                    <a:gd name="T11" fmla="*/ 20 h 20"/>
                    <a:gd name="T12" fmla="*/ 15 w 15"/>
                    <a:gd name="T13" fmla="*/ 8 h 20"/>
                    <a:gd name="T14" fmla="*/ 15 w 15"/>
                    <a:gd name="T15" fmla="*/ 8 h 20"/>
                    <a:gd name="T16" fmla="*/ 12 w 15"/>
                    <a:gd name="T17" fmla="*/ 8 h 20"/>
                    <a:gd name="T18" fmla="*/ 15 w 15"/>
                    <a:gd name="T19" fmla="*/ 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15" y="8"/>
                      </a:moveTo>
                      <a:lnTo>
                        <a:pt x="12" y="8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2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3" name="Freeform 211"/>
                <p:cNvSpPr>
                  <a:spLocks/>
                </p:cNvSpPr>
                <p:nvPr/>
              </p:nvSpPr>
              <p:spPr bwMode="auto">
                <a:xfrm>
                  <a:off x="1456" y="1425"/>
                  <a:ext cx="15" cy="20"/>
                </a:xfrm>
                <a:custGeom>
                  <a:avLst/>
                  <a:gdLst>
                    <a:gd name="T0" fmla="*/ 15 w 15"/>
                    <a:gd name="T1" fmla="*/ 8 h 20"/>
                    <a:gd name="T2" fmla="*/ 15 w 15"/>
                    <a:gd name="T3" fmla="*/ 8 h 20"/>
                    <a:gd name="T4" fmla="*/ 12 w 15"/>
                    <a:gd name="T5" fmla="*/ 0 h 20"/>
                    <a:gd name="T6" fmla="*/ 0 w 15"/>
                    <a:gd name="T7" fmla="*/ 12 h 20"/>
                    <a:gd name="T8" fmla="*/ 6 w 15"/>
                    <a:gd name="T9" fmla="*/ 20 h 20"/>
                    <a:gd name="T10" fmla="*/ 3 w 15"/>
                    <a:gd name="T11" fmla="*/ 20 h 20"/>
                    <a:gd name="T12" fmla="*/ 15 w 15"/>
                    <a:gd name="T13" fmla="*/ 8 h 20"/>
                    <a:gd name="T14" fmla="*/ 15 w 15"/>
                    <a:gd name="T15" fmla="*/ 8 h 20"/>
                    <a:gd name="T16" fmla="*/ 15 w 15"/>
                    <a:gd name="T17" fmla="*/ 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6" y="20"/>
                      </a:lnTo>
                      <a:lnTo>
                        <a:pt x="3" y="2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4" name="Freeform 212"/>
                <p:cNvSpPr>
                  <a:spLocks/>
                </p:cNvSpPr>
                <p:nvPr/>
              </p:nvSpPr>
              <p:spPr bwMode="auto">
                <a:xfrm>
                  <a:off x="1459" y="1433"/>
                  <a:ext cx="18" cy="21"/>
                </a:xfrm>
                <a:custGeom>
                  <a:avLst/>
                  <a:gdLst>
                    <a:gd name="T0" fmla="*/ 18 w 18"/>
                    <a:gd name="T1" fmla="*/ 8 h 21"/>
                    <a:gd name="T2" fmla="*/ 18 w 18"/>
                    <a:gd name="T3" fmla="*/ 8 h 21"/>
                    <a:gd name="T4" fmla="*/ 12 w 18"/>
                    <a:gd name="T5" fmla="*/ 0 h 21"/>
                    <a:gd name="T6" fmla="*/ 0 w 18"/>
                    <a:gd name="T7" fmla="*/ 12 h 21"/>
                    <a:gd name="T8" fmla="*/ 6 w 18"/>
                    <a:gd name="T9" fmla="*/ 21 h 21"/>
                    <a:gd name="T10" fmla="*/ 6 w 18"/>
                    <a:gd name="T11" fmla="*/ 16 h 21"/>
                    <a:gd name="T12" fmla="*/ 18 w 18"/>
                    <a:gd name="T13" fmla="*/ 8 h 21"/>
                    <a:gd name="T14" fmla="*/ 18 w 18"/>
                    <a:gd name="T15" fmla="*/ 8 h 21"/>
                    <a:gd name="T16" fmla="*/ 18 w 18"/>
                    <a:gd name="T17" fmla="*/ 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21">
                      <a:moveTo>
                        <a:pt x="18" y="8"/>
                      </a:moveTo>
                      <a:lnTo>
                        <a:pt x="18" y="8"/>
                      </a:ln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6" y="21"/>
                      </a:lnTo>
                      <a:lnTo>
                        <a:pt x="6" y="16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5" name="Freeform 213"/>
                <p:cNvSpPr>
                  <a:spLocks/>
                </p:cNvSpPr>
                <p:nvPr/>
              </p:nvSpPr>
              <p:spPr bwMode="auto">
                <a:xfrm>
                  <a:off x="1465" y="1441"/>
                  <a:ext cx="15" cy="17"/>
                </a:xfrm>
                <a:custGeom>
                  <a:avLst/>
                  <a:gdLst>
                    <a:gd name="T0" fmla="*/ 15 w 15"/>
                    <a:gd name="T1" fmla="*/ 8 h 17"/>
                    <a:gd name="T2" fmla="*/ 15 w 15"/>
                    <a:gd name="T3" fmla="*/ 8 h 17"/>
                    <a:gd name="T4" fmla="*/ 12 w 15"/>
                    <a:gd name="T5" fmla="*/ 0 h 17"/>
                    <a:gd name="T6" fmla="*/ 0 w 15"/>
                    <a:gd name="T7" fmla="*/ 8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8 h 17"/>
                    <a:gd name="T14" fmla="*/ 15 w 15"/>
                    <a:gd name="T15" fmla="*/ 8 h 17"/>
                    <a:gd name="T16" fmla="*/ 15 w 15"/>
                    <a:gd name="T17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6" name="Freeform 214"/>
                <p:cNvSpPr>
                  <a:spLocks/>
                </p:cNvSpPr>
                <p:nvPr/>
              </p:nvSpPr>
              <p:spPr bwMode="auto">
                <a:xfrm>
                  <a:off x="1468" y="1449"/>
                  <a:ext cx="15" cy="17"/>
                </a:xfrm>
                <a:custGeom>
                  <a:avLst/>
                  <a:gdLst>
                    <a:gd name="T0" fmla="*/ 15 w 15"/>
                    <a:gd name="T1" fmla="*/ 9 h 17"/>
                    <a:gd name="T2" fmla="*/ 15 w 15"/>
                    <a:gd name="T3" fmla="*/ 9 h 17"/>
                    <a:gd name="T4" fmla="*/ 12 w 15"/>
                    <a:gd name="T5" fmla="*/ 0 h 17"/>
                    <a:gd name="T6" fmla="*/ 0 w 15"/>
                    <a:gd name="T7" fmla="*/ 9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9 h 17"/>
                    <a:gd name="T14" fmla="*/ 15 w 15"/>
                    <a:gd name="T15" fmla="*/ 9 h 17"/>
                    <a:gd name="T16" fmla="*/ 15 w 15"/>
                    <a:gd name="T17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5" y="9"/>
                      </a:moveTo>
                      <a:lnTo>
                        <a:pt x="15" y="9"/>
                      </a:lnTo>
                      <a:lnTo>
                        <a:pt x="12" y="0"/>
                      </a:ln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" name="Freeform 215"/>
                <p:cNvSpPr>
                  <a:spLocks/>
                </p:cNvSpPr>
                <p:nvPr/>
              </p:nvSpPr>
              <p:spPr bwMode="auto">
                <a:xfrm>
                  <a:off x="1471" y="1458"/>
                  <a:ext cx="15" cy="16"/>
                </a:xfrm>
                <a:custGeom>
                  <a:avLst/>
                  <a:gdLst>
                    <a:gd name="T0" fmla="*/ 15 w 15"/>
                    <a:gd name="T1" fmla="*/ 12 h 16"/>
                    <a:gd name="T2" fmla="*/ 15 w 15"/>
                    <a:gd name="T3" fmla="*/ 12 h 16"/>
                    <a:gd name="T4" fmla="*/ 12 w 15"/>
                    <a:gd name="T5" fmla="*/ 0 h 16"/>
                    <a:gd name="T6" fmla="*/ 0 w 15"/>
                    <a:gd name="T7" fmla="*/ 8 h 16"/>
                    <a:gd name="T8" fmla="*/ 3 w 15"/>
                    <a:gd name="T9" fmla="*/ 16 h 16"/>
                    <a:gd name="T10" fmla="*/ 3 w 15"/>
                    <a:gd name="T11" fmla="*/ 16 h 16"/>
                    <a:gd name="T12" fmla="*/ 15 w 15"/>
                    <a:gd name="T13" fmla="*/ 12 h 16"/>
                    <a:gd name="T14" fmla="*/ 15 w 15"/>
                    <a:gd name="T15" fmla="*/ 12 h 16"/>
                    <a:gd name="T16" fmla="*/ 15 w 15"/>
                    <a:gd name="T17" fmla="*/ 12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15" y="12"/>
                      </a:moveTo>
                      <a:lnTo>
                        <a:pt x="15" y="12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15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8" name="Freeform 216"/>
                <p:cNvSpPr>
                  <a:spLocks/>
                </p:cNvSpPr>
                <p:nvPr/>
              </p:nvSpPr>
              <p:spPr bwMode="auto">
                <a:xfrm>
                  <a:off x="1474" y="1470"/>
                  <a:ext cx="15" cy="12"/>
                </a:xfrm>
                <a:custGeom>
                  <a:avLst/>
                  <a:gdLst>
                    <a:gd name="T0" fmla="*/ 15 w 15"/>
                    <a:gd name="T1" fmla="*/ 8 h 12"/>
                    <a:gd name="T2" fmla="*/ 15 w 15"/>
                    <a:gd name="T3" fmla="*/ 8 h 12"/>
                    <a:gd name="T4" fmla="*/ 12 w 15"/>
                    <a:gd name="T5" fmla="*/ 0 h 12"/>
                    <a:gd name="T6" fmla="*/ 0 w 15"/>
                    <a:gd name="T7" fmla="*/ 4 h 12"/>
                    <a:gd name="T8" fmla="*/ 0 w 15"/>
                    <a:gd name="T9" fmla="*/ 12 h 12"/>
                    <a:gd name="T10" fmla="*/ 0 w 15"/>
                    <a:gd name="T11" fmla="*/ 12 h 12"/>
                    <a:gd name="T12" fmla="*/ 15 w 15"/>
                    <a:gd name="T13" fmla="*/ 8 h 12"/>
                    <a:gd name="T14" fmla="*/ 15 w 15"/>
                    <a:gd name="T15" fmla="*/ 8 h 12"/>
                    <a:gd name="T16" fmla="*/ 15 w 15"/>
                    <a:gd name="T17" fmla="*/ 8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9" name="Freeform 217"/>
                <p:cNvSpPr>
                  <a:spLocks/>
                </p:cNvSpPr>
                <p:nvPr/>
              </p:nvSpPr>
              <p:spPr bwMode="auto">
                <a:xfrm>
                  <a:off x="1474" y="1478"/>
                  <a:ext cx="15" cy="13"/>
                </a:xfrm>
                <a:custGeom>
                  <a:avLst/>
                  <a:gdLst>
                    <a:gd name="T0" fmla="*/ 15 w 15"/>
                    <a:gd name="T1" fmla="*/ 13 h 13"/>
                    <a:gd name="T2" fmla="*/ 15 w 15"/>
                    <a:gd name="T3" fmla="*/ 13 h 13"/>
                    <a:gd name="T4" fmla="*/ 15 w 15"/>
                    <a:gd name="T5" fmla="*/ 0 h 13"/>
                    <a:gd name="T6" fmla="*/ 0 w 15"/>
                    <a:gd name="T7" fmla="*/ 4 h 13"/>
                    <a:gd name="T8" fmla="*/ 3 w 15"/>
                    <a:gd name="T9" fmla="*/ 13 h 13"/>
                    <a:gd name="T10" fmla="*/ 3 w 15"/>
                    <a:gd name="T11" fmla="*/ 13 h 13"/>
                    <a:gd name="T12" fmla="*/ 15 w 15"/>
                    <a:gd name="T13" fmla="*/ 13 h 13"/>
                    <a:gd name="T14" fmla="*/ 15 w 15"/>
                    <a:gd name="T15" fmla="*/ 13 h 13"/>
                    <a:gd name="T16" fmla="*/ 15 w 15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3">
                      <a:moveTo>
                        <a:pt x="15" y="13"/>
                      </a:moveTo>
                      <a:lnTo>
                        <a:pt x="15" y="13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3" y="13"/>
                      </a:lnTo>
                      <a:lnTo>
                        <a:pt x="3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6" name="Freeform 218"/>
                <p:cNvSpPr>
                  <a:spLocks/>
                </p:cNvSpPr>
                <p:nvPr/>
              </p:nvSpPr>
              <p:spPr bwMode="auto">
                <a:xfrm>
                  <a:off x="1477" y="1491"/>
                  <a:ext cx="12" cy="12"/>
                </a:xfrm>
                <a:custGeom>
                  <a:avLst/>
                  <a:gdLst>
                    <a:gd name="T0" fmla="*/ 12 w 12"/>
                    <a:gd name="T1" fmla="*/ 12 h 12"/>
                    <a:gd name="T2" fmla="*/ 12 w 12"/>
                    <a:gd name="T3" fmla="*/ 8 h 12"/>
                    <a:gd name="T4" fmla="*/ 12 w 12"/>
                    <a:gd name="T5" fmla="*/ 0 h 12"/>
                    <a:gd name="T6" fmla="*/ 0 w 12"/>
                    <a:gd name="T7" fmla="*/ 0 h 12"/>
                    <a:gd name="T8" fmla="*/ 0 w 12"/>
                    <a:gd name="T9" fmla="*/ 12 h 12"/>
                    <a:gd name="T10" fmla="*/ 0 w 12"/>
                    <a:gd name="T11" fmla="*/ 12 h 12"/>
                    <a:gd name="T12" fmla="*/ 12 w 12"/>
                    <a:gd name="T13" fmla="*/ 12 h 12"/>
                    <a:gd name="T14" fmla="*/ 12 w 12"/>
                    <a:gd name="T15" fmla="*/ 12 h 12"/>
                    <a:gd name="T16" fmla="*/ 12 w 12"/>
                    <a:gd name="T17" fmla="*/ 8 h 12"/>
                    <a:gd name="T18" fmla="*/ 12 w 12"/>
                    <a:gd name="T1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12">
                      <a:moveTo>
                        <a:pt x="12" y="12"/>
                      </a:moveTo>
                      <a:lnTo>
                        <a:pt x="12" y="8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8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7" name="Freeform 219"/>
                <p:cNvSpPr>
                  <a:spLocks/>
                </p:cNvSpPr>
                <p:nvPr/>
              </p:nvSpPr>
              <p:spPr bwMode="auto">
                <a:xfrm>
                  <a:off x="1477" y="1503"/>
                  <a:ext cx="12" cy="1556"/>
                </a:xfrm>
                <a:custGeom>
                  <a:avLst/>
                  <a:gdLst>
                    <a:gd name="T0" fmla="*/ 12 w 12"/>
                    <a:gd name="T1" fmla="*/ 1556 h 1556"/>
                    <a:gd name="T2" fmla="*/ 12 w 12"/>
                    <a:gd name="T3" fmla="*/ 1556 h 1556"/>
                    <a:gd name="T4" fmla="*/ 12 w 12"/>
                    <a:gd name="T5" fmla="*/ 0 h 1556"/>
                    <a:gd name="T6" fmla="*/ 0 w 12"/>
                    <a:gd name="T7" fmla="*/ 0 h 1556"/>
                    <a:gd name="T8" fmla="*/ 0 w 12"/>
                    <a:gd name="T9" fmla="*/ 1556 h 1556"/>
                    <a:gd name="T10" fmla="*/ 0 w 12"/>
                    <a:gd name="T11" fmla="*/ 1556 h 1556"/>
                    <a:gd name="T12" fmla="*/ 12 w 12"/>
                    <a:gd name="T13" fmla="*/ 1556 h 1556"/>
                    <a:gd name="T14" fmla="*/ 12 w 12"/>
                    <a:gd name="T15" fmla="*/ 1556 h 1556"/>
                    <a:gd name="T16" fmla="*/ 12 w 12"/>
                    <a:gd name="T17" fmla="*/ 1556 h 1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556">
                      <a:moveTo>
                        <a:pt x="12" y="1556"/>
                      </a:moveTo>
                      <a:lnTo>
                        <a:pt x="12" y="1556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1556"/>
                      </a:lnTo>
                      <a:lnTo>
                        <a:pt x="0" y="1556"/>
                      </a:lnTo>
                      <a:lnTo>
                        <a:pt x="12" y="1556"/>
                      </a:lnTo>
                      <a:lnTo>
                        <a:pt x="12" y="1556"/>
                      </a:lnTo>
                      <a:lnTo>
                        <a:pt x="12" y="15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8" name="Freeform 220"/>
                <p:cNvSpPr>
                  <a:spLocks/>
                </p:cNvSpPr>
                <p:nvPr/>
              </p:nvSpPr>
              <p:spPr bwMode="auto">
                <a:xfrm>
                  <a:off x="1477" y="3059"/>
                  <a:ext cx="12" cy="12"/>
                </a:xfrm>
                <a:custGeom>
                  <a:avLst/>
                  <a:gdLst>
                    <a:gd name="T0" fmla="*/ 12 w 12"/>
                    <a:gd name="T1" fmla="*/ 12 h 12"/>
                    <a:gd name="T2" fmla="*/ 12 w 12"/>
                    <a:gd name="T3" fmla="*/ 12 h 12"/>
                    <a:gd name="T4" fmla="*/ 12 w 12"/>
                    <a:gd name="T5" fmla="*/ 0 h 12"/>
                    <a:gd name="T6" fmla="*/ 0 w 12"/>
                    <a:gd name="T7" fmla="*/ 0 h 12"/>
                    <a:gd name="T8" fmla="*/ 0 w 12"/>
                    <a:gd name="T9" fmla="*/ 8 h 12"/>
                    <a:gd name="T10" fmla="*/ 0 w 12"/>
                    <a:gd name="T11" fmla="*/ 8 h 12"/>
                    <a:gd name="T12" fmla="*/ 12 w 12"/>
                    <a:gd name="T13" fmla="*/ 12 h 12"/>
                    <a:gd name="T14" fmla="*/ 12 w 12"/>
                    <a:gd name="T15" fmla="*/ 12 h 12"/>
                    <a:gd name="T16" fmla="*/ 12 w 12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2"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9" name="Freeform 221"/>
                <p:cNvSpPr>
                  <a:spLocks/>
                </p:cNvSpPr>
                <p:nvPr/>
              </p:nvSpPr>
              <p:spPr bwMode="auto">
                <a:xfrm>
                  <a:off x="1474" y="3067"/>
                  <a:ext cx="15" cy="12"/>
                </a:xfrm>
                <a:custGeom>
                  <a:avLst/>
                  <a:gdLst>
                    <a:gd name="T0" fmla="*/ 15 w 15"/>
                    <a:gd name="T1" fmla="*/ 12 h 12"/>
                    <a:gd name="T2" fmla="*/ 15 w 15"/>
                    <a:gd name="T3" fmla="*/ 12 h 12"/>
                    <a:gd name="T4" fmla="*/ 15 w 15"/>
                    <a:gd name="T5" fmla="*/ 4 h 12"/>
                    <a:gd name="T6" fmla="*/ 3 w 15"/>
                    <a:gd name="T7" fmla="*/ 0 h 12"/>
                    <a:gd name="T8" fmla="*/ 0 w 15"/>
                    <a:gd name="T9" fmla="*/ 8 h 12"/>
                    <a:gd name="T10" fmla="*/ 0 w 15"/>
                    <a:gd name="T11" fmla="*/ 8 h 12"/>
                    <a:gd name="T12" fmla="*/ 15 w 15"/>
                    <a:gd name="T13" fmla="*/ 12 h 12"/>
                    <a:gd name="T14" fmla="*/ 15 w 15"/>
                    <a:gd name="T15" fmla="*/ 12 h 12"/>
                    <a:gd name="T16" fmla="*/ 15 w 15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5" y="12"/>
                      </a:moveTo>
                      <a:lnTo>
                        <a:pt x="15" y="12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15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0" name="Freeform 222"/>
                <p:cNvSpPr>
                  <a:spLocks/>
                </p:cNvSpPr>
                <p:nvPr/>
              </p:nvSpPr>
              <p:spPr bwMode="auto">
                <a:xfrm>
                  <a:off x="1474" y="3075"/>
                  <a:ext cx="15" cy="17"/>
                </a:xfrm>
                <a:custGeom>
                  <a:avLst/>
                  <a:gdLst>
                    <a:gd name="T0" fmla="*/ 12 w 15"/>
                    <a:gd name="T1" fmla="*/ 17 h 17"/>
                    <a:gd name="T2" fmla="*/ 12 w 15"/>
                    <a:gd name="T3" fmla="*/ 17 h 17"/>
                    <a:gd name="T4" fmla="*/ 15 w 15"/>
                    <a:gd name="T5" fmla="*/ 4 h 17"/>
                    <a:gd name="T6" fmla="*/ 0 w 15"/>
                    <a:gd name="T7" fmla="*/ 0 h 17"/>
                    <a:gd name="T8" fmla="*/ 0 w 15"/>
                    <a:gd name="T9" fmla="*/ 8 h 17"/>
                    <a:gd name="T10" fmla="*/ 0 w 15"/>
                    <a:gd name="T11" fmla="*/ 8 h 17"/>
                    <a:gd name="T12" fmla="*/ 12 w 15"/>
                    <a:gd name="T13" fmla="*/ 17 h 17"/>
                    <a:gd name="T14" fmla="*/ 12 w 15"/>
                    <a:gd name="T15" fmla="*/ 17 h 17"/>
                    <a:gd name="T16" fmla="*/ 12 w 15"/>
                    <a:gd name="T1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2" y="17"/>
                      </a:moveTo>
                      <a:lnTo>
                        <a:pt x="12" y="17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1" name="Freeform 223"/>
                <p:cNvSpPr>
                  <a:spLocks/>
                </p:cNvSpPr>
                <p:nvPr/>
              </p:nvSpPr>
              <p:spPr bwMode="auto">
                <a:xfrm>
                  <a:off x="1471" y="3083"/>
                  <a:ext cx="15" cy="17"/>
                </a:xfrm>
                <a:custGeom>
                  <a:avLst/>
                  <a:gdLst>
                    <a:gd name="T0" fmla="*/ 12 w 15"/>
                    <a:gd name="T1" fmla="*/ 17 h 17"/>
                    <a:gd name="T2" fmla="*/ 12 w 15"/>
                    <a:gd name="T3" fmla="*/ 17 h 17"/>
                    <a:gd name="T4" fmla="*/ 15 w 15"/>
                    <a:gd name="T5" fmla="*/ 9 h 17"/>
                    <a:gd name="T6" fmla="*/ 3 w 15"/>
                    <a:gd name="T7" fmla="*/ 0 h 17"/>
                    <a:gd name="T8" fmla="*/ 0 w 15"/>
                    <a:gd name="T9" fmla="*/ 13 h 17"/>
                    <a:gd name="T10" fmla="*/ 0 w 15"/>
                    <a:gd name="T11" fmla="*/ 9 h 17"/>
                    <a:gd name="T12" fmla="*/ 12 w 15"/>
                    <a:gd name="T13" fmla="*/ 17 h 17"/>
                    <a:gd name="T14" fmla="*/ 12 w 15"/>
                    <a:gd name="T15" fmla="*/ 17 h 17"/>
                    <a:gd name="T16" fmla="*/ 12 w 15"/>
                    <a:gd name="T1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2" y="17"/>
                      </a:moveTo>
                      <a:lnTo>
                        <a:pt x="12" y="17"/>
                      </a:lnTo>
                      <a:lnTo>
                        <a:pt x="15" y="9"/>
                      </a:lnTo>
                      <a:lnTo>
                        <a:pt x="3" y="0"/>
                      </a:lnTo>
                      <a:lnTo>
                        <a:pt x="0" y="13"/>
                      </a:lnTo>
                      <a:lnTo>
                        <a:pt x="0" y="9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2" name="Freeform 224"/>
                <p:cNvSpPr>
                  <a:spLocks/>
                </p:cNvSpPr>
                <p:nvPr/>
              </p:nvSpPr>
              <p:spPr bwMode="auto">
                <a:xfrm>
                  <a:off x="1468" y="3092"/>
                  <a:ext cx="15" cy="20"/>
                </a:xfrm>
                <a:custGeom>
                  <a:avLst/>
                  <a:gdLst>
                    <a:gd name="T0" fmla="*/ 12 w 15"/>
                    <a:gd name="T1" fmla="*/ 20 h 20"/>
                    <a:gd name="T2" fmla="*/ 12 w 15"/>
                    <a:gd name="T3" fmla="*/ 16 h 20"/>
                    <a:gd name="T4" fmla="*/ 15 w 15"/>
                    <a:gd name="T5" fmla="*/ 8 h 20"/>
                    <a:gd name="T6" fmla="*/ 3 w 15"/>
                    <a:gd name="T7" fmla="*/ 0 h 20"/>
                    <a:gd name="T8" fmla="*/ 0 w 15"/>
                    <a:gd name="T9" fmla="*/ 8 h 20"/>
                    <a:gd name="T10" fmla="*/ 0 w 15"/>
                    <a:gd name="T11" fmla="*/ 8 h 20"/>
                    <a:gd name="T12" fmla="*/ 12 w 15"/>
                    <a:gd name="T13" fmla="*/ 20 h 20"/>
                    <a:gd name="T14" fmla="*/ 12 w 15"/>
                    <a:gd name="T15" fmla="*/ 16 h 20"/>
                    <a:gd name="T16" fmla="*/ 12 w 15"/>
                    <a:gd name="T17" fmla="*/ 16 h 20"/>
                    <a:gd name="T18" fmla="*/ 12 w 15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12" y="20"/>
                      </a:moveTo>
                      <a:lnTo>
                        <a:pt x="12" y="16"/>
                      </a:lnTo>
                      <a:lnTo>
                        <a:pt x="15" y="8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1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3" name="Freeform 225"/>
                <p:cNvSpPr>
                  <a:spLocks/>
                </p:cNvSpPr>
                <p:nvPr/>
              </p:nvSpPr>
              <p:spPr bwMode="auto">
                <a:xfrm>
                  <a:off x="1465" y="3100"/>
                  <a:ext cx="15" cy="20"/>
                </a:xfrm>
                <a:custGeom>
                  <a:avLst/>
                  <a:gdLst>
                    <a:gd name="T0" fmla="*/ 12 w 15"/>
                    <a:gd name="T1" fmla="*/ 20 h 20"/>
                    <a:gd name="T2" fmla="*/ 12 w 15"/>
                    <a:gd name="T3" fmla="*/ 20 h 20"/>
                    <a:gd name="T4" fmla="*/ 15 w 15"/>
                    <a:gd name="T5" fmla="*/ 12 h 20"/>
                    <a:gd name="T6" fmla="*/ 3 w 15"/>
                    <a:gd name="T7" fmla="*/ 0 h 20"/>
                    <a:gd name="T8" fmla="*/ 0 w 15"/>
                    <a:gd name="T9" fmla="*/ 8 h 20"/>
                    <a:gd name="T10" fmla="*/ 0 w 15"/>
                    <a:gd name="T11" fmla="*/ 8 h 20"/>
                    <a:gd name="T12" fmla="*/ 12 w 15"/>
                    <a:gd name="T13" fmla="*/ 20 h 20"/>
                    <a:gd name="T14" fmla="*/ 12 w 15"/>
                    <a:gd name="T15" fmla="*/ 20 h 20"/>
                    <a:gd name="T16" fmla="*/ 12 w 15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2" y="20"/>
                      </a:moveTo>
                      <a:lnTo>
                        <a:pt x="12" y="20"/>
                      </a:lnTo>
                      <a:lnTo>
                        <a:pt x="15" y="12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20"/>
                      </a:lnTo>
                      <a:lnTo>
                        <a:pt x="12" y="20"/>
                      </a:lnTo>
                      <a:lnTo>
                        <a:pt x="1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4" name="Freeform 226"/>
                <p:cNvSpPr>
                  <a:spLocks/>
                </p:cNvSpPr>
                <p:nvPr/>
              </p:nvSpPr>
              <p:spPr bwMode="auto">
                <a:xfrm>
                  <a:off x="1459" y="3108"/>
                  <a:ext cx="18" cy="21"/>
                </a:xfrm>
                <a:custGeom>
                  <a:avLst/>
                  <a:gdLst>
                    <a:gd name="T0" fmla="*/ 12 w 18"/>
                    <a:gd name="T1" fmla="*/ 21 h 21"/>
                    <a:gd name="T2" fmla="*/ 12 w 18"/>
                    <a:gd name="T3" fmla="*/ 21 h 21"/>
                    <a:gd name="T4" fmla="*/ 18 w 18"/>
                    <a:gd name="T5" fmla="*/ 12 h 21"/>
                    <a:gd name="T6" fmla="*/ 6 w 18"/>
                    <a:gd name="T7" fmla="*/ 0 h 21"/>
                    <a:gd name="T8" fmla="*/ 0 w 18"/>
                    <a:gd name="T9" fmla="*/ 8 h 21"/>
                    <a:gd name="T10" fmla="*/ 3 w 18"/>
                    <a:gd name="T11" fmla="*/ 8 h 21"/>
                    <a:gd name="T12" fmla="*/ 12 w 18"/>
                    <a:gd name="T13" fmla="*/ 21 h 21"/>
                    <a:gd name="T14" fmla="*/ 12 w 18"/>
                    <a:gd name="T15" fmla="*/ 21 h 21"/>
                    <a:gd name="T16" fmla="*/ 12 w 18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21">
                      <a:moveTo>
                        <a:pt x="12" y="21"/>
                      </a:moveTo>
                      <a:lnTo>
                        <a:pt x="12" y="21"/>
                      </a:lnTo>
                      <a:lnTo>
                        <a:pt x="18" y="12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3" y="8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5" name="Freeform 227"/>
                <p:cNvSpPr>
                  <a:spLocks/>
                </p:cNvSpPr>
                <p:nvPr/>
              </p:nvSpPr>
              <p:spPr bwMode="auto">
                <a:xfrm>
                  <a:off x="1356" y="3116"/>
                  <a:ext cx="115" cy="164"/>
                </a:xfrm>
                <a:custGeom>
                  <a:avLst/>
                  <a:gdLst>
                    <a:gd name="T0" fmla="*/ 33 w 115"/>
                    <a:gd name="T1" fmla="*/ 95 h 164"/>
                    <a:gd name="T2" fmla="*/ 42 w 115"/>
                    <a:gd name="T3" fmla="*/ 111 h 164"/>
                    <a:gd name="T4" fmla="*/ 115 w 115"/>
                    <a:gd name="T5" fmla="*/ 13 h 164"/>
                    <a:gd name="T6" fmla="*/ 106 w 115"/>
                    <a:gd name="T7" fmla="*/ 0 h 164"/>
                    <a:gd name="T8" fmla="*/ 33 w 115"/>
                    <a:gd name="T9" fmla="*/ 95 h 164"/>
                    <a:gd name="T10" fmla="*/ 45 w 115"/>
                    <a:gd name="T11" fmla="*/ 107 h 164"/>
                    <a:gd name="T12" fmla="*/ 33 w 115"/>
                    <a:gd name="T13" fmla="*/ 95 h 164"/>
                    <a:gd name="T14" fmla="*/ 0 w 115"/>
                    <a:gd name="T15" fmla="*/ 164 h 164"/>
                    <a:gd name="T16" fmla="*/ 42 w 115"/>
                    <a:gd name="T17" fmla="*/ 111 h 164"/>
                    <a:gd name="T18" fmla="*/ 33 w 115"/>
                    <a:gd name="T19" fmla="*/ 95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5" h="164">
                      <a:moveTo>
                        <a:pt x="33" y="95"/>
                      </a:moveTo>
                      <a:lnTo>
                        <a:pt x="42" y="111"/>
                      </a:lnTo>
                      <a:lnTo>
                        <a:pt x="115" y="13"/>
                      </a:lnTo>
                      <a:lnTo>
                        <a:pt x="106" y="0"/>
                      </a:lnTo>
                      <a:lnTo>
                        <a:pt x="33" y="95"/>
                      </a:lnTo>
                      <a:lnTo>
                        <a:pt x="45" y="107"/>
                      </a:lnTo>
                      <a:lnTo>
                        <a:pt x="33" y="95"/>
                      </a:lnTo>
                      <a:lnTo>
                        <a:pt x="0" y="164"/>
                      </a:lnTo>
                      <a:lnTo>
                        <a:pt x="42" y="111"/>
                      </a:lnTo>
                      <a:lnTo>
                        <a:pt x="33" y="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6" name="Freeform 228"/>
                <p:cNvSpPr>
                  <a:spLocks/>
                </p:cNvSpPr>
                <p:nvPr/>
              </p:nvSpPr>
              <p:spPr bwMode="auto">
                <a:xfrm>
                  <a:off x="1389" y="3202"/>
                  <a:ext cx="15" cy="21"/>
                </a:xfrm>
                <a:custGeom>
                  <a:avLst/>
                  <a:gdLst>
                    <a:gd name="T0" fmla="*/ 3 w 15"/>
                    <a:gd name="T1" fmla="*/ 5 h 21"/>
                    <a:gd name="T2" fmla="*/ 3 w 15"/>
                    <a:gd name="T3" fmla="*/ 0 h 21"/>
                    <a:gd name="T4" fmla="*/ 0 w 15"/>
                    <a:gd name="T5" fmla="*/ 9 h 21"/>
                    <a:gd name="T6" fmla="*/ 12 w 15"/>
                    <a:gd name="T7" fmla="*/ 21 h 21"/>
                    <a:gd name="T8" fmla="*/ 15 w 15"/>
                    <a:gd name="T9" fmla="*/ 13 h 21"/>
                    <a:gd name="T10" fmla="*/ 15 w 15"/>
                    <a:gd name="T11" fmla="*/ 13 h 21"/>
                    <a:gd name="T12" fmla="*/ 15 w 15"/>
                    <a:gd name="T13" fmla="*/ 13 h 21"/>
                    <a:gd name="T14" fmla="*/ 15 w 15"/>
                    <a:gd name="T15" fmla="*/ 13 h 21"/>
                    <a:gd name="T16" fmla="*/ 15 w 15"/>
                    <a:gd name="T17" fmla="*/ 13 h 21"/>
                    <a:gd name="T18" fmla="*/ 3 w 15"/>
                    <a:gd name="T19" fmla="*/ 5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3" y="5"/>
                      </a:move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12" y="21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3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7" name="Freeform 229"/>
                <p:cNvSpPr>
                  <a:spLocks/>
                </p:cNvSpPr>
                <p:nvPr/>
              </p:nvSpPr>
              <p:spPr bwMode="auto">
                <a:xfrm>
                  <a:off x="1392" y="3198"/>
                  <a:ext cx="18" cy="17"/>
                </a:xfrm>
                <a:custGeom>
                  <a:avLst/>
                  <a:gdLst>
                    <a:gd name="T0" fmla="*/ 3 w 18"/>
                    <a:gd name="T1" fmla="*/ 0 h 17"/>
                    <a:gd name="T2" fmla="*/ 3 w 18"/>
                    <a:gd name="T3" fmla="*/ 0 h 17"/>
                    <a:gd name="T4" fmla="*/ 0 w 18"/>
                    <a:gd name="T5" fmla="*/ 9 h 17"/>
                    <a:gd name="T6" fmla="*/ 12 w 18"/>
                    <a:gd name="T7" fmla="*/ 17 h 17"/>
                    <a:gd name="T8" fmla="*/ 15 w 18"/>
                    <a:gd name="T9" fmla="*/ 9 h 17"/>
                    <a:gd name="T10" fmla="*/ 18 w 18"/>
                    <a:gd name="T11" fmla="*/ 9 h 17"/>
                    <a:gd name="T12" fmla="*/ 15 w 18"/>
                    <a:gd name="T13" fmla="*/ 9 h 17"/>
                    <a:gd name="T14" fmla="*/ 15 w 18"/>
                    <a:gd name="T15" fmla="*/ 9 h 17"/>
                    <a:gd name="T16" fmla="*/ 18 w 18"/>
                    <a:gd name="T17" fmla="*/ 9 h 17"/>
                    <a:gd name="T18" fmla="*/ 3 w 18"/>
                    <a:gd name="T1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7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12" y="17"/>
                      </a:lnTo>
                      <a:lnTo>
                        <a:pt x="15" y="9"/>
                      </a:lnTo>
                      <a:lnTo>
                        <a:pt x="18" y="9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18" y="9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8" name="Freeform 230"/>
                <p:cNvSpPr>
                  <a:spLocks/>
                </p:cNvSpPr>
                <p:nvPr/>
              </p:nvSpPr>
              <p:spPr bwMode="auto">
                <a:xfrm>
                  <a:off x="1395" y="3190"/>
                  <a:ext cx="18" cy="17"/>
                </a:xfrm>
                <a:custGeom>
                  <a:avLst/>
                  <a:gdLst>
                    <a:gd name="T0" fmla="*/ 3 w 18"/>
                    <a:gd name="T1" fmla="*/ 0 h 17"/>
                    <a:gd name="T2" fmla="*/ 3 w 18"/>
                    <a:gd name="T3" fmla="*/ 0 h 17"/>
                    <a:gd name="T4" fmla="*/ 0 w 18"/>
                    <a:gd name="T5" fmla="*/ 8 h 17"/>
                    <a:gd name="T6" fmla="*/ 15 w 18"/>
                    <a:gd name="T7" fmla="*/ 17 h 17"/>
                    <a:gd name="T8" fmla="*/ 18 w 18"/>
                    <a:gd name="T9" fmla="*/ 8 h 17"/>
                    <a:gd name="T10" fmla="*/ 18 w 18"/>
                    <a:gd name="T11" fmla="*/ 8 h 17"/>
                    <a:gd name="T12" fmla="*/ 18 w 18"/>
                    <a:gd name="T13" fmla="*/ 8 h 17"/>
                    <a:gd name="T14" fmla="*/ 18 w 18"/>
                    <a:gd name="T15" fmla="*/ 8 h 17"/>
                    <a:gd name="T16" fmla="*/ 18 w 18"/>
                    <a:gd name="T17" fmla="*/ 8 h 17"/>
                    <a:gd name="T18" fmla="*/ 3 w 18"/>
                    <a:gd name="T1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7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5" y="17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9" name="Freeform 231"/>
                <p:cNvSpPr>
                  <a:spLocks/>
                </p:cNvSpPr>
                <p:nvPr/>
              </p:nvSpPr>
              <p:spPr bwMode="auto">
                <a:xfrm>
                  <a:off x="1398" y="3182"/>
                  <a:ext cx="15" cy="16"/>
                </a:xfrm>
                <a:custGeom>
                  <a:avLst/>
                  <a:gdLst>
                    <a:gd name="T0" fmla="*/ 3 w 15"/>
                    <a:gd name="T1" fmla="*/ 0 h 16"/>
                    <a:gd name="T2" fmla="*/ 3 w 15"/>
                    <a:gd name="T3" fmla="*/ 0 h 16"/>
                    <a:gd name="T4" fmla="*/ 0 w 15"/>
                    <a:gd name="T5" fmla="*/ 8 h 16"/>
                    <a:gd name="T6" fmla="*/ 15 w 15"/>
                    <a:gd name="T7" fmla="*/ 16 h 16"/>
                    <a:gd name="T8" fmla="*/ 15 w 15"/>
                    <a:gd name="T9" fmla="*/ 4 h 16"/>
                    <a:gd name="T10" fmla="*/ 15 w 15"/>
                    <a:gd name="T11" fmla="*/ 4 h 16"/>
                    <a:gd name="T12" fmla="*/ 15 w 15"/>
                    <a:gd name="T13" fmla="*/ 4 h 16"/>
                    <a:gd name="T14" fmla="*/ 15 w 15"/>
                    <a:gd name="T15" fmla="*/ 4 h 16"/>
                    <a:gd name="T16" fmla="*/ 15 w 15"/>
                    <a:gd name="T17" fmla="*/ 4 h 16"/>
                    <a:gd name="T18" fmla="*/ 3 w 15"/>
                    <a:gd name="T19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5" y="16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0" name="Freeform 232"/>
                <p:cNvSpPr>
                  <a:spLocks/>
                </p:cNvSpPr>
                <p:nvPr/>
              </p:nvSpPr>
              <p:spPr bwMode="auto">
                <a:xfrm>
                  <a:off x="1401" y="3174"/>
                  <a:ext cx="15" cy="12"/>
                </a:xfrm>
                <a:custGeom>
                  <a:avLst/>
                  <a:gdLst>
                    <a:gd name="T0" fmla="*/ 3 w 15"/>
                    <a:gd name="T1" fmla="*/ 0 h 12"/>
                    <a:gd name="T2" fmla="*/ 3 w 15"/>
                    <a:gd name="T3" fmla="*/ 0 h 12"/>
                    <a:gd name="T4" fmla="*/ 0 w 15"/>
                    <a:gd name="T5" fmla="*/ 8 h 12"/>
                    <a:gd name="T6" fmla="*/ 12 w 15"/>
                    <a:gd name="T7" fmla="*/ 12 h 12"/>
                    <a:gd name="T8" fmla="*/ 15 w 15"/>
                    <a:gd name="T9" fmla="*/ 4 h 12"/>
                    <a:gd name="T10" fmla="*/ 15 w 15"/>
                    <a:gd name="T11" fmla="*/ 4 h 12"/>
                    <a:gd name="T12" fmla="*/ 15 w 15"/>
                    <a:gd name="T13" fmla="*/ 4 h 12"/>
                    <a:gd name="T14" fmla="*/ 15 w 15"/>
                    <a:gd name="T15" fmla="*/ 4 h 12"/>
                    <a:gd name="T16" fmla="*/ 15 w 15"/>
                    <a:gd name="T17" fmla="*/ 4 h 12"/>
                    <a:gd name="T18" fmla="*/ 3 w 15"/>
                    <a:gd name="T19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1" name="Freeform 233"/>
                <p:cNvSpPr>
                  <a:spLocks/>
                </p:cNvSpPr>
                <p:nvPr/>
              </p:nvSpPr>
              <p:spPr bwMode="auto">
                <a:xfrm>
                  <a:off x="1404" y="3165"/>
                  <a:ext cx="15" cy="13"/>
                </a:xfrm>
                <a:custGeom>
                  <a:avLst/>
                  <a:gdLst>
                    <a:gd name="T0" fmla="*/ 0 w 15"/>
                    <a:gd name="T1" fmla="*/ 0 h 13"/>
                    <a:gd name="T2" fmla="*/ 0 w 15"/>
                    <a:gd name="T3" fmla="*/ 0 h 13"/>
                    <a:gd name="T4" fmla="*/ 0 w 15"/>
                    <a:gd name="T5" fmla="*/ 9 h 13"/>
                    <a:gd name="T6" fmla="*/ 12 w 15"/>
                    <a:gd name="T7" fmla="*/ 13 h 13"/>
                    <a:gd name="T8" fmla="*/ 12 w 15"/>
                    <a:gd name="T9" fmla="*/ 0 h 13"/>
                    <a:gd name="T10" fmla="*/ 12 w 15"/>
                    <a:gd name="T11" fmla="*/ 0 h 13"/>
                    <a:gd name="T12" fmla="*/ 12 w 15"/>
                    <a:gd name="T13" fmla="*/ 0 h 13"/>
                    <a:gd name="T14" fmla="*/ 12 w 15"/>
                    <a:gd name="T15" fmla="*/ 0 h 13"/>
                    <a:gd name="T16" fmla="*/ 15 w 15"/>
                    <a:gd name="T17" fmla="*/ 0 h 13"/>
                    <a:gd name="T18" fmla="*/ 0 w 15"/>
                    <a:gd name="T19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13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2" name="Freeform 234"/>
                <p:cNvSpPr>
                  <a:spLocks/>
                </p:cNvSpPr>
                <p:nvPr/>
              </p:nvSpPr>
              <p:spPr bwMode="auto">
                <a:xfrm>
                  <a:off x="1404" y="3153"/>
                  <a:ext cx="15" cy="12"/>
                </a:xfrm>
                <a:custGeom>
                  <a:avLst/>
                  <a:gdLst>
                    <a:gd name="T0" fmla="*/ 0 w 15"/>
                    <a:gd name="T1" fmla="*/ 0 h 12"/>
                    <a:gd name="T2" fmla="*/ 0 w 15"/>
                    <a:gd name="T3" fmla="*/ 0 h 12"/>
                    <a:gd name="T4" fmla="*/ 0 w 15"/>
                    <a:gd name="T5" fmla="*/ 12 h 12"/>
                    <a:gd name="T6" fmla="*/ 12 w 15"/>
                    <a:gd name="T7" fmla="*/ 12 h 12"/>
                    <a:gd name="T8" fmla="*/ 15 w 15"/>
                    <a:gd name="T9" fmla="*/ 4 h 12"/>
                    <a:gd name="T10" fmla="*/ 15 w 15"/>
                    <a:gd name="T11" fmla="*/ 0 h 12"/>
                    <a:gd name="T12" fmla="*/ 15 w 15"/>
                    <a:gd name="T13" fmla="*/ 4 h 12"/>
                    <a:gd name="T14" fmla="*/ 15 w 15"/>
                    <a:gd name="T15" fmla="*/ 0 h 12"/>
                    <a:gd name="T16" fmla="*/ 15 w 15"/>
                    <a:gd name="T17" fmla="*/ 0 h 12"/>
                    <a:gd name="T18" fmla="*/ 0 w 15"/>
                    <a:gd name="T19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3" name="Freeform 235"/>
                <p:cNvSpPr>
                  <a:spLocks/>
                </p:cNvSpPr>
                <p:nvPr/>
              </p:nvSpPr>
              <p:spPr bwMode="auto">
                <a:xfrm>
                  <a:off x="1404" y="1597"/>
                  <a:ext cx="15" cy="1556"/>
                </a:xfrm>
                <a:custGeom>
                  <a:avLst/>
                  <a:gdLst>
                    <a:gd name="T0" fmla="*/ 0 w 15"/>
                    <a:gd name="T1" fmla="*/ 0 h 1556"/>
                    <a:gd name="T2" fmla="*/ 0 w 15"/>
                    <a:gd name="T3" fmla="*/ 0 h 1556"/>
                    <a:gd name="T4" fmla="*/ 0 w 15"/>
                    <a:gd name="T5" fmla="*/ 1556 h 1556"/>
                    <a:gd name="T6" fmla="*/ 15 w 15"/>
                    <a:gd name="T7" fmla="*/ 1556 h 1556"/>
                    <a:gd name="T8" fmla="*/ 15 w 15"/>
                    <a:gd name="T9" fmla="*/ 0 h 1556"/>
                    <a:gd name="T10" fmla="*/ 15 w 15"/>
                    <a:gd name="T11" fmla="*/ 0 h 1556"/>
                    <a:gd name="T12" fmla="*/ 15 w 15"/>
                    <a:gd name="T13" fmla="*/ 0 h 1556"/>
                    <a:gd name="T14" fmla="*/ 15 w 15"/>
                    <a:gd name="T15" fmla="*/ 0 h 1556"/>
                    <a:gd name="T16" fmla="*/ 15 w 15"/>
                    <a:gd name="T17" fmla="*/ 0 h 1556"/>
                    <a:gd name="T18" fmla="*/ 0 w 15"/>
                    <a:gd name="T19" fmla="*/ 0 h 1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55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556"/>
                      </a:lnTo>
                      <a:lnTo>
                        <a:pt x="15" y="1556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4" name="Freeform 236"/>
                <p:cNvSpPr>
                  <a:spLocks/>
                </p:cNvSpPr>
                <p:nvPr/>
              </p:nvSpPr>
              <p:spPr bwMode="auto">
                <a:xfrm>
                  <a:off x="1404" y="1585"/>
                  <a:ext cx="15" cy="12"/>
                </a:xfrm>
                <a:custGeom>
                  <a:avLst/>
                  <a:gdLst>
                    <a:gd name="T0" fmla="*/ 0 w 15"/>
                    <a:gd name="T1" fmla="*/ 4 h 12"/>
                    <a:gd name="T2" fmla="*/ 0 w 15"/>
                    <a:gd name="T3" fmla="*/ 4 h 12"/>
                    <a:gd name="T4" fmla="*/ 0 w 15"/>
                    <a:gd name="T5" fmla="*/ 12 h 12"/>
                    <a:gd name="T6" fmla="*/ 15 w 15"/>
                    <a:gd name="T7" fmla="*/ 12 h 12"/>
                    <a:gd name="T8" fmla="*/ 12 w 15"/>
                    <a:gd name="T9" fmla="*/ 4 h 12"/>
                    <a:gd name="T10" fmla="*/ 12 w 15"/>
                    <a:gd name="T11" fmla="*/ 0 h 12"/>
                    <a:gd name="T12" fmla="*/ 15 w 15"/>
                    <a:gd name="T13" fmla="*/ 4 h 12"/>
                    <a:gd name="T14" fmla="*/ 12 w 15"/>
                    <a:gd name="T15" fmla="*/ 0 h 12"/>
                    <a:gd name="T16" fmla="*/ 12 w 15"/>
                    <a:gd name="T17" fmla="*/ 0 h 12"/>
                    <a:gd name="T18" fmla="*/ 0 w 15"/>
                    <a:gd name="T19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5" y="12"/>
                      </a:lnTo>
                      <a:lnTo>
                        <a:pt x="12" y="4"/>
                      </a:lnTo>
                      <a:lnTo>
                        <a:pt x="12" y="0"/>
                      </a:lnTo>
                      <a:lnTo>
                        <a:pt x="15" y="4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5" name="Freeform 237"/>
                <p:cNvSpPr>
                  <a:spLocks/>
                </p:cNvSpPr>
                <p:nvPr/>
              </p:nvSpPr>
              <p:spPr bwMode="auto">
                <a:xfrm>
                  <a:off x="1404" y="1577"/>
                  <a:ext cx="12" cy="12"/>
                </a:xfrm>
                <a:custGeom>
                  <a:avLst/>
                  <a:gdLst>
                    <a:gd name="T0" fmla="*/ 0 w 12"/>
                    <a:gd name="T1" fmla="*/ 4 h 12"/>
                    <a:gd name="T2" fmla="*/ 0 w 12"/>
                    <a:gd name="T3" fmla="*/ 4 h 12"/>
                    <a:gd name="T4" fmla="*/ 0 w 12"/>
                    <a:gd name="T5" fmla="*/ 12 h 12"/>
                    <a:gd name="T6" fmla="*/ 12 w 12"/>
                    <a:gd name="T7" fmla="*/ 8 h 12"/>
                    <a:gd name="T8" fmla="*/ 12 w 12"/>
                    <a:gd name="T9" fmla="*/ 0 h 12"/>
                    <a:gd name="T10" fmla="*/ 12 w 12"/>
                    <a:gd name="T11" fmla="*/ 0 h 12"/>
                    <a:gd name="T12" fmla="*/ 12 w 12"/>
                    <a:gd name="T13" fmla="*/ 0 h 12"/>
                    <a:gd name="T14" fmla="*/ 12 w 12"/>
                    <a:gd name="T15" fmla="*/ 0 h 12"/>
                    <a:gd name="T16" fmla="*/ 12 w 12"/>
                    <a:gd name="T17" fmla="*/ 0 h 12"/>
                    <a:gd name="T18" fmla="*/ 0 w 12"/>
                    <a:gd name="T19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12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2" y="8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6" name="Freeform 238"/>
                <p:cNvSpPr>
                  <a:spLocks/>
                </p:cNvSpPr>
                <p:nvPr/>
              </p:nvSpPr>
              <p:spPr bwMode="auto">
                <a:xfrm>
                  <a:off x="1401" y="1564"/>
                  <a:ext cx="15" cy="17"/>
                </a:xfrm>
                <a:custGeom>
                  <a:avLst/>
                  <a:gdLst>
                    <a:gd name="T0" fmla="*/ 0 w 15"/>
                    <a:gd name="T1" fmla="*/ 9 h 17"/>
                    <a:gd name="T2" fmla="*/ 0 w 15"/>
                    <a:gd name="T3" fmla="*/ 9 h 17"/>
                    <a:gd name="T4" fmla="*/ 3 w 15"/>
                    <a:gd name="T5" fmla="*/ 17 h 17"/>
                    <a:gd name="T6" fmla="*/ 15 w 15"/>
                    <a:gd name="T7" fmla="*/ 13 h 17"/>
                    <a:gd name="T8" fmla="*/ 12 w 15"/>
                    <a:gd name="T9" fmla="*/ 0 h 17"/>
                    <a:gd name="T10" fmla="*/ 12 w 15"/>
                    <a:gd name="T11" fmla="*/ 0 h 17"/>
                    <a:gd name="T12" fmla="*/ 12 w 15"/>
                    <a:gd name="T13" fmla="*/ 0 h 17"/>
                    <a:gd name="T14" fmla="*/ 12 w 15"/>
                    <a:gd name="T15" fmla="*/ 0 h 17"/>
                    <a:gd name="T16" fmla="*/ 12 w 15"/>
                    <a:gd name="T17" fmla="*/ 0 h 17"/>
                    <a:gd name="T18" fmla="*/ 0 w 15"/>
                    <a:gd name="T19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15" y="13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7" name="Freeform 239"/>
                <p:cNvSpPr>
                  <a:spLocks/>
                </p:cNvSpPr>
                <p:nvPr/>
              </p:nvSpPr>
              <p:spPr bwMode="auto">
                <a:xfrm>
                  <a:off x="1398" y="1556"/>
                  <a:ext cx="15" cy="17"/>
                </a:xfrm>
                <a:custGeom>
                  <a:avLst/>
                  <a:gdLst>
                    <a:gd name="T0" fmla="*/ 0 w 15"/>
                    <a:gd name="T1" fmla="*/ 8 h 17"/>
                    <a:gd name="T2" fmla="*/ 0 w 15"/>
                    <a:gd name="T3" fmla="*/ 8 h 17"/>
                    <a:gd name="T4" fmla="*/ 3 w 15"/>
                    <a:gd name="T5" fmla="*/ 17 h 17"/>
                    <a:gd name="T6" fmla="*/ 15 w 15"/>
                    <a:gd name="T7" fmla="*/ 8 h 17"/>
                    <a:gd name="T8" fmla="*/ 15 w 15"/>
                    <a:gd name="T9" fmla="*/ 0 h 17"/>
                    <a:gd name="T10" fmla="*/ 15 w 15"/>
                    <a:gd name="T11" fmla="*/ 0 h 17"/>
                    <a:gd name="T12" fmla="*/ 15 w 15"/>
                    <a:gd name="T13" fmla="*/ 0 h 17"/>
                    <a:gd name="T14" fmla="*/ 15 w 15"/>
                    <a:gd name="T15" fmla="*/ 0 h 17"/>
                    <a:gd name="T16" fmla="*/ 15 w 15"/>
                    <a:gd name="T17" fmla="*/ 0 h 17"/>
                    <a:gd name="T18" fmla="*/ 0 w 15"/>
                    <a:gd name="T19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8" name="Freeform 240"/>
                <p:cNvSpPr>
                  <a:spLocks/>
                </p:cNvSpPr>
                <p:nvPr/>
              </p:nvSpPr>
              <p:spPr bwMode="auto">
                <a:xfrm>
                  <a:off x="1395" y="1548"/>
                  <a:ext cx="18" cy="16"/>
                </a:xfrm>
                <a:custGeom>
                  <a:avLst/>
                  <a:gdLst>
                    <a:gd name="T0" fmla="*/ 0 w 18"/>
                    <a:gd name="T1" fmla="*/ 8 h 16"/>
                    <a:gd name="T2" fmla="*/ 0 w 18"/>
                    <a:gd name="T3" fmla="*/ 8 h 16"/>
                    <a:gd name="T4" fmla="*/ 3 w 18"/>
                    <a:gd name="T5" fmla="*/ 16 h 16"/>
                    <a:gd name="T6" fmla="*/ 18 w 18"/>
                    <a:gd name="T7" fmla="*/ 8 h 16"/>
                    <a:gd name="T8" fmla="*/ 15 w 18"/>
                    <a:gd name="T9" fmla="*/ 0 h 16"/>
                    <a:gd name="T10" fmla="*/ 12 w 18"/>
                    <a:gd name="T11" fmla="*/ 0 h 16"/>
                    <a:gd name="T12" fmla="*/ 15 w 18"/>
                    <a:gd name="T13" fmla="*/ 0 h 16"/>
                    <a:gd name="T14" fmla="*/ 12 w 18"/>
                    <a:gd name="T15" fmla="*/ 0 h 16"/>
                    <a:gd name="T16" fmla="*/ 12 w 18"/>
                    <a:gd name="T17" fmla="*/ 0 h 16"/>
                    <a:gd name="T18" fmla="*/ 0 w 18"/>
                    <a:gd name="T19" fmla="*/ 8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6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18" y="8"/>
                      </a:ln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9" name="Freeform 241"/>
                <p:cNvSpPr>
                  <a:spLocks/>
                </p:cNvSpPr>
                <p:nvPr/>
              </p:nvSpPr>
              <p:spPr bwMode="auto">
                <a:xfrm>
                  <a:off x="1392" y="1536"/>
                  <a:ext cx="15" cy="20"/>
                </a:xfrm>
                <a:custGeom>
                  <a:avLst/>
                  <a:gdLst>
                    <a:gd name="T0" fmla="*/ 0 w 15"/>
                    <a:gd name="T1" fmla="*/ 12 h 20"/>
                    <a:gd name="T2" fmla="*/ 0 w 15"/>
                    <a:gd name="T3" fmla="*/ 12 h 20"/>
                    <a:gd name="T4" fmla="*/ 3 w 15"/>
                    <a:gd name="T5" fmla="*/ 20 h 20"/>
                    <a:gd name="T6" fmla="*/ 15 w 15"/>
                    <a:gd name="T7" fmla="*/ 12 h 20"/>
                    <a:gd name="T8" fmla="*/ 12 w 15"/>
                    <a:gd name="T9" fmla="*/ 0 h 20"/>
                    <a:gd name="T10" fmla="*/ 12 w 15"/>
                    <a:gd name="T11" fmla="*/ 0 h 20"/>
                    <a:gd name="T12" fmla="*/ 12 w 15"/>
                    <a:gd name="T13" fmla="*/ 0 h 20"/>
                    <a:gd name="T14" fmla="*/ 12 w 15"/>
                    <a:gd name="T15" fmla="*/ 0 h 20"/>
                    <a:gd name="T16" fmla="*/ 12 w 15"/>
                    <a:gd name="T17" fmla="*/ 0 h 20"/>
                    <a:gd name="T18" fmla="*/ 0 w 15"/>
                    <a:gd name="T1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3" y="20"/>
                      </a:lnTo>
                      <a:lnTo>
                        <a:pt x="15" y="12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0" name="Freeform 242"/>
                <p:cNvSpPr>
                  <a:spLocks/>
                </p:cNvSpPr>
                <p:nvPr/>
              </p:nvSpPr>
              <p:spPr bwMode="auto">
                <a:xfrm>
                  <a:off x="1389" y="1527"/>
                  <a:ext cx="15" cy="21"/>
                </a:xfrm>
                <a:custGeom>
                  <a:avLst/>
                  <a:gdLst>
                    <a:gd name="T0" fmla="*/ 0 w 15"/>
                    <a:gd name="T1" fmla="*/ 13 h 21"/>
                    <a:gd name="T2" fmla="*/ 0 w 15"/>
                    <a:gd name="T3" fmla="*/ 13 h 21"/>
                    <a:gd name="T4" fmla="*/ 3 w 15"/>
                    <a:gd name="T5" fmla="*/ 21 h 21"/>
                    <a:gd name="T6" fmla="*/ 15 w 15"/>
                    <a:gd name="T7" fmla="*/ 9 h 21"/>
                    <a:gd name="T8" fmla="*/ 12 w 15"/>
                    <a:gd name="T9" fmla="*/ 0 h 21"/>
                    <a:gd name="T10" fmla="*/ 9 w 15"/>
                    <a:gd name="T11" fmla="*/ 0 h 21"/>
                    <a:gd name="T12" fmla="*/ 12 w 15"/>
                    <a:gd name="T13" fmla="*/ 0 h 21"/>
                    <a:gd name="T14" fmla="*/ 12 w 15"/>
                    <a:gd name="T15" fmla="*/ 0 h 21"/>
                    <a:gd name="T16" fmla="*/ 9 w 15"/>
                    <a:gd name="T17" fmla="*/ 0 h 21"/>
                    <a:gd name="T18" fmla="*/ 0 w 15"/>
                    <a:gd name="T19" fmla="*/ 13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0" y="13"/>
                      </a:moveTo>
                      <a:lnTo>
                        <a:pt x="0" y="13"/>
                      </a:lnTo>
                      <a:lnTo>
                        <a:pt x="3" y="21"/>
                      </a:lnTo>
                      <a:lnTo>
                        <a:pt x="15" y="9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1" name="Freeform 243"/>
                <p:cNvSpPr>
                  <a:spLocks/>
                </p:cNvSpPr>
                <p:nvPr/>
              </p:nvSpPr>
              <p:spPr bwMode="auto">
                <a:xfrm>
                  <a:off x="1386" y="1519"/>
                  <a:ext cx="12" cy="21"/>
                </a:xfrm>
                <a:custGeom>
                  <a:avLst/>
                  <a:gdLst>
                    <a:gd name="T0" fmla="*/ 0 w 12"/>
                    <a:gd name="T1" fmla="*/ 17 h 21"/>
                    <a:gd name="T2" fmla="*/ 0 w 12"/>
                    <a:gd name="T3" fmla="*/ 17 h 21"/>
                    <a:gd name="T4" fmla="*/ 3 w 12"/>
                    <a:gd name="T5" fmla="*/ 21 h 21"/>
                    <a:gd name="T6" fmla="*/ 12 w 12"/>
                    <a:gd name="T7" fmla="*/ 8 h 21"/>
                    <a:gd name="T8" fmla="*/ 9 w 12"/>
                    <a:gd name="T9" fmla="*/ 4 h 21"/>
                    <a:gd name="T10" fmla="*/ 9 w 12"/>
                    <a:gd name="T11" fmla="*/ 0 h 21"/>
                    <a:gd name="T12" fmla="*/ 9 w 12"/>
                    <a:gd name="T13" fmla="*/ 4 h 21"/>
                    <a:gd name="T14" fmla="*/ 9 w 12"/>
                    <a:gd name="T15" fmla="*/ 0 h 21"/>
                    <a:gd name="T16" fmla="*/ 9 w 12"/>
                    <a:gd name="T17" fmla="*/ 0 h 21"/>
                    <a:gd name="T18" fmla="*/ 0 w 12"/>
                    <a:gd name="T19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1">
                      <a:moveTo>
                        <a:pt x="0" y="17"/>
                      </a:moveTo>
                      <a:lnTo>
                        <a:pt x="0" y="17"/>
                      </a:lnTo>
                      <a:lnTo>
                        <a:pt x="3" y="21"/>
                      </a:lnTo>
                      <a:lnTo>
                        <a:pt x="12" y="8"/>
                      </a:lnTo>
                      <a:lnTo>
                        <a:pt x="9" y="4"/>
                      </a:lnTo>
                      <a:lnTo>
                        <a:pt x="9" y="0"/>
                      </a:lnTo>
                      <a:lnTo>
                        <a:pt x="9" y="4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2" name="Freeform 244"/>
                <p:cNvSpPr>
                  <a:spLocks/>
                </p:cNvSpPr>
                <p:nvPr/>
              </p:nvSpPr>
              <p:spPr bwMode="auto">
                <a:xfrm>
                  <a:off x="1380" y="1515"/>
                  <a:ext cx="15" cy="21"/>
                </a:xfrm>
                <a:custGeom>
                  <a:avLst/>
                  <a:gdLst>
                    <a:gd name="T0" fmla="*/ 0 w 15"/>
                    <a:gd name="T1" fmla="*/ 12 h 21"/>
                    <a:gd name="T2" fmla="*/ 0 w 15"/>
                    <a:gd name="T3" fmla="*/ 12 h 21"/>
                    <a:gd name="T4" fmla="*/ 6 w 15"/>
                    <a:gd name="T5" fmla="*/ 21 h 21"/>
                    <a:gd name="T6" fmla="*/ 15 w 15"/>
                    <a:gd name="T7" fmla="*/ 4 h 21"/>
                    <a:gd name="T8" fmla="*/ 9 w 15"/>
                    <a:gd name="T9" fmla="*/ 0 h 21"/>
                    <a:gd name="T10" fmla="*/ 9 w 15"/>
                    <a:gd name="T11" fmla="*/ 0 h 21"/>
                    <a:gd name="T12" fmla="*/ 9 w 15"/>
                    <a:gd name="T13" fmla="*/ 0 h 21"/>
                    <a:gd name="T14" fmla="*/ 9 w 15"/>
                    <a:gd name="T15" fmla="*/ 0 h 21"/>
                    <a:gd name="T16" fmla="*/ 9 w 15"/>
                    <a:gd name="T17" fmla="*/ 0 h 21"/>
                    <a:gd name="T18" fmla="*/ 0 w 15"/>
                    <a:gd name="T19" fmla="*/ 1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6" y="21"/>
                      </a:ln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3" name="Freeform 245"/>
                <p:cNvSpPr>
                  <a:spLocks/>
                </p:cNvSpPr>
                <p:nvPr/>
              </p:nvSpPr>
              <p:spPr bwMode="auto">
                <a:xfrm>
                  <a:off x="1374" y="1507"/>
                  <a:ext cx="15" cy="20"/>
                </a:xfrm>
                <a:custGeom>
                  <a:avLst/>
                  <a:gdLst>
                    <a:gd name="T0" fmla="*/ 0 w 15"/>
                    <a:gd name="T1" fmla="*/ 16 h 20"/>
                    <a:gd name="T2" fmla="*/ 0 w 15"/>
                    <a:gd name="T3" fmla="*/ 16 h 20"/>
                    <a:gd name="T4" fmla="*/ 6 w 15"/>
                    <a:gd name="T5" fmla="*/ 20 h 20"/>
                    <a:gd name="T6" fmla="*/ 15 w 15"/>
                    <a:gd name="T7" fmla="*/ 8 h 20"/>
                    <a:gd name="T8" fmla="*/ 9 w 15"/>
                    <a:gd name="T9" fmla="*/ 0 h 20"/>
                    <a:gd name="T10" fmla="*/ 9 w 15"/>
                    <a:gd name="T11" fmla="*/ 0 h 20"/>
                    <a:gd name="T12" fmla="*/ 9 w 15"/>
                    <a:gd name="T13" fmla="*/ 0 h 20"/>
                    <a:gd name="T14" fmla="*/ 9 w 15"/>
                    <a:gd name="T15" fmla="*/ 0 h 20"/>
                    <a:gd name="T16" fmla="*/ 9 w 15"/>
                    <a:gd name="T17" fmla="*/ 0 h 20"/>
                    <a:gd name="T18" fmla="*/ 0 w 15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4" name="Freeform 246"/>
                <p:cNvSpPr>
                  <a:spLocks/>
                </p:cNvSpPr>
                <p:nvPr/>
              </p:nvSpPr>
              <p:spPr bwMode="auto">
                <a:xfrm>
                  <a:off x="1368" y="1503"/>
                  <a:ext cx="15" cy="20"/>
                </a:xfrm>
                <a:custGeom>
                  <a:avLst/>
                  <a:gdLst>
                    <a:gd name="T0" fmla="*/ 3 w 15"/>
                    <a:gd name="T1" fmla="*/ 16 h 20"/>
                    <a:gd name="T2" fmla="*/ 0 w 15"/>
                    <a:gd name="T3" fmla="*/ 16 h 20"/>
                    <a:gd name="T4" fmla="*/ 6 w 15"/>
                    <a:gd name="T5" fmla="*/ 20 h 20"/>
                    <a:gd name="T6" fmla="*/ 15 w 15"/>
                    <a:gd name="T7" fmla="*/ 4 h 20"/>
                    <a:gd name="T8" fmla="*/ 9 w 15"/>
                    <a:gd name="T9" fmla="*/ 0 h 20"/>
                    <a:gd name="T10" fmla="*/ 6 w 15"/>
                    <a:gd name="T11" fmla="*/ 0 h 20"/>
                    <a:gd name="T12" fmla="*/ 9 w 15"/>
                    <a:gd name="T13" fmla="*/ 0 h 20"/>
                    <a:gd name="T14" fmla="*/ 9 w 15"/>
                    <a:gd name="T15" fmla="*/ 0 h 20"/>
                    <a:gd name="T16" fmla="*/ 6 w 15"/>
                    <a:gd name="T17" fmla="*/ 0 h 20"/>
                    <a:gd name="T18" fmla="*/ 3 w 15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3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5" name="Freeform 247"/>
                <p:cNvSpPr>
                  <a:spLocks/>
                </p:cNvSpPr>
                <p:nvPr/>
              </p:nvSpPr>
              <p:spPr bwMode="auto">
                <a:xfrm>
                  <a:off x="1365" y="1499"/>
                  <a:ext cx="9" cy="20"/>
                </a:xfrm>
                <a:custGeom>
                  <a:avLst/>
                  <a:gdLst>
                    <a:gd name="T0" fmla="*/ 0 w 9"/>
                    <a:gd name="T1" fmla="*/ 16 h 20"/>
                    <a:gd name="T2" fmla="*/ 0 w 9"/>
                    <a:gd name="T3" fmla="*/ 16 h 20"/>
                    <a:gd name="T4" fmla="*/ 6 w 9"/>
                    <a:gd name="T5" fmla="*/ 20 h 20"/>
                    <a:gd name="T6" fmla="*/ 9 w 9"/>
                    <a:gd name="T7" fmla="*/ 4 h 20"/>
                    <a:gd name="T8" fmla="*/ 3 w 9"/>
                    <a:gd name="T9" fmla="*/ 0 h 20"/>
                    <a:gd name="T10" fmla="*/ 3 w 9"/>
                    <a:gd name="T11" fmla="*/ 0 h 20"/>
                    <a:gd name="T12" fmla="*/ 3 w 9"/>
                    <a:gd name="T13" fmla="*/ 0 h 20"/>
                    <a:gd name="T14" fmla="*/ 3 w 9"/>
                    <a:gd name="T15" fmla="*/ 0 h 20"/>
                    <a:gd name="T16" fmla="*/ 3 w 9"/>
                    <a:gd name="T17" fmla="*/ 0 h 20"/>
                    <a:gd name="T18" fmla="*/ 0 w 9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9" y="4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6" name="Freeform 248"/>
                <p:cNvSpPr>
                  <a:spLocks/>
                </p:cNvSpPr>
                <p:nvPr/>
              </p:nvSpPr>
              <p:spPr bwMode="auto">
                <a:xfrm>
                  <a:off x="1356" y="1495"/>
                  <a:ext cx="12" cy="20"/>
                </a:xfrm>
                <a:custGeom>
                  <a:avLst/>
                  <a:gdLst>
                    <a:gd name="T0" fmla="*/ 3 w 12"/>
                    <a:gd name="T1" fmla="*/ 16 h 20"/>
                    <a:gd name="T2" fmla="*/ 0 w 12"/>
                    <a:gd name="T3" fmla="*/ 16 h 20"/>
                    <a:gd name="T4" fmla="*/ 9 w 12"/>
                    <a:gd name="T5" fmla="*/ 20 h 20"/>
                    <a:gd name="T6" fmla="*/ 12 w 12"/>
                    <a:gd name="T7" fmla="*/ 4 h 20"/>
                    <a:gd name="T8" fmla="*/ 6 w 12"/>
                    <a:gd name="T9" fmla="*/ 0 h 20"/>
                    <a:gd name="T10" fmla="*/ 6 w 12"/>
                    <a:gd name="T11" fmla="*/ 0 h 20"/>
                    <a:gd name="T12" fmla="*/ 6 w 12"/>
                    <a:gd name="T13" fmla="*/ 0 h 20"/>
                    <a:gd name="T14" fmla="*/ 6 w 12"/>
                    <a:gd name="T15" fmla="*/ 0 h 20"/>
                    <a:gd name="T16" fmla="*/ 6 w 12"/>
                    <a:gd name="T17" fmla="*/ 0 h 20"/>
                    <a:gd name="T18" fmla="*/ 3 w 12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3" y="16"/>
                      </a:move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7" name="Freeform 249"/>
                <p:cNvSpPr>
                  <a:spLocks/>
                </p:cNvSpPr>
                <p:nvPr/>
              </p:nvSpPr>
              <p:spPr bwMode="auto">
                <a:xfrm>
                  <a:off x="1350" y="1491"/>
                  <a:ext cx="12" cy="20"/>
                </a:xfrm>
                <a:custGeom>
                  <a:avLst/>
                  <a:gdLst>
                    <a:gd name="T0" fmla="*/ 3 w 12"/>
                    <a:gd name="T1" fmla="*/ 20 h 20"/>
                    <a:gd name="T2" fmla="*/ 0 w 12"/>
                    <a:gd name="T3" fmla="*/ 20 h 20"/>
                    <a:gd name="T4" fmla="*/ 9 w 12"/>
                    <a:gd name="T5" fmla="*/ 20 h 20"/>
                    <a:gd name="T6" fmla="*/ 12 w 12"/>
                    <a:gd name="T7" fmla="*/ 4 h 20"/>
                    <a:gd name="T8" fmla="*/ 6 w 12"/>
                    <a:gd name="T9" fmla="*/ 0 h 20"/>
                    <a:gd name="T10" fmla="*/ 3 w 12"/>
                    <a:gd name="T11" fmla="*/ 0 h 20"/>
                    <a:gd name="T12" fmla="*/ 6 w 12"/>
                    <a:gd name="T13" fmla="*/ 0 h 20"/>
                    <a:gd name="T14" fmla="*/ 3 w 12"/>
                    <a:gd name="T15" fmla="*/ 0 h 20"/>
                    <a:gd name="T16" fmla="*/ 3 w 12"/>
                    <a:gd name="T17" fmla="*/ 0 h 20"/>
                    <a:gd name="T18" fmla="*/ 3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3" y="20"/>
                      </a:moveTo>
                      <a:lnTo>
                        <a:pt x="0" y="20"/>
                      </a:lnTo>
                      <a:lnTo>
                        <a:pt x="9" y="20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8" name="Freeform 250"/>
                <p:cNvSpPr>
                  <a:spLocks/>
                </p:cNvSpPr>
                <p:nvPr/>
              </p:nvSpPr>
              <p:spPr bwMode="auto">
                <a:xfrm>
                  <a:off x="1344" y="1491"/>
                  <a:ext cx="9" cy="20"/>
                </a:xfrm>
                <a:custGeom>
                  <a:avLst/>
                  <a:gdLst>
                    <a:gd name="T0" fmla="*/ 0 w 9"/>
                    <a:gd name="T1" fmla="*/ 16 h 20"/>
                    <a:gd name="T2" fmla="*/ 0 w 9"/>
                    <a:gd name="T3" fmla="*/ 16 h 20"/>
                    <a:gd name="T4" fmla="*/ 9 w 9"/>
                    <a:gd name="T5" fmla="*/ 20 h 20"/>
                    <a:gd name="T6" fmla="*/ 9 w 9"/>
                    <a:gd name="T7" fmla="*/ 0 h 20"/>
                    <a:gd name="T8" fmla="*/ 3 w 9"/>
                    <a:gd name="T9" fmla="*/ 0 h 20"/>
                    <a:gd name="T10" fmla="*/ 3 w 9"/>
                    <a:gd name="T11" fmla="*/ 0 h 20"/>
                    <a:gd name="T12" fmla="*/ 3 w 9"/>
                    <a:gd name="T13" fmla="*/ 0 h 20"/>
                    <a:gd name="T14" fmla="*/ 3 w 9"/>
                    <a:gd name="T15" fmla="*/ 0 h 20"/>
                    <a:gd name="T16" fmla="*/ 3 w 9"/>
                    <a:gd name="T17" fmla="*/ 0 h 20"/>
                    <a:gd name="T18" fmla="*/ 0 w 9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9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9" name="Freeform 251"/>
                <p:cNvSpPr>
                  <a:spLocks/>
                </p:cNvSpPr>
                <p:nvPr/>
              </p:nvSpPr>
              <p:spPr bwMode="auto">
                <a:xfrm>
                  <a:off x="1338" y="1491"/>
                  <a:ext cx="9" cy="16"/>
                </a:xfrm>
                <a:custGeom>
                  <a:avLst/>
                  <a:gdLst>
                    <a:gd name="T0" fmla="*/ 0 w 9"/>
                    <a:gd name="T1" fmla="*/ 16 h 16"/>
                    <a:gd name="T2" fmla="*/ 0 w 9"/>
                    <a:gd name="T3" fmla="*/ 16 h 16"/>
                    <a:gd name="T4" fmla="*/ 6 w 9"/>
                    <a:gd name="T5" fmla="*/ 16 h 16"/>
                    <a:gd name="T6" fmla="*/ 9 w 9"/>
                    <a:gd name="T7" fmla="*/ 0 h 16"/>
                    <a:gd name="T8" fmla="*/ 0 w 9"/>
                    <a:gd name="T9" fmla="*/ 0 h 16"/>
                    <a:gd name="T10" fmla="*/ 0 w 9"/>
                    <a:gd name="T11" fmla="*/ 0 h 16"/>
                    <a:gd name="T12" fmla="*/ 0 w 9"/>
                    <a:gd name="T13" fmla="*/ 0 h 16"/>
                    <a:gd name="T14" fmla="*/ 0 w 9"/>
                    <a:gd name="T15" fmla="*/ 0 h 16"/>
                    <a:gd name="T16" fmla="*/ 0 w 9"/>
                    <a:gd name="T17" fmla="*/ 0 h 16"/>
                    <a:gd name="T18" fmla="*/ 0 w 9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6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16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0" name="Freeform 252"/>
                <p:cNvSpPr>
                  <a:spLocks/>
                </p:cNvSpPr>
                <p:nvPr/>
              </p:nvSpPr>
              <p:spPr bwMode="auto">
                <a:xfrm>
                  <a:off x="537" y="1491"/>
                  <a:ext cx="801" cy="16"/>
                </a:xfrm>
                <a:custGeom>
                  <a:avLst/>
                  <a:gdLst>
                    <a:gd name="T0" fmla="*/ 3 w 801"/>
                    <a:gd name="T1" fmla="*/ 16 h 16"/>
                    <a:gd name="T2" fmla="*/ 0 w 801"/>
                    <a:gd name="T3" fmla="*/ 16 h 16"/>
                    <a:gd name="T4" fmla="*/ 801 w 801"/>
                    <a:gd name="T5" fmla="*/ 16 h 16"/>
                    <a:gd name="T6" fmla="*/ 801 w 801"/>
                    <a:gd name="T7" fmla="*/ 0 h 16"/>
                    <a:gd name="T8" fmla="*/ 0 w 801"/>
                    <a:gd name="T9" fmla="*/ 0 h 16"/>
                    <a:gd name="T10" fmla="*/ 0 w 801"/>
                    <a:gd name="T11" fmla="*/ 0 h 16"/>
                    <a:gd name="T12" fmla="*/ 0 w 801"/>
                    <a:gd name="T13" fmla="*/ 0 h 16"/>
                    <a:gd name="T14" fmla="*/ 0 w 801"/>
                    <a:gd name="T15" fmla="*/ 0 h 16"/>
                    <a:gd name="T16" fmla="*/ 0 w 801"/>
                    <a:gd name="T17" fmla="*/ 0 h 16"/>
                    <a:gd name="T18" fmla="*/ 3 w 801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01" h="16">
                      <a:moveTo>
                        <a:pt x="3" y="16"/>
                      </a:moveTo>
                      <a:lnTo>
                        <a:pt x="0" y="16"/>
                      </a:lnTo>
                      <a:lnTo>
                        <a:pt x="801" y="16"/>
                      </a:ln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1" name="Freeform 253"/>
                <p:cNvSpPr>
                  <a:spLocks/>
                </p:cNvSpPr>
                <p:nvPr/>
              </p:nvSpPr>
              <p:spPr bwMode="auto">
                <a:xfrm>
                  <a:off x="531" y="1491"/>
                  <a:ext cx="9" cy="16"/>
                </a:xfrm>
                <a:custGeom>
                  <a:avLst/>
                  <a:gdLst>
                    <a:gd name="T0" fmla="*/ 0 w 9"/>
                    <a:gd name="T1" fmla="*/ 16 h 16"/>
                    <a:gd name="T2" fmla="*/ 0 w 9"/>
                    <a:gd name="T3" fmla="*/ 16 h 16"/>
                    <a:gd name="T4" fmla="*/ 9 w 9"/>
                    <a:gd name="T5" fmla="*/ 16 h 16"/>
                    <a:gd name="T6" fmla="*/ 6 w 9"/>
                    <a:gd name="T7" fmla="*/ 0 h 16"/>
                    <a:gd name="T8" fmla="*/ 0 w 9"/>
                    <a:gd name="T9" fmla="*/ 0 h 16"/>
                    <a:gd name="T10" fmla="*/ 0 w 9"/>
                    <a:gd name="T11" fmla="*/ 0 h 16"/>
                    <a:gd name="T12" fmla="*/ 0 w 9"/>
                    <a:gd name="T13" fmla="*/ 0 h 16"/>
                    <a:gd name="T14" fmla="*/ 0 w 9"/>
                    <a:gd name="T15" fmla="*/ 0 h 16"/>
                    <a:gd name="T16" fmla="*/ 0 w 9"/>
                    <a:gd name="T17" fmla="*/ 0 h 16"/>
                    <a:gd name="T18" fmla="*/ 0 w 9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6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2" name="Freeform 254"/>
                <p:cNvSpPr>
                  <a:spLocks/>
                </p:cNvSpPr>
                <p:nvPr/>
              </p:nvSpPr>
              <p:spPr bwMode="auto">
                <a:xfrm>
                  <a:off x="521" y="1491"/>
                  <a:ext cx="10" cy="20"/>
                </a:xfrm>
                <a:custGeom>
                  <a:avLst/>
                  <a:gdLst>
                    <a:gd name="T0" fmla="*/ 4 w 10"/>
                    <a:gd name="T1" fmla="*/ 20 h 20"/>
                    <a:gd name="T2" fmla="*/ 4 w 10"/>
                    <a:gd name="T3" fmla="*/ 20 h 20"/>
                    <a:gd name="T4" fmla="*/ 10 w 10"/>
                    <a:gd name="T5" fmla="*/ 16 h 20"/>
                    <a:gd name="T6" fmla="*/ 10 w 10"/>
                    <a:gd name="T7" fmla="*/ 0 h 20"/>
                    <a:gd name="T8" fmla="*/ 0 w 10"/>
                    <a:gd name="T9" fmla="*/ 0 h 20"/>
                    <a:gd name="T10" fmla="*/ 0 w 10"/>
                    <a:gd name="T11" fmla="*/ 0 h 20"/>
                    <a:gd name="T12" fmla="*/ 0 w 10"/>
                    <a:gd name="T13" fmla="*/ 0 h 20"/>
                    <a:gd name="T14" fmla="*/ 0 w 10"/>
                    <a:gd name="T15" fmla="*/ 0 h 20"/>
                    <a:gd name="T16" fmla="*/ 0 w 10"/>
                    <a:gd name="T17" fmla="*/ 0 h 20"/>
                    <a:gd name="T18" fmla="*/ 4 w 10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" h="20">
                      <a:moveTo>
                        <a:pt x="4" y="20"/>
                      </a:moveTo>
                      <a:lnTo>
                        <a:pt x="4" y="20"/>
                      </a:lnTo>
                      <a:lnTo>
                        <a:pt x="10" y="16"/>
                      </a:lnTo>
                      <a:lnTo>
                        <a:pt x="1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4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3" name="Freeform 255"/>
                <p:cNvSpPr>
                  <a:spLocks/>
                </p:cNvSpPr>
                <p:nvPr/>
              </p:nvSpPr>
              <p:spPr bwMode="auto">
                <a:xfrm>
                  <a:off x="512" y="1491"/>
                  <a:ext cx="13" cy="20"/>
                </a:xfrm>
                <a:custGeom>
                  <a:avLst/>
                  <a:gdLst>
                    <a:gd name="T0" fmla="*/ 6 w 13"/>
                    <a:gd name="T1" fmla="*/ 20 h 20"/>
                    <a:gd name="T2" fmla="*/ 6 w 13"/>
                    <a:gd name="T3" fmla="*/ 20 h 20"/>
                    <a:gd name="T4" fmla="*/ 13 w 13"/>
                    <a:gd name="T5" fmla="*/ 20 h 20"/>
                    <a:gd name="T6" fmla="*/ 9 w 13"/>
                    <a:gd name="T7" fmla="*/ 0 h 20"/>
                    <a:gd name="T8" fmla="*/ 3 w 13"/>
                    <a:gd name="T9" fmla="*/ 4 h 20"/>
                    <a:gd name="T10" fmla="*/ 0 w 13"/>
                    <a:gd name="T11" fmla="*/ 4 h 20"/>
                    <a:gd name="T12" fmla="*/ 3 w 13"/>
                    <a:gd name="T13" fmla="*/ 4 h 20"/>
                    <a:gd name="T14" fmla="*/ 3 w 13"/>
                    <a:gd name="T15" fmla="*/ 4 h 20"/>
                    <a:gd name="T16" fmla="*/ 0 w 13"/>
                    <a:gd name="T17" fmla="*/ 4 h 20"/>
                    <a:gd name="T18" fmla="*/ 6 w 13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" h="20">
                      <a:moveTo>
                        <a:pt x="6" y="20"/>
                      </a:moveTo>
                      <a:lnTo>
                        <a:pt x="6" y="20"/>
                      </a:lnTo>
                      <a:lnTo>
                        <a:pt x="13" y="20"/>
                      </a:lnTo>
                      <a:lnTo>
                        <a:pt x="9" y="0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6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4" name="Freeform 256"/>
                <p:cNvSpPr>
                  <a:spLocks/>
                </p:cNvSpPr>
                <p:nvPr/>
              </p:nvSpPr>
              <p:spPr bwMode="auto">
                <a:xfrm>
                  <a:off x="506" y="1495"/>
                  <a:ext cx="12" cy="20"/>
                </a:xfrm>
                <a:custGeom>
                  <a:avLst/>
                  <a:gdLst>
                    <a:gd name="T0" fmla="*/ 6 w 12"/>
                    <a:gd name="T1" fmla="*/ 20 h 20"/>
                    <a:gd name="T2" fmla="*/ 6 w 12"/>
                    <a:gd name="T3" fmla="*/ 20 h 20"/>
                    <a:gd name="T4" fmla="*/ 12 w 12"/>
                    <a:gd name="T5" fmla="*/ 16 h 20"/>
                    <a:gd name="T6" fmla="*/ 6 w 12"/>
                    <a:gd name="T7" fmla="*/ 0 h 20"/>
                    <a:gd name="T8" fmla="*/ 0 w 12"/>
                    <a:gd name="T9" fmla="*/ 4 h 20"/>
                    <a:gd name="T10" fmla="*/ 0 w 12"/>
                    <a:gd name="T11" fmla="*/ 4 h 20"/>
                    <a:gd name="T12" fmla="*/ 0 w 12"/>
                    <a:gd name="T13" fmla="*/ 4 h 20"/>
                    <a:gd name="T14" fmla="*/ 0 w 12"/>
                    <a:gd name="T15" fmla="*/ 4 h 20"/>
                    <a:gd name="T16" fmla="*/ 0 w 12"/>
                    <a:gd name="T17" fmla="*/ 4 h 20"/>
                    <a:gd name="T18" fmla="*/ 6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6" y="20"/>
                      </a:move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6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5" name="Freeform 257"/>
                <p:cNvSpPr>
                  <a:spLocks/>
                </p:cNvSpPr>
                <p:nvPr/>
              </p:nvSpPr>
              <p:spPr bwMode="auto">
                <a:xfrm>
                  <a:off x="500" y="1499"/>
                  <a:ext cx="12" cy="20"/>
                </a:xfrm>
                <a:custGeom>
                  <a:avLst/>
                  <a:gdLst>
                    <a:gd name="T0" fmla="*/ 6 w 12"/>
                    <a:gd name="T1" fmla="*/ 20 h 20"/>
                    <a:gd name="T2" fmla="*/ 6 w 12"/>
                    <a:gd name="T3" fmla="*/ 20 h 20"/>
                    <a:gd name="T4" fmla="*/ 12 w 12"/>
                    <a:gd name="T5" fmla="*/ 16 h 20"/>
                    <a:gd name="T6" fmla="*/ 6 w 12"/>
                    <a:gd name="T7" fmla="*/ 0 h 20"/>
                    <a:gd name="T8" fmla="*/ 0 w 12"/>
                    <a:gd name="T9" fmla="*/ 4 h 20"/>
                    <a:gd name="T10" fmla="*/ 0 w 12"/>
                    <a:gd name="T11" fmla="*/ 4 h 20"/>
                    <a:gd name="T12" fmla="*/ 0 w 12"/>
                    <a:gd name="T13" fmla="*/ 4 h 20"/>
                    <a:gd name="T14" fmla="*/ 0 w 12"/>
                    <a:gd name="T15" fmla="*/ 4 h 20"/>
                    <a:gd name="T16" fmla="*/ 0 w 12"/>
                    <a:gd name="T17" fmla="*/ 4 h 20"/>
                    <a:gd name="T18" fmla="*/ 6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6" y="20"/>
                      </a:move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6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6" name="Freeform 258"/>
                <p:cNvSpPr>
                  <a:spLocks/>
                </p:cNvSpPr>
                <p:nvPr/>
              </p:nvSpPr>
              <p:spPr bwMode="auto">
                <a:xfrm>
                  <a:off x="491" y="1503"/>
                  <a:ext cx="15" cy="20"/>
                </a:xfrm>
                <a:custGeom>
                  <a:avLst/>
                  <a:gdLst>
                    <a:gd name="T0" fmla="*/ 9 w 15"/>
                    <a:gd name="T1" fmla="*/ 20 h 20"/>
                    <a:gd name="T2" fmla="*/ 9 w 15"/>
                    <a:gd name="T3" fmla="*/ 20 h 20"/>
                    <a:gd name="T4" fmla="*/ 15 w 15"/>
                    <a:gd name="T5" fmla="*/ 16 h 20"/>
                    <a:gd name="T6" fmla="*/ 9 w 15"/>
                    <a:gd name="T7" fmla="*/ 0 h 20"/>
                    <a:gd name="T8" fmla="*/ 3 w 15"/>
                    <a:gd name="T9" fmla="*/ 4 h 20"/>
                    <a:gd name="T10" fmla="*/ 0 w 15"/>
                    <a:gd name="T11" fmla="*/ 4 h 20"/>
                    <a:gd name="T12" fmla="*/ 3 w 15"/>
                    <a:gd name="T13" fmla="*/ 4 h 20"/>
                    <a:gd name="T14" fmla="*/ 3 w 15"/>
                    <a:gd name="T15" fmla="*/ 4 h 20"/>
                    <a:gd name="T16" fmla="*/ 0 w 15"/>
                    <a:gd name="T17" fmla="*/ 4 h 20"/>
                    <a:gd name="T18" fmla="*/ 9 w 15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9" y="20"/>
                      </a:moveTo>
                      <a:lnTo>
                        <a:pt x="9" y="20"/>
                      </a:lnTo>
                      <a:lnTo>
                        <a:pt x="15" y="16"/>
                      </a:lnTo>
                      <a:lnTo>
                        <a:pt x="9" y="0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0" y="4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7" name="Freeform 259"/>
                <p:cNvSpPr>
                  <a:spLocks/>
                </p:cNvSpPr>
                <p:nvPr/>
              </p:nvSpPr>
              <p:spPr bwMode="auto">
                <a:xfrm>
                  <a:off x="437" y="1507"/>
                  <a:ext cx="63" cy="78"/>
                </a:xfrm>
                <a:custGeom>
                  <a:avLst/>
                  <a:gdLst>
                    <a:gd name="T0" fmla="*/ 48 w 63"/>
                    <a:gd name="T1" fmla="*/ 8 h 78"/>
                    <a:gd name="T2" fmla="*/ 57 w 63"/>
                    <a:gd name="T3" fmla="*/ 20 h 78"/>
                    <a:gd name="T4" fmla="*/ 63 w 63"/>
                    <a:gd name="T5" fmla="*/ 16 h 78"/>
                    <a:gd name="T6" fmla="*/ 54 w 63"/>
                    <a:gd name="T7" fmla="*/ 0 h 78"/>
                    <a:gd name="T8" fmla="*/ 51 w 63"/>
                    <a:gd name="T9" fmla="*/ 8 h 78"/>
                    <a:gd name="T10" fmla="*/ 60 w 63"/>
                    <a:gd name="T11" fmla="*/ 20 h 78"/>
                    <a:gd name="T12" fmla="*/ 48 w 63"/>
                    <a:gd name="T13" fmla="*/ 8 h 78"/>
                    <a:gd name="T14" fmla="*/ 0 w 63"/>
                    <a:gd name="T15" fmla="*/ 78 h 78"/>
                    <a:gd name="T16" fmla="*/ 57 w 63"/>
                    <a:gd name="T17" fmla="*/ 20 h 78"/>
                    <a:gd name="T18" fmla="*/ 48 w 63"/>
                    <a:gd name="T19" fmla="*/ 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3" h="78">
                      <a:moveTo>
                        <a:pt x="48" y="8"/>
                      </a:moveTo>
                      <a:lnTo>
                        <a:pt x="57" y="20"/>
                      </a:lnTo>
                      <a:lnTo>
                        <a:pt x="63" y="16"/>
                      </a:lnTo>
                      <a:lnTo>
                        <a:pt x="54" y="0"/>
                      </a:lnTo>
                      <a:lnTo>
                        <a:pt x="51" y="8"/>
                      </a:lnTo>
                      <a:lnTo>
                        <a:pt x="60" y="20"/>
                      </a:lnTo>
                      <a:lnTo>
                        <a:pt x="48" y="8"/>
                      </a:lnTo>
                      <a:lnTo>
                        <a:pt x="0" y="78"/>
                      </a:lnTo>
                      <a:lnTo>
                        <a:pt x="57" y="20"/>
                      </a:lnTo>
                      <a:lnTo>
                        <a:pt x="48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8" name="Freeform 260"/>
                <p:cNvSpPr>
                  <a:spLocks/>
                </p:cNvSpPr>
                <p:nvPr/>
              </p:nvSpPr>
              <p:spPr bwMode="auto">
                <a:xfrm>
                  <a:off x="464" y="1499"/>
                  <a:ext cx="946" cy="1757"/>
                </a:xfrm>
                <a:custGeom>
                  <a:avLst/>
                  <a:gdLst>
                    <a:gd name="T0" fmla="*/ 874 w 946"/>
                    <a:gd name="T1" fmla="*/ 0 h 1757"/>
                    <a:gd name="T2" fmla="*/ 889 w 946"/>
                    <a:gd name="T3" fmla="*/ 0 h 1757"/>
                    <a:gd name="T4" fmla="*/ 901 w 946"/>
                    <a:gd name="T5" fmla="*/ 8 h 1757"/>
                    <a:gd name="T6" fmla="*/ 916 w 946"/>
                    <a:gd name="T7" fmla="*/ 16 h 1757"/>
                    <a:gd name="T8" fmla="*/ 925 w 946"/>
                    <a:gd name="T9" fmla="*/ 28 h 1757"/>
                    <a:gd name="T10" fmla="*/ 934 w 946"/>
                    <a:gd name="T11" fmla="*/ 45 h 1757"/>
                    <a:gd name="T12" fmla="*/ 940 w 946"/>
                    <a:gd name="T13" fmla="*/ 61 h 1757"/>
                    <a:gd name="T14" fmla="*/ 946 w 946"/>
                    <a:gd name="T15" fmla="*/ 78 h 1757"/>
                    <a:gd name="T16" fmla="*/ 946 w 946"/>
                    <a:gd name="T17" fmla="*/ 98 h 1757"/>
                    <a:gd name="T18" fmla="*/ 946 w 946"/>
                    <a:gd name="T19" fmla="*/ 1666 h 1757"/>
                    <a:gd name="T20" fmla="*/ 943 w 946"/>
                    <a:gd name="T21" fmla="*/ 1687 h 1757"/>
                    <a:gd name="T22" fmla="*/ 937 w 946"/>
                    <a:gd name="T23" fmla="*/ 1703 h 1757"/>
                    <a:gd name="T24" fmla="*/ 931 w 946"/>
                    <a:gd name="T25" fmla="*/ 1720 h 1757"/>
                    <a:gd name="T26" fmla="*/ 922 w 946"/>
                    <a:gd name="T27" fmla="*/ 1732 h 1757"/>
                    <a:gd name="T28" fmla="*/ 910 w 946"/>
                    <a:gd name="T29" fmla="*/ 1744 h 1757"/>
                    <a:gd name="T30" fmla="*/ 895 w 946"/>
                    <a:gd name="T31" fmla="*/ 1753 h 1757"/>
                    <a:gd name="T32" fmla="*/ 883 w 946"/>
                    <a:gd name="T33" fmla="*/ 1753 h 1757"/>
                    <a:gd name="T34" fmla="*/ 73 w 946"/>
                    <a:gd name="T35" fmla="*/ 1757 h 1757"/>
                    <a:gd name="T36" fmla="*/ 61 w 946"/>
                    <a:gd name="T37" fmla="*/ 1753 h 1757"/>
                    <a:gd name="T38" fmla="*/ 45 w 946"/>
                    <a:gd name="T39" fmla="*/ 1749 h 1757"/>
                    <a:gd name="T40" fmla="*/ 33 w 946"/>
                    <a:gd name="T41" fmla="*/ 1740 h 1757"/>
                    <a:gd name="T42" fmla="*/ 21 w 946"/>
                    <a:gd name="T43" fmla="*/ 1728 h 1757"/>
                    <a:gd name="T44" fmla="*/ 12 w 946"/>
                    <a:gd name="T45" fmla="*/ 1712 h 1757"/>
                    <a:gd name="T46" fmla="*/ 6 w 946"/>
                    <a:gd name="T47" fmla="*/ 1695 h 1757"/>
                    <a:gd name="T48" fmla="*/ 3 w 946"/>
                    <a:gd name="T49" fmla="*/ 1675 h 1757"/>
                    <a:gd name="T50" fmla="*/ 0 w 946"/>
                    <a:gd name="T51" fmla="*/ 1654 h 1757"/>
                    <a:gd name="T52" fmla="*/ 0 w 946"/>
                    <a:gd name="T53" fmla="*/ 90 h 1757"/>
                    <a:gd name="T54" fmla="*/ 3 w 946"/>
                    <a:gd name="T55" fmla="*/ 70 h 1757"/>
                    <a:gd name="T56" fmla="*/ 9 w 946"/>
                    <a:gd name="T57" fmla="*/ 53 h 1757"/>
                    <a:gd name="T58" fmla="*/ 18 w 946"/>
                    <a:gd name="T59" fmla="*/ 37 h 1757"/>
                    <a:gd name="T60" fmla="*/ 27 w 946"/>
                    <a:gd name="T61" fmla="*/ 24 h 1757"/>
                    <a:gd name="T62" fmla="*/ 39 w 946"/>
                    <a:gd name="T63" fmla="*/ 12 h 1757"/>
                    <a:gd name="T64" fmla="*/ 51 w 946"/>
                    <a:gd name="T65" fmla="*/ 4 h 1757"/>
                    <a:gd name="T66" fmla="*/ 67 w 946"/>
                    <a:gd name="T67" fmla="*/ 0 h 17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946" h="1757">
                      <a:moveTo>
                        <a:pt x="73" y="0"/>
                      </a:moveTo>
                      <a:lnTo>
                        <a:pt x="874" y="0"/>
                      </a:lnTo>
                      <a:lnTo>
                        <a:pt x="883" y="0"/>
                      </a:lnTo>
                      <a:lnTo>
                        <a:pt x="889" y="0"/>
                      </a:lnTo>
                      <a:lnTo>
                        <a:pt x="895" y="4"/>
                      </a:lnTo>
                      <a:lnTo>
                        <a:pt x="901" y="8"/>
                      </a:lnTo>
                      <a:lnTo>
                        <a:pt x="910" y="12"/>
                      </a:lnTo>
                      <a:lnTo>
                        <a:pt x="916" y="16"/>
                      </a:lnTo>
                      <a:lnTo>
                        <a:pt x="922" y="24"/>
                      </a:lnTo>
                      <a:lnTo>
                        <a:pt x="925" y="28"/>
                      </a:lnTo>
                      <a:lnTo>
                        <a:pt x="931" y="37"/>
                      </a:lnTo>
                      <a:lnTo>
                        <a:pt x="934" y="45"/>
                      </a:lnTo>
                      <a:lnTo>
                        <a:pt x="937" y="53"/>
                      </a:lnTo>
                      <a:lnTo>
                        <a:pt x="940" y="61"/>
                      </a:lnTo>
                      <a:lnTo>
                        <a:pt x="943" y="70"/>
                      </a:lnTo>
                      <a:lnTo>
                        <a:pt x="946" y="78"/>
                      </a:lnTo>
                      <a:lnTo>
                        <a:pt x="946" y="90"/>
                      </a:lnTo>
                      <a:lnTo>
                        <a:pt x="946" y="98"/>
                      </a:lnTo>
                      <a:lnTo>
                        <a:pt x="946" y="1654"/>
                      </a:lnTo>
                      <a:lnTo>
                        <a:pt x="946" y="1666"/>
                      </a:lnTo>
                      <a:lnTo>
                        <a:pt x="946" y="1675"/>
                      </a:lnTo>
                      <a:lnTo>
                        <a:pt x="943" y="1687"/>
                      </a:lnTo>
                      <a:lnTo>
                        <a:pt x="940" y="1695"/>
                      </a:lnTo>
                      <a:lnTo>
                        <a:pt x="937" y="1703"/>
                      </a:lnTo>
                      <a:lnTo>
                        <a:pt x="934" y="1712"/>
                      </a:lnTo>
                      <a:lnTo>
                        <a:pt x="931" y="1720"/>
                      </a:lnTo>
                      <a:lnTo>
                        <a:pt x="925" y="1728"/>
                      </a:lnTo>
                      <a:lnTo>
                        <a:pt x="922" y="1732"/>
                      </a:lnTo>
                      <a:lnTo>
                        <a:pt x="916" y="1740"/>
                      </a:lnTo>
                      <a:lnTo>
                        <a:pt x="910" y="1744"/>
                      </a:lnTo>
                      <a:lnTo>
                        <a:pt x="901" y="1749"/>
                      </a:lnTo>
                      <a:lnTo>
                        <a:pt x="895" y="1753"/>
                      </a:lnTo>
                      <a:lnTo>
                        <a:pt x="889" y="1753"/>
                      </a:lnTo>
                      <a:lnTo>
                        <a:pt x="883" y="1753"/>
                      </a:lnTo>
                      <a:lnTo>
                        <a:pt x="874" y="1757"/>
                      </a:lnTo>
                      <a:lnTo>
                        <a:pt x="73" y="1757"/>
                      </a:lnTo>
                      <a:lnTo>
                        <a:pt x="67" y="1753"/>
                      </a:lnTo>
                      <a:lnTo>
                        <a:pt x="61" y="1753"/>
                      </a:lnTo>
                      <a:lnTo>
                        <a:pt x="51" y="1753"/>
                      </a:lnTo>
                      <a:lnTo>
                        <a:pt x="45" y="1749"/>
                      </a:lnTo>
                      <a:lnTo>
                        <a:pt x="39" y="1744"/>
                      </a:lnTo>
                      <a:lnTo>
                        <a:pt x="33" y="1740"/>
                      </a:lnTo>
                      <a:lnTo>
                        <a:pt x="27" y="1732"/>
                      </a:lnTo>
                      <a:lnTo>
                        <a:pt x="21" y="1728"/>
                      </a:lnTo>
                      <a:lnTo>
                        <a:pt x="18" y="1720"/>
                      </a:lnTo>
                      <a:lnTo>
                        <a:pt x="12" y="1712"/>
                      </a:lnTo>
                      <a:lnTo>
                        <a:pt x="9" y="1703"/>
                      </a:lnTo>
                      <a:lnTo>
                        <a:pt x="6" y="1695"/>
                      </a:lnTo>
                      <a:lnTo>
                        <a:pt x="3" y="1687"/>
                      </a:lnTo>
                      <a:lnTo>
                        <a:pt x="3" y="1675"/>
                      </a:lnTo>
                      <a:lnTo>
                        <a:pt x="0" y="1666"/>
                      </a:lnTo>
                      <a:lnTo>
                        <a:pt x="0" y="1654"/>
                      </a:lnTo>
                      <a:lnTo>
                        <a:pt x="0" y="98"/>
                      </a:lnTo>
                      <a:lnTo>
                        <a:pt x="0" y="90"/>
                      </a:lnTo>
                      <a:lnTo>
                        <a:pt x="3" y="78"/>
                      </a:lnTo>
                      <a:lnTo>
                        <a:pt x="3" y="70"/>
                      </a:lnTo>
                      <a:lnTo>
                        <a:pt x="6" y="61"/>
                      </a:lnTo>
                      <a:lnTo>
                        <a:pt x="9" y="53"/>
                      </a:lnTo>
                      <a:lnTo>
                        <a:pt x="12" y="45"/>
                      </a:lnTo>
                      <a:lnTo>
                        <a:pt x="18" y="37"/>
                      </a:lnTo>
                      <a:lnTo>
                        <a:pt x="21" y="28"/>
                      </a:lnTo>
                      <a:lnTo>
                        <a:pt x="27" y="24"/>
                      </a:lnTo>
                      <a:lnTo>
                        <a:pt x="33" y="16"/>
                      </a:lnTo>
                      <a:lnTo>
                        <a:pt x="39" y="12"/>
                      </a:lnTo>
                      <a:lnTo>
                        <a:pt x="45" y="8"/>
                      </a:lnTo>
                      <a:lnTo>
                        <a:pt x="51" y="4"/>
                      </a:lnTo>
                      <a:lnTo>
                        <a:pt x="61" y="0"/>
                      </a:lnTo>
                      <a:lnTo>
                        <a:pt x="67" y="0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FFFFA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9" name="Freeform 261"/>
                <p:cNvSpPr>
                  <a:spLocks/>
                </p:cNvSpPr>
                <p:nvPr/>
              </p:nvSpPr>
              <p:spPr bwMode="auto">
                <a:xfrm>
                  <a:off x="537" y="1491"/>
                  <a:ext cx="801" cy="16"/>
                </a:xfrm>
                <a:custGeom>
                  <a:avLst/>
                  <a:gdLst>
                    <a:gd name="T0" fmla="*/ 801 w 801"/>
                    <a:gd name="T1" fmla="*/ 0 h 16"/>
                    <a:gd name="T2" fmla="*/ 801 w 801"/>
                    <a:gd name="T3" fmla="*/ 0 h 16"/>
                    <a:gd name="T4" fmla="*/ 0 w 801"/>
                    <a:gd name="T5" fmla="*/ 0 h 16"/>
                    <a:gd name="T6" fmla="*/ 0 w 801"/>
                    <a:gd name="T7" fmla="*/ 16 h 16"/>
                    <a:gd name="T8" fmla="*/ 801 w 801"/>
                    <a:gd name="T9" fmla="*/ 16 h 16"/>
                    <a:gd name="T10" fmla="*/ 801 w 801"/>
                    <a:gd name="T11" fmla="*/ 16 h 16"/>
                    <a:gd name="T12" fmla="*/ 801 w 801"/>
                    <a:gd name="T13" fmla="*/ 0 h 16"/>
                    <a:gd name="T14" fmla="*/ 801 w 801"/>
                    <a:gd name="T15" fmla="*/ 0 h 16"/>
                    <a:gd name="T16" fmla="*/ 801 w 801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1" h="16">
                      <a:moveTo>
                        <a:pt x="801" y="0"/>
                      </a:move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801" y="16"/>
                      </a:lnTo>
                      <a:lnTo>
                        <a:pt x="801" y="16"/>
                      </a:lnTo>
                      <a:lnTo>
                        <a:pt x="801" y="0"/>
                      </a:lnTo>
                      <a:lnTo>
                        <a:pt x="801" y="0"/>
                      </a:lnTo>
                      <a:lnTo>
                        <a:pt x="8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0" name="Freeform 262"/>
                <p:cNvSpPr>
                  <a:spLocks/>
                </p:cNvSpPr>
                <p:nvPr/>
              </p:nvSpPr>
              <p:spPr bwMode="auto">
                <a:xfrm>
                  <a:off x="1338" y="1491"/>
                  <a:ext cx="9" cy="16"/>
                </a:xfrm>
                <a:custGeom>
                  <a:avLst/>
                  <a:gdLst>
                    <a:gd name="T0" fmla="*/ 9 w 9"/>
                    <a:gd name="T1" fmla="*/ 0 h 16"/>
                    <a:gd name="T2" fmla="*/ 9 w 9"/>
                    <a:gd name="T3" fmla="*/ 0 h 16"/>
                    <a:gd name="T4" fmla="*/ 0 w 9"/>
                    <a:gd name="T5" fmla="*/ 0 h 16"/>
                    <a:gd name="T6" fmla="*/ 0 w 9"/>
                    <a:gd name="T7" fmla="*/ 16 h 16"/>
                    <a:gd name="T8" fmla="*/ 6 w 9"/>
                    <a:gd name="T9" fmla="*/ 16 h 16"/>
                    <a:gd name="T10" fmla="*/ 6 w 9"/>
                    <a:gd name="T11" fmla="*/ 16 h 16"/>
                    <a:gd name="T12" fmla="*/ 9 w 9"/>
                    <a:gd name="T13" fmla="*/ 0 h 16"/>
                    <a:gd name="T14" fmla="*/ 9 w 9"/>
                    <a:gd name="T15" fmla="*/ 0 h 16"/>
                    <a:gd name="T16" fmla="*/ 9 w 9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6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6" y="16"/>
                      </a:lnTo>
                      <a:lnTo>
                        <a:pt x="6" y="16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1" name="Freeform 263"/>
                <p:cNvSpPr>
                  <a:spLocks/>
                </p:cNvSpPr>
                <p:nvPr/>
              </p:nvSpPr>
              <p:spPr bwMode="auto">
                <a:xfrm>
                  <a:off x="1344" y="1491"/>
                  <a:ext cx="12" cy="20"/>
                </a:xfrm>
                <a:custGeom>
                  <a:avLst/>
                  <a:gdLst>
                    <a:gd name="T0" fmla="*/ 12 w 12"/>
                    <a:gd name="T1" fmla="*/ 0 h 20"/>
                    <a:gd name="T2" fmla="*/ 9 w 12"/>
                    <a:gd name="T3" fmla="*/ 0 h 20"/>
                    <a:gd name="T4" fmla="*/ 3 w 12"/>
                    <a:gd name="T5" fmla="*/ 0 h 20"/>
                    <a:gd name="T6" fmla="*/ 0 w 12"/>
                    <a:gd name="T7" fmla="*/ 16 h 20"/>
                    <a:gd name="T8" fmla="*/ 9 w 12"/>
                    <a:gd name="T9" fmla="*/ 20 h 20"/>
                    <a:gd name="T10" fmla="*/ 6 w 12"/>
                    <a:gd name="T11" fmla="*/ 20 h 20"/>
                    <a:gd name="T12" fmla="*/ 12 w 12"/>
                    <a:gd name="T13" fmla="*/ 0 h 20"/>
                    <a:gd name="T14" fmla="*/ 9 w 12"/>
                    <a:gd name="T15" fmla="*/ 0 h 20"/>
                    <a:gd name="T16" fmla="*/ 9 w 12"/>
                    <a:gd name="T17" fmla="*/ 0 h 20"/>
                    <a:gd name="T18" fmla="*/ 12 w 12"/>
                    <a:gd name="T19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12" y="0"/>
                      </a:moveTo>
                      <a:lnTo>
                        <a:pt x="9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6" y="20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2" name="Freeform 264"/>
                <p:cNvSpPr>
                  <a:spLocks/>
                </p:cNvSpPr>
                <p:nvPr/>
              </p:nvSpPr>
              <p:spPr bwMode="auto">
                <a:xfrm>
                  <a:off x="1350" y="1491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12 w 12"/>
                    <a:gd name="T3" fmla="*/ 4 h 20"/>
                    <a:gd name="T4" fmla="*/ 6 w 12"/>
                    <a:gd name="T5" fmla="*/ 0 h 20"/>
                    <a:gd name="T6" fmla="*/ 0 w 12"/>
                    <a:gd name="T7" fmla="*/ 20 h 20"/>
                    <a:gd name="T8" fmla="*/ 9 w 12"/>
                    <a:gd name="T9" fmla="*/ 20 h 20"/>
                    <a:gd name="T10" fmla="*/ 6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12 w 12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20"/>
                      </a:lnTo>
                      <a:lnTo>
                        <a:pt x="9" y="20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3" name="Freeform 265"/>
                <p:cNvSpPr>
                  <a:spLocks/>
                </p:cNvSpPr>
                <p:nvPr/>
              </p:nvSpPr>
              <p:spPr bwMode="auto">
                <a:xfrm>
                  <a:off x="1356" y="1495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12 w 12"/>
                    <a:gd name="T3" fmla="*/ 4 h 20"/>
                    <a:gd name="T4" fmla="*/ 6 w 12"/>
                    <a:gd name="T5" fmla="*/ 0 h 20"/>
                    <a:gd name="T6" fmla="*/ 0 w 12"/>
                    <a:gd name="T7" fmla="*/ 16 h 20"/>
                    <a:gd name="T8" fmla="*/ 9 w 12"/>
                    <a:gd name="T9" fmla="*/ 20 h 20"/>
                    <a:gd name="T10" fmla="*/ 9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12 w 12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4" name="Freeform 266"/>
                <p:cNvSpPr>
                  <a:spLocks/>
                </p:cNvSpPr>
                <p:nvPr/>
              </p:nvSpPr>
              <p:spPr bwMode="auto">
                <a:xfrm>
                  <a:off x="1365" y="1499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9 w 12"/>
                    <a:gd name="T3" fmla="*/ 4 h 20"/>
                    <a:gd name="T4" fmla="*/ 3 w 12"/>
                    <a:gd name="T5" fmla="*/ 0 h 20"/>
                    <a:gd name="T6" fmla="*/ 0 w 12"/>
                    <a:gd name="T7" fmla="*/ 16 h 20"/>
                    <a:gd name="T8" fmla="*/ 6 w 12"/>
                    <a:gd name="T9" fmla="*/ 20 h 20"/>
                    <a:gd name="T10" fmla="*/ 3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9 w 12"/>
                    <a:gd name="T17" fmla="*/ 4 h 20"/>
                    <a:gd name="T18" fmla="*/ 12 w 12"/>
                    <a:gd name="T19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9" y="4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3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9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5" name="Freeform 267"/>
                <p:cNvSpPr>
                  <a:spLocks/>
                </p:cNvSpPr>
                <p:nvPr/>
              </p:nvSpPr>
              <p:spPr bwMode="auto">
                <a:xfrm>
                  <a:off x="1368" y="1503"/>
                  <a:ext cx="15" cy="20"/>
                </a:xfrm>
                <a:custGeom>
                  <a:avLst/>
                  <a:gdLst>
                    <a:gd name="T0" fmla="*/ 15 w 15"/>
                    <a:gd name="T1" fmla="*/ 4 h 20"/>
                    <a:gd name="T2" fmla="*/ 15 w 15"/>
                    <a:gd name="T3" fmla="*/ 4 h 20"/>
                    <a:gd name="T4" fmla="*/ 9 w 15"/>
                    <a:gd name="T5" fmla="*/ 0 h 20"/>
                    <a:gd name="T6" fmla="*/ 0 w 15"/>
                    <a:gd name="T7" fmla="*/ 16 h 20"/>
                    <a:gd name="T8" fmla="*/ 6 w 15"/>
                    <a:gd name="T9" fmla="*/ 20 h 20"/>
                    <a:gd name="T10" fmla="*/ 6 w 15"/>
                    <a:gd name="T11" fmla="*/ 20 h 20"/>
                    <a:gd name="T12" fmla="*/ 15 w 15"/>
                    <a:gd name="T13" fmla="*/ 4 h 20"/>
                    <a:gd name="T14" fmla="*/ 15 w 15"/>
                    <a:gd name="T15" fmla="*/ 4 h 20"/>
                    <a:gd name="T16" fmla="*/ 15 w 15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4"/>
                      </a:move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6" name="Freeform 268"/>
                <p:cNvSpPr>
                  <a:spLocks/>
                </p:cNvSpPr>
                <p:nvPr/>
              </p:nvSpPr>
              <p:spPr bwMode="auto">
                <a:xfrm>
                  <a:off x="1374" y="1507"/>
                  <a:ext cx="15" cy="20"/>
                </a:xfrm>
                <a:custGeom>
                  <a:avLst/>
                  <a:gdLst>
                    <a:gd name="T0" fmla="*/ 15 w 15"/>
                    <a:gd name="T1" fmla="*/ 8 h 20"/>
                    <a:gd name="T2" fmla="*/ 15 w 15"/>
                    <a:gd name="T3" fmla="*/ 8 h 20"/>
                    <a:gd name="T4" fmla="*/ 9 w 15"/>
                    <a:gd name="T5" fmla="*/ 0 h 20"/>
                    <a:gd name="T6" fmla="*/ 0 w 15"/>
                    <a:gd name="T7" fmla="*/ 16 h 20"/>
                    <a:gd name="T8" fmla="*/ 6 w 15"/>
                    <a:gd name="T9" fmla="*/ 20 h 20"/>
                    <a:gd name="T10" fmla="*/ 6 w 15"/>
                    <a:gd name="T11" fmla="*/ 20 h 20"/>
                    <a:gd name="T12" fmla="*/ 15 w 15"/>
                    <a:gd name="T13" fmla="*/ 8 h 20"/>
                    <a:gd name="T14" fmla="*/ 15 w 15"/>
                    <a:gd name="T15" fmla="*/ 8 h 20"/>
                    <a:gd name="T16" fmla="*/ 15 w 15"/>
                    <a:gd name="T17" fmla="*/ 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7" name="Freeform 269"/>
                <p:cNvSpPr>
                  <a:spLocks/>
                </p:cNvSpPr>
                <p:nvPr/>
              </p:nvSpPr>
              <p:spPr bwMode="auto">
                <a:xfrm>
                  <a:off x="1380" y="1515"/>
                  <a:ext cx="15" cy="21"/>
                </a:xfrm>
                <a:custGeom>
                  <a:avLst/>
                  <a:gdLst>
                    <a:gd name="T0" fmla="*/ 15 w 15"/>
                    <a:gd name="T1" fmla="*/ 8 h 21"/>
                    <a:gd name="T2" fmla="*/ 15 w 15"/>
                    <a:gd name="T3" fmla="*/ 4 h 21"/>
                    <a:gd name="T4" fmla="*/ 9 w 15"/>
                    <a:gd name="T5" fmla="*/ 0 h 21"/>
                    <a:gd name="T6" fmla="*/ 0 w 15"/>
                    <a:gd name="T7" fmla="*/ 12 h 21"/>
                    <a:gd name="T8" fmla="*/ 6 w 15"/>
                    <a:gd name="T9" fmla="*/ 21 h 21"/>
                    <a:gd name="T10" fmla="*/ 6 w 15"/>
                    <a:gd name="T11" fmla="*/ 21 h 21"/>
                    <a:gd name="T12" fmla="*/ 15 w 15"/>
                    <a:gd name="T13" fmla="*/ 8 h 21"/>
                    <a:gd name="T14" fmla="*/ 15 w 15"/>
                    <a:gd name="T15" fmla="*/ 4 h 21"/>
                    <a:gd name="T16" fmla="*/ 15 w 15"/>
                    <a:gd name="T17" fmla="*/ 4 h 21"/>
                    <a:gd name="T18" fmla="*/ 15 w 15"/>
                    <a:gd name="T19" fmla="*/ 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15" y="8"/>
                      </a:move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15" y="8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8" name="Freeform 270"/>
                <p:cNvSpPr>
                  <a:spLocks/>
                </p:cNvSpPr>
                <p:nvPr/>
              </p:nvSpPr>
              <p:spPr bwMode="auto">
                <a:xfrm>
                  <a:off x="1386" y="1523"/>
                  <a:ext cx="15" cy="17"/>
                </a:xfrm>
                <a:custGeom>
                  <a:avLst/>
                  <a:gdLst>
                    <a:gd name="T0" fmla="*/ 15 w 15"/>
                    <a:gd name="T1" fmla="*/ 4 h 17"/>
                    <a:gd name="T2" fmla="*/ 12 w 15"/>
                    <a:gd name="T3" fmla="*/ 4 h 17"/>
                    <a:gd name="T4" fmla="*/ 9 w 15"/>
                    <a:gd name="T5" fmla="*/ 0 h 17"/>
                    <a:gd name="T6" fmla="*/ 0 w 15"/>
                    <a:gd name="T7" fmla="*/ 13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4 h 17"/>
                    <a:gd name="T14" fmla="*/ 15 w 15"/>
                    <a:gd name="T15" fmla="*/ 4 h 17"/>
                    <a:gd name="T16" fmla="*/ 12 w 15"/>
                    <a:gd name="T17" fmla="*/ 4 h 17"/>
                    <a:gd name="T18" fmla="*/ 15 w 15"/>
                    <a:gd name="T19" fmla="*/ 4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15" y="4"/>
                      </a:moveTo>
                      <a:lnTo>
                        <a:pt x="12" y="4"/>
                      </a:lnTo>
                      <a:lnTo>
                        <a:pt x="9" y="0"/>
                      </a:lnTo>
                      <a:lnTo>
                        <a:pt x="0" y="13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2" y="4"/>
                      </a:lnTo>
                      <a:lnTo>
                        <a:pt x="15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9" name="Freeform 271"/>
                <p:cNvSpPr>
                  <a:spLocks/>
                </p:cNvSpPr>
                <p:nvPr/>
              </p:nvSpPr>
              <p:spPr bwMode="auto">
                <a:xfrm>
                  <a:off x="1389" y="1527"/>
                  <a:ext cx="15" cy="21"/>
                </a:xfrm>
                <a:custGeom>
                  <a:avLst/>
                  <a:gdLst>
                    <a:gd name="T0" fmla="*/ 15 w 15"/>
                    <a:gd name="T1" fmla="*/ 9 h 21"/>
                    <a:gd name="T2" fmla="*/ 15 w 15"/>
                    <a:gd name="T3" fmla="*/ 9 h 21"/>
                    <a:gd name="T4" fmla="*/ 12 w 15"/>
                    <a:gd name="T5" fmla="*/ 0 h 21"/>
                    <a:gd name="T6" fmla="*/ 0 w 15"/>
                    <a:gd name="T7" fmla="*/ 13 h 21"/>
                    <a:gd name="T8" fmla="*/ 3 w 15"/>
                    <a:gd name="T9" fmla="*/ 21 h 21"/>
                    <a:gd name="T10" fmla="*/ 3 w 15"/>
                    <a:gd name="T11" fmla="*/ 21 h 21"/>
                    <a:gd name="T12" fmla="*/ 15 w 15"/>
                    <a:gd name="T13" fmla="*/ 9 h 21"/>
                    <a:gd name="T14" fmla="*/ 15 w 15"/>
                    <a:gd name="T15" fmla="*/ 9 h 21"/>
                    <a:gd name="T16" fmla="*/ 15 w 15"/>
                    <a:gd name="T17" fmla="*/ 9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1">
                      <a:moveTo>
                        <a:pt x="15" y="9"/>
                      </a:moveTo>
                      <a:lnTo>
                        <a:pt x="15" y="9"/>
                      </a:lnTo>
                      <a:lnTo>
                        <a:pt x="12" y="0"/>
                      </a:lnTo>
                      <a:lnTo>
                        <a:pt x="0" y="13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15" y="9"/>
                      </a:lnTo>
                      <a:lnTo>
                        <a:pt x="15" y="9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0" name="Freeform 272"/>
                <p:cNvSpPr>
                  <a:spLocks/>
                </p:cNvSpPr>
                <p:nvPr/>
              </p:nvSpPr>
              <p:spPr bwMode="auto">
                <a:xfrm>
                  <a:off x="1392" y="1536"/>
                  <a:ext cx="18" cy="20"/>
                </a:xfrm>
                <a:custGeom>
                  <a:avLst/>
                  <a:gdLst>
                    <a:gd name="T0" fmla="*/ 18 w 18"/>
                    <a:gd name="T1" fmla="*/ 12 h 20"/>
                    <a:gd name="T2" fmla="*/ 15 w 18"/>
                    <a:gd name="T3" fmla="*/ 12 h 20"/>
                    <a:gd name="T4" fmla="*/ 12 w 18"/>
                    <a:gd name="T5" fmla="*/ 0 h 20"/>
                    <a:gd name="T6" fmla="*/ 0 w 18"/>
                    <a:gd name="T7" fmla="*/ 12 h 20"/>
                    <a:gd name="T8" fmla="*/ 3 w 18"/>
                    <a:gd name="T9" fmla="*/ 20 h 20"/>
                    <a:gd name="T10" fmla="*/ 3 w 18"/>
                    <a:gd name="T11" fmla="*/ 20 h 20"/>
                    <a:gd name="T12" fmla="*/ 18 w 18"/>
                    <a:gd name="T13" fmla="*/ 12 h 20"/>
                    <a:gd name="T14" fmla="*/ 15 w 18"/>
                    <a:gd name="T15" fmla="*/ 12 h 20"/>
                    <a:gd name="T16" fmla="*/ 15 w 18"/>
                    <a:gd name="T17" fmla="*/ 12 h 20"/>
                    <a:gd name="T18" fmla="*/ 18 w 18"/>
                    <a:gd name="T19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20">
                      <a:moveTo>
                        <a:pt x="18" y="12"/>
                      </a:moveTo>
                      <a:lnTo>
                        <a:pt x="15" y="12"/>
                      </a:ln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18" y="12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1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1" name="Freeform 273"/>
                <p:cNvSpPr>
                  <a:spLocks/>
                </p:cNvSpPr>
                <p:nvPr/>
              </p:nvSpPr>
              <p:spPr bwMode="auto">
                <a:xfrm>
                  <a:off x="1395" y="1548"/>
                  <a:ext cx="18" cy="16"/>
                </a:xfrm>
                <a:custGeom>
                  <a:avLst/>
                  <a:gdLst>
                    <a:gd name="T0" fmla="*/ 18 w 18"/>
                    <a:gd name="T1" fmla="*/ 8 h 16"/>
                    <a:gd name="T2" fmla="*/ 18 w 18"/>
                    <a:gd name="T3" fmla="*/ 8 h 16"/>
                    <a:gd name="T4" fmla="*/ 15 w 18"/>
                    <a:gd name="T5" fmla="*/ 0 h 16"/>
                    <a:gd name="T6" fmla="*/ 0 w 18"/>
                    <a:gd name="T7" fmla="*/ 8 h 16"/>
                    <a:gd name="T8" fmla="*/ 3 w 18"/>
                    <a:gd name="T9" fmla="*/ 16 h 16"/>
                    <a:gd name="T10" fmla="*/ 3 w 18"/>
                    <a:gd name="T11" fmla="*/ 16 h 16"/>
                    <a:gd name="T12" fmla="*/ 18 w 18"/>
                    <a:gd name="T13" fmla="*/ 8 h 16"/>
                    <a:gd name="T14" fmla="*/ 18 w 18"/>
                    <a:gd name="T15" fmla="*/ 8 h 16"/>
                    <a:gd name="T16" fmla="*/ 18 w 18"/>
                    <a:gd name="T17" fmla="*/ 8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16">
                      <a:moveTo>
                        <a:pt x="18" y="8"/>
                      </a:moveTo>
                      <a:lnTo>
                        <a:pt x="18" y="8"/>
                      </a:lnTo>
                      <a:lnTo>
                        <a:pt x="15" y="0"/>
                      </a:ln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18" y="8"/>
                      </a:lnTo>
                      <a:lnTo>
                        <a:pt x="18" y="8"/>
                      </a:lnTo>
                      <a:lnTo>
                        <a:pt x="18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" name="Freeform 274"/>
                <p:cNvSpPr>
                  <a:spLocks/>
                </p:cNvSpPr>
                <p:nvPr/>
              </p:nvSpPr>
              <p:spPr bwMode="auto">
                <a:xfrm>
                  <a:off x="1398" y="1556"/>
                  <a:ext cx="15" cy="17"/>
                </a:xfrm>
                <a:custGeom>
                  <a:avLst/>
                  <a:gdLst>
                    <a:gd name="T0" fmla="*/ 15 w 15"/>
                    <a:gd name="T1" fmla="*/ 8 h 17"/>
                    <a:gd name="T2" fmla="*/ 15 w 15"/>
                    <a:gd name="T3" fmla="*/ 8 h 17"/>
                    <a:gd name="T4" fmla="*/ 15 w 15"/>
                    <a:gd name="T5" fmla="*/ 0 h 17"/>
                    <a:gd name="T6" fmla="*/ 0 w 15"/>
                    <a:gd name="T7" fmla="*/ 8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8 h 17"/>
                    <a:gd name="T14" fmla="*/ 15 w 15"/>
                    <a:gd name="T15" fmla="*/ 8 h 17"/>
                    <a:gd name="T16" fmla="*/ 15 w 15"/>
                    <a:gd name="T17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0" y="8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" name="Freeform 275"/>
                <p:cNvSpPr>
                  <a:spLocks/>
                </p:cNvSpPr>
                <p:nvPr/>
              </p:nvSpPr>
              <p:spPr bwMode="auto">
                <a:xfrm>
                  <a:off x="1401" y="1564"/>
                  <a:ext cx="15" cy="17"/>
                </a:xfrm>
                <a:custGeom>
                  <a:avLst/>
                  <a:gdLst>
                    <a:gd name="T0" fmla="*/ 15 w 15"/>
                    <a:gd name="T1" fmla="*/ 13 h 17"/>
                    <a:gd name="T2" fmla="*/ 15 w 15"/>
                    <a:gd name="T3" fmla="*/ 13 h 17"/>
                    <a:gd name="T4" fmla="*/ 12 w 15"/>
                    <a:gd name="T5" fmla="*/ 0 h 17"/>
                    <a:gd name="T6" fmla="*/ 0 w 15"/>
                    <a:gd name="T7" fmla="*/ 9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13 h 17"/>
                    <a:gd name="T14" fmla="*/ 15 w 15"/>
                    <a:gd name="T15" fmla="*/ 13 h 17"/>
                    <a:gd name="T16" fmla="*/ 15 w 15"/>
                    <a:gd name="T17" fmla="*/ 1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5" y="13"/>
                      </a:moveTo>
                      <a:lnTo>
                        <a:pt x="15" y="13"/>
                      </a:lnTo>
                      <a:lnTo>
                        <a:pt x="12" y="0"/>
                      </a:ln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" name="Freeform 276"/>
                <p:cNvSpPr>
                  <a:spLocks/>
                </p:cNvSpPr>
                <p:nvPr/>
              </p:nvSpPr>
              <p:spPr bwMode="auto">
                <a:xfrm>
                  <a:off x="1404" y="1577"/>
                  <a:ext cx="15" cy="12"/>
                </a:xfrm>
                <a:custGeom>
                  <a:avLst/>
                  <a:gdLst>
                    <a:gd name="T0" fmla="*/ 12 w 15"/>
                    <a:gd name="T1" fmla="*/ 12 h 12"/>
                    <a:gd name="T2" fmla="*/ 12 w 15"/>
                    <a:gd name="T3" fmla="*/ 8 h 12"/>
                    <a:gd name="T4" fmla="*/ 12 w 15"/>
                    <a:gd name="T5" fmla="*/ 0 h 12"/>
                    <a:gd name="T6" fmla="*/ 0 w 15"/>
                    <a:gd name="T7" fmla="*/ 4 h 12"/>
                    <a:gd name="T8" fmla="*/ 0 w 15"/>
                    <a:gd name="T9" fmla="*/ 12 h 12"/>
                    <a:gd name="T10" fmla="*/ 0 w 15"/>
                    <a:gd name="T11" fmla="*/ 12 h 12"/>
                    <a:gd name="T12" fmla="*/ 15 w 15"/>
                    <a:gd name="T13" fmla="*/ 12 h 12"/>
                    <a:gd name="T14" fmla="*/ 12 w 15"/>
                    <a:gd name="T15" fmla="*/ 8 h 12"/>
                    <a:gd name="T16" fmla="*/ 12 w 15"/>
                    <a:gd name="T17" fmla="*/ 8 h 12"/>
                    <a:gd name="T18" fmla="*/ 12 w 15"/>
                    <a:gd name="T1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12" y="12"/>
                      </a:moveTo>
                      <a:lnTo>
                        <a:pt x="12" y="8"/>
                      </a:lnTo>
                      <a:lnTo>
                        <a:pt x="12" y="0"/>
                      </a:ln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5" y="12"/>
                      </a:lnTo>
                      <a:lnTo>
                        <a:pt x="12" y="8"/>
                      </a:lnTo>
                      <a:lnTo>
                        <a:pt x="12" y="8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5" name="Freeform 277"/>
                <p:cNvSpPr>
                  <a:spLocks/>
                </p:cNvSpPr>
                <p:nvPr/>
              </p:nvSpPr>
              <p:spPr bwMode="auto">
                <a:xfrm>
                  <a:off x="1404" y="1589"/>
                  <a:ext cx="15" cy="8"/>
                </a:xfrm>
                <a:custGeom>
                  <a:avLst/>
                  <a:gdLst>
                    <a:gd name="T0" fmla="*/ 15 w 15"/>
                    <a:gd name="T1" fmla="*/ 8 h 8"/>
                    <a:gd name="T2" fmla="*/ 15 w 15"/>
                    <a:gd name="T3" fmla="*/ 8 h 8"/>
                    <a:gd name="T4" fmla="*/ 12 w 15"/>
                    <a:gd name="T5" fmla="*/ 0 h 8"/>
                    <a:gd name="T6" fmla="*/ 0 w 15"/>
                    <a:gd name="T7" fmla="*/ 0 h 8"/>
                    <a:gd name="T8" fmla="*/ 0 w 15"/>
                    <a:gd name="T9" fmla="*/ 8 h 8"/>
                    <a:gd name="T10" fmla="*/ 0 w 15"/>
                    <a:gd name="T11" fmla="*/ 8 h 8"/>
                    <a:gd name="T12" fmla="*/ 15 w 15"/>
                    <a:gd name="T13" fmla="*/ 8 h 8"/>
                    <a:gd name="T14" fmla="*/ 15 w 15"/>
                    <a:gd name="T15" fmla="*/ 8 h 8"/>
                    <a:gd name="T16" fmla="*/ 15 w 15"/>
                    <a:gd name="T17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8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" name="Freeform 278"/>
                <p:cNvSpPr>
                  <a:spLocks/>
                </p:cNvSpPr>
                <p:nvPr/>
              </p:nvSpPr>
              <p:spPr bwMode="auto">
                <a:xfrm>
                  <a:off x="1404" y="1597"/>
                  <a:ext cx="15" cy="1560"/>
                </a:xfrm>
                <a:custGeom>
                  <a:avLst/>
                  <a:gdLst>
                    <a:gd name="T0" fmla="*/ 15 w 15"/>
                    <a:gd name="T1" fmla="*/ 1560 h 1560"/>
                    <a:gd name="T2" fmla="*/ 15 w 15"/>
                    <a:gd name="T3" fmla="*/ 1556 h 1560"/>
                    <a:gd name="T4" fmla="*/ 15 w 15"/>
                    <a:gd name="T5" fmla="*/ 0 h 1560"/>
                    <a:gd name="T6" fmla="*/ 0 w 15"/>
                    <a:gd name="T7" fmla="*/ 0 h 1560"/>
                    <a:gd name="T8" fmla="*/ 0 w 15"/>
                    <a:gd name="T9" fmla="*/ 1556 h 1560"/>
                    <a:gd name="T10" fmla="*/ 0 w 15"/>
                    <a:gd name="T11" fmla="*/ 1556 h 1560"/>
                    <a:gd name="T12" fmla="*/ 15 w 15"/>
                    <a:gd name="T13" fmla="*/ 1560 h 1560"/>
                    <a:gd name="T14" fmla="*/ 15 w 15"/>
                    <a:gd name="T15" fmla="*/ 1556 h 1560"/>
                    <a:gd name="T16" fmla="*/ 15 w 15"/>
                    <a:gd name="T17" fmla="*/ 1556 h 1560"/>
                    <a:gd name="T18" fmla="*/ 15 w 15"/>
                    <a:gd name="T19" fmla="*/ 1560 h 15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560">
                      <a:moveTo>
                        <a:pt x="15" y="1560"/>
                      </a:moveTo>
                      <a:lnTo>
                        <a:pt x="15" y="1556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1556"/>
                      </a:lnTo>
                      <a:lnTo>
                        <a:pt x="0" y="1556"/>
                      </a:lnTo>
                      <a:lnTo>
                        <a:pt x="15" y="1560"/>
                      </a:lnTo>
                      <a:lnTo>
                        <a:pt x="15" y="1556"/>
                      </a:lnTo>
                      <a:lnTo>
                        <a:pt x="15" y="1556"/>
                      </a:lnTo>
                      <a:lnTo>
                        <a:pt x="15" y="15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7" name="Freeform 279"/>
                <p:cNvSpPr>
                  <a:spLocks/>
                </p:cNvSpPr>
                <p:nvPr/>
              </p:nvSpPr>
              <p:spPr bwMode="auto">
                <a:xfrm>
                  <a:off x="1404" y="3153"/>
                  <a:ext cx="15" cy="12"/>
                </a:xfrm>
                <a:custGeom>
                  <a:avLst/>
                  <a:gdLst>
                    <a:gd name="T0" fmla="*/ 12 w 15"/>
                    <a:gd name="T1" fmla="*/ 12 h 12"/>
                    <a:gd name="T2" fmla="*/ 12 w 15"/>
                    <a:gd name="T3" fmla="*/ 12 h 12"/>
                    <a:gd name="T4" fmla="*/ 15 w 15"/>
                    <a:gd name="T5" fmla="*/ 4 h 12"/>
                    <a:gd name="T6" fmla="*/ 0 w 15"/>
                    <a:gd name="T7" fmla="*/ 0 h 12"/>
                    <a:gd name="T8" fmla="*/ 0 w 15"/>
                    <a:gd name="T9" fmla="*/ 12 h 12"/>
                    <a:gd name="T10" fmla="*/ 0 w 15"/>
                    <a:gd name="T11" fmla="*/ 12 h 12"/>
                    <a:gd name="T12" fmla="*/ 12 w 15"/>
                    <a:gd name="T13" fmla="*/ 12 h 12"/>
                    <a:gd name="T14" fmla="*/ 12 w 15"/>
                    <a:gd name="T15" fmla="*/ 12 h 12"/>
                    <a:gd name="T16" fmla="*/ 15 w 15"/>
                    <a:gd name="T17" fmla="*/ 12 h 12"/>
                    <a:gd name="T18" fmla="*/ 12 w 15"/>
                    <a:gd name="T1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5" y="12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" name="Freeform 280"/>
                <p:cNvSpPr>
                  <a:spLocks/>
                </p:cNvSpPr>
                <p:nvPr/>
              </p:nvSpPr>
              <p:spPr bwMode="auto">
                <a:xfrm>
                  <a:off x="1404" y="3165"/>
                  <a:ext cx="12" cy="13"/>
                </a:xfrm>
                <a:custGeom>
                  <a:avLst/>
                  <a:gdLst>
                    <a:gd name="T0" fmla="*/ 12 w 12"/>
                    <a:gd name="T1" fmla="*/ 13 h 13"/>
                    <a:gd name="T2" fmla="*/ 12 w 12"/>
                    <a:gd name="T3" fmla="*/ 13 h 13"/>
                    <a:gd name="T4" fmla="*/ 12 w 12"/>
                    <a:gd name="T5" fmla="*/ 0 h 13"/>
                    <a:gd name="T6" fmla="*/ 0 w 12"/>
                    <a:gd name="T7" fmla="*/ 0 h 13"/>
                    <a:gd name="T8" fmla="*/ 0 w 12"/>
                    <a:gd name="T9" fmla="*/ 9 h 13"/>
                    <a:gd name="T10" fmla="*/ 0 w 12"/>
                    <a:gd name="T11" fmla="*/ 9 h 13"/>
                    <a:gd name="T12" fmla="*/ 12 w 12"/>
                    <a:gd name="T13" fmla="*/ 13 h 13"/>
                    <a:gd name="T14" fmla="*/ 12 w 12"/>
                    <a:gd name="T15" fmla="*/ 13 h 13"/>
                    <a:gd name="T16" fmla="*/ 12 w 12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3">
                      <a:moveTo>
                        <a:pt x="12" y="13"/>
                      </a:moveTo>
                      <a:lnTo>
                        <a:pt x="12" y="13"/>
                      </a:lnTo>
                      <a:lnTo>
                        <a:pt x="12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12" y="13"/>
                      </a:lnTo>
                      <a:lnTo>
                        <a:pt x="12" y="13"/>
                      </a:lnTo>
                      <a:lnTo>
                        <a:pt x="12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9" name="Freeform 281"/>
                <p:cNvSpPr>
                  <a:spLocks/>
                </p:cNvSpPr>
                <p:nvPr/>
              </p:nvSpPr>
              <p:spPr bwMode="auto">
                <a:xfrm>
                  <a:off x="1401" y="3174"/>
                  <a:ext cx="15" cy="12"/>
                </a:xfrm>
                <a:custGeom>
                  <a:avLst/>
                  <a:gdLst>
                    <a:gd name="T0" fmla="*/ 12 w 15"/>
                    <a:gd name="T1" fmla="*/ 12 h 12"/>
                    <a:gd name="T2" fmla="*/ 12 w 15"/>
                    <a:gd name="T3" fmla="*/ 12 h 12"/>
                    <a:gd name="T4" fmla="*/ 15 w 15"/>
                    <a:gd name="T5" fmla="*/ 4 h 12"/>
                    <a:gd name="T6" fmla="*/ 3 w 15"/>
                    <a:gd name="T7" fmla="*/ 0 h 12"/>
                    <a:gd name="T8" fmla="*/ 0 w 15"/>
                    <a:gd name="T9" fmla="*/ 8 h 12"/>
                    <a:gd name="T10" fmla="*/ 0 w 15"/>
                    <a:gd name="T11" fmla="*/ 8 h 12"/>
                    <a:gd name="T12" fmla="*/ 12 w 15"/>
                    <a:gd name="T13" fmla="*/ 12 h 12"/>
                    <a:gd name="T14" fmla="*/ 12 w 15"/>
                    <a:gd name="T15" fmla="*/ 12 h 12"/>
                    <a:gd name="T16" fmla="*/ 12 w 15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0" name="Freeform 282"/>
                <p:cNvSpPr>
                  <a:spLocks/>
                </p:cNvSpPr>
                <p:nvPr/>
              </p:nvSpPr>
              <p:spPr bwMode="auto">
                <a:xfrm>
                  <a:off x="1398" y="3182"/>
                  <a:ext cx="15" cy="16"/>
                </a:xfrm>
                <a:custGeom>
                  <a:avLst/>
                  <a:gdLst>
                    <a:gd name="T0" fmla="*/ 15 w 15"/>
                    <a:gd name="T1" fmla="*/ 16 h 16"/>
                    <a:gd name="T2" fmla="*/ 15 w 15"/>
                    <a:gd name="T3" fmla="*/ 16 h 16"/>
                    <a:gd name="T4" fmla="*/ 15 w 15"/>
                    <a:gd name="T5" fmla="*/ 4 h 16"/>
                    <a:gd name="T6" fmla="*/ 3 w 15"/>
                    <a:gd name="T7" fmla="*/ 0 h 16"/>
                    <a:gd name="T8" fmla="*/ 0 w 15"/>
                    <a:gd name="T9" fmla="*/ 8 h 16"/>
                    <a:gd name="T10" fmla="*/ 0 w 15"/>
                    <a:gd name="T11" fmla="*/ 8 h 16"/>
                    <a:gd name="T12" fmla="*/ 15 w 15"/>
                    <a:gd name="T13" fmla="*/ 16 h 16"/>
                    <a:gd name="T14" fmla="*/ 15 w 15"/>
                    <a:gd name="T15" fmla="*/ 16 h 16"/>
                    <a:gd name="T16" fmla="*/ 15 w 15"/>
                    <a:gd name="T1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15" y="16"/>
                      </a:moveTo>
                      <a:lnTo>
                        <a:pt x="15" y="16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5" y="16"/>
                      </a:lnTo>
                      <a:lnTo>
                        <a:pt x="15" y="16"/>
                      </a:lnTo>
                      <a:lnTo>
                        <a:pt x="15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1" name="Freeform 283"/>
                <p:cNvSpPr>
                  <a:spLocks/>
                </p:cNvSpPr>
                <p:nvPr/>
              </p:nvSpPr>
              <p:spPr bwMode="auto">
                <a:xfrm>
                  <a:off x="1395" y="3190"/>
                  <a:ext cx="18" cy="17"/>
                </a:xfrm>
                <a:custGeom>
                  <a:avLst/>
                  <a:gdLst>
                    <a:gd name="T0" fmla="*/ 12 w 18"/>
                    <a:gd name="T1" fmla="*/ 17 h 17"/>
                    <a:gd name="T2" fmla="*/ 15 w 18"/>
                    <a:gd name="T3" fmla="*/ 17 h 17"/>
                    <a:gd name="T4" fmla="*/ 18 w 18"/>
                    <a:gd name="T5" fmla="*/ 8 h 17"/>
                    <a:gd name="T6" fmla="*/ 3 w 18"/>
                    <a:gd name="T7" fmla="*/ 0 h 17"/>
                    <a:gd name="T8" fmla="*/ 0 w 18"/>
                    <a:gd name="T9" fmla="*/ 8 h 17"/>
                    <a:gd name="T10" fmla="*/ 0 w 18"/>
                    <a:gd name="T11" fmla="*/ 8 h 17"/>
                    <a:gd name="T12" fmla="*/ 12 w 18"/>
                    <a:gd name="T13" fmla="*/ 17 h 17"/>
                    <a:gd name="T14" fmla="*/ 12 w 18"/>
                    <a:gd name="T15" fmla="*/ 17 h 17"/>
                    <a:gd name="T16" fmla="*/ 15 w 18"/>
                    <a:gd name="T17" fmla="*/ 17 h 17"/>
                    <a:gd name="T18" fmla="*/ 12 w 18"/>
                    <a:gd name="T1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7">
                      <a:moveTo>
                        <a:pt x="12" y="17"/>
                      </a:moveTo>
                      <a:lnTo>
                        <a:pt x="15" y="17"/>
                      </a:lnTo>
                      <a:lnTo>
                        <a:pt x="18" y="8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5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2" name="Freeform 284"/>
                <p:cNvSpPr>
                  <a:spLocks/>
                </p:cNvSpPr>
                <p:nvPr/>
              </p:nvSpPr>
              <p:spPr bwMode="auto">
                <a:xfrm>
                  <a:off x="1392" y="3198"/>
                  <a:ext cx="15" cy="17"/>
                </a:xfrm>
                <a:custGeom>
                  <a:avLst/>
                  <a:gdLst>
                    <a:gd name="T0" fmla="*/ 12 w 15"/>
                    <a:gd name="T1" fmla="*/ 17 h 17"/>
                    <a:gd name="T2" fmla="*/ 12 w 15"/>
                    <a:gd name="T3" fmla="*/ 17 h 17"/>
                    <a:gd name="T4" fmla="*/ 15 w 15"/>
                    <a:gd name="T5" fmla="*/ 9 h 17"/>
                    <a:gd name="T6" fmla="*/ 3 w 15"/>
                    <a:gd name="T7" fmla="*/ 0 h 17"/>
                    <a:gd name="T8" fmla="*/ 0 w 15"/>
                    <a:gd name="T9" fmla="*/ 9 h 17"/>
                    <a:gd name="T10" fmla="*/ 0 w 15"/>
                    <a:gd name="T11" fmla="*/ 4 h 17"/>
                    <a:gd name="T12" fmla="*/ 12 w 15"/>
                    <a:gd name="T13" fmla="*/ 17 h 17"/>
                    <a:gd name="T14" fmla="*/ 12 w 15"/>
                    <a:gd name="T15" fmla="*/ 17 h 17"/>
                    <a:gd name="T16" fmla="*/ 12 w 15"/>
                    <a:gd name="T1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2" y="17"/>
                      </a:moveTo>
                      <a:lnTo>
                        <a:pt x="12" y="17"/>
                      </a:lnTo>
                      <a:lnTo>
                        <a:pt x="15" y="9"/>
                      </a:ln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0" y="4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3" name="Freeform 285"/>
                <p:cNvSpPr>
                  <a:spLocks/>
                </p:cNvSpPr>
                <p:nvPr/>
              </p:nvSpPr>
              <p:spPr bwMode="auto">
                <a:xfrm>
                  <a:off x="1389" y="3202"/>
                  <a:ext cx="15" cy="21"/>
                </a:xfrm>
                <a:custGeom>
                  <a:avLst/>
                  <a:gdLst>
                    <a:gd name="T0" fmla="*/ 9 w 15"/>
                    <a:gd name="T1" fmla="*/ 21 h 21"/>
                    <a:gd name="T2" fmla="*/ 12 w 15"/>
                    <a:gd name="T3" fmla="*/ 21 h 21"/>
                    <a:gd name="T4" fmla="*/ 15 w 15"/>
                    <a:gd name="T5" fmla="*/ 13 h 21"/>
                    <a:gd name="T6" fmla="*/ 3 w 15"/>
                    <a:gd name="T7" fmla="*/ 0 h 21"/>
                    <a:gd name="T8" fmla="*/ 0 w 15"/>
                    <a:gd name="T9" fmla="*/ 9 h 21"/>
                    <a:gd name="T10" fmla="*/ 0 w 15"/>
                    <a:gd name="T11" fmla="*/ 9 h 21"/>
                    <a:gd name="T12" fmla="*/ 9 w 15"/>
                    <a:gd name="T13" fmla="*/ 21 h 21"/>
                    <a:gd name="T14" fmla="*/ 12 w 15"/>
                    <a:gd name="T15" fmla="*/ 21 h 21"/>
                    <a:gd name="T16" fmla="*/ 12 w 15"/>
                    <a:gd name="T17" fmla="*/ 21 h 21"/>
                    <a:gd name="T18" fmla="*/ 9 w 15"/>
                    <a:gd name="T1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9" y="21"/>
                      </a:moveTo>
                      <a:lnTo>
                        <a:pt x="12" y="21"/>
                      </a:lnTo>
                      <a:lnTo>
                        <a:pt x="15" y="13"/>
                      </a:ln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9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9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4" name="Freeform 286"/>
                <p:cNvSpPr>
                  <a:spLocks/>
                </p:cNvSpPr>
                <p:nvPr/>
              </p:nvSpPr>
              <p:spPr bwMode="auto">
                <a:xfrm>
                  <a:off x="1386" y="3211"/>
                  <a:ext cx="12" cy="20"/>
                </a:xfrm>
                <a:custGeom>
                  <a:avLst/>
                  <a:gdLst>
                    <a:gd name="T0" fmla="*/ 9 w 12"/>
                    <a:gd name="T1" fmla="*/ 20 h 20"/>
                    <a:gd name="T2" fmla="*/ 9 w 12"/>
                    <a:gd name="T3" fmla="*/ 20 h 20"/>
                    <a:gd name="T4" fmla="*/ 12 w 12"/>
                    <a:gd name="T5" fmla="*/ 12 h 20"/>
                    <a:gd name="T6" fmla="*/ 3 w 12"/>
                    <a:gd name="T7" fmla="*/ 0 h 20"/>
                    <a:gd name="T8" fmla="*/ 0 w 12"/>
                    <a:gd name="T9" fmla="*/ 8 h 20"/>
                    <a:gd name="T10" fmla="*/ 0 w 12"/>
                    <a:gd name="T11" fmla="*/ 8 h 20"/>
                    <a:gd name="T12" fmla="*/ 9 w 12"/>
                    <a:gd name="T13" fmla="*/ 20 h 20"/>
                    <a:gd name="T14" fmla="*/ 9 w 12"/>
                    <a:gd name="T15" fmla="*/ 20 h 20"/>
                    <a:gd name="T16" fmla="*/ 9 w 12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9" y="20"/>
                      </a:moveTo>
                      <a:lnTo>
                        <a:pt x="9" y="20"/>
                      </a:lnTo>
                      <a:lnTo>
                        <a:pt x="12" y="12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5" name="Freeform 287"/>
                <p:cNvSpPr>
                  <a:spLocks/>
                </p:cNvSpPr>
                <p:nvPr/>
              </p:nvSpPr>
              <p:spPr bwMode="auto">
                <a:xfrm>
                  <a:off x="1380" y="3219"/>
                  <a:ext cx="15" cy="20"/>
                </a:xfrm>
                <a:custGeom>
                  <a:avLst/>
                  <a:gdLst>
                    <a:gd name="T0" fmla="*/ 9 w 15"/>
                    <a:gd name="T1" fmla="*/ 20 h 20"/>
                    <a:gd name="T2" fmla="*/ 9 w 15"/>
                    <a:gd name="T3" fmla="*/ 20 h 20"/>
                    <a:gd name="T4" fmla="*/ 15 w 15"/>
                    <a:gd name="T5" fmla="*/ 12 h 20"/>
                    <a:gd name="T6" fmla="*/ 6 w 15"/>
                    <a:gd name="T7" fmla="*/ 0 h 20"/>
                    <a:gd name="T8" fmla="*/ 0 w 15"/>
                    <a:gd name="T9" fmla="*/ 4 h 20"/>
                    <a:gd name="T10" fmla="*/ 0 w 15"/>
                    <a:gd name="T11" fmla="*/ 4 h 20"/>
                    <a:gd name="T12" fmla="*/ 9 w 15"/>
                    <a:gd name="T13" fmla="*/ 20 h 20"/>
                    <a:gd name="T14" fmla="*/ 9 w 15"/>
                    <a:gd name="T15" fmla="*/ 20 h 20"/>
                    <a:gd name="T16" fmla="*/ 9 w 15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9" y="20"/>
                      </a:moveTo>
                      <a:lnTo>
                        <a:pt x="9" y="20"/>
                      </a:lnTo>
                      <a:lnTo>
                        <a:pt x="15" y="12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6" name="Freeform 288"/>
                <p:cNvSpPr>
                  <a:spLocks/>
                </p:cNvSpPr>
                <p:nvPr/>
              </p:nvSpPr>
              <p:spPr bwMode="auto">
                <a:xfrm>
                  <a:off x="1374" y="3223"/>
                  <a:ext cx="15" cy="25"/>
                </a:xfrm>
                <a:custGeom>
                  <a:avLst/>
                  <a:gdLst>
                    <a:gd name="T0" fmla="*/ 9 w 15"/>
                    <a:gd name="T1" fmla="*/ 25 h 25"/>
                    <a:gd name="T2" fmla="*/ 9 w 15"/>
                    <a:gd name="T3" fmla="*/ 20 h 25"/>
                    <a:gd name="T4" fmla="*/ 15 w 15"/>
                    <a:gd name="T5" fmla="*/ 16 h 25"/>
                    <a:gd name="T6" fmla="*/ 6 w 15"/>
                    <a:gd name="T7" fmla="*/ 0 h 25"/>
                    <a:gd name="T8" fmla="*/ 0 w 15"/>
                    <a:gd name="T9" fmla="*/ 8 h 25"/>
                    <a:gd name="T10" fmla="*/ 0 w 15"/>
                    <a:gd name="T11" fmla="*/ 4 h 25"/>
                    <a:gd name="T12" fmla="*/ 9 w 15"/>
                    <a:gd name="T13" fmla="*/ 25 h 25"/>
                    <a:gd name="T14" fmla="*/ 9 w 15"/>
                    <a:gd name="T15" fmla="*/ 20 h 25"/>
                    <a:gd name="T16" fmla="*/ 9 w 15"/>
                    <a:gd name="T17" fmla="*/ 20 h 25"/>
                    <a:gd name="T18" fmla="*/ 9 w 15"/>
                    <a:gd name="T1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9" y="25"/>
                      </a:moveTo>
                      <a:lnTo>
                        <a:pt x="9" y="20"/>
                      </a:lnTo>
                      <a:lnTo>
                        <a:pt x="15" y="16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9" y="25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9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7" name="Freeform 289"/>
                <p:cNvSpPr>
                  <a:spLocks/>
                </p:cNvSpPr>
                <p:nvPr/>
              </p:nvSpPr>
              <p:spPr bwMode="auto">
                <a:xfrm>
                  <a:off x="1368" y="3227"/>
                  <a:ext cx="15" cy="25"/>
                </a:xfrm>
                <a:custGeom>
                  <a:avLst/>
                  <a:gdLst>
                    <a:gd name="T0" fmla="*/ 6 w 15"/>
                    <a:gd name="T1" fmla="*/ 25 h 25"/>
                    <a:gd name="T2" fmla="*/ 9 w 15"/>
                    <a:gd name="T3" fmla="*/ 25 h 25"/>
                    <a:gd name="T4" fmla="*/ 15 w 15"/>
                    <a:gd name="T5" fmla="*/ 21 h 25"/>
                    <a:gd name="T6" fmla="*/ 6 w 15"/>
                    <a:gd name="T7" fmla="*/ 0 h 25"/>
                    <a:gd name="T8" fmla="*/ 0 w 15"/>
                    <a:gd name="T9" fmla="*/ 8 h 25"/>
                    <a:gd name="T10" fmla="*/ 3 w 15"/>
                    <a:gd name="T11" fmla="*/ 8 h 25"/>
                    <a:gd name="T12" fmla="*/ 6 w 15"/>
                    <a:gd name="T13" fmla="*/ 25 h 25"/>
                    <a:gd name="T14" fmla="*/ 9 w 15"/>
                    <a:gd name="T15" fmla="*/ 25 h 25"/>
                    <a:gd name="T16" fmla="*/ 9 w 15"/>
                    <a:gd name="T17" fmla="*/ 25 h 25"/>
                    <a:gd name="T18" fmla="*/ 6 w 15"/>
                    <a:gd name="T1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6" y="25"/>
                      </a:moveTo>
                      <a:lnTo>
                        <a:pt x="9" y="25"/>
                      </a:lnTo>
                      <a:lnTo>
                        <a:pt x="15" y="21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3" y="8"/>
                      </a:lnTo>
                      <a:lnTo>
                        <a:pt x="6" y="25"/>
                      </a:lnTo>
                      <a:lnTo>
                        <a:pt x="9" y="25"/>
                      </a:lnTo>
                      <a:lnTo>
                        <a:pt x="9" y="25"/>
                      </a:lnTo>
                      <a:lnTo>
                        <a:pt x="6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8" name="Freeform 290"/>
                <p:cNvSpPr>
                  <a:spLocks/>
                </p:cNvSpPr>
                <p:nvPr/>
              </p:nvSpPr>
              <p:spPr bwMode="auto">
                <a:xfrm>
                  <a:off x="1365" y="3235"/>
                  <a:ext cx="9" cy="21"/>
                </a:xfrm>
                <a:custGeom>
                  <a:avLst/>
                  <a:gdLst>
                    <a:gd name="T0" fmla="*/ 3 w 9"/>
                    <a:gd name="T1" fmla="*/ 21 h 21"/>
                    <a:gd name="T2" fmla="*/ 3 w 9"/>
                    <a:gd name="T3" fmla="*/ 21 h 21"/>
                    <a:gd name="T4" fmla="*/ 9 w 9"/>
                    <a:gd name="T5" fmla="*/ 17 h 21"/>
                    <a:gd name="T6" fmla="*/ 6 w 9"/>
                    <a:gd name="T7" fmla="*/ 0 h 21"/>
                    <a:gd name="T8" fmla="*/ 0 w 9"/>
                    <a:gd name="T9" fmla="*/ 4 h 21"/>
                    <a:gd name="T10" fmla="*/ 0 w 9"/>
                    <a:gd name="T11" fmla="*/ 4 h 21"/>
                    <a:gd name="T12" fmla="*/ 3 w 9"/>
                    <a:gd name="T13" fmla="*/ 21 h 21"/>
                    <a:gd name="T14" fmla="*/ 3 w 9"/>
                    <a:gd name="T15" fmla="*/ 21 h 21"/>
                    <a:gd name="T16" fmla="*/ 3 w 9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3" y="21"/>
                      </a:moveTo>
                      <a:lnTo>
                        <a:pt x="3" y="21"/>
                      </a:lnTo>
                      <a:lnTo>
                        <a:pt x="9" y="17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9" name="Freeform 291"/>
                <p:cNvSpPr>
                  <a:spLocks/>
                </p:cNvSpPr>
                <p:nvPr/>
              </p:nvSpPr>
              <p:spPr bwMode="auto">
                <a:xfrm>
                  <a:off x="1356" y="3239"/>
                  <a:ext cx="12" cy="21"/>
                </a:xfrm>
                <a:custGeom>
                  <a:avLst/>
                  <a:gdLst>
                    <a:gd name="T0" fmla="*/ 6 w 12"/>
                    <a:gd name="T1" fmla="*/ 21 h 21"/>
                    <a:gd name="T2" fmla="*/ 6 w 12"/>
                    <a:gd name="T3" fmla="*/ 21 h 21"/>
                    <a:gd name="T4" fmla="*/ 12 w 12"/>
                    <a:gd name="T5" fmla="*/ 17 h 21"/>
                    <a:gd name="T6" fmla="*/ 9 w 12"/>
                    <a:gd name="T7" fmla="*/ 0 h 21"/>
                    <a:gd name="T8" fmla="*/ 0 w 12"/>
                    <a:gd name="T9" fmla="*/ 0 h 21"/>
                    <a:gd name="T10" fmla="*/ 3 w 12"/>
                    <a:gd name="T11" fmla="*/ 0 h 21"/>
                    <a:gd name="T12" fmla="*/ 6 w 12"/>
                    <a:gd name="T13" fmla="*/ 21 h 21"/>
                    <a:gd name="T14" fmla="*/ 6 w 12"/>
                    <a:gd name="T15" fmla="*/ 21 h 21"/>
                    <a:gd name="T16" fmla="*/ 6 w 12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6" y="21"/>
                      </a:moveTo>
                      <a:lnTo>
                        <a:pt x="6" y="21"/>
                      </a:lnTo>
                      <a:lnTo>
                        <a:pt x="12" y="17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0" name="Freeform 292"/>
                <p:cNvSpPr>
                  <a:spLocks/>
                </p:cNvSpPr>
                <p:nvPr/>
              </p:nvSpPr>
              <p:spPr bwMode="auto">
                <a:xfrm>
                  <a:off x="1350" y="3239"/>
                  <a:ext cx="12" cy="21"/>
                </a:xfrm>
                <a:custGeom>
                  <a:avLst/>
                  <a:gdLst>
                    <a:gd name="T0" fmla="*/ 3 w 12"/>
                    <a:gd name="T1" fmla="*/ 21 h 21"/>
                    <a:gd name="T2" fmla="*/ 6 w 12"/>
                    <a:gd name="T3" fmla="*/ 21 h 21"/>
                    <a:gd name="T4" fmla="*/ 12 w 12"/>
                    <a:gd name="T5" fmla="*/ 21 h 21"/>
                    <a:gd name="T6" fmla="*/ 9 w 12"/>
                    <a:gd name="T7" fmla="*/ 0 h 21"/>
                    <a:gd name="T8" fmla="*/ 0 w 12"/>
                    <a:gd name="T9" fmla="*/ 4 h 21"/>
                    <a:gd name="T10" fmla="*/ 3 w 12"/>
                    <a:gd name="T11" fmla="*/ 4 h 21"/>
                    <a:gd name="T12" fmla="*/ 3 w 12"/>
                    <a:gd name="T13" fmla="*/ 21 h 21"/>
                    <a:gd name="T14" fmla="*/ 3 w 12"/>
                    <a:gd name="T15" fmla="*/ 21 h 21"/>
                    <a:gd name="T16" fmla="*/ 6 w 12"/>
                    <a:gd name="T17" fmla="*/ 21 h 21"/>
                    <a:gd name="T18" fmla="*/ 3 w 12"/>
                    <a:gd name="T1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1">
                      <a:moveTo>
                        <a:pt x="3" y="21"/>
                      </a:moveTo>
                      <a:lnTo>
                        <a:pt x="6" y="21"/>
                      </a:lnTo>
                      <a:lnTo>
                        <a:pt x="12" y="21"/>
                      </a:lnTo>
                      <a:lnTo>
                        <a:pt x="9" y="0"/>
                      </a:lnTo>
                      <a:lnTo>
                        <a:pt x="0" y="4"/>
                      </a:lnTo>
                      <a:lnTo>
                        <a:pt x="3" y="4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6" y="21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1" name="Freeform 293"/>
                <p:cNvSpPr>
                  <a:spLocks/>
                </p:cNvSpPr>
                <p:nvPr/>
              </p:nvSpPr>
              <p:spPr bwMode="auto">
                <a:xfrm>
                  <a:off x="1344" y="3243"/>
                  <a:ext cx="9" cy="21"/>
                </a:xfrm>
                <a:custGeom>
                  <a:avLst/>
                  <a:gdLst>
                    <a:gd name="T0" fmla="*/ 3 w 9"/>
                    <a:gd name="T1" fmla="*/ 21 h 21"/>
                    <a:gd name="T2" fmla="*/ 3 w 9"/>
                    <a:gd name="T3" fmla="*/ 21 h 21"/>
                    <a:gd name="T4" fmla="*/ 9 w 9"/>
                    <a:gd name="T5" fmla="*/ 17 h 21"/>
                    <a:gd name="T6" fmla="*/ 9 w 9"/>
                    <a:gd name="T7" fmla="*/ 0 h 21"/>
                    <a:gd name="T8" fmla="*/ 0 w 9"/>
                    <a:gd name="T9" fmla="*/ 0 h 21"/>
                    <a:gd name="T10" fmla="*/ 0 w 9"/>
                    <a:gd name="T11" fmla="*/ 0 h 21"/>
                    <a:gd name="T12" fmla="*/ 3 w 9"/>
                    <a:gd name="T13" fmla="*/ 21 h 21"/>
                    <a:gd name="T14" fmla="*/ 3 w 9"/>
                    <a:gd name="T15" fmla="*/ 21 h 21"/>
                    <a:gd name="T16" fmla="*/ 3 w 9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3" y="21"/>
                      </a:moveTo>
                      <a:lnTo>
                        <a:pt x="3" y="21"/>
                      </a:lnTo>
                      <a:lnTo>
                        <a:pt x="9" y="17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" name="Freeform 294"/>
                <p:cNvSpPr>
                  <a:spLocks/>
                </p:cNvSpPr>
                <p:nvPr/>
              </p:nvSpPr>
              <p:spPr bwMode="auto">
                <a:xfrm>
                  <a:off x="1338" y="3243"/>
                  <a:ext cx="9" cy="21"/>
                </a:xfrm>
                <a:custGeom>
                  <a:avLst/>
                  <a:gdLst>
                    <a:gd name="T0" fmla="*/ 0 w 9"/>
                    <a:gd name="T1" fmla="*/ 21 h 21"/>
                    <a:gd name="T2" fmla="*/ 0 w 9"/>
                    <a:gd name="T3" fmla="*/ 21 h 21"/>
                    <a:gd name="T4" fmla="*/ 9 w 9"/>
                    <a:gd name="T5" fmla="*/ 21 h 21"/>
                    <a:gd name="T6" fmla="*/ 6 w 9"/>
                    <a:gd name="T7" fmla="*/ 0 h 21"/>
                    <a:gd name="T8" fmla="*/ 0 w 9"/>
                    <a:gd name="T9" fmla="*/ 0 h 21"/>
                    <a:gd name="T10" fmla="*/ 0 w 9"/>
                    <a:gd name="T11" fmla="*/ 0 h 21"/>
                    <a:gd name="T12" fmla="*/ 0 w 9"/>
                    <a:gd name="T13" fmla="*/ 21 h 21"/>
                    <a:gd name="T14" fmla="*/ 0 w 9"/>
                    <a:gd name="T15" fmla="*/ 21 h 21"/>
                    <a:gd name="T16" fmla="*/ 0 w 9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0" y="21"/>
                      </a:moveTo>
                      <a:lnTo>
                        <a:pt x="0" y="21"/>
                      </a:lnTo>
                      <a:lnTo>
                        <a:pt x="9" y="21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3" name="Freeform 295"/>
                <p:cNvSpPr>
                  <a:spLocks/>
                </p:cNvSpPr>
                <p:nvPr/>
              </p:nvSpPr>
              <p:spPr bwMode="auto">
                <a:xfrm>
                  <a:off x="537" y="3243"/>
                  <a:ext cx="801" cy="21"/>
                </a:xfrm>
                <a:custGeom>
                  <a:avLst/>
                  <a:gdLst>
                    <a:gd name="T0" fmla="*/ 0 w 801"/>
                    <a:gd name="T1" fmla="*/ 21 h 21"/>
                    <a:gd name="T2" fmla="*/ 0 w 801"/>
                    <a:gd name="T3" fmla="*/ 21 h 21"/>
                    <a:gd name="T4" fmla="*/ 801 w 801"/>
                    <a:gd name="T5" fmla="*/ 21 h 21"/>
                    <a:gd name="T6" fmla="*/ 801 w 801"/>
                    <a:gd name="T7" fmla="*/ 0 h 21"/>
                    <a:gd name="T8" fmla="*/ 0 w 801"/>
                    <a:gd name="T9" fmla="*/ 0 h 21"/>
                    <a:gd name="T10" fmla="*/ 3 w 801"/>
                    <a:gd name="T11" fmla="*/ 0 h 21"/>
                    <a:gd name="T12" fmla="*/ 0 w 801"/>
                    <a:gd name="T13" fmla="*/ 21 h 21"/>
                    <a:gd name="T14" fmla="*/ 0 w 801"/>
                    <a:gd name="T15" fmla="*/ 21 h 21"/>
                    <a:gd name="T16" fmla="*/ 0 w 801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1" h="21">
                      <a:moveTo>
                        <a:pt x="0" y="21"/>
                      </a:moveTo>
                      <a:lnTo>
                        <a:pt x="0" y="21"/>
                      </a:lnTo>
                      <a:lnTo>
                        <a:pt x="801" y="21"/>
                      </a:ln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4" name="Freeform 296"/>
                <p:cNvSpPr>
                  <a:spLocks/>
                </p:cNvSpPr>
                <p:nvPr/>
              </p:nvSpPr>
              <p:spPr bwMode="auto">
                <a:xfrm>
                  <a:off x="531" y="3243"/>
                  <a:ext cx="9" cy="21"/>
                </a:xfrm>
                <a:custGeom>
                  <a:avLst/>
                  <a:gdLst>
                    <a:gd name="T0" fmla="*/ 0 w 9"/>
                    <a:gd name="T1" fmla="*/ 21 h 21"/>
                    <a:gd name="T2" fmla="*/ 0 w 9"/>
                    <a:gd name="T3" fmla="*/ 21 h 21"/>
                    <a:gd name="T4" fmla="*/ 6 w 9"/>
                    <a:gd name="T5" fmla="*/ 21 h 21"/>
                    <a:gd name="T6" fmla="*/ 9 w 9"/>
                    <a:gd name="T7" fmla="*/ 0 h 21"/>
                    <a:gd name="T8" fmla="*/ 0 w 9"/>
                    <a:gd name="T9" fmla="*/ 0 h 21"/>
                    <a:gd name="T10" fmla="*/ 0 w 9"/>
                    <a:gd name="T11" fmla="*/ 0 h 21"/>
                    <a:gd name="T12" fmla="*/ 0 w 9"/>
                    <a:gd name="T13" fmla="*/ 21 h 21"/>
                    <a:gd name="T14" fmla="*/ 0 w 9"/>
                    <a:gd name="T15" fmla="*/ 21 h 21"/>
                    <a:gd name="T16" fmla="*/ 0 w 9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1">
                      <a:moveTo>
                        <a:pt x="0" y="21"/>
                      </a:moveTo>
                      <a:lnTo>
                        <a:pt x="0" y="21"/>
                      </a:lnTo>
                      <a:lnTo>
                        <a:pt x="6" y="21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5" name="Freeform 297"/>
                <p:cNvSpPr>
                  <a:spLocks/>
                </p:cNvSpPr>
                <p:nvPr/>
              </p:nvSpPr>
              <p:spPr bwMode="auto">
                <a:xfrm>
                  <a:off x="521" y="3243"/>
                  <a:ext cx="10" cy="21"/>
                </a:xfrm>
                <a:custGeom>
                  <a:avLst/>
                  <a:gdLst>
                    <a:gd name="T0" fmla="*/ 0 w 10"/>
                    <a:gd name="T1" fmla="*/ 17 h 21"/>
                    <a:gd name="T2" fmla="*/ 0 w 10"/>
                    <a:gd name="T3" fmla="*/ 17 h 21"/>
                    <a:gd name="T4" fmla="*/ 10 w 10"/>
                    <a:gd name="T5" fmla="*/ 21 h 21"/>
                    <a:gd name="T6" fmla="*/ 10 w 10"/>
                    <a:gd name="T7" fmla="*/ 0 h 21"/>
                    <a:gd name="T8" fmla="*/ 4 w 10"/>
                    <a:gd name="T9" fmla="*/ 0 h 21"/>
                    <a:gd name="T10" fmla="*/ 4 w 10"/>
                    <a:gd name="T11" fmla="*/ 0 h 21"/>
                    <a:gd name="T12" fmla="*/ 0 w 10"/>
                    <a:gd name="T13" fmla="*/ 17 h 21"/>
                    <a:gd name="T14" fmla="*/ 0 w 10"/>
                    <a:gd name="T15" fmla="*/ 17 h 21"/>
                    <a:gd name="T16" fmla="*/ 0 w 10"/>
                    <a:gd name="T17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21">
                      <a:moveTo>
                        <a:pt x="0" y="17"/>
                      </a:moveTo>
                      <a:lnTo>
                        <a:pt x="0" y="17"/>
                      </a:lnTo>
                      <a:lnTo>
                        <a:pt x="10" y="21"/>
                      </a:lnTo>
                      <a:lnTo>
                        <a:pt x="10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6" name="Freeform 298"/>
                <p:cNvSpPr>
                  <a:spLocks/>
                </p:cNvSpPr>
                <p:nvPr/>
              </p:nvSpPr>
              <p:spPr bwMode="auto">
                <a:xfrm>
                  <a:off x="512" y="3239"/>
                  <a:ext cx="13" cy="21"/>
                </a:xfrm>
                <a:custGeom>
                  <a:avLst/>
                  <a:gdLst>
                    <a:gd name="T0" fmla="*/ 0 w 13"/>
                    <a:gd name="T1" fmla="*/ 21 h 21"/>
                    <a:gd name="T2" fmla="*/ 3 w 13"/>
                    <a:gd name="T3" fmla="*/ 21 h 21"/>
                    <a:gd name="T4" fmla="*/ 9 w 13"/>
                    <a:gd name="T5" fmla="*/ 21 h 21"/>
                    <a:gd name="T6" fmla="*/ 13 w 13"/>
                    <a:gd name="T7" fmla="*/ 4 h 21"/>
                    <a:gd name="T8" fmla="*/ 6 w 13"/>
                    <a:gd name="T9" fmla="*/ 0 h 21"/>
                    <a:gd name="T10" fmla="*/ 6 w 13"/>
                    <a:gd name="T11" fmla="*/ 0 h 21"/>
                    <a:gd name="T12" fmla="*/ 0 w 13"/>
                    <a:gd name="T13" fmla="*/ 21 h 21"/>
                    <a:gd name="T14" fmla="*/ 3 w 13"/>
                    <a:gd name="T15" fmla="*/ 21 h 21"/>
                    <a:gd name="T16" fmla="*/ 3 w 13"/>
                    <a:gd name="T17" fmla="*/ 21 h 21"/>
                    <a:gd name="T18" fmla="*/ 0 w 13"/>
                    <a:gd name="T1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" h="21">
                      <a:moveTo>
                        <a:pt x="0" y="21"/>
                      </a:moveTo>
                      <a:lnTo>
                        <a:pt x="3" y="21"/>
                      </a:lnTo>
                      <a:lnTo>
                        <a:pt x="9" y="21"/>
                      </a:lnTo>
                      <a:lnTo>
                        <a:pt x="13" y="4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7" name="Freeform 299"/>
                <p:cNvSpPr>
                  <a:spLocks/>
                </p:cNvSpPr>
                <p:nvPr/>
              </p:nvSpPr>
              <p:spPr bwMode="auto">
                <a:xfrm>
                  <a:off x="506" y="3239"/>
                  <a:ext cx="12" cy="21"/>
                </a:xfrm>
                <a:custGeom>
                  <a:avLst/>
                  <a:gdLst>
                    <a:gd name="T0" fmla="*/ 0 w 12"/>
                    <a:gd name="T1" fmla="*/ 17 h 21"/>
                    <a:gd name="T2" fmla="*/ 0 w 12"/>
                    <a:gd name="T3" fmla="*/ 17 h 21"/>
                    <a:gd name="T4" fmla="*/ 6 w 12"/>
                    <a:gd name="T5" fmla="*/ 21 h 21"/>
                    <a:gd name="T6" fmla="*/ 12 w 12"/>
                    <a:gd name="T7" fmla="*/ 0 h 21"/>
                    <a:gd name="T8" fmla="*/ 6 w 12"/>
                    <a:gd name="T9" fmla="*/ 0 h 21"/>
                    <a:gd name="T10" fmla="*/ 6 w 12"/>
                    <a:gd name="T11" fmla="*/ 0 h 21"/>
                    <a:gd name="T12" fmla="*/ 0 w 12"/>
                    <a:gd name="T13" fmla="*/ 17 h 21"/>
                    <a:gd name="T14" fmla="*/ 0 w 12"/>
                    <a:gd name="T15" fmla="*/ 17 h 21"/>
                    <a:gd name="T16" fmla="*/ 0 w 12"/>
                    <a:gd name="T17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0" y="17"/>
                      </a:move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8" name="Freeform 300"/>
                <p:cNvSpPr>
                  <a:spLocks/>
                </p:cNvSpPr>
                <p:nvPr/>
              </p:nvSpPr>
              <p:spPr bwMode="auto">
                <a:xfrm>
                  <a:off x="500" y="3235"/>
                  <a:ext cx="12" cy="21"/>
                </a:xfrm>
                <a:custGeom>
                  <a:avLst/>
                  <a:gdLst>
                    <a:gd name="T0" fmla="*/ 0 w 12"/>
                    <a:gd name="T1" fmla="*/ 17 h 21"/>
                    <a:gd name="T2" fmla="*/ 0 w 12"/>
                    <a:gd name="T3" fmla="*/ 17 h 21"/>
                    <a:gd name="T4" fmla="*/ 6 w 12"/>
                    <a:gd name="T5" fmla="*/ 21 h 21"/>
                    <a:gd name="T6" fmla="*/ 12 w 12"/>
                    <a:gd name="T7" fmla="*/ 4 h 21"/>
                    <a:gd name="T8" fmla="*/ 6 w 12"/>
                    <a:gd name="T9" fmla="*/ 0 h 21"/>
                    <a:gd name="T10" fmla="*/ 6 w 12"/>
                    <a:gd name="T11" fmla="*/ 0 h 21"/>
                    <a:gd name="T12" fmla="*/ 0 w 12"/>
                    <a:gd name="T13" fmla="*/ 17 h 21"/>
                    <a:gd name="T14" fmla="*/ 0 w 12"/>
                    <a:gd name="T15" fmla="*/ 17 h 21"/>
                    <a:gd name="T16" fmla="*/ 0 w 12"/>
                    <a:gd name="T17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0" y="17"/>
                      </a:move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9" name="Freeform 301"/>
                <p:cNvSpPr>
                  <a:spLocks/>
                </p:cNvSpPr>
                <p:nvPr/>
              </p:nvSpPr>
              <p:spPr bwMode="auto">
                <a:xfrm>
                  <a:off x="491" y="3227"/>
                  <a:ext cx="15" cy="25"/>
                </a:xfrm>
                <a:custGeom>
                  <a:avLst/>
                  <a:gdLst>
                    <a:gd name="T0" fmla="*/ 0 w 15"/>
                    <a:gd name="T1" fmla="*/ 16 h 25"/>
                    <a:gd name="T2" fmla="*/ 3 w 15"/>
                    <a:gd name="T3" fmla="*/ 21 h 25"/>
                    <a:gd name="T4" fmla="*/ 9 w 15"/>
                    <a:gd name="T5" fmla="*/ 25 h 25"/>
                    <a:gd name="T6" fmla="*/ 15 w 15"/>
                    <a:gd name="T7" fmla="*/ 8 h 25"/>
                    <a:gd name="T8" fmla="*/ 9 w 15"/>
                    <a:gd name="T9" fmla="*/ 0 h 25"/>
                    <a:gd name="T10" fmla="*/ 9 w 15"/>
                    <a:gd name="T11" fmla="*/ 4 h 25"/>
                    <a:gd name="T12" fmla="*/ 0 w 15"/>
                    <a:gd name="T13" fmla="*/ 16 h 25"/>
                    <a:gd name="T14" fmla="*/ 3 w 15"/>
                    <a:gd name="T15" fmla="*/ 16 h 25"/>
                    <a:gd name="T16" fmla="*/ 3 w 15"/>
                    <a:gd name="T17" fmla="*/ 21 h 25"/>
                    <a:gd name="T18" fmla="*/ 0 w 15"/>
                    <a:gd name="T19" fmla="*/ 16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5">
                      <a:moveTo>
                        <a:pt x="0" y="16"/>
                      </a:moveTo>
                      <a:lnTo>
                        <a:pt x="3" y="21"/>
                      </a:lnTo>
                      <a:lnTo>
                        <a:pt x="9" y="25"/>
                      </a:ln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9" y="4"/>
                      </a:lnTo>
                      <a:lnTo>
                        <a:pt x="0" y="16"/>
                      </a:lnTo>
                      <a:lnTo>
                        <a:pt x="3" y="16"/>
                      </a:lnTo>
                      <a:lnTo>
                        <a:pt x="3" y="21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0" name="Freeform 302"/>
                <p:cNvSpPr>
                  <a:spLocks/>
                </p:cNvSpPr>
                <p:nvPr/>
              </p:nvSpPr>
              <p:spPr bwMode="auto">
                <a:xfrm>
                  <a:off x="485" y="3223"/>
                  <a:ext cx="15" cy="20"/>
                </a:xfrm>
                <a:custGeom>
                  <a:avLst/>
                  <a:gdLst>
                    <a:gd name="T0" fmla="*/ 0 w 15"/>
                    <a:gd name="T1" fmla="*/ 16 h 20"/>
                    <a:gd name="T2" fmla="*/ 3 w 15"/>
                    <a:gd name="T3" fmla="*/ 16 h 20"/>
                    <a:gd name="T4" fmla="*/ 6 w 15"/>
                    <a:gd name="T5" fmla="*/ 20 h 20"/>
                    <a:gd name="T6" fmla="*/ 15 w 15"/>
                    <a:gd name="T7" fmla="*/ 8 h 20"/>
                    <a:gd name="T8" fmla="*/ 9 w 15"/>
                    <a:gd name="T9" fmla="*/ 0 h 20"/>
                    <a:gd name="T10" fmla="*/ 12 w 15"/>
                    <a:gd name="T11" fmla="*/ 0 h 20"/>
                    <a:gd name="T12" fmla="*/ 0 w 15"/>
                    <a:gd name="T13" fmla="*/ 16 h 20"/>
                    <a:gd name="T14" fmla="*/ 3 w 15"/>
                    <a:gd name="T15" fmla="*/ 16 h 20"/>
                    <a:gd name="T16" fmla="*/ 3 w 15"/>
                    <a:gd name="T17" fmla="*/ 16 h 20"/>
                    <a:gd name="T18" fmla="*/ 0 w 15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0" y="16"/>
                      </a:moveTo>
                      <a:lnTo>
                        <a:pt x="3" y="16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0" y="16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1" name="Freeform 303"/>
                <p:cNvSpPr>
                  <a:spLocks/>
                </p:cNvSpPr>
                <p:nvPr/>
              </p:nvSpPr>
              <p:spPr bwMode="auto">
                <a:xfrm>
                  <a:off x="482" y="3219"/>
                  <a:ext cx="15" cy="20"/>
                </a:xfrm>
                <a:custGeom>
                  <a:avLst/>
                  <a:gdLst>
                    <a:gd name="T0" fmla="*/ 0 w 15"/>
                    <a:gd name="T1" fmla="*/ 12 h 20"/>
                    <a:gd name="T2" fmla="*/ 0 w 15"/>
                    <a:gd name="T3" fmla="*/ 12 h 20"/>
                    <a:gd name="T4" fmla="*/ 3 w 15"/>
                    <a:gd name="T5" fmla="*/ 20 h 20"/>
                    <a:gd name="T6" fmla="*/ 15 w 15"/>
                    <a:gd name="T7" fmla="*/ 4 h 20"/>
                    <a:gd name="T8" fmla="*/ 9 w 15"/>
                    <a:gd name="T9" fmla="*/ 0 h 20"/>
                    <a:gd name="T10" fmla="*/ 9 w 15"/>
                    <a:gd name="T11" fmla="*/ 0 h 20"/>
                    <a:gd name="T12" fmla="*/ 0 w 15"/>
                    <a:gd name="T13" fmla="*/ 12 h 20"/>
                    <a:gd name="T14" fmla="*/ 0 w 15"/>
                    <a:gd name="T15" fmla="*/ 12 h 20"/>
                    <a:gd name="T16" fmla="*/ 0 w 15"/>
                    <a:gd name="T17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3" y="20"/>
                      </a:lnTo>
                      <a:lnTo>
                        <a:pt x="15" y="4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" name="Freeform 304"/>
                <p:cNvSpPr>
                  <a:spLocks/>
                </p:cNvSpPr>
                <p:nvPr/>
              </p:nvSpPr>
              <p:spPr bwMode="auto">
                <a:xfrm>
                  <a:off x="476" y="3211"/>
                  <a:ext cx="15" cy="20"/>
                </a:xfrm>
                <a:custGeom>
                  <a:avLst/>
                  <a:gdLst>
                    <a:gd name="T0" fmla="*/ 0 w 15"/>
                    <a:gd name="T1" fmla="*/ 12 h 20"/>
                    <a:gd name="T2" fmla="*/ 0 w 15"/>
                    <a:gd name="T3" fmla="*/ 12 h 20"/>
                    <a:gd name="T4" fmla="*/ 6 w 15"/>
                    <a:gd name="T5" fmla="*/ 20 h 20"/>
                    <a:gd name="T6" fmla="*/ 15 w 15"/>
                    <a:gd name="T7" fmla="*/ 8 h 20"/>
                    <a:gd name="T8" fmla="*/ 9 w 15"/>
                    <a:gd name="T9" fmla="*/ 0 h 20"/>
                    <a:gd name="T10" fmla="*/ 12 w 15"/>
                    <a:gd name="T11" fmla="*/ 0 h 20"/>
                    <a:gd name="T12" fmla="*/ 0 w 15"/>
                    <a:gd name="T13" fmla="*/ 12 h 20"/>
                    <a:gd name="T14" fmla="*/ 0 w 15"/>
                    <a:gd name="T15" fmla="*/ 12 h 20"/>
                    <a:gd name="T16" fmla="*/ 0 w 15"/>
                    <a:gd name="T17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3" name="Freeform 305"/>
                <p:cNvSpPr>
                  <a:spLocks/>
                </p:cNvSpPr>
                <p:nvPr/>
              </p:nvSpPr>
              <p:spPr bwMode="auto">
                <a:xfrm>
                  <a:off x="470" y="3202"/>
                  <a:ext cx="18" cy="21"/>
                </a:xfrm>
                <a:custGeom>
                  <a:avLst/>
                  <a:gdLst>
                    <a:gd name="T0" fmla="*/ 0 w 18"/>
                    <a:gd name="T1" fmla="*/ 13 h 21"/>
                    <a:gd name="T2" fmla="*/ 0 w 18"/>
                    <a:gd name="T3" fmla="*/ 13 h 21"/>
                    <a:gd name="T4" fmla="*/ 6 w 18"/>
                    <a:gd name="T5" fmla="*/ 21 h 21"/>
                    <a:gd name="T6" fmla="*/ 18 w 18"/>
                    <a:gd name="T7" fmla="*/ 9 h 21"/>
                    <a:gd name="T8" fmla="*/ 12 w 18"/>
                    <a:gd name="T9" fmla="*/ 0 h 21"/>
                    <a:gd name="T10" fmla="*/ 12 w 18"/>
                    <a:gd name="T11" fmla="*/ 5 h 21"/>
                    <a:gd name="T12" fmla="*/ 0 w 18"/>
                    <a:gd name="T13" fmla="*/ 13 h 21"/>
                    <a:gd name="T14" fmla="*/ 0 w 18"/>
                    <a:gd name="T15" fmla="*/ 13 h 21"/>
                    <a:gd name="T16" fmla="*/ 0 w 18"/>
                    <a:gd name="T17" fmla="*/ 13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21">
                      <a:moveTo>
                        <a:pt x="0" y="13"/>
                      </a:moveTo>
                      <a:lnTo>
                        <a:pt x="0" y="13"/>
                      </a:lnTo>
                      <a:lnTo>
                        <a:pt x="6" y="21"/>
                      </a:lnTo>
                      <a:lnTo>
                        <a:pt x="18" y="9"/>
                      </a:lnTo>
                      <a:lnTo>
                        <a:pt x="12" y="0"/>
                      </a:lnTo>
                      <a:lnTo>
                        <a:pt x="12" y="5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4" name="Freeform 306"/>
                <p:cNvSpPr>
                  <a:spLocks/>
                </p:cNvSpPr>
                <p:nvPr/>
              </p:nvSpPr>
              <p:spPr bwMode="auto">
                <a:xfrm>
                  <a:off x="467" y="3198"/>
                  <a:ext cx="15" cy="17"/>
                </a:xfrm>
                <a:custGeom>
                  <a:avLst/>
                  <a:gdLst>
                    <a:gd name="T0" fmla="*/ 0 w 15"/>
                    <a:gd name="T1" fmla="*/ 9 h 17"/>
                    <a:gd name="T2" fmla="*/ 0 w 15"/>
                    <a:gd name="T3" fmla="*/ 9 h 17"/>
                    <a:gd name="T4" fmla="*/ 3 w 15"/>
                    <a:gd name="T5" fmla="*/ 17 h 17"/>
                    <a:gd name="T6" fmla="*/ 15 w 15"/>
                    <a:gd name="T7" fmla="*/ 9 h 17"/>
                    <a:gd name="T8" fmla="*/ 12 w 15"/>
                    <a:gd name="T9" fmla="*/ 0 h 17"/>
                    <a:gd name="T10" fmla="*/ 12 w 15"/>
                    <a:gd name="T11" fmla="*/ 0 h 17"/>
                    <a:gd name="T12" fmla="*/ 0 w 15"/>
                    <a:gd name="T13" fmla="*/ 9 h 17"/>
                    <a:gd name="T14" fmla="*/ 0 w 15"/>
                    <a:gd name="T15" fmla="*/ 9 h 17"/>
                    <a:gd name="T16" fmla="*/ 0 w 15"/>
                    <a:gd name="T17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15" y="9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5" name="Freeform 307"/>
                <p:cNvSpPr>
                  <a:spLocks/>
                </p:cNvSpPr>
                <p:nvPr/>
              </p:nvSpPr>
              <p:spPr bwMode="auto">
                <a:xfrm>
                  <a:off x="464" y="3190"/>
                  <a:ext cx="15" cy="17"/>
                </a:xfrm>
                <a:custGeom>
                  <a:avLst/>
                  <a:gdLst>
                    <a:gd name="T0" fmla="*/ 0 w 15"/>
                    <a:gd name="T1" fmla="*/ 8 h 17"/>
                    <a:gd name="T2" fmla="*/ 0 w 15"/>
                    <a:gd name="T3" fmla="*/ 8 h 17"/>
                    <a:gd name="T4" fmla="*/ 3 w 15"/>
                    <a:gd name="T5" fmla="*/ 17 h 17"/>
                    <a:gd name="T6" fmla="*/ 15 w 15"/>
                    <a:gd name="T7" fmla="*/ 8 h 17"/>
                    <a:gd name="T8" fmla="*/ 12 w 15"/>
                    <a:gd name="T9" fmla="*/ 0 h 17"/>
                    <a:gd name="T10" fmla="*/ 12 w 15"/>
                    <a:gd name="T11" fmla="*/ 0 h 17"/>
                    <a:gd name="T12" fmla="*/ 0 w 15"/>
                    <a:gd name="T13" fmla="*/ 8 h 17"/>
                    <a:gd name="T14" fmla="*/ 0 w 15"/>
                    <a:gd name="T15" fmla="*/ 8 h 17"/>
                    <a:gd name="T16" fmla="*/ 0 w 15"/>
                    <a:gd name="T17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6" name="Freeform 308"/>
                <p:cNvSpPr>
                  <a:spLocks/>
                </p:cNvSpPr>
                <p:nvPr/>
              </p:nvSpPr>
              <p:spPr bwMode="auto">
                <a:xfrm>
                  <a:off x="461" y="3182"/>
                  <a:ext cx="15" cy="16"/>
                </a:xfrm>
                <a:custGeom>
                  <a:avLst/>
                  <a:gdLst>
                    <a:gd name="T0" fmla="*/ 0 w 15"/>
                    <a:gd name="T1" fmla="*/ 4 h 16"/>
                    <a:gd name="T2" fmla="*/ 0 w 15"/>
                    <a:gd name="T3" fmla="*/ 4 h 16"/>
                    <a:gd name="T4" fmla="*/ 3 w 15"/>
                    <a:gd name="T5" fmla="*/ 16 h 16"/>
                    <a:gd name="T6" fmla="*/ 15 w 15"/>
                    <a:gd name="T7" fmla="*/ 8 h 16"/>
                    <a:gd name="T8" fmla="*/ 12 w 15"/>
                    <a:gd name="T9" fmla="*/ 0 h 16"/>
                    <a:gd name="T10" fmla="*/ 15 w 15"/>
                    <a:gd name="T11" fmla="*/ 0 h 16"/>
                    <a:gd name="T12" fmla="*/ 0 w 15"/>
                    <a:gd name="T13" fmla="*/ 4 h 16"/>
                    <a:gd name="T14" fmla="*/ 0 w 15"/>
                    <a:gd name="T15" fmla="*/ 4 h 16"/>
                    <a:gd name="T16" fmla="*/ 0 w 15"/>
                    <a:gd name="T17" fmla="*/ 4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3" y="16"/>
                      </a:ln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7" name="Freeform 309"/>
                <p:cNvSpPr>
                  <a:spLocks/>
                </p:cNvSpPr>
                <p:nvPr/>
              </p:nvSpPr>
              <p:spPr bwMode="auto">
                <a:xfrm>
                  <a:off x="458" y="3174"/>
                  <a:ext cx="18" cy="12"/>
                </a:xfrm>
                <a:custGeom>
                  <a:avLst/>
                  <a:gdLst>
                    <a:gd name="T0" fmla="*/ 0 w 18"/>
                    <a:gd name="T1" fmla="*/ 4 h 12"/>
                    <a:gd name="T2" fmla="*/ 0 w 18"/>
                    <a:gd name="T3" fmla="*/ 4 h 12"/>
                    <a:gd name="T4" fmla="*/ 3 w 18"/>
                    <a:gd name="T5" fmla="*/ 12 h 12"/>
                    <a:gd name="T6" fmla="*/ 18 w 18"/>
                    <a:gd name="T7" fmla="*/ 8 h 12"/>
                    <a:gd name="T8" fmla="*/ 15 w 18"/>
                    <a:gd name="T9" fmla="*/ 0 h 12"/>
                    <a:gd name="T10" fmla="*/ 15 w 18"/>
                    <a:gd name="T11" fmla="*/ 0 h 12"/>
                    <a:gd name="T12" fmla="*/ 0 w 18"/>
                    <a:gd name="T13" fmla="*/ 4 h 12"/>
                    <a:gd name="T14" fmla="*/ 0 w 18"/>
                    <a:gd name="T15" fmla="*/ 4 h 12"/>
                    <a:gd name="T16" fmla="*/ 0 w 18"/>
                    <a:gd name="T17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12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3" y="12"/>
                      </a:lnTo>
                      <a:lnTo>
                        <a:pt x="18" y="8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8" name="Freeform 310"/>
                <p:cNvSpPr>
                  <a:spLocks/>
                </p:cNvSpPr>
                <p:nvPr/>
              </p:nvSpPr>
              <p:spPr bwMode="auto">
                <a:xfrm>
                  <a:off x="458" y="3165"/>
                  <a:ext cx="15" cy="13"/>
                </a:xfrm>
                <a:custGeom>
                  <a:avLst/>
                  <a:gdLst>
                    <a:gd name="T0" fmla="*/ 0 w 15"/>
                    <a:gd name="T1" fmla="*/ 0 h 13"/>
                    <a:gd name="T2" fmla="*/ 0 w 15"/>
                    <a:gd name="T3" fmla="*/ 0 h 13"/>
                    <a:gd name="T4" fmla="*/ 0 w 15"/>
                    <a:gd name="T5" fmla="*/ 13 h 13"/>
                    <a:gd name="T6" fmla="*/ 15 w 15"/>
                    <a:gd name="T7" fmla="*/ 9 h 13"/>
                    <a:gd name="T8" fmla="*/ 15 w 15"/>
                    <a:gd name="T9" fmla="*/ 0 h 13"/>
                    <a:gd name="T10" fmla="*/ 15 w 15"/>
                    <a:gd name="T11" fmla="*/ 0 h 13"/>
                    <a:gd name="T12" fmla="*/ 0 w 15"/>
                    <a:gd name="T13" fmla="*/ 0 h 13"/>
                    <a:gd name="T14" fmla="*/ 0 w 15"/>
                    <a:gd name="T15" fmla="*/ 0 h 13"/>
                    <a:gd name="T16" fmla="*/ 0 w 15"/>
                    <a:gd name="T17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3"/>
                      </a:lnTo>
                      <a:lnTo>
                        <a:pt x="15" y="9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9" name="Freeform 311"/>
                <p:cNvSpPr>
                  <a:spLocks/>
                </p:cNvSpPr>
                <p:nvPr/>
              </p:nvSpPr>
              <p:spPr bwMode="auto">
                <a:xfrm>
                  <a:off x="458" y="3153"/>
                  <a:ext cx="15" cy="12"/>
                </a:xfrm>
                <a:custGeom>
                  <a:avLst/>
                  <a:gdLst>
                    <a:gd name="T0" fmla="*/ 0 w 15"/>
                    <a:gd name="T1" fmla="*/ 0 h 12"/>
                    <a:gd name="T2" fmla="*/ 0 w 15"/>
                    <a:gd name="T3" fmla="*/ 4 h 12"/>
                    <a:gd name="T4" fmla="*/ 0 w 15"/>
                    <a:gd name="T5" fmla="*/ 12 h 12"/>
                    <a:gd name="T6" fmla="*/ 15 w 15"/>
                    <a:gd name="T7" fmla="*/ 12 h 12"/>
                    <a:gd name="T8" fmla="*/ 15 w 15"/>
                    <a:gd name="T9" fmla="*/ 0 h 12"/>
                    <a:gd name="T10" fmla="*/ 15 w 15"/>
                    <a:gd name="T11" fmla="*/ 0 h 12"/>
                    <a:gd name="T12" fmla="*/ 0 w 15"/>
                    <a:gd name="T13" fmla="*/ 0 h 12"/>
                    <a:gd name="T14" fmla="*/ 0 w 15"/>
                    <a:gd name="T15" fmla="*/ 0 h 12"/>
                    <a:gd name="T16" fmla="*/ 0 w 15"/>
                    <a:gd name="T17" fmla="*/ 4 h 12"/>
                    <a:gd name="T18" fmla="*/ 0 w 15"/>
                    <a:gd name="T19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0" y="0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5" y="12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0" name="Freeform 312"/>
                <p:cNvSpPr>
                  <a:spLocks/>
                </p:cNvSpPr>
                <p:nvPr/>
              </p:nvSpPr>
              <p:spPr bwMode="auto">
                <a:xfrm>
                  <a:off x="458" y="1597"/>
                  <a:ext cx="15" cy="1556"/>
                </a:xfrm>
                <a:custGeom>
                  <a:avLst/>
                  <a:gdLst>
                    <a:gd name="T0" fmla="*/ 0 w 15"/>
                    <a:gd name="T1" fmla="*/ 0 h 1556"/>
                    <a:gd name="T2" fmla="*/ 0 w 15"/>
                    <a:gd name="T3" fmla="*/ 0 h 1556"/>
                    <a:gd name="T4" fmla="*/ 0 w 15"/>
                    <a:gd name="T5" fmla="*/ 1556 h 1556"/>
                    <a:gd name="T6" fmla="*/ 15 w 15"/>
                    <a:gd name="T7" fmla="*/ 1556 h 1556"/>
                    <a:gd name="T8" fmla="*/ 15 w 15"/>
                    <a:gd name="T9" fmla="*/ 0 h 1556"/>
                    <a:gd name="T10" fmla="*/ 15 w 15"/>
                    <a:gd name="T11" fmla="*/ 0 h 1556"/>
                    <a:gd name="T12" fmla="*/ 0 w 15"/>
                    <a:gd name="T13" fmla="*/ 0 h 1556"/>
                    <a:gd name="T14" fmla="*/ 0 w 15"/>
                    <a:gd name="T15" fmla="*/ 0 h 1556"/>
                    <a:gd name="T16" fmla="*/ 0 w 15"/>
                    <a:gd name="T17" fmla="*/ 0 h 1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556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556"/>
                      </a:lnTo>
                      <a:lnTo>
                        <a:pt x="15" y="1556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1" name="Freeform 313"/>
                <p:cNvSpPr>
                  <a:spLocks/>
                </p:cNvSpPr>
                <p:nvPr/>
              </p:nvSpPr>
              <p:spPr bwMode="auto">
                <a:xfrm>
                  <a:off x="458" y="1585"/>
                  <a:ext cx="15" cy="12"/>
                </a:xfrm>
                <a:custGeom>
                  <a:avLst/>
                  <a:gdLst>
                    <a:gd name="T0" fmla="*/ 0 w 15"/>
                    <a:gd name="T1" fmla="*/ 0 h 12"/>
                    <a:gd name="T2" fmla="*/ 0 w 15"/>
                    <a:gd name="T3" fmla="*/ 4 h 12"/>
                    <a:gd name="T4" fmla="*/ 0 w 15"/>
                    <a:gd name="T5" fmla="*/ 12 h 12"/>
                    <a:gd name="T6" fmla="*/ 15 w 15"/>
                    <a:gd name="T7" fmla="*/ 12 h 12"/>
                    <a:gd name="T8" fmla="*/ 15 w 15"/>
                    <a:gd name="T9" fmla="*/ 4 h 12"/>
                    <a:gd name="T10" fmla="*/ 15 w 15"/>
                    <a:gd name="T11" fmla="*/ 4 h 12"/>
                    <a:gd name="T12" fmla="*/ 0 w 15"/>
                    <a:gd name="T13" fmla="*/ 0 h 12"/>
                    <a:gd name="T14" fmla="*/ 0 w 15"/>
                    <a:gd name="T15" fmla="*/ 0 h 12"/>
                    <a:gd name="T16" fmla="*/ 0 w 15"/>
                    <a:gd name="T17" fmla="*/ 4 h 12"/>
                    <a:gd name="T18" fmla="*/ 0 w 15"/>
                    <a:gd name="T19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2">
                      <a:moveTo>
                        <a:pt x="0" y="0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5" y="12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" name="Freeform 314"/>
                <p:cNvSpPr>
                  <a:spLocks/>
                </p:cNvSpPr>
                <p:nvPr/>
              </p:nvSpPr>
              <p:spPr bwMode="auto">
                <a:xfrm>
                  <a:off x="458" y="1577"/>
                  <a:ext cx="15" cy="12"/>
                </a:xfrm>
                <a:custGeom>
                  <a:avLst/>
                  <a:gdLst>
                    <a:gd name="T0" fmla="*/ 0 w 15"/>
                    <a:gd name="T1" fmla="*/ 0 h 12"/>
                    <a:gd name="T2" fmla="*/ 0 w 15"/>
                    <a:gd name="T3" fmla="*/ 0 h 12"/>
                    <a:gd name="T4" fmla="*/ 0 w 15"/>
                    <a:gd name="T5" fmla="*/ 8 h 12"/>
                    <a:gd name="T6" fmla="*/ 15 w 15"/>
                    <a:gd name="T7" fmla="*/ 12 h 12"/>
                    <a:gd name="T8" fmla="*/ 15 w 15"/>
                    <a:gd name="T9" fmla="*/ 4 h 12"/>
                    <a:gd name="T10" fmla="*/ 15 w 15"/>
                    <a:gd name="T11" fmla="*/ 4 h 12"/>
                    <a:gd name="T12" fmla="*/ 0 w 15"/>
                    <a:gd name="T13" fmla="*/ 0 h 12"/>
                    <a:gd name="T14" fmla="*/ 0 w 15"/>
                    <a:gd name="T15" fmla="*/ 0 h 12"/>
                    <a:gd name="T16" fmla="*/ 0 w 15"/>
                    <a:gd name="T1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15" y="12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3" name="Freeform 315"/>
                <p:cNvSpPr>
                  <a:spLocks/>
                </p:cNvSpPr>
                <p:nvPr/>
              </p:nvSpPr>
              <p:spPr bwMode="auto">
                <a:xfrm>
                  <a:off x="458" y="1564"/>
                  <a:ext cx="18" cy="17"/>
                </a:xfrm>
                <a:custGeom>
                  <a:avLst/>
                  <a:gdLst>
                    <a:gd name="T0" fmla="*/ 3 w 18"/>
                    <a:gd name="T1" fmla="*/ 0 h 17"/>
                    <a:gd name="T2" fmla="*/ 3 w 18"/>
                    <a:gd name="T3" fmla="*/ 0 h 17"/>
                    <a:gd name="T4" fmla="*/ 0 w 18"/>
                    <a:gd name="T5" fmla="*/ 13 h 17"/>
                    <a:gd name="T6" fmla="*/ 15 w 18"/>
                    <a:gd name="T7" fmla="*/ 17 h 17"/>
                    <a:gd name="T8" fmla="*/ 18 w 18"/>
                    <a:gd name="T9" fmla="*/ 9 h 17"/>
                    <a:gd name="T10" fmla="*/ 15 w 18"/>
                    <a:gd name="T11" fmla="*/ 9 h 17"/>
                    <a:gd name="T12" fmla="*/ 3 w 18"/>
                    <a:gd name="T13" fmla="*/ 0 h 17"/>
                    <a:gd name="T14" fmla="*/ 3 w 18"/>
                    <a:gd name="T15" fmla="*/ 0 h 17"/>
                    <a:gd name="T16" fmla="*/ 3 w 18"/>
                    <a:gd name="T17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17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13"/>
                      </a:lnTo>
                      <a:lnTo>
                        <a:pt x="15" y="17"/>
                      </a:lnTo>
                      <a:lnTo>
                        <a:pt x="18" y="9"/>
                      </a:lnTo>
                      <a:lnTo>
                        <a:pt x="15" y="9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4" name="Freeform 316"/>
                <p:cNvSpPr>
                  <a:spLocks/>
                </p:cNvSpPr>
                <p:nvPr/>
              </p:nvSpPr>
              <p:spPr bwMode="auto">
                <a:xfrm>
                  <a:off x="461" y="1556"/>
                  <a:ext cx="15" cy="17"/>
                </a:xfrm>
                <a:custGeom>
                  <a:avLst/>
                  <a:gdLst>
                    <a:gd name="T0" fmla="*/ 3 w 15"/>
                    <a:gd name="T1" fmla="*/ 0 h 17"/>
                    <a:gd name="T2" fmla="*/ 3 w 15"/>
                    <a:gd name="T3" fmla="*/ 0 h 17"/>
                    <a:gd name="T4" fmla="*/ 0 w 15"/>
                    <a:gd name="T5" fmla="*/ 8 h 17"/>
                    <a:gd name="T6" fmla="*/ 12 w 15"/>
                    <a:gd name="T7" fmla="*/ 17 h 17"/>
                    <a:gd name="T8" fmla="*/ 15 w 15"/>
                    <a:gd name="T9" fmla="*/ 8 h 17"/>
                    <a:gd name="T10" fmla="*/ 15 w 15"/>
                    <a:gd name="T11" fmla="*/ 8 h 17"/>
                    <a:gd name="T12" fmla="*/ 3 w 15"/>
                    <a:gd name="T13" fmla="*/ 0 h 17"/>
                    <a:gd name="T14" fmla="*/ 3 w 15"/>
                    <a:gd name="T15" fmla="*/ 0 h 17"/>
                    <a:gd name="T16" fmla="*/ 3 w 15"/>
                    <a:gd name="T17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2" y="17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5" name="Freeform 317"/>
                <p:cNvSpPr>
                  <a:spLocks/>
                </p:cNvSpPr>
                <p:nvPr/>
              </p:nvSpPr>
              <p:spPr bwMode="auto">
                <a:xfrm>
                  <a:off x="464" y="1548"/>
                  <a:ext cx="15" cy="16"/>
                </a:xfrm>
                <a:custGeom>
                  <a:avLst/>
                  <a:gdLst>
                    <a:gd name="T0" fmla="*/ 3 w 15"/>
                    <a:gd name="T1" fmla="*/ 0 h 16"/>
                    <a:gd name="T2" fmla="*/ 3 w 15"/>
                    <a:gd name="T3" fmla="*/ 0 h 16"/>
                    <a:gd name="T4" fmla="*/ 0 w 15"/>
                    <a:gd name="T5" fmla="*/ 8 h 16"/>
                    <a:gd name="T6" fmla="*/ 12 w 15"/>
                    <a:gd name="T7" fmla="*/ 16 h 16"/>
                    <a:gd name="T8" fmla="*/ 15 w 15"/>
                    <a:gd name="T9" fmla="*/ 8 h 16"/>
                    <a:gd name="T10" fmla="*/ 15 w 15"/>
                    <a:gd name="T11" fmla="*/ 8 h 16"/>
                    <a:gd name="T12" fmla="*/ 3 w 15"/>
                    <a:gd name="T13" fmla="*/ 0 h 16"/>
                    <a:gd name="T14" fmla="*/ 3 w 15"/>
                    <a:gd name="T15" fmla="*/ 0 h 16"/>
                    <a:gd name="T16" fmla="*/ 3 w 15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12" y="16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6" name="Freeform 318"/>
                <p:cNvSpPr>
                  <a:spLocks/>
                </p:cNvSpPr>
                <p:nvPr/>
              </p:nvSpPr>
              <p:spPr bwMode="auto">
                <a:xfrm>
                  <a:off x="467" y="1536"/>
                  <a:ext cx="15" cy="20"/>
                </a:xfrm>
                <a:custGeom>
                  <a:avLst/>
                  <a:gdLst>
                    <a:gd name="T0" fmla="*/ 3 w 15"/>
                    <a:gd name="T1" fmla="*/ 0 h 20"/>
                    <a:gd name="T2" fmla="*/ 3 w 15"/>
                    <a:gd name="T3" fmla="*/ 0 h 20"/>
                    <a:gd name="T4" fmla="*/ 0 w 15"/>
                    <a:gd name="T5" fmla="*/ 12 h 20"/>
                    <a:gd name="T6" fmla="*/ 12 w 15"/>
                    <a:gd name="T7" fmla="*/ 20 h 20"/>
                    <a:gd name="T8" fmla="*/ 15 w 15"/>
                    <a:gd name="T9" fmla="*/ 12 h 20"/>
                    <a:gd name="T10" fmla="*/ 15 w 15"/>
                    <a:gd name="T11" fmla="*/ 12 h 20"/>
                    <a:gd name="T12" fmla="*/ 3 w 15"/>
                    <a:gd name="T13" fmla="*/ 0 h 20"/>
                    <a:gd name="T14" fmla="*/ 3 w 15"/>
                    <a:gd name="T15" fmla="*/ 0 h 20"/>
                    <a:gd name="T16" fmla="*/ 3 w 15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12"/>
                      </a:lnTo>
                      <a:lnTo>
                        <a:pt x="12" y="20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7" name="Freeform 319"/>
                <p:cNvSpPr>
                  <a:spLocks/>
                </p:cNvSpPr>
                <p:nvPr/>
              </p:nvSpPr>
              <p:spPr bwMode="auto">
                <a:xfrm>
                  <a:off x="470" y="1527"/>
                  <a:ext cx="18" cy="21"/>
                </a:xfrm>
                <a:custGeom>
                  <a:avLst/>
                  <a:gdLst>
                    <a:gd name="T0" fmla="*/ 6 w 18"/>
                    <a:gd name="T1" fmla="*/ 0 h 21"/>
                    <a:gd name="T2" fmla="*/ 6 w 18"/>
                    <a:gd name="T3" fmla="*/ 0 h 21"/>
                    <a:gd name="T4" fmla="*/ 0 w 18"/>
                    <a:gd name="T5" fmla="*/ 9 h 21"/>
                    <a:gd name="T6" fmla="*/ 12 w 18"/>
                    <a:gd name="T7" fmla="*/ 21 h 21"/>
                    <a:gd name="T8" fmla="*/ 18 w 18"/>
                    <a:gd name="T9" fmla="*/ 13 h 21"/>
                    <a:gd name="T10" fmla="*/ 15 w 18"/>
                    <a:gd name="T11" fmla="*/ 13 h 21"/>
                    <a:gd name="T12" fmla="*/ 6 w 18"/>
                    <a:gd name="T13" fmla="*/ 0 h 21"/>
                    <a:gd name="T14" fmla="*/ 6 w 18"/>
                    <a:gd name="T15" fmla="*/ 0 h 21"/>
                    <a:gd name="T16" fmla="*/ 6 w 18"/>
                    <a:gd name="T17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8" h="21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9"/>
                      </a:lnTo>
                      <a:lnTo>
                        <a:pt x="12" y="21"/>
                      </a:lnTo>
                      <a:lnTo>
                        <a:pt x="18" y="13"/>
                      </a:lnTo>
                      <a:lnTo>
                        <a:pt x="15" y="13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8" name="Freeform 320"/>
                <p:cNvSpPr>
                  <a:spLocks/>
                </p:cNvSpPr>
                <p:nvPr/>
              </p:nvSpPr>
              <p:spPr bwMode="auto">
                <a:xfrm>
                  <a:off x="476" y="1519"/>
                  <a:ext cx="15" cy="21"/>
                </a:xfrm>
                <a:custGeom>
                  <a:avLst/>
                  <a:gdLst>
                    <a:gd name="T0" fmla="*/ 6 w 15"/>
                    <a:gd name="T1" fmla="*/ 0 h 21"/>
                    <a:gd name="T2" fmla="*/ 6 w 15"/>
                    <a:gd name="T3" fmla="*/ 4 h 21"/>
                    <a:gd name="T4" fmla="*/ 0 w 15"/>
                    <a:gd name="T5" fmla="*/ 8 h 21"/>
                    <a:gd name="T6" fmla="*/ 9 w 15"/>
                    <a:gd name="T7" fmla="*/ 21 h 21"/>
                    <a:gd name="T8" fmla="*/ 15 w 15"/>
                    <a:gd name="T9" fmla="*/ 17 h 21"/>
                    <a:gd name="T10" fmla="*/ 15 w 15"/>
                    <a:gd name="T11" fmla="*/ 17 h 21"/>
                    <a:gd name="T12" fmla="*/ 6 w 15"/>
                    <a:gd name="T13" fmla="*/ 0 h 21"/>
                    <a:gd name="T14" fmla="*/ 6 w 15"/>
                    <a:gd name="T15" fmla="*/ 0 h 21"/>
                    <a:gd name="T16" fmla="*/ 6 w 15"/>
                    <a:gd name="T17" fmla="*/ 4 h 21"/>
                    <a:gd name="T18" fmla="*/ 6 w 15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6" y="0"/>
                      </a:moveTo>
                      <a:lnTo>
                        <a:pt x="6" y="4"/>
                      </a:lnTo>
                      <a:lnTo>
                        <a:pt x="0" y="8"/>
                      </a:lnTo>
                      <a:lnTo>
                        <a:pt x="9" y="21"/>
                      </a:lnTo>
                      <a:lnTo>
                        <a:pt x="15" y="17"/>
                      </a:lnTo>
                      <a:lnTo>
                        <a:pt x="15" y="17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9" name="Freeform 321"/>
                <p:cNvSpPr>
                  <a:spLocks/>
                </p:cNvSpPr>
                <p:nvPr/>
              </p:nvSpPr>
              <p:spPr bwMode="auto">
                <a:xfrm>
                  <a:off x="482" y="1515"/>
                  <a:ext cx="15" cy="21"/>
                </a:xfrm>
                <a:custGeom>
                  <a:avLst/>
                  <a:gdLst>
                    <a:gd name="T0" fmla="*/ 6 w 15"/>
                    <a:gd name="T1" fmla="*/ 0 h 21"/>
                    <a:gd name="T2" fmla="*/ 3 w 15"/>
                    <a:gd name="T3" fmla="*/ 0 h 21"/>
                    <a:gd name="T4" fmla="*/ 0 w 15"/>
                    <a:gd name="T5" fmla="*/ 4 h 21"/>
                    <a:gd name="T6" fmla="*/ 9 w 15"/>
                    <a:gd name="T7" fmla="*/ 21 h 21"/>
                    <a:gd name="T8" fmla="*/ 15 w 15"/>
                    <a:gd name="T9" fmla="*/ 12 h 21"/>
                    <a:gd name="T10" fmla="*/ 12 w 15"/>
                    <a:gd name="T11" fmla="*/ 12 h 21"/>
                    <a:gd name="T12" fmla="*/ 6 w 15"/>
                    <a:gd name="T13" fmla="*/ 0 h 21"/>
                    <a:gd name="T14" fmla="*/ 6 w 15"/>
                    <a:gd name="T15" fmla="*/ 0 h 21"/>
                    <a:gd name="T16" fmla="*/ 3 w 15"/>
                    <a:gd name="T17" fmla="*/ 0 h 21"/>
                    <a:gd name="T18" fmla="*/ 6 w 15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6" y="0"/>
                      </a:moveTo>
                      <a:lnTo>
                        <a:pt x="3" y="0"/>
                      </a:lnTo>
                      <a:lnTo>
                        <a:pt x="0" y="4"/>
                      </a:lnTo>
                      <a:lnTo>
                        <a:pt x="9" y="21"/>
                      </a:lnTo>
                      <a:lnTo>
                        <a:pt x="15" y="12"/>
                      </a:lnTo>
                      <a:lnTo>
                        <a:pt x="12" y="12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0" name="Freeform 322"/>
                <p:cNvSpPr>
                  <a:spLocks/>
                </p:cNvSpPr>
                <p:nvPr/>
              </p:nvSpPr>
              <p:spPr bwMode="auto">
                <a:xfrm>
                  <a:off x="488" y="1507"/>
                  <a:ext cx="12" cy="20"/>
                </a:xfrm>
                <a:custGeom>
                  <a:avLst/>
                  <a:gdLst>
                    <a:gd name="T0" fmla="*/ 6 w 12"/>
                    <a:gd name="T1" fmla="*/ 0 h 20"/>
                    <a:gd name="T2" fmla="*/ 3 w 12"/>
                    <a:gd name="T3" fmla="*/ 0 h 20"/>
                    <a:gd name="T4" fmla="*/ 0 w 12"/>
                    <a:gd name="T5" fmla="*/ 8 h 20"/>
                    <a:gd name="T6" fmla="*/ 6 w 12"/>
                    <a:gd name="T7" fmla="*/ 20 h 20"/>
                    <a:gd name="T8" fmla="*/ 12 w 12"/>
                    <a:gd name="T9" fmla="*/ 16 h 20"/>
                    <a:gd name="T10" fmla="*/ 12 w 12"/>
                    <a:gd name="T11" fmla="*/ 16 h 20"/>
                    <a:gd name="T12" fmla="*/ 6 w 12"/>
                    <a:gd name="T13" fmla="*/ 0 h 20"/>
                    <a:gd name="T14" fmla="*/ 6 w 12"/>
                    <a:gd name="T15" fmla="*/ 0 h 20"/>
                    <a:gd name="T16" fmla="*/ 3 w 12"/>
                    <a:gd name="T17" fmla="*/ 0 h 20"/>
                    <a:gd name="T18" fmla="*/ 6 w 12"/>
                    <a:gd name="T19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6" y="0"/>
                      </a:move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1" name="Freeform 323"/>
                <p:cNvSpPr>
                  <a:spLocks/>
                </p:cNvSpPr>
                <p:nvPr/>
              </p:nvSpPr>
              <p:spPr bwMode="auto">
                <a:xfrm>
                  <a:off x="494" y="1503"/>
                  <a:ext cx="12" cy="20"/>
                </a:xfrm>
                <a:custGeom>
                  <a:avLst/>
                  <a:gdLst>
                    <a:gd name="T0" fmla="*/ 6 w 12"/>
                    <a:gd name="T1" fmla="*/ 0 h 20"/>
                    <a:gd name="T2" fmla="*/ 6 w 12"/>
                    <a:gd name="T3" fmla="*/ 0 h 20"/>
                    <a:gd name="T4" fmla="*/ 0 w 12"/>
                    <a:gd name="T5" fmla="*/ 4 h 20"/>
                    <a:gd name="T6" fmla="*/ 6 w 12"/>
                    <a:gd name="T7" fmla="*/ 20 h 20"/>
                    <a:gd name="T8" fmla="*/ 12 w 12"/>
                    <a:gd name="T9" fmla="*/ 16 h 20"/>
                    <a:gd name="T10" fmla="*/ 12 w 12"/>
                    <a:gd name="T11" fmla="*/ 16 h 20"/>
                    <a:gd name="T12" fmla="*/ 6 w 12"/>
                    <a:gd name="T13" fmla="*/ 0 h 20"/>
                    <a:gd name="T14" fmla="*/ 6 w 12"/>
                    <a:gd name="T15" fmla="*/ 0 h 20"/>
                    <a:gd name="T16" fmla="*/ 6 w 12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2" name="Freeform 324"/>
                <p:cNvSpPr>
                  <a:spLocks/>
                </p:cNvSpPr>
                <p:nvPr/>
              </p:nvSpPr>
              <p:spPr bwMode="auto">
                <a:xfrm>
                  <a:off x="500" y="1499"/>
                  <a:ext cx="12" cy="20"/>
                </a:xfrm>
                <a:custGeom>
                  <a:avLst/>
                  <a:gdLst>
                    <a:gd name="T0" fmla="*/ 6 w 12"/>
                    <a:gd name="T1" fmla="*/ 0 h 20"/>
                    <a:gd name="T2" fmla="*/ 6 w 12"/>
                    <a:gd name="T3" fmla="*/ 0 h 20"/>
                    <a:gd name="T4" fmla="*/ 0 w 12"/>
                    <a:gd name="T5" fmla="*/ 4 h 20"/>
                    <a:gd name="T6" fmla="*/ 6 w 12"/>
                    <a:gd name="T7" fmla="*/ 20 h 20"/>
                    <a:gd name="T8" fmla="*/ 12 w 12"/>
                    <a:gd name="T9" fmla="*/ 16 h 20"/>
                    <a:gd name="T10" fmla="*/ 12 w 12"/>
                    <a:gd name="T11" fmla="*/ 16 h 20"/>
                    <a:gd name="T12" fmla="*/ 6 w 12"/>
                    <a:gd name="T13" fmla="*/ 0 h 20"/>
                    <a:gd name="T14" fmla="*/ 6 w 12"/>
                    <a:gd name="T15" fmla="*/ 0 h 20"/>
                    <a:gd name="T16" fmla="*/ 6 w 12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3" name="Freeform 325"/>
                <p:cNvSpPr>
                  <a:spLocks/>
                </p:cNvSpPr>
                <p:nvPr/>
              </p:nvSpPr>
              <p:spPr bwMode="auto">
                <a:xfrm>
                  <a:off x="506" y="1495"/>
                  <a:ext cx="12" cy="20"/>
                </a:xfrm>
                <a:custGeom>
                  <a:avLst/>
                  <a:gdLst>
                    <a:gd name="T0" fmla="*/ 9 w 12"/>
                    <a:gd name="T1" fmla="*/ 0 h 20"/>
                    <a:gd name="T2" fmla="*/ 6 w 12"/>
                    <a:gd name="T3" fmla="*/ 0 h 20"/>
                    <a:gd name="T4" fmla="*/ 0 w 12"/>
                    <a:gd name="T5" fmla="*/ 4 h 20"/>
                    <a:gd name="T6" fmla="*/ 6 w 12"/>
                    <a:gd name="T7" fmla="*/ 20 h 20"/>
                    <a:gd name="T8" fmla="*/ 12 w 12"/>
                    <a:gd name="T9" fmla="*/ 16 h 20"/>
                    <a:gd name="T10" fmla="*/ 12 w 12"/>
                    <a:gd name="T11" fmla="*/ 16 h 20"/>
                    <a:gd name="T12" fmla="*/ 9 w 12"/>
                    <a:gd name="T13" fmla="*/ 0 h 20"/>
                    <a:gd name="T14" fmla="*/ 9 w 12"/>
                    <a:gd name="T15" fmla="*/ 0 h 20"/>
                    <a:gd name="T16" fmla="*/ 6 w 12"/>
                    <a:gd name="T17" fmla="*/ 0 h 20"/>
                    <a:gd name="T18" fmla="*/ 9 w 12"/>
                    <a:gd name="T19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9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4" name="Freeform 326"/>
                <p:cNvSpPr>
                  <a:spLocks/>
                </p:cNvSpPr>
                <p:nvPr/>
              </p:nvSpPr>
              <p:spPr bwMode="auto">
                <a:xfrm>
                  <a:off x="515" y="1491"/>
                  <a:ext cx="10" cy="20"/>
                </a:xfrm>
                <a:custGeom>
                  <a:avLst/>
                  <a:gdLst>
                    <a:gd name="T0" fmla="*/ 6 w 10"/>
                    <a:gd name="T1" fmla="*/ 0 h 20"/>
                    <a:gd name="T2" fmla="*/ 6 w 10"/>
                    <a:gd name="T3" fmla="*/ 0 h 20"/>
                    <a:gd name="T4" fmla="*/ 0 w 10"/>
                    <a:gd name="T5" fmla="*/ 4 h 20"/>
                    <a:gd name="T6" fmla="*/ 3 w 10"/>
                    <a:gd name="T7" fmla="*/ 20 h 20"/>
                    <a:gd name="T8" fmla="*/ 10 w 10"/>
                    <a:gd name="T9" fmla="*/ 20 h 20"/>
                    <a:gd name="T10" fmla="*/ 10 w 10"/>
                    <a:gd name="T11" fmla="*/ 20 h 20"/>
                    <a:gd name="T12" fmla="*/ 6 w 10"/>
                    <a:gd name="T13" fmla="*/ 0 h 20"/>
                    <a:gd name="T14" fmla="*/ 6 w 10"/>
                    <a:gd name="T15" fmla="*/ 0 h 20"/>
                    <a:gd name="T16" fmla="*/ 6 w 10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20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3" y="20"/>
                      </a:lnTo>
                      <a:lnTo>
                        <a:pt x="10" y="20"/>
                      </a:lnTo>
                      <a:lnTo>
                        <a:pt x="10" y="2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5" name="Freeform 327"/>
                <p:cNvSpPr>
                  <a:spLocks/>
                </p:cNvSpPr>
                <p:nvPr/>
              </p:nvSpPr>
              <p:spPr bwMode="auto">
                <a:xfrm>
                  <a:off x="521" y="1491"/>
                  <a:ext cx="10" cy="20"/>
                </a:xfrm>
                <a:custGeom>
                  <a:avLst/>
                  <a:gdLst>
                    <a:gd name="T0" fmla="*/ 10 w 10"/>
                    <a:gd name="T1" fmla="*/ 0 h 20"/>
                    <a:gd name="T2" fmla="*/ 10 w 10"/>
                    <a:gd name="T3" fmla="*/ 0 h 20"/>
                    <a:gd name="T4" fmla="*/ 0 w 10"/>
                    <a:gd name="T5" fmla="*/ 0 h 20"/>
                    <a:gd name="T6" fmla="*/ 4 w 10"/>
                    <a:gd name="T7" fmla="*/ 20 h 20"/>
                    <a:gd name="T8" fmla="*/ 10 w 10"/>
                    <a:gd name="T9" fmla="*/ 16 h 20"/>
                    <a:gd name="T10" fmla="*/ 10 w 10"/>
                    <a:gd name="T11" fmla="*/ 16 h 20"/>
                    <a:gd name="T12" fmla="*/ 10 w 10"/>
                    <a:gd name="T13" fmla="*/ 0 h 20"/>
                    <a:gd name="T14" fmla="*/ 10 w 10"/>
                    <a:gd name="T15" fmla="*/ 0 h 20"/>
                    <a:gd name="T16" fmla="*/ 10 w 10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20">
                      <a:moveTo>
                        <a:pt x="10" y="0"/>
                      </a:moveTo>
                      <a:lnTo>
                        <a:pt x="10" y="0"/>
                      </a:lnTo>
                      <a:lnTo>
                        <a:pt x="0" y="0"/>
                      </a:lnTo>
                      <a:lnTo>
                        <a:pt x="4" y="20"/>
                      </a:lnTo>
                      <a:lnTo>
                        <a:pt x="10" y="16"/>
                      </a:lnTo>
                      <a:lnTo>
                        <a:pt x="10" y="16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6" name="Freeform 328"/>
                <p:cNvSpPr>
                  <a:spLocks/>
                </p:cNvSpPr>
                <p:nvPr/>
              </p:nvSpPr>
              <p:spPr bwMode="auto">
                <a:xfrm>
                  <a:off x="531" y="1491"/>
                  <a:ext cx="9" cy="16"/>
                </a:xfrm>
                <a:custGeom>
                  <a:avLst/>
                  <a:gdLst>
                    <a:gd name="T0" fmla="*/ 6 w 9"/>
                    <a:gd name="T1" fmla="*/ 0 h 16"/>
                    <a:gd name="T2" fmla="*/ 6 w 9"/>
                    <a:gd name="T3" fmla="*/ 0 h 16"/>
                    <a:gd name="T4" fmla="*/ 0 w 9"/>
                    <a:gd name="T5" fmla="*/ 0 h 16"/>
                    <a:gd name="T6" fmla="*/ 0 w 9"/>
                    <a:gd name="T7" fmla="*/ 16 h 16"/>
                    <a:gd name="T8" fmla="*/ 9 w 9"/>
                    <a:gd name="T9" fmla="*/ 16 h 16"/>
                    <a:gd name="T10" fmla="*/ 6 w 9"/>
                    <a:gd name="T11" fmla="*/ 16 h 16"/>
                    <a:gd name="T12" fmla="*/ 6 w 9"/>
                    <a:gd name="T13" fmla="*/ 0 h 16"/>
                    <a:gd name="T14" fmla="*/ 6 w 9"/>
                    <a:gd name="T15" fmla="*/ 0 h 16"/>
                    <a:gd name="T16" fmla="*/ 6 w 9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6">
                      <a:moveTo>
                        <a:pt x="6" y="0"/>
                      </a:move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6" y="16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7" name="Rectangle 329"/>
                <p:cNvSpPr>
                  <a:spLocks noChangeArrowheads="1"/>
                </p:cNvSpPr>
                <p:nvPr/>
              </p:nvSpPr>
              <p:spPr bwMode="auto">
                <a:xfrm>
                  <a:off x="564" y="1692"/>
                  <a:ext cx="759" cy="69"/>
                </a:xfrm>
                <a:prstGeom prst="rect">
                  <a:avLst/>
                </a:pr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8" name="Freeform 330"/>
                <p:cNvSpPr>
                  <a:spLocks/>
                </p:cNvSpPr>
                <p:nvPr/>
              </p:nvSpPr>
              <p:spPr bwMode="auto">
                <a:xfrm>
                  <a:off x="564" y="1864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2 h 70"/>
                    <a:gd name="T34" fmla="*/ 759 w 759"/>
                    <a:gd name="T35" fmla="*/ 37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29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2"/>
                      </a:lnTo>
                      <a:lnTo>
                        <a:pt x="759" y="21"/>
                      </a:lnTo>
                      <a:lnTo>
                        <a:pt x="759" y="37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45"/>
                      </a:lnTo>
                      <a:lnTo>
                        <a:pt x="0" y="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9" name="Freeform 331"/>
                <p:cNvSpPr>
                  <a:spLocks/>
                </p:cNvSpPr>
                <p:nvPr/>
              </p:nvSpPr>
              <p:spPr bwMode="auto">
                <a:xfrm>
                  <a:off x="564" y="2032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3 h 70"/>
                    <a:gd name="T34" fmla="*/ 759 w 759"/>
                    <a:gd name="T35" fmla="*/ 41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33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3"/>
                      </a:lnTo>
                      <a:lnTo>
                        <a:pt x="759" y="25"/>
                      </a:lnTo>
                      <a:lnTo>
                        <a:pt x="759" y="41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50"/>
                      </a:lnTo>
                      <a:lnTo>
                        <a:pt x="0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0" name="Freeform 332"/>
                <p:cNvSpPr>
                  <a:spLocks/>
                </p:cNvSpPr>
                <p:nvPr/>
              </p:nvSpPr>
              <p:spPr bwMode="auto">
                <a:xfrm>
                  <a:off x="564" y="2205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2 h 70"/>
                    <a:gd name="T34" fmla="*/ 759 w 759"/>
                    <a:gd name="T35" fmla="*/ 41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7 h 70"/>
                    <a:gd name="T70" fmla="*/ 0 w 759"/>
                    <a:gd name="T71" fmla="*/ 33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2"/>
                      </a:lnTo>
                      <a:lnTo>
                        <a:pt x="759" y="24"/>
                      </a:lnTo>
                      <a:lnTo>
                        <a:pt x="759" y="41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7"/>
                      </a:lnTo>
                      <a:lnTo>
                        <a:pt x="0" y="49"/>
                      </a:lnTo>
                      <a:lnTo>
                        <a:pt x="0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1" name="Freeform 333"/>
                <p:cNvSpPr>
                  <a:spLocks/>
                </p:cNvSpPr>
                <p:nvPr/>
              </p:nvSpPr>
              <p:spPr bwMode="auto">
                <a:xfrm>
                  <a:off x="564" y="2377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3 h 70"/>
                    <a:gd name="T34" fmla="*/ 759 w 759"/>
                    <a:gd name="T35" fmla="*/ 41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29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3"/>
                      </a:lnTo>
                      <a:lnTo>
                        <a:pt x="759" y="25"/>
                      </a:lnTo>
                      <a:lnTo>
                        <a:pt x="759" y="41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45"/>
                      </a:lnTo>
                      <a:lnTo>
                        <a:pt x="0" y="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2" name="Freeform 334"/>
                <p:cNvSpPr>
                  <a:spLocks/>
                </p:cNvSpPr>
                <p:nvPr/>
              </p:nvSpPr>
              <p:spPr bwMode="auto">
                <a:xfrm>
                  <a:off x="564" y="2550"/>
                  <a:ext cx="759" cy="69"/>
                </a:xfrm>
                <a:custGeom>
                  <a:avLst/>
                  <a:gdLst>
                    <a:gd name="T0" fmla="*/ 24 w 759"/>
                    <a:gd name="T1" fmla="*/ 0 h 69"/>
                    <a:gd name="T2" fmla="*/ 63 w 759"/>
                    <a:gd name="T3" fmla="*/ 0 h 69"/>
                    <a:gd name="T4" fmla="*/ 100 w 759"/>
                    <a:gd name="T5" fmla="*/ 0 h 69"/>
                    <a:gd name="T6" fmla="*/ 130 w 759"/>
                    <a:gd name="T7" fmla="*/ 0 h 69"/>
                    <a:gd name="T8" fmla="*/ 157 w 759"/>
                    <a:gd name="T9" fmla="*/ 0 h 69"/>
                    <a:gd name="T10" fmla="*/ 184 w 759"/>
                    <a:gd name="T11" fmla="*/ 0 h 69"/>
                    <a:gd name="T12" fmla="*/ 211 w 759"/>
                    <a:gd name="T13" fmla="*/ 0 h 69"/>
                    <a:gd name="T14" fmla="*/ 239 w 759"/>
                    <a:gd name="T15" fmla="*/ 0 h 69"/>
                    <a:gd name="T16" fmla="*/ 269 w 759"/>
                    <a:gd name="T17" fmla="*/ 0 h 69"/>
                    <a:gd name="T18" fmla="*/ 305 w 759"/>
                    <a:gd name="T19" fmla="*/ 0 h 69"/>
                    <a:gd name="T20" fmla="*/ 350 w 759"/>
                    <a:gd name="T21" fmla="*/ 0 h 69"/>
                    <a:gd name="T22" fmla="*/ 399 w 759"/>
                    <a:gd name="T23" fmla="*/ 0 h 69"/>
                    <a:gd name="T24" fmla="*/ 459 w 759"/>
                    <a:gd name="T25" fmla="*/ 0 h 69"/>
                    <a:gd name="T26" fmla="*/ 529 w 759"/>
                    <a:gd name="T27" fmla="*/ 0 h 69"/>
                    <a:gd name="T28" fmla="*/ 610 w 759"/>
                    <a:gd name="T29" fmla="*/ 0 h 69"/>
                    <a:gd name="T30" fmla="*/ 704 w 759"/>
                    <a:gd name="T31" fmla="*/ 0 h 69"/>
                    <a:gd name="T32" fmla="*/ 759 w 759"/>
                    <a:gd name="T33" fmla="*/ 12 h 69"/>
                    <a:gd name="T34" fmla="*/ 759 w 759"/>
                    <a:gd name="T35" fmla="*/ 37 h 69"/>
                    <a:gd name="T36" fmla="*/ 734 w 759"/>
                    <a:gd name="T37" fmla="*/ 69 h 69"/>
                    <a:gd name="T38" fmla="*/ 695 w 759"/>
                    <a:gd name="T39" fmla="*/ 69 h 69"/>
                    <a:gd name="T40" fmla="*/ 662 w 759"/>
                    <a:gd name="T41" fmla="*/ 69 h 69"/>
                    <a:gd name="T42" fmla="*/ 632 w 759"/>
                    <a:gd name="T43" fmla="*/ 69 h 69"/>
                    <a:gd name="T44" fmla="*/ 601 w 759"/>
                    <a:gd name="T45" fmla="*/ 69 h 69"/>
                    <a:gd name="T46" fmla="*/ 577 w 759"/>
                    <a:gd name="T47" fmla="*/ 69 h 69"/>
                    <a:gd name="T48" fmla="*/ 550 w 759"/>
                    <a:gd name="T49" fmla="*/ 69 h 69"/>
                    <a:gd name="T50" fmla="*/ 520 w 759"/>
                    <a:gd name="T51" fmla="*/ 69 h 69"/>
                    <a:gd name="T52" fmla="*/ 490 w 759"/>
                    <a:gd name="T53" fmla="*/ 69 h 69"/>
                    <a:gd name="T54" fmla="*/ 453 w 759"/>
                    <a:gd name="T55" fmla="*/ 69 h 69"/>
                    <a:gd name="T56" fmla="*/ 411 w 759"/>
                    <a:gd name="T57" fmla="*/ 69 h 69"/>
                    <a:gd name="T58" fmla="*/ 360 w 759"/>
                    <a:gd name="T59" fmla="*/ 69 h 69"/>
                    <a:gd name="T60" fmla="*/ 302 w 759"/>
                    <a:gd name="T61" fmla="*/ 69 h 69"/>
                    <a:gd name="T62" fmla="*/ 233 w 759"/>
                    <a:gd name="T63" fmla="*/ 69 h 69"/>
                    <a:gd name="T64" fmla="*/ 151 w 759"/>
                    <a:gd name="T65" fmla="*/ 69 h 69"/>
                    <a:gd name="T66" fmla="*/ 54 w 759"/>
                    <a:gd name="T67" fmla="*/ 69 h 69"/>
                    <a:gd name="T68" fmla="*/ 0 w 759"/>
                    <a:gd name="T69" fmla="*/ 57 h 69"/>
                    <a:gd name="T70" fmla="*/ 0 w 759"/>
                    <a:gd name="T71" fmla="*/ 28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69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2"/>
                      </a:lnTo>
                      <a:lnTo>
                        <a:pt x="759" y="24"/>
                      </a:lnTo>
                      <a:lnTo>
                        <a:pt x="759" y="37"/>
                      </a:lnTo>
                      <a:lnTo>
                        <a:pt x="759" y="69"/>
                      </a:lnTo>
                      <a:lnTo>
                        <a:pt x="734" y="69"/>
                      </a:lnTo>
                      <a:lnTo>
                        <a:pt x="716" y="69"/>
                      </a:lnTo>
                      <a:lnTo>
                        <a:pt x="695" y="69"/>
                      </a:lnTo>
                      <a:lnTo>
                        <a:pt x="677" y="69"/>
                      </a:lnTo>
                      <a:lnTo>
                        <a:pt x="662" y="69"/>
                      </a:lnTo>
                      <a:lnTo>
                        <a:pt x="647" y="69"/>
                      </a:lnTo>
                      <a:lnTo>
                        <a:pt x="632" y="69"/>
                      </a:lnTo>
                      <a:lnTo>
                        <a:pt x="616" y="69"/>
                      </a:lnTo>
                      <a:lnTo>
                        <a:pt x="601" y="69"/>
                      </a:lnTo>
                      <a:lnTo>
                        <a:pt x="589" y="69"/>
                      </a:lnTo>
                      <a:lnTo>
                        <a:pt x="577" y="69"/>
                      </a:lnTo>
                      <a:lnTo>
                        <a:pt x="562" y="69"/>
                      </a:lnTo>
                      <a:lnTo>
                        <a:pt x="550" y="69"/>
                      </a:lnTo>
                      <a:lnTo>
                        <a:pt x="535" y="69"/>
                      </a:lnTo>
                      <a:lnTo>
                        <a:pt x="520" y="69"/>
                      </a:lnTo>
                      <a:lnTo>
                        <a:pt x="505" y="69"/>
                      </a:lnTo>
                      <a:lnTo>
                        <a:pt x="490" y="69"/>
                      </a:lnTo>
                      <a:lnTo>
                        <a:pt x="471" y="69"/>
                      </a:lnTo>
                      <a:lnTo>
                        <a:pt x="453" y="69"/>
                      </a:lnTo>
                      <a:lnTo>
                        <a:pt x="432" y="69"/>
                      </a:lnTo>
                      <a:lnTo>
                        <a:pt x="411" y="69"/>
                      </a:lnTo>
                      <a:lnTo>
                        <a:pt x="387" y="69"/>
                      </a:lnTo>
                      <a:lnTo>
                        <a:pt x="360" y="69"/>
                      </a:lnTo>
                      <a:lnTo>
                        <a:pt x="332" y="69"/>
                      </a:lnTo>
                      <a:lnTo>
                        <a:pt x="302" y="69"/>
                      </a:lnTo>
                      <a:lnTo>
                        <a:pt x="269" y="69"/>
                      </a:lnTo>
                      <a:lnTo>
                        <a:pt x="233" y="69"/>
                      </a:lnTo>
                      <a:lnTo>
                        <a:pt x="193" y="69"/>
                      </a:lnTo>
                      <a:lnTo>
                        <a:pt x="151" y="69"/>
                      </a:lnTo>
                      <a:lnTo>
                        <a:pt x="103" y="69"/>
                      </a:lnTo>
                      <a:lnTo>
                        <a:pt x="54" y="69"/>
                      </a:lnTo>
                      <a:lnTo>
                        <a:pt x="0" y="69"/>
                      </a:lnTo>
                      <a:lnTo>
                        <a:pt x="0" y="57"/>
                      </a:lnTo>
                      <a:lnTo>
                        <a:pt x="0" y="45"/>
                      </a:lnTo>
                      <a:lnTo>
                        <a:pt x="0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3" name="Freeform 335"/>
                <p:cNvSpPr>
                  <a:spLocks/>
                </p:cNvSpPr>
                <p:nvPr/>
              </p:nvSpPr>
              <p:spPr bwMode="auto">
                <a:xfrm>
                  <a:off x="564" y="2722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2 h 70"/>
                    <a:gd name="T34" fmla="*/ 759 w 759"/>
                    <a:gd name="T35" fmla="*/ 37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29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2"/>
                      </a:lnTo>
                      <a:lnTo>
                        <a:pt x="759" y="21"/>
                      </a:lnTo>
                      <a:lnTo>
                        <a:pt x="759" y="37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45"/>
                      </a:lnTo>
                      <a:lnTo>
                        <a:pt x="0" y="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4" name="Freeform 336"/>
                <p:cNvSpPr>
                  <a:spLocks/>
                </p:cNvSpPr>
                <p:nvPr/>
              </p:nvSpPr>
              <p:spPr bwMode="auto">
                <a:xfrm>
                  <a:off x="564" y="2890"/>
                  <a:ext cx="759" cy="70"/>
                </a:xfrm>
                <a:custGeom>
                  <a:avLst/>
                  <a:gdLst>
                    <a:gd name="T0" fmla="*/ 24 w 759"/>
                    <a:gd name="T1" fmla="*/ 0 h 70"/>
                    <a:gd name="T2" fmla="*/ 63 w 759"/>
                    <a:gd name="T3" fmla="*/ 0 h 70"/>
                    <a:gd name="T4" fmla="*/ 100 w 759"/>
                    <a:gd name="T5" fmla="*/ 0 h 70"/>
                    <a:gd name="T6" fmla="*/ 130 w 759"/>
                    <a:gd name="T7" fmla="*/ 0 h 70"/>
                    <a:gd name="T8" fmla="*/ 157 w 759"/>
                    <a:gd name="T9" fmla="*/ 0 h 70"/>
                    <a:gd name="T10" fmla="*/ 184 w 759"/>
                    <a:gd name="T11" fmla="*/ 0 h 70"/>
                    <a:gd name="T12" fmla="*/ 211 w 759"/>
                    <a:gd name="T13" fmla="*/ 0 h 70"/>
                    <a:gd name="T14" fmla="*/ 239 w 759"/>
                    <a:gd name="T15" fmla="*/ 0 h 70"/>
                    <a:gd name="T16" fmla="*/ 269 w 759"/>
                    <a:gd name="T17" fmla="*/ 0 h 70"/>
                    <a:gd name="T18" fmla="*/ 305 w 759"/>
                    <a:gd name="T19" fmla="*/ 0 h 70"/>
                    <a:gd name="T20" fmla="*/ 350 w 759"/>
                    <a:gd name="T21" fmla="*/ 0 h 70"/>
                    <a:gd name="T22" fmla="*/ 399 w 759"/>
                    <a:gd name="T23" fmla="*/ 0 h 70"/>
                    <a:gd name="T24" fmla="*/ 459 w 759"/>
                    <a:gd name="T25" fmla="*/ 0 h 70"/>
                    <a:gd name="T26" fmla="*/ 529 w 759"/>
                    <a:gd name="T27" fmla="*/ 0 h 70"/>
                    <a:gd name="T28" fmla="*/ 610 w 759"/>
                    <a:gd name="T29" fmla="*/ 0 h 70"/>
                    <a:gd name="T30" fmla="*/ 704 w 759"/>
                    <a:gd name="T31" fmla="*/ 0 h 70"/>
                    <a:gd name="T32" fmla="*/ 759 w 759"/>
                    <a:gd name="T33" fmla="*/ 17 h 70"/>
                    <a:gd name="T34" fmla="*/ 759 w 759"/>
                    <a:gd name="T35" fmla="*/ 41 h 70"/>
                    <a:gd name="T36" fmla="*/ 734 w 759"/>
                    <a:gd name="T37" fmla="*/ 70 h 70"/>
                    <a:gd name="T38" fmla="*/ 695 w 759"/>
                    <a:gd name="T39" fmla="*/ 70 h 70"/>
                    <a:gd name="T40" fmla="*/ 662 w 759"/>
                    <a:gd name="T41" fmla="*/ 70 h 70"/>
                    <a:gd name="T42" fmla="*/ 632 w 759"/>
                    <a:gd name="T43" fmla="*/ 70 h 70"/>
                    <a:gd name="T44" fmla="*/ 601 w 759"/>
                    <a:gd name="T45" fmla="*/ 70 h 70"/>
                    <a:gd name="T46" fmla="*/ 577 w 759"/>
                    <a:gd name="T47" fmla="*/ 70 h 70"/>
                    <a:gd name="T48" fmla="*/ 550 w 759"/>
                    <a:gd name="T49" fmla="*/ 70 h 70"/>
                    <a:gd name="T50" fmla="*/ 520 w 759"/>
                    <a:gd name="T51" fmla="*/ 70 h 70"/>
                    <a:gd name="T52" fmla="*/ 490 w 759"/>
                    <a:gd name="T53" fmla="*/ 70 h 70"/>
                    <a:gd name="T54" fmla="*/ 453 w 759"/>
                    <a:gd name="T55" fmla="*/ 70 h 70"/>
                    <a:gd name="T56" fmla="*/ 411 w 759"/>
                    <a:gd name="T57" fmla="*/ 70 h 70"/>
                    <a:gd name="T58" fmla="*/ 360 w 759"/>
                    <a:gd name="T59" fmla="*/ 70 h 70"/>
                    <a:gd name="T60" fmla="*/ 302 w 759"/>
                    <a:gd name="T61" fmla="*/ 70 h 70"/>
                    <a:gd name="T62" fmla="*/ 233 w 759"/>
                    <a:gd name="T63" fmla="*/ 70 h 70"/>
                    <a:gd name="T64" fmla="*/ 151 w 759"/>
                    <a:gd name="T65" fmla="*/ 70 h 70"/>
                    <a:gd name="T66" fmla="*/ 54 w 759"/>
                    <a:gd name="T67" fmla="*/ 70 h 70"/>
                    <a:gd name="T68" fmla="*/ 0 w 759"/>
                    <a:gd name="T69" fmla="*/ 58 h 70"/>
                    <a:gd name="T70" fmla="*/ 0 w 759"/>
                    <a:gd name="T71" fmla="*/ 33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59" h="70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45" y="0"/>
                      </a:lnTo>
                      <a:lnTo>
                        <a:pt x="63" y="0"/>
                      </a:lnTo>
                      <a:lnTo>
                        <a:pt x="81" y="0"/>
                      </a:lnTo>
                      <a:lnTo>
                        <a:pt x="100" y="0"/>
                      </a:lnTo>
                      <a:lnTo>
                        <a:pt x="115" y="0"/>
                      </a:lnTo>
                      <a:lnTo>
                        <a:pt x="130" y="0"/>
                      </a:lnTo>
                      <a:lnTo>
                        <a:pt x="142" y="0"/>
                      </a:lnTo>
                      <a:lnTo>
                        <a:pt x="157" y="0"/>
                      </a:lnTo>
                      <a:lnTo>
                        <a:pt x="169" y="0"/>
                      </a:lnTo>
                      <a:lnTo>
                        <a:pt x="184" y="0"/>
                      </a:lnTo>
                      <a:lnTo>
                        <a:pt x="196" y="0"/>
                      </a:lnTo>
                      <a:lnTo>
                        <a:pt x="211" y="0"/>
                      </a:lnTo>
                      <a:lnTo>
                        <a:pt x="224" y="0"/>
                      </a:lnTo>
                      <a:lnTo>
                        <a:pt x="239" y="0"/>
                      </a:lnTo>
                      <a:lnTo>
                        <a:pt x="254" y="0"/>
                      </a:lnTo>
                      <a:lnTo>
                        <a:pt x="269" y="0"/>
                      </a:lnTo>
                      <a:lnTo>
                        <a:pt x="287" y="0"/>
                      </a:lnTo>
                      <a:lnTo>
                        <a:pt x="305" y="0"/>
                      </a:lnTo>
                      <a:lnTo>
                        <a:pt x="326" y="0"/>
                      </a:lnTo>
                      <a:lnTo>
                        <a:pt x="350" y="0"/>
                      </a:lnTo>
                      <a:lnTo>
                        <a:pt x="375" y="0"/>
                      </a:lnTo>
                      <a:lnTo>
                        <a:pt x="399" y="0"/>
                      </a:lnTo>
                      <a:lnTo>
                        <a:pt x="426" y="0"/>
                      </a:lnTo>
                      <a:lnTo>
                        <a:pt x="459" y="0"/>
                      </a:lnTo>
                      <a:lnTo>
                        <a:pt x="493" y="0"/>
                      </a:lnTo>
                      <a:lnTo>
                        <a:pt x="529" y="0"/>
                      </a:lnTo>
                      <a:lnTo>
                        <a:pt x="568" y="0"/>
                      </a:lnTo>
                      <a:lnTo>
                        <a:pt x="610" y="0"/>
                      </a:lnTo>
                      <a:lnTo>
                        <a:pt x="656" y="0"/>
                      </a:lnTo>
                      <a:lnTo>
                        <a:pt x="704" y="0"/>
                      </a:lnTo>
                      <a:lnTo>
                        <a:pt x="759" y="0"/>
                      </a:lnTo>
                      <a:lnTo>
                        <a:pt x="759" y="17"/>
                      </a:lnTo>
                      <a:lnTo>
                        <a:pt x="759" y="25"/>
                      </a:lnTo>
                      <a:lnTo>
                        <a:pt x="759" y="41"/>
                      </a:lnTo>
                      <a:lnTo>
                        <a:pt x="759" y="70"/>
                      </a:lnTo>
                      <a:lnTo>
                        <a:pt x="734" y="70"/>
                      </a:lnTo>
                      <a:lnTo>
                        <a:pt x="716" y="70"/>
                      </a:lnTo>
                      <a:lnTo>
                        <a:pt x="695" y="70"/>
                      </a:lnTo>
                      <a:lnTo>
                        <a:pt x="677" y="70"/>
                      </a:lnTo>
                      <a:lnTo>
                        <a:pt x="662" y="70"/>
                      </a:lnTo>
                      <a:lnTo>
                        <a:pt x="647" y="70"/>
                      </a:lnTo>
                      <a:lnTo>
                        <a:pt x="632" y="70"/>
                      </a:lnTo>
                      <a:lnTo>
                        <a:pt x="616" y="70"/>
                      </a:lnTo>
                      <a:lnTo>
                        <a:pt x="601" y="70"/>
                      </a:lnTo>
                      <a:lnTo>
                        <a:pt x="589" y="70"/>
                      </a:lnTo>
                      <a:lnTo>
                        <a:pt x="577" y="70"/>
                      </a:lnTo>
                      <a:lnTo>
                        <a:pt x="562" y="70"/>
                      </a:lnTo>
                      <a:lnTo>
                        <a:pt x="550" y="70"/>
                      </a:lnTo>
                      <a:lnTo>
                        <a:pt x="535" y="70"/>
                      </a:lnTo>
                      <a:lnTo>
                        <a:pt x="520" y="70"/>
                      </a:lnTo>
                      <a:lnTo>
                        <a:pt x="505" y="70"/>
                      </a:lnTo>
                      <a:lnTo>
                        <a:pt x="490" y="70"/>
                      </a:lnTo>
                      <a:lnTo>
                        <a:pt x="471" y="70"/>
                      </a:lnTo>
                      <a:lnTo>
                        <a:pt x="453" y="70"/>
                      </a:lnTo>
                      <a:lnTo>
                        <a:pt x="432" y="70"/>
                      </a:lnTo>
                      <a:lnTo>
                        <a:pt x="411" y="70"/>
                      </a:lnTo>
                      <a:lnTo>
                        <a:pt x="387" y="70"/>
                      </a:lnTo>
                      <a:lnTo>
                        <a:pt x="360" y="70"/>
                      </a:lnTo>
                      <a:lnTo>
                        <a:pt x="332" y="70"/>
                      </a:lnTo>
                      <a:lnTo>
                        <a:pt x="302" y="70"/>
                      </a:lnTo>
                      <a:lnTo>
                        <a:pt x="269" y="70"/>
                      </a:lnTo>
                      <a:lnTo>
                        <a:pt x="233" y="70"/>
                      </a:lnTo>
                      <a:lnTo>
                        <a:pt x="193" y="70"/>
                      </a:lnTo>
                      <a:lnTo>
                        <a:pt x="151" y="70"/>
                      </a:lnTo>
                      <a:lnTo>
                        <a:pt x="103" y="70"/>
                      </a:lnTo>
                      <a:lnTo>
                        <a:pt x="54" y="70"/>
                      </a:lnTo>
                      <a:lnTo>
                        <a:pt x="0" y="70"/>
                      </a:lnTo>
                      <a:lnTo>
                        <a:pt x="0" y="58"/>
                      </a:lnTo>
                      <a:lnTo>
                        <a:pt x="0" y="50"/>
                      </a:lnTo>
                      <a:lnTo>
                        <a:pt x="0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5" name="Rectangle 337"/>
                <p:cNvSpPr>
                  <a:spLocks noChangeArrowheads="1"/>
                </p:cNvSpPr>
                <p:nvPr/>
              </p:nvSpPr>
              <p:spPr bwMode="auto">
                <a:xfrm>
                  <a:off x="564" y="3063"/>
                  <a:ext cx="759" cy="70"/>
                </a:xfrm>
                <a:prstGeom prst="rect">
                  <a:avLst/>
                </a:prstGeom>
                <a:solidFill>
                  <a:srgbClr val="0E0D0D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6" name="Freeform 338"/>
                <p:cNvSpPr>
                  <a:spLocks/>
                </p:cNvSpPr>
                <p:nvPr/>
              </p:nvSpPr>
              <p:spPr bwMode="auto">
                <a:xfrm>
                  <a:off x="509" y="1400"/>
                  <a:ext cx="901" cy="107"/>
                </a:xfrm>
                <a:custGeom>
                  <a:avLst/>
                  <a:gdLst>
                    <a:gd name="T0" fmla="*/ 0 w 901"/>
                    <a:gd name="T1" fmla="*/ 107 h 107"/>
                    <a:gd name="T2" fmla="*/ 79 w 901"/>
                    <a:gd name="T3" fmla="*/ 4 h 107"/>
                    <a:gd name="T4" fmla="*/ 901 w 901"/>
                    <a:gd name="T5" fmla="*/ 0 h 107"/>
                    <a:gd name="T6" fmla="*/ 838 w 901"/>
                    <a:gd name="T7" fmla="*/ 99 h 107"/>
                    <a:gd name="T8" fmla="*/ 0 w 901"/>
                    <a:gd name="T9" fmla="*/ 107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1" h="107">
                      <a:moveTo>
                        <a:pt x="0" y="107"/>
                      </a:moveTo>
                      <a:lnTo>
                        <a:pt x="79" y="4"/>
                      </a:lnTo>
                      <a:lnTo>
                        <a:pt x="901" y="0"/>
                      </a:lnTo>
                      <a:lnTo>
                        <a:pt x="838" y="99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A3A27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7" name="Freeform 339"/>
                <p:cNvSpPr>
                  <a:spLocks/>
                </p:cNvSpPr>
                <p:nvPr/>
              </p:nvSpPr>
              <p:spPr bwMode="auto">
                <a:xfrm>
                  <a:off x="503" y="1396"/>
                  <a:ext cx="88" cy="119"/>
                </a:xfrm>
                <a:custGeom>
                  <a:avLst/>
                  <a:gdLst>
                    <a:gd name="T0" fmla="*/ 85 w 88"/>
                    <a:gd name="T1" fmla="*/ 0 h 119"/>
                    <a:gd name="T2" fmla="*/ 79 w 88"/>
                    <a:gd name="T3" fmla="*/ 4 h 119"/>
                    <a:gd name="T4" fmla="*/ 0 w 88"/>
                    <a:gd name="T5" fmla="*/ 103 h 119"/>
                    <a:gd name="T6" fmla="*/ 12 w 88"/>
                    <a:gd name="T7" fmla="*/ 119 h 119"/>
                    <a:gd name="T8" fmla="*/ 88 w 88"/>
                    <a:gd name="T9" fmla="*/ 17 h 119"/>
                    <a:gd name="T10" fmla="*/ 85 w 88"/>
                    <a:gd name="T11" fmla="*/ 21 h 119"/>
                    <a:gd name="T12" fmla="*/ 85 w 88"/>
                    <a:gd name="T13" fmla="*/ 0 h 119"/>
                    <a:gd name="T14" fmla="*/ 82 w 88"/>
                    <a:gd name="T15" fmla="*/ 0 h 119"/>
                    <a:gd name="T16" fmla="*/ 79 w 88"/>
                    <a:gd name="T17" fmla="*/ 4 h 119"/>
                    <a:gd name="T18" fmla="*/ 85 w 88"/>
                    <a:gd name="T19" fmla="*/ 0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119">
                      <a:moveTo>
                        <a:pt x="85" y="0"/>
                      </a:moveTo>
                      <a:lnTo>
                        <a:pt x="79" y="4"/>
                      </a:lnTo>
                      <a:lnTo>
                        <a:pt x="0" y="103"/>
                      </a:lnTo>
                      <a:lnTo>
                        <a:pt x="12" y="119"/>
                      </a:lnTo>
                      <a:lnTo>
                        <a:pt x="88" y="17"/>
                      </a:lnTo>
                      <a:lnTo>
                        <a:pt x="85" y="21"/>
                      </a:lnTo>
                      <a:lnTo>
                        <a:pt x="85" y="0"/>
                      </a:lnTo>
                      <a:lnTo>
                        <a:pt x="82" y="0"/>
                      </a:lnTo>
                      <a:lnTo>
                        <a:pt x="79" y="4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8" name="Freeform 340"/>
                <p:cNvSpPr>
                  <a:spLocks/>
                </p:cNvSpPr>
                <p:nvPr/>
              </p:nvSpPr>
              <p:spPr bwMode="auto">
                <a:xfrm>
                  <a:off x="588" y="1392"/>
                  <a:ext cx="837" cy="25"/>
                </a:xfrm>
                <a:custGeom>
                  <a:avLst/>
                  <a:gdLst>
                    <a:gd name="T0" fmla="*/ 825 w 837"/>
                    <a:gd name="T1" fmla="*/ 16 h 25"/>
                    <a:gd name="T2" fmla="*/ 822 w 837"/>
                    <a:gd name="T3" fmla="*/ 0 h 25"/>
                    <a:gd name="T4" fmla="*/ 0 w 837"/>
                    <a:gd name="T5" fmla="*/ 4 h 25"/>
                    <a:gd name="T6" fmla="*/ 0 w 837"/>
                    <a:gd name="T7" fmla="*/ 25 h 25"/>
                    <a:gd name="T8" fmla="*/ 822 w 837"/>
                    <a:gd name="T9" fmla="*/ 21 h 25"/>
                    <a:gd name="T10" fmla="*/ 816 w 837"/>
                    <a:gd name="T11" fmla="*/ 4 h 25"/>
                    <a:gd name="T12" fmla="*/ 825 w 837"/>
                    <a:gd name="T13" fmla="*/ 16 h 25"/>
                    <a:gd name="T14" fmla="*/ 837 w 837"/>
                    <a:gd name="T15" fmla="*/ 0 h 25"/>
                    <a:gd name="T16" fmla="*/ 822 w 837"/>
                    <a:gd name="T17" fmla="*/ 0 h 25"/>
                    <a:gd name="T18" fmla="*/ 825 w 837"/>
                    <a:gd name="T19" fmla="*/ 16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37" h="25">
                      <a:moveTo>
                        <a:pt x="825" y="16"/>
                      </a:moveTo>
                      <a:lnTo>
                        <a:pt x="822" y="0"/>
                      </a:lnTo>
                      <a:lnTo>
                        <a:pt x="0" y="4"/>
                      </a:lnTo>
                      <a:lnTo>
                        <a:pt x="0" y="25"/>
                      </a:lnTo>
                      <a:lnTo>
                        <a:pt x="822" y="21"/>
                      </a:lnTo>
                      <a:lnTo>
                        <a:pt x="816" y="4"/>
                      </a:lnTo>
                      <a:lnTo>
                        <a:pt x="825" y="16"/>
                      </a:lnTo>
                      <a:lnTo>
                        <a:pt x="837" y="0"/>
                      </a:lnTo>
                      <a:lnTo>
                        <a:pt x="822" y="0"/>
                      </a:lnTo>
                      <a:lnTo>
                        <a:pt x="825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9" name="Freeform 341"/>
                <p:cNvSpPr>
                  <a:spLocks/>
                </p:cNvSpPr>
                <p:nvPr/>
              </p:nvSpPr>
              <p:spPr bwMode="auto">
                <a:xfrm>
                  <a:off x="1341" y="1396"/>
                  <a:ext cx="72" cy="115"/>
                </a:xfrm>
                <a:custGeom>
                  <a:avLst/>
                  <a:gdLst>
                    <a:gd name="T0" fmla="*/ 6 w 72"/>
                    <a:gd name="T1" fmla="*/ 115 h 115"/>
                    <a:gd name="T2" fmla="*/ 9 w 72"/>
                    <a:gd name="T3" fmla="*/ 111 h 115"/>
                    <a:gd name="T4" fmla="*/ 72 w 72"/>
                    <a:gd name="T5" fmla="*/ 12 h 115"/>
                    <a:gd name="T6" fmla="*/ 63 w 72"/>
                    <a:gd name="T7" fmla="*/ 0 h 115"/>
                    <a:gd name="T8" fmla="*/ 0 w 72"/>
                    <a:gd name="T9" fmla="*/ 99 h 115"/>
                    <a:gd name="T10" fmla="*/ 6 w 72"/>
                    <a:gd name="T11" fmla="*/ 95 h 115"/>
                    <a:gd name="T12" fmla="*/ 6 w 72"/>
                    <a:gd name="T13" fmla="*/ 111 h 115"/>
                    <a:gd name="T14" fmla="*/ 9 w 72"/>
                    <a:gd name="T15" fmla="*/ 111 h 115"/>
                    <a:gd name="T16" fmla="*/ 9 w 72"/>
                    <a:gd name="T17" fmla="*/ 111 h 115"/>
                    <a:gd name="T18" fmla="*/ 6 w 72"/>
                    <a:gd name="T19" fmla="*/ 115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2" h="115">
                      <a:moveTo>
                        <a:pt x="6" y="115"/>
                      </a:moveTo>
                      <a:lnTo>
                        <a:pt x="9" y="111"/>
                      </a:lnTo>
                      <a:lnTo>
                        <a:pt x="72" y="12"/>
                      </a:lnTo>
                      <a:lnTo>
                        <a:pt x="63" y="0"/>
                      </a:lnTo>
                      <a:lnTo>
                        <a:pt x="0" y="99"/>
                      </a:lnTo>
                      <a:lnTo>
                        <a:pt x="6" y="95"/>
                      </a:lnTo>
                      <a:lnTo>
                        <a:pt x="6" y="111"/>
                      </a:lnTo>
                      <a:lnTo>
                        <a:pt x="9" y="111"/>
                      </a:lnTo>
                      <a:lnTo>
                        <a:pt x="9" y="111"/>
                      </a:lnTo>
                      <a:lnTo>
                        <a:pt x="6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0" name="Freeform 342"/>
                <p:cNvSpPr>
                  <a:spLocks/>
                </p:cNvSpPr>
                <p:nvPr/>
              </p:nvSpPr>
              <p:spPr bwMode="auto">
                <a:xfrm>
                  <a:off x="491" y="1491"/>
                  <a:ext cx="856" cy="24"/>
                </a:xfrm>
                <a:custGeom>
                  <a:avLst/>
                  <a:gdLst>
                    <a:gd name="T0" fmla="*/ 12 w 856"/>
                    <a:gd name="T1" fmla="*/ 8 h 24"/>
                    <a:gd name="T2" fmla="*/ 18 w 856"/>
                    <a:gd name="T3" fmla="*/ 24 h 24"/>
                    <a:gd name="T4" fmla="*/ 856 w 856"/>
                    <a:gd name="T5" fmla="*/ 20 h 24"/>
                    <a:gd name="T6" fmla="*/ 856 w 856"/>
                    <a:gd name="T7" fmla="*/ 0 h 24"/>
                    <a:gd name="T8" fmla="*/ 18 w 856"/>
                    <a:gd name="T9" fmla="*/ 8 h 24"/>
                    <a:gd name="T10" fmla="*/ 24 w 856"/>
                    <a:gd name="T11" fmla="*/ 24 h 24"/>
                    <a:gd name="T12" fmla="*/ 12 w 856"/>
                    <a:gd name="T13" fmla="*/ 8 h 24"/>
                    <a:gd name="T14" fmla="*/ 0 w 856"/>
                    <a:gd name="T15" fmla="*/ 24 h 24"/>
                    <a:gd name="T16" fmla="*/ 18 w 856"/>
                    <a:gd name="T17" fmla="*/ 24 h 24"/>
                    <a:gd name="T18" fmla="*/ 12 w 856"/>
                    <a:gd name="T19" fmla="*/ 8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56" h="24">
                      <a:moveTo>
                        <a:pt x="12" y="8"/>
                      </a:moveTo>
                      <a:lnTo>
                        <a:pt x="18" y="24"/>
                      </a:lnTo>
                      <a:lnTo>
                        <a:pt x="856" y="20"/>
                      </a:lnTo>
                      <a:lnTo>
                        <a:pt x="856" y="0"/>
                      </a:lnTo>
                      <a:lnTo>
                        <a:pt x="18" y="8"/>
                      </a:lnTo>
                      <a:lnTo>
                        <a:pt x="24" y="24"/>
                      </a:lnTo>
                      <a:lnTo>
                        <a:pt x="12" y="8"/>
                      </a:lnTo>
                      <a:lnTo>
                        <a:pt x="0" y="24"/>
                      </a:lnTo>
                      <a:lnTo>
                        <a:pt x="18" y="24"/>
                      </a:lnTo>
                      <a:lnTo>
                        <a:pt x="12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1" name="Freeform 343"/>
                <p:cNvSpPr>
                  <a:spLocks/>
                </p:cNvSpPr>
                <p:nvPr/>
              </p:nvSpPr>
              <p:spPr bwMode="auto">
                <a:xfrm>
                  <a:off x="198" y="1499"/>
                  <a:ext cx="1200" cy="1416"/>
                </a:xfrm>
                <a:custGeom>
                  <a:avLst/>
                  <a:gdLst>
                    <a:gd name="T0" fmla="*/ 1140 w 1200"/>
                    <a:gd name="T1" fmla="*/ 0 h 1416"/>
                    <a:gd name="T2" fmla="*/ 1155 w 1200"/>
                    <a:gd name="T3" fmla="*/ 0 h 1416"/>
                    <a:gd name="T4" fmla="*/ 1167 w 1200"/>
                    <a:gd name="T5" fmla="*/ 8 h 1416"/>
                    <a:gd name="T6" fmla="*/ 1179 w 1200"/>
                    <a:gd name="T7" fmla="*/ 12 h 1416"/>
                    <a:gd name="T8" fmla="*/ 1188 w 1200"/>
                    <a:gd name="T9" fmla="*/ 24 h 1416"/>
                    <a:gd name="T10" fmla="*/ 1194 w 1200"/>
                    <a:gd name="T11" fmla="*/ 37 h 1416"/>
                    <a:gd name="T12" fmla="*/ 1197 w 1200"/>
                    <a:gd name="T13" fmla="*/ 49 h 1416"/>
                    <a:gd name="T14" fmla="*/ 1200 w 1200"/>
                    <a:gd name="T15" fmla="*/ 65 h 1416"/>
                    <a:gd name="T16" fmla="*/ 1197 w 1200"/>
                    <a:gd name="T17" fmla="*/ 82 h 1416"/>
                    <a:gd name="T18" fmla="*/ 946 w 1200"/>
                    <a:gd name="T19" fmla="*/ 1346 h 1416"/>
                    <a:gd name="T20" fmla="*/ 940 w 1200"/>
                    <a:gd name="T21" fmla="*/ 1359 h 1416"/>
                    <a:gd name="T22" fmla="*/ 931 w 1200"/>
                    <a:gd name="T23" fmla="*/ 1375 h 1416"/>
                    <a:gd name="T24" fmla="*/ 922 w 1200"/>
                    <a:gd name="T25" fmla="*/ 1387 h 1416"/>
                    <a:gd name="T26" fmla="*/ 910 w 1200"/>
                    <a:gd name="T27" fmla="*/ 1400 h 1416"/>
                    <a:gd name="T28" fmla="*/ 898 w 1200"/>
                    <a:gd name="T29" fmla="*/ 1408 h 1416"/>
                    <a:gd name="T30" fmla="*/ 883 w 1200"/>
                    <a:gd name="T31" fmla="*/ 1412 h 1416"/>
                    <a:gd name="T32" fmla="*/ 868 w 1200"/>
                    <a:gd name="T33" fmla="*/ 1416 h 1416"/>
                    <a:gd name="T34" fmla="*/ 61 w 1200"/>
                    <a:gd name="T35" fmla="*/ 1416 h 1416"/>
                    <a:gd name="T36" fmla="*/ 45 w 1200"/>
                    <a:gd name="T37" fmla="*/ 1416 h 1416"/>
                    <a:gd name="T38" fmla="*/ 33 w 1200"/>
                    <a:gd name="T39" fmla="*/ 1412 h 1416"/>
                    <a:gd name="T40" fmla="*/ 21 w 1200"/>
                    <a:gd name="T41" fmla="*/ 1404 h 1416"/>
                    <a:gd name="T42" fmla="*/ 12 w 1200"/>
                    <a:gd name="T43" fmla="*/ 1391 h 1416"/>
                    <a:gd name="T44" fmla="*/ 6 w 1200"/>
                    <a:gd name="T45" fmla="*/ 1383 h 1416"/>
                    <a:gd name="T46" fmla="*/ 3 w 1200"/>
                    <a:gd name="T47" fmla="*/ 1367 h 1416"/>
                    <a:gd name="T48" fmla="*/ 0 w 1200"/>
                    <a:gd name="T49" fmla="*/ 1354 h 1416"/>
                    <a:gd name="T50" fmla="*/ 3 w 1200"/>
                    <a:gd name="T51" fmla="*/ 1338 h 1416"/>
                    <a:gd name="T52" fmla="*/ 254 w 1200"/>
                    <a:gd name="T53" fmla="*/ 74 h 1416"/>
                    <a:gd name="T54" fmla="*/ 260 w 1200"/>
                    <a:gd name="T55" fmla="*/ 57 h 1416"/>
                    <a:gd name="T56" fmla="*/ 266 w 1200"/>
                    <a:gd name="T57" fmla="*/ 41 h 1416"/>
                    <a:gd name="T58" fmla="*/ 278 w 1200"/>
                    <a:gd name="T59" fmla="*/ 28 h 1416"/>
                    <a:gd name="T60" fmla="*/ 290 w 1200"/>
                    <a:gd name="T61" fmla="*/ 16 h 1416"/>
                    <a:gd name="T62" fmla="*/ 302 w 1200"/>
                    <a:gd name="T63" fmla="*/ 8 h 1416"/>
                    <a:gd name="T64" fmla="*/ 317 w 1200"/>
                    <a:gd name="T65" fmla="*/ 4 h 1416"/>
                    <a:gd name="T66" fmla="*/ 333 w 1200"/>
                    <a:gd name="T67" fmla="*/ 0 h 14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200" h="1416">
                      <a:moveTo>
                        <a:pt x="339" y="0"/>
                      </a:moveTo>
                      <a:lnTo>
                        <a:pt x="1140" y="0"/>
                      </a:lnTo>
                      <a:lnTo>
                        <a:pt x="1149" y="0"/>
                      </a:lnTo>
                      <a:lnTo>
                        <a:pt x="1155" y="0"/>
                      </a:lnTo>
                      <a:lnTo>
                        <a:pt x="1161" y="4"/>
                      </a:lnTo>
                      <a:lnTo>
                        <a:pt x="1167" y="8"/>
                      </a:lnTo>
                      <a:lnTo>
                        <a:pt x="1173" y="8"/>
                      </a:lnTo>
                      <a:lnTo>
                        <a:pt x="1179" y="12"/>
                      </a:lnTo>
                      <a:lnTo>
                        <a:pt x="1182" y="16"/>
                      </a:lnTo>
                      <a:lnTo>
                        <a:pt x="1188" y="24"/>
                      </a:lnTo>
                      <a:lnTo>
                        <a:pt x="1191" y="28"/>
                      </a:lnTo>
                      <a:lnTo>
                        <a:pt x="1194" y="37"/>
                      </a:lnTo>
                      <a:lnTo>
                        <a:pt x="1197" y="41"/>
                      </a:lnTo>
                      <a:lnTo>
                        <a:pt x="1197" y="49"/>
                      </a:lnTo>
                      <a:lnTo>
                        <a:pt x="1197" y="57"/>
                      </a:lnTo>
                      <a:lnTo>
                        <a:pt x="1200" y="65"/>
                      </a:lnTo>
                      <a:lnTo>
                        <a:pt x="1197" y="74"/>
                      </a:lnTo>
                      <a:lnTo>
                        <a:pt x="1197" y="82"/>
                      </a:lnTo>
                      <a:lnTo>
                        <a:pt x="949" y="1338"/>
                      </a:lnTo>
                      <a:lnTo>
                        <a:pt x="946" y="1346"/>
                      </a:lnTo>
                      <a:lnTo>
                        <a:pt x="943" y="1354"/>
                      </a:lnTo>
                      <a:lnTo>
                        <a:pt x="940" y="1359"/>
                      </a:lnTo>
                      <a:lnTo>
                        <a:pt x="937" y="1367"/>
                      </a:lnTo>
                      <a:lnTo>
                        <a:pt x="931" y="1375"/>
                      </a:lnTo>
                      <a:lnTo>
                        <a:pt x="928" y="1383"/>
                      </a:lnTo>
                      <a:lnTo>
                        <a:pt x="922" y="1387"/>
                      </a:lnTo>
                      <a:lnTo>
                        <a:pt x="916" y="1391"/>
                      </a:lnTo>
                      <a:lnTo>
                        <a:pt x="910" y="1400"/>
                      </a:lnTo>
                      <a:lnTo>
                        <a:pt x="904" y="1404"/>
                      </a:lnTo>
                      <a:lnTo>
                        <a:pt x="898" y="1408"/>
                      </a:lnTo>
                      <a:lnTo>
                        <a:pt x="889" y="1412"/>
                      </a:lnTo>
                      <a:lnTo>
                        <a:pt x="883" y="1412"/>
                      </a:lnTo>
                      <a:lnTo>
                        <a:pt x="877" y="1416"/>
                      </a:lnTo>
                      <a:lnTo>
                        <a:pt x="868" y="1416"/>
                      </a:lnTo>
                      <a:lnTo>
                        <a:pt x="859" y="1416"/>
                      </a:lnTo>
                      <a:lnTo>
                        <a:pt x="61" y="1416"/>
                      </a:lnTo>
                      <a:lnTo>
                        <a:pt x="51" y="1416"/>
                      </a:lnTo>
                      <a:lnTo>
                        <a:pt x="45" y="1416"/>
                      </a:lnTo>
                      <a:lnTo>
                        <a:pt x="39" y="1412"/>
                      </a:lnTo>
                      <a:lnTo>
                        <a:pt x="33" y="1412"/>
                      </a:lnTo>
                      <a:lnTo>
                        <a:pt x="27" y="1408"/>
                      </a:lnTo>
                      <a:lnTo>
                        <a:pt x="21" y="1404"/>
                      </a:lnTo>
                      <a:lnTo>
                        <a:pt x="18" y="1400"/>
                      </a:lnTo>
                      <a:lnTo>
                        <a:pt x="12" y="1391"/>
                      </a:lnTo>
                      <a:lnTo>
                        <a:pt x="9" y="1387"/>
                      </a:lnTo>
                      <a:lnTo>
                        <a:pt x="6" y="1383"/>
                      </a:lnTo>
                      <a:lnTo>
                        <a:pt x="3" y="1375"/>
                      </a:lnTo>
                      <a:lnTo>
                        <a:pt x="3" y="1367"/>
                      </a:lnTo>
                      <a:lnTo>
                        <a:pt x="0" y="1359"/>
                      </a:lnTo>
                      <a:lnTo>
                        <a:pt x="0" y="1354"/>
                      </a:lnTo>
                      <a:lnTo>
                        <a:pt x="3" y="1346"/>
                      </a:lnTo>
                      <a:lnTo>
                        <a:pt x="3" y="1338"/>
                      </a:lnTo>
                      <a:lnTo>
                        <a:pt x="251" y="82"/>
                      </a:lnTo>
                      <a:lnTo>
                        <a:pt x="254" y="74"/>
                      </a:lnTo>
                      <a:lnTo>
                        <a:pt x="257" y="65"/>
                      </a:lnTo>
                      <a:lnTo>
                        <a:pt x="260" y="57"/>
                      </a:lnTo>
                      <a:lnTo>
                        <a:pt x="263" y="49"/>
                      </a:lnTo>
                      <a:lnTo>
                        <a:pt x="266" y="41"/>
                      </a:lnTo>
                      <a:lnTo>
                        <a:pt x="272" y="37"/>
                      </a:lnTo>
                      <a:lnTo>
                        <a:pt x="278" y="28"/>
                      </a:lnTo>
                      <a:lnTo>
                        <a:pt x="284" y="24"/>
                      </a:lnTo>
                      <a:lnTo>
                        <a:pt x="290" y="16"/>
                      </a:lnTo>
                      <a:lnTo>
                        <a:pt x="296" y="12"/>
                      </a:lnTo>
                      <a:lnTo>
                        <a:pt x="302" y="8"/>
                      </a:lnTo>
                      <a:lnTo>
                        <a:pt x="311" y="8"/>
                      </a:lnTo>
                      <a:lnTo>
                        <a:pt x="317" y="4"/>
                      </a:lnTo>
                      <a:lnTo>
                        <a:pt x="323" y="0"/>
                      </a:lnTo>
                      <a:lnTo>
                        <a:pt x="333" y="0"/>
                      </a:lnTo>
                      <a:lnTo>
                        <a:pt x="339" y="0"/>
                      </a:lnTo>
                      <a:close/>
                    </a:path>
                  </a:pathLst>
                </a:custGeom>
                <a:solidFill>
                  <a:srgbClr val="A3A276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2" name="Freeform 344"/>
                <p:cNvSpPr>
                  <a:spLocks/>
                </p:cNvSpPr>
                <p:nvPr/>
              </p:nvSpPr>
              <p:spPr bwMode="auto">
                <a:xfrm>
                  <a:off x="537" y="1491"/>
                  <a:ext cx="801" cy="16"/>
                </a:xfrm>
                <a:custGeom>
                  <a:avLst/>
                  <a:gdLst>
                    <a:gd name="T0" fmla="*/ 801 w 801"/>
                    <a:gd name="T1" fmla="*/ 0 h 16"/>
                    <a:gd name="T2" fmla="*/ 801 w 801"/>
                    <a:gd name="T3" fmla="*/ 0 h 16"/>
                    <a:gd name="T4" fmla="*/ 0 w 801"/>
                    <a:gd name="T5" fmla="*/ 0 h 16"/>
                    <a:gd name="T6" fmla="*/ 0 w 801"/>
                    <a:gd name="T7" fmla="*/ 16 h 16"/>
                    <a:gd name="T8" fmla="*/ 801 w 801"/>
                    <a:gd name="T9" fmla="*/ 16 h 16"/>
                    <a:gd name="T10" fmla="*/ 801 w 801"/>
                    <a:gd name="T11" fmla="*/ 16 h 16"/>
                    <a:gd name="T12" fmla="*/ 801 w 801"/>
                    <a:gd name="T13" fmla="*/ 0 h 16"/>
                    <a:gd name="T14" fmla="*/ 801 w 801"/>
                    <a:gd name="T15" fmla="*/ 0 h 16"/>
                    <a:gd name="T16" fmla="*/ 801 w 801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1" h="16">
                      <a:moveTo>
                        <a:pt x="801" y="0"/>
                      </a:moveTo>
                      <a:lnTo>
                        <a:pt x="801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801" y="16"/>
                      </a:lnTo>
                      <a:lnTo>
                        <a:pt x="801" y="16"/>
                      </a:lnTo>
                      <a:lnTo>
                        <a:pt x="801" y="0"/>
                      </a:lnTo>
                      <a:lnTo>
                        <a:pt x="801" y="0"/>
                      </a:lnTo>
                      <a:lnTo>
                        <a:pt x="8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" name="Freeform 345"/>
                <p:cNvSpPr>
                  <a:spLocks/>
                </p:cNvSpPr>
                <p:nvPr/>
              </p:nvSpPr>
              <p:spPr bwMode="auto">
                <a:xfrm>
                  <a:off x="1338" y="1491"/>
                  <a:ext cx="9" cy="16"/>
                </a:xfrm>
                <a:custGeom>
                  <a:avLst/>
                  <a:gdLst>
                    <a:gd name="T0" fmla="*/ 9 w 9"/>
                    <a:gd name="T1" fmla="*/ 0 h 16"/>
                    <a:gd name="T2" fmla="*/ 9 w 9"/>
                    <a:gd name="T3" fmla="*/ 0 h 16"/>
                    <a:gd name="T4" fmla="*/ 0 w 9"/>
                    <a:gd name="T5" fmla="*/ 0 h 16"/>
                    <a:gd name="T6" fmla="*/ 0 w 9"/>
                    <a:gd name="T7" fmla="*/ 16 h 16"/>
                    <a:gd name="T8" fmla="*/ 6 w 9"/>
                    <a:gd name="T9" fmla="*/ 16 h 16"/>
                    <a:gd name="T10" fmla="*/ 6 w 9"/>
                    <a:gd name="T11" fmla="*/ 16 h 16"/>
                    <a:gd name="T12" fmla="*/ 9 w 9"/>
                    <a:gd name="T13" fmla="*/ 0 h 16"/>
                    <a:gd name="T14" fmla="*/ 9 w 9"/>
                    <a:gd name="T15" fmla="*/ 0 h 16"/>
                    <a:gd name="T16" fmla="*/ 9 w 9"/>
                    <a:gd name="T17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6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6" y="16"/>
                      </a:lnTo>
                      <a:lnTo>
                        <a:pt x="6" y="16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4" name="Freeform 346"/>
                <p:cNvSpPr>
                  <a:spLocks/>
                </p:cNvSpPr>
                <p:nvPr/>
              </p:nvSpPr>
              <p:spPr bwMode="auto">
                <a:xfrm>
                  <a:off x="1344" y="1491"/>
                  <a:ext cx="9" cy="20"/>
                </a:xfrm>
                <a:custGeom>
                  <a:avLst/>
                  <a:gdLst>
                    <a:gd name="T0" fmla="*/ 9 w 9"/>
                    <a:gd name="T1" fmla="*/ 0 h 20"/>
                    <a:gd name="T2" fmla="*/ 9 w 9"/>
                    <a:gd name="T3" fmla="*/ 0 h 20"/>
                    <a:gd name="T4" fmla="*/ 3 w 9"/>
                    <a:gd name="T5" fmla="*/ 0 h 20"/>
                    <a:gd name="T6" fmla="*/ 0 w 9"/>
                    <a:gd name="T7" fmla="*/ 16 h 20"/>
                    <a:gd name="T8" fmla="*/ 9 w 9"/>
                    <a:gd name="T9" fmla="*/ 20 h 20"/>
                    <a:gd name="T10" fmla="*/ 6 w 9"/>
                    <a:gd name="T11" fmla="*/ 20 h 20"/>
                    <a:gd name="T12" fmla="*/ 9 w 9"/>
                    <a:gd name="T13" fmla="*/ 0 h 20"/>
                    <a:gd name="T14" fmla="*/ 9 w 9"/>
                    <a:gd name="T15" fmla="*/ 0 h 20"/>
                    <a:gd name="T16" fmla="*/ 9 w 9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0">
                      <a:moveTo>
                        <a:pt x="9" y="0"/>
                      </a:moveTo>
                      <a:lnTo>
                        <a:pt x="9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9" y="20"/>
                      </a:lnTo>
                      <a:lnTo>
                        <a:pt x="6" y="2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5" name="Freeform 347"/>
                <p:cNvSpPr>
                  <a:spLocks/>
                </p:cNvSpPr>
                <p:nvPr/>
              </p:nvSpPr>
              <p:spPr bwMode="auto">
                <a:xfrm>
                  <a:off x="1350" y="1491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9 w 12"/>
                    <a:gd name="T3" fmla="*/ 4 h 20"/>
                    <a:gd name="T4" fmla="*/ 3 w 12"/>
                    <a:gd name="T5" fmla="*/ 0 h 20"/>
                    <a:gd name="T6" fmla="*/ 0 w 12"/>
                    <a:gd name="T7" fmla="*/ 20 h 20"/>
                    <a:gd name="T8" fmla="*/ 6 w 12"/>
                    <a:gd name="T9" fmla="*/ 20 h 20"/>
                    <a:gd name="T10" fmla="*/ 6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9 w 12"/>
                    <a:gd name="T17" fmla="*/ 4 h 20"/>
                    <a:gd name="T18" fmla="*/ 12 w 12"/>
                    <a:gd name="T19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9" y="4"/>
                      </a:lnTo>
                      <a:lnTo>
                        <a:pt x="3" y="0"/>
                      </a:lnTo>
                      <a:lnTo>
                        <a:pt x="0" y="20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9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6" name="Freeform 348"/>
                <p:cNvSpPr>
                  <a:spLocks/>
                </p:cNvSpPr>
                <p:nvPr/>
              </p:nvSpPr>
              <p:spPr bwMode="auto">
                <a:xfrm>
                  <a:off x="1356" y="1495"/>
                  <a:ext cx="12" cy="20"/>
                </a:xfrm>
                <a:custGeom>
                  <a:avLst/>
                  <a:gdLst>
                    <a:gd name="T0" fmla="*/ 12 w 12"/>
                    <a:gd name="T1" fmla="*/ 0 h 20"/>
                    <a:gd name="T2" fmla="*/ 12 w 12"/>
                    <a:gd name="T3" fmla="*/ 0 h 20"/>
                    <a:gd name="T4" fmla="*/ 6 w 12"/>
                    <a:gd name="T5" fmla="*/ 0 h 20"/>
                    <a:gd name="T6" fmla="*/ 0 w 12"/>
                    <a:gd name="T7" fmla="*/ 16 h 20"/>
                    <a:gd name="T8" fmla="*/ 6 w 12"/>
                    <a:gd name="T9" fmla="*/ 20 h 20"/>
                    <a:gd name="T10" fmla="*/ 6 w 12"/>
                    <a:gd name="T11" fmla="*/ 20 h 20"/>
                    <a:gd name="T12" fmla="*/ 12 w 12"/>
                    <a:gd name="T13" fmla="*/ 0 h 20"/>
                    <a:gd name="T14" fmla="*/ 12 w 12"/>
                    <a:gd name="T15" fmla="*/ 0 h 20"/>
                    <a:gd name="T16" fmla="*/ 12 w 12"/>
                    <a:gd name="T1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12" y="0"/>
                      </a:move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7" name="Freeform 349"/>
                <p:cNvSpPr>
                  <a:spLocks/>
                </p:cNvSpPr>
                <p:nvPr/>
              </p:nvSpPr>
              <p:spPr bwMode="auto">
                <a:xfrm>
                  <a:off x="1362" y="1495"/>
                  <a:ext cx="12" cy="24"/>
                </a:xfrm>
                <a:custGeom>
                  <a:avLst/>
                  <a:gdLst>
                    <a:gd name="T0" fmla="*/ 12 w 12"/>
                    <a:gd name="T1" fmla="*/ 4 h 24"/>
                    <a:gd name="T2" fmla="*/ 12 w 12"/>
                    <a:gd name="T3" fmla="*/ 4 h 24"/>
                    <a:gd name="T4" fmla="*/ 6 w 12"/>
                    <a:gd name="T5" fmla="*/ 0 h 24"/>
                    <a:gd name="T6" fmla="*/ 0 w 12"/>
                    <a:gd name="T7" fmla="*/ 20 h 24"/>
                    <a:gd name="T8" fmla="*/ 6 w 12"/>
                    <a:gd name="T9" fmla="*/ 24 h 24"/>
                    <a:gd name="T10" fmla="*/ 6 w 12"/>
                    <a:gd name="T11" fmla="*/ 20 h 24"/>
                    <a:gd name="T12" fmla="*/ 12 w 12"/>
                    <a:gd name="T13" fmla="*/ 4 h 24"/>
                    <a:gd name="T14" fmla="*/ 12 w 12"/>
                    <a:gd name="T15" fmla="*/ 4 h 24"/>
                    <a:gd name="T16" fmla="*/ 12 w 12"/>
                    <a:gd name="T17" fmla="*/ 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4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20"/>
                      </a:lnTo>
                      <a:lnTo>
                        <a:pt x="6" y="24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8" name="Freeform 350"/>
                <p:cNvSpPr>
                  <a:spLocks/>
                </p:cNvSpPr>
                <p:nvPr/>
              </p:nvSpPr>
              <p:spPr bwMode="auto">
                <a:xfrm>
                  <a:off x="1368" y="1499"/>
                  <a:ext cx="12" cy="20"/>
                </a:xfrm>
                <a:custGeom>
                  <a:avLst/>
                  <a:gdLst>
                    <a:gd name="T0" fmla="*/ 12 w 12"/>
                    <a:gd name="T1" fmla="*/ 4 h 20"/>
                    <a:gd name="T2" fmla="*/ 12 w 12"/>
                    <a:gd name="T3" fmla="*/ 4 h 20"/>
                    <a:gd name="T4" fmla="*/ 6 w 12"/>
                    <a:gd name="T5" fmla="*/ 0 h 20"/>
                    <a:gd name="T6" fmla="*/ 0 w 12"/>
                    <a:gd name="T7" fmla="*/ 16 h 20"/>
                    <a:gd name="T8" fmla="*/ 6 w 12"/>
                    <a:gd name="T9" fmla="*/ 20 h 20"/>
                    <a:gd name="T10" fmla="*/ 3 w 12"/>
                    <a:gd name="T11" fmla="*/ 20 h 20"/>
                    <a:gd name="T12" fmla="*/ 12 w 12"/>
                    <a:gd name="T13" fmla="*/ 4 h 20"/>
                    <a:gd name="T14" fmla="*/ 12 w 12"/>
                    <a:gd name="T15" fmla="*/ 4 h 20"/>
                    <a:gd name="T16" fmla="*/ 12 w 12"/>
                    <a:gd name="T17" fmla="*/ 4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3" y="20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9" name="Freeform 351"/>
                <p:cNvSpPr>
                  <a:spLocks/>
                </p:cNvSpPr>
                <p:nvPr/>
              </p:nvSpPr>
              <p:spPr bwMode="auto">
                <a:xfrm>
                  <a:off x="1371" y="1503"/>
                  <a:ext cx="15" cy="20"/>
                </a:xfrm>
                <a:custGeom>
                  <a:avLst/>
                  <a:gdLst>
                    <a:gd name="T0" fmla="*/ 15 w 15"/>
                    <a:gd name="T1" fmla="*/ 8 h 20"/>
                    <a:gd name="T2" fmla="*/ 15 w 15"/>
                    <a:gd name="T3" fmla="*/ 8 h 20"/>
                    <a:gd name="T4" fmla="*/ 9 w 15"/>
                    <a:gd name="T5" fmla="*/ 0 h 20"/>
                    <a:gd name="T6" fmla="*/ 0 w 15"/>
                    <a:gd name="T7" fmla="*/ 16 h 20"/>
                    <a:gd name="T8" fmla="*/ 6 w 15"/>
                    <a:gd name="T9" fmla="*/ 20 h 20"/>
                    <a:gd name="T10" fmla="*/ 6 w 15"/>
                    <a:gd name="T11" fmla="*/ 20 h 20"/>
                    <a:gd name="T12" fmla="*/ 15 w 15"/>
                    <a:gd name="T13" fmla="*/ 8 h 20"/>
                    <a:gd name="T14" fmla="*/ 15 w 15"/>
                    <a:gd name="T15" fmla="*/ 8 h 20"/>
                    <a:gd name="T16" fmla="*/ 15 w 15"/>
                    <a:gd name="T17" fmla="*/ 8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0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0" name="Freeform 352"/>
                <p:cNvSpPr>
                  <a:spLocks/>
                </p:cNvSpPr>
                <p:nvPr/>
              </p:nvSpPr>
              <p:spPr bwMode="auto">
                <a:xfrm>
                  <a:off x="1377" y="1511"/>
                  <a:ext cx="12" cy="16"/>
                </a:xfrm>
                <a:custGeom>
                  <a:avLst/>
                  <a:gdLst>
                    <a:gd name="T0" fmla="*/ 12 w 12"/>
                    <a:gd name="T1" fmla="*/ 4 h 16"/>
                    <a:gd name="T2" fmla="*/ 12 w 12"/>
                    <a:gd name="T3" fmla="*/ 4 h 16"/>
                    <a:gd name="T4" fmla="*/ 9 w 12"/>
                    <a:gd name="T5" fmla="*/ 0 h 16"/>
                    <a:gd name="T6" fmla="*/ 0 w 12"/>
                    <a:gd name="T7" fmla="*/ 12 h 16"/>
                    <a:gd name="T8" fmla="*/ 3 w 12"/>
                    <a:gd name="T9" fmla="*/ 16 h 16"/>
                    <a:gd name="T10" fmla="*/ 3 w 12"/>
                    <a:gd name="T11" fmla="*/ 16 h 16"/>
                    <a:gd name="T12" fmla="*/ 12 w 12"/>
                    <a:gd name="T13" fmla="*/ 4 h 16"/>
                    <a:gd name="T14" fmla="*/ 12 w 12"/>
                    <a:gd name="T15" fmla="*/ 4 h 16"/>
                    <a:gd name="T16" fmla="*/ 12 w 12"/>
                    <a:gd name="T17" fmla="*/ 4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6">
                      <a:moveTo>
                        <a:pt x="12" y="4"/>
                      </a:moveTo>
                      <a:lnTo>
                        <a:pt x="12" y="4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12" y="4"/>
                      </a:lnTo>
                      <a:lnTo>
                        <a:pt x="12" y="4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1" name="Freeform 353"/>
                <p:cNvSpPr>
                  <a:spLocks/>
                </p:cNvSpPr>
                <p:nvPr/>
              </p:nvSpPr>
              <p:spPr bwMode="auto">
                <a:xfrm>
                  <a:off x="1380" y="1515"/>
                  <a:ext cx="15" cy="21"/>
                </a:xfrm>
                <a:custGeom>
                  <a:avLst/>
                  <a:gdLst>
                    <a:gd name="T0" fmla="*/ 15 w 15"/>
                    <a:gd name="T1" fmla="*/ 8 h 21"/>
                    <a:gd name="T2" fmla="*/ 15 w 15"/>
                    <a:gd name="T3" fmla="*/ 8 h 21"/>
                    <a:gd name="T4" fmla="*/ 9 w 15"/>
                    <a:gd name="T5" fmla="*/ 0 h 21"/>
                    <a:gd name="T6" fmla="*/ 0 w 15"/>
                    <a:gd name="T7" fmla="*/ 12 h 21"/>
                    <a:gd name="T8" fmla="*/ 3 w 15"/>
                    <a:gd name="T9" fmla="*/ 21 h 21"/>
                    <a:gd name="T10" fmla="*/ 3 w 15"/>
                    <a:gd name="T11" fmla="*/ 17 h 21"/>
                    <a:gd name="T12" fmla="*/ 15 w 15"/>
                    <a:gd name="T13" fmla="*/ 8 h 21"/>
                    <a:gd name="T14" fmla="*/ 15 w 15"/>
                    <a:gd name="T15" fmla="*/ 8 h 21"/>
                    <a:gd name="T16" fmla="*/ 15 w 15"/>
                    <a:gd name="T17" fmla="*/ 8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1">
                      <a:moveTo>
                        <a:pt x="15" y="8"/>
                      </a:moveTo>
                      <a:lnTo>
                        <a:pt x="15" y="8"/>
                      </a:lnTo>
                      <a:lnTo>
                        <a:pt x="9" y="0"/>
                      </a:lnTo>
                      <a:lnTo>
                        <a:pt x="0" y="12"/>
                      </a:lnTo>
                      <a:lnTo>
                        <a:pt x="3" y="21"/>
                      </a:lnTo>
                      <a:lnTo>
                        <a:pt x="3" y="17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2" name="Freeform 354"/>
                <p:cNvSpPr>
                  <a:spLocks/>
                </p:cNvSpPr>
                <p:nvPr/>
              </p:nvSpPr>
              <p:spPr bwMode="auto">
                <a:xfrm>
                  <a:off x="1383" y="1523"/>
                  <a:ext cx="15" cy="17"/>
                </a:xfrm>
                <a:custGeom>
                  <a:avLst/>
                  <a:gdLst>
                    <a:gd name="T0" fmla="*/ 15 w 15"/>
                    <a:gd name="T1" fmla="*/ 9 h 17"/>
                    <a:gd name="T2" fmla="*/ 15 w 15"/>
                    <a:gd name="T3" fmla="*/ 4 h 17"/>
                    <a:gd name="T4" fmla="*/ 12 w 15"/>
                    <a:gd name="T5" fmla="*/ 0 h 17"/>
                    <a:gd name="T6" fmla="*/ 0 w 15"/>
                    <a:gd name="T7" fmla="*/ 9 h 17"/>
                    <a:gd name="T8" fmla="*/ 3 w 15"/>
                    <a:gd name="T9" fmla="*/ 17 h 17"/>
                    <a:gd name="T10" fmla="*/ 3 w 15"/>
                    <a:gd name="T11" fmla="*/ 17 h 17"/>
                    <a:gd name="T12" fmla="*/ 15 w 15"/>
                    <a:gd name="T13" fmla="*/ 9 h 17"/>
                    <a:gd name="T14" fmla="*/ 15 w 15"/>
                    <a:gd name="T15" fmla="*/ 4 h 17"/>
                    <a:gd name="T16" fmla="*/ 15 w 15"/>
                    <a:gd name="T17" fmla="*/ 4 h 17"/>
                    <a:gd name="T18" fmla="*/ 15 w 15"/>
                    <a:gd name="T19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15" y="9"/>
                      </a:moveTo>
                      <a:lnTo>
                        <a:pt x="15" y="4"/>
                      </a:lnTo>
                      <a:lnTo>
                        <a:pt x="12" y="0"/>
                      </a:lnTo>
                      <a:lnTo>
                        <a:pt x="0" y="9"/>
                      </a:lnTo>
                      <a:lnTo>
                        <a:pt x="3" y="17"/>
                      </a:lnTo>
                      <a:lnTo>
                        <a:pt x="3" y="17"/>
                      </a:lnTo>
                      <a:lnTo>
                        <a:pt x="15" y="9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3" name="Freeform 355"/>
                <p:cNvSpPr>
                  <a:spLocks/>
                </p:cNvSpPr>
                <p:nvPr/>
              </p:nvSpPr>
              <p:spPr bwMode="auto">
                <a:xfrm>
                  <a:off x="1386" y="1532"/>
                  <a:ext cx="15" cy="12"/>
                </a:xfrm>
                <a:custGeom>
                  <a:avLst/>
                  <a:gdLst>
                    <a:gd name="T0" fmla="*/ 15 w 15"/>
                    <a:gd name="T1" fmla="*/ 4 h 12"/>
                    <a:gd name="T2" fmla="*/ 15 w 15"/>
                    <a:gd name="T3" fmla="*/ 4 h 12"/>
                    <a:gd name="T4" fmla="*/ 12 w 15"/>
                    <a:gd name="T5" fmla="*/ 0 h 12"/>
                    <a:gd name="T6" fmla="*/ 0 w 15"/>
                    <a:gd name="T7" fmla="*/ 8 h 12"/>
                    <a:gd name="T8" fmla="*/ 0 w 15"/>
                    <a:gd name="T9" fmla="*/ 12 h 12"/>
                    <a:gd name="T10" fmla="*/ 0 w 15"/>
                    <a:gd name="T11" fmla="*/ 12 h 12"/>
                    <a:gd name="T12" fmla="*/ 15 w 15"/>
                    <a:gd name="T13" fmla="*/ 4 h 12"/>
                    <a:gd name="T14" fmla="*/ 15 w 15"/>
                    <a:gd name="T15" fmla="*/ 4 h 12"/>
                    <a:gd name="T16" fmla="*/ 15 w 15"/>
                    <a:gd name="T17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5" y="4"/>
                      </a:moveTo>
                      <a:lnTo>
                        <a:pt x="15" y="4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4" name="Freeform 356"/>
                <p:cNvSpPr>
                  <a:spLocks/>
                </p:cNvSpPr>
                <p:nvPr/>
              </p:nvSpPr>
              <p:spPr bwMode="auto">
                <a:xfrm>
                  <a:off x="1386" y="1536"/>
                  <a:ext cx="18" cy="16"/>
                </a:xfrm>
                <a:custGeom>
                  <a:avLst/>
                  <a:gdLst>
                    <a:gd name="T0" fmla="*/ 18 w 18"/>
                    <a:gd name="T1" fmla="*/ 12 h 16"/>
                    <a:gd name="T2" fmla="*/ 15 w 18"/>
                    <a:gd name="T3" fmla="*/ 8 h 16"/>
                    <a:gd name="T4" fmla="*/ 15 w 18"/>
                    <a:gd name="T5" fmla="*/ 0 h 16"/>
                    <a:gd name="T6" fmla="*/ 0 w 18"/>
                    <a:gd name="T7" fmla="*/ 8 h 16"/>
                    <a:gd name="T8" fmla="*/ 3 w 18"/>
                    <a:gd name="T9" fmla="*/ 16 h 16"/>
                    <a:gd name="T10" fmla="*/ 3 w 18"/>
                    <a:gd name="T11" fmla="*/ 12 h 16"/>
                    <a:gd name="T12" fmla="*/ 18 w 18"/>
                    <a:gd name="T13" fmla="*/ 12 h 16"/>
                    <a:gd name="T14" fmla="*/ 18 w 18"/>
                    <a:gd name="T15" fmla="*/ 12 h 16"/>
                    <a:gd name="T16" fmla="*/ 15 w 18"/>
                    <a:gd name="T17" fmla="*/ 8 h 16"/>
                    <a:gd name="T18" fmla="*/ 18 w 18"/>
                    <a:gd name="T19" fmla="*/ 12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6">
                      <a:moveTo>
                        <a:pt x="18" y="12"/>
                      </a:move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3" y="12"/>
                      </a:lnTo>
                      <a:lnTo>
                        <a:pt x="18" y="12"/>
                      </a:lnTo>
                      <a:lnTo>
                        <a:pt x="18" y="12"/>
                      </a:lnTo>
                      <a:lnTo>
                        <a:pt x="15" y="8"/>
                      </a:lnTo>
                      <a:lnTo>
                        <a:pt x="18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5" name="Freeform 357"/>
                <p:cNvSpPr>
                  <a:spLocks/>
                </p:cNvSpPr>
                <p:nvPr/>
              </p:nvSpPr>
              <p:spPr bwMode="auto">
                <a:xfrm>
                  <a:off x="1389" y="1548"/>
                  <a:ext cx="15" cy="8"/>
                </a:xfrm>
                <a:custGeom>
                  <a:avLst/>
                  <a:gdLst>
                    <a:gd name="T0" fmla="*/ 15 w 15"/>
                    <a:gd name="T1" fmla="*/ 8 h 8"/>
                    <a:gd name="T2" fmla="*/ 15 w 15"/>
                    <a:gd name="T3" fmla="*/ 4 h 8"/>
                    <a:gd name="T4" fmla="*/ 15 w 15"/>
                    <a:gd name="T5" fmla="*/ 0 h 8"/>
                    <a:gd name="T6" fmla="*/ 0 w 15"/>
                    <a:gd name="T7" fmla="*/ 0 h 8"/>
                    <a:gd name="T8" fmla="*/ 0 w 15"/>
                    <a:gd name="T9" fmla="*/ 8 h 8"/>
                    <a:gd name="T10" fmla="*/ 0 w 15"/>
                    <a:gd name="T11" fmla="*/ 8 h 8"/>
                    <a:gd name="T12" fmla="*/ 15 w 15"/>
                    <a:gd name="T13" fmla="*/ 8 h 8"/>
                    <a:gd name="T14" fmla="*/ 15 w 15"/>
                    <a:gd name="T15" fmla="*/ 8 h 8"/>
                    <a:gd name="T16" fmla="*/ 15 w 15"/>
                    <a:gd name="T17" fmla="*/ 4 h 8"/>
                    <a:gd name="T18" fmla="*/ 15 w 15"/>
                    <a:gd name="T19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8">
                      <a:moveTo>
                        <a:pt x="15" y="8"/>
                      </a:move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4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6" name="Freeform 358"/>
                <p:cNvSpPr>
                  <a:spLocks/>
                </p:cNvSpPr>
                <p:nvPr/>
              </p:nvSpPr>
              <p:spPr bwMode="auto">
                <a:xfrm>
                  <a:off x="1389" y="1556"/>
                  <a:ext cx="15" cy="8"/>
                </a:xfrm>
                <a:custGeom>
                  <a:avLst/>
                  <a:gdLst>
                    <a:gd name="T0" fmla="*/ 15 w 15"/>
                    <a:gd name="T1" fmla="*/ 8 h 8"/>
                    <a:gd name="T2" fmla="*/ 15 w 15"/>
                    <a:gd name="T3" fmla="*/ 4 h 8"/>
                    <a:gd name="T4" fmla="*/ 15 w 15"/>
                    <a:gd name="T5" fmla="*/ 0 h 8"/>
                    <a:gd name="T6" fmla="*/ 0 w 15"/>
                    <a:gd name="T7" fmla="*/ 0 h 8"/>
                    <a:gd name="T8" fmla="*/ 0 w 15"/>
                    <a:gd name="T9" fmla="*/ 8 h 8"/>
                    <a:gd name="T10" fmla="*/ 0 w 15"/>
                    <a:gd name="T11" fmla="*/ 4 h 8"/>
                    <a:gd name="T12" fmla="*/ 15 w 15"/>
                    <a:gd name="T13" fmla="*/ 8 h 8"/>
                    <a:gd name="T14" fmla="*/ 15 w 15"/>
                    <a:gd name="T15" fmla="*/ 8 h 8"/>
                    <a:gd name="T16" fmla="*/ 15 w 15"/>
                    <a:gd name="T17" fmla="*/ 4 h 8"/>
                    <a:gd name="T18" fmla="*/ 15 w 15"/>
                    <a:gd name="T19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8">
                      <a:moveTo>
                        <a:pt x="15" y="8"/>
                      </a:moveTo>
                      <a:lnTo>
                        <a:pt x="15" y="4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15" y="8"/>
                      </a:lnTo>
                      <a:lnTo>
                        <a:pt x="15" y="8"/>
                      </a:lnTo>
                      <a:lnTo>
                        <a:pt x="15" y="4"/>
                      </a:lnTo>
                      <a:lnTo>
                        <a:pt x="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7" name="Freeform 359"/>
                <p:cNvSpPr>
                  <a:spLocks/>
                </p:cNvSpPr>
                <p:nvPr/>
              </p:nvSpPr>
              <p:spPr bwMode="auto">
                <a:xfrm>
                  <a:off x="1389" y="1560"/>
                  <a:ext cx="15" cy="13"/>
                </a:xfrm>
                <a:custGeom>
                  <a:avLst/>
                  <a:gdLst>
                    <a:gd name="T0" fmla="*/ 15 w 15"/>
                    <a:gd name="T1" fmla="*/ 13 h 13"/>
                    <a:gd name="T2" fmla="*/ 15 w 15"/>
                    <a:gd name="T3" fmla="*/ 13 h 13"/>
                    <a:gd name="T4" fmla="*/ 15 w 15"/>
                    <a:gd name="T5" fmla="*/ 4 h 13"/>
                    <a:gd name="T6" fmla="*/ 0 w 15"/>
                    <a:gd name="T7" fmla="*/ 0 h 13"/>
                    <a:gd name="T8" fmla="*/ 0 w 15"/>
                    <a:gd name="T9" fmla="*/ 9 h 13"/>
                    <a:gd name="T10" fmla="*/ 0 w 15"/>
                    <a:gd name="T11" fmla="*/ 9 h 13"/>
                    <a:gd name="T12" fmla="*/ 15 w 15"/>
                    <a:gd name="T13" fmla="*/ 13 h 13"/>
                    <a:gd name="T14" fmla="*/ 15 w 15"/>
                    <a:gd name="T15" fmla="*/ 13 h 13"/>
                    <a:gd name="T16" fmla="*/ 15 w 15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3">
                      <a:moveTo>
                        <a:pt x="15" y="13"/>
                      </a:moveTo>
                      <a:lnTo>
                        <a:pt x="15" y="13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15" y="13"/>
                      </a:lnTo>
                      <a:lnTo>
                        <a:pt x="15" y="13"/>
                      </a:lnTo>
                      <a:lnTo>
                        <a:pt x="1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8" name="Freeform 360"/>
                <p:cNvSpPr>
                  <a:spLocks/>
                </p:cNvSpPr>
                <p:nvPr/>
              </p:nvSpPr>
              <p:spPr bwMode="auto">
                <a:xfrm>
                  <a:off x="1389" y="1569"/>
                  <a:ext cx="15" cy="12"/>
                </a:xfrm>
                <a:custGeom>
                  <a:avLst/>
                  <a:gdLst>
                    <a:gd name="T0" fmla="*/ 12 w 15"/>
                    <a:gd name="T1" fmla="*/ 12 h 12"/>
                    <a:gd name="T2" fmla="*/ 12 w 15"/>
                    <a:gd name="T3" fmla="*/ 12 h 12"/>
                    <a:gd name="T4" fmla="*/ 15 w 15"/>
                    <a:gd name="T5" fmla="*/ 4 h 12"/>
                    <a:gd name="T6" fmla="*/ 0 w 15"/>
                    <a:gd name="T7" fmla="*/ 0 h 12"/>
                    <a:gd name="T8" fmla="*/ 0 w 15"/>
                    <a:gd name="T9" fmla="*/ 8 h 12"/>
                    <a:gd name="T10" fmla="*/ 0 w 15"/>
                    <a:gd name="T11" fmla="*/ 8 h 12"/>
                    <a:gd name="T12" fmla="*/ 12 w 15"/>
                    <a:gd name="T13" fmla="*/ 12 h 12"/>
                    <a:gd name="T14" fmla="*/ 12 w 15"/>
                    <a:gd name="T15" fmla="*/ 12 h 12"/>
                    <a:gd name="T16" fmla="*/ 12 w 15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5" y="4"/>
                      </a:ln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9" name="Freeform 361"/>
                <p:cNvSpPr>
                  <a:spLocks/>
                </p:cNvSpPr>
                <p:nvPr/>
              </p:nvSpPr>
              <p:spPr bwMode="auto">
                <a:xfrm>
                  <a:off x="1141" y="1577"/>
                  <a:ext cx="260" cy="1260"/>
                </a:xfrm>
                <a:custGeom>
                  <a:avLst/>
                  <a:gdLst>
                    <a:gd name="T0" fmla="*/ 12 w 260"/>
                    <a:gd name="T1" fmla="*/ 1260 h 1260"/>
                    <a:gd name="T2" fmla="*/ 12 w 260"/>
                    <a:gd name="T3" fmla="*/ 1260 h 1260"/>
                    <a:gd name="T4" fmla="*/ 260 w 260"/>
                    <a:gd name="T5" fmla="*/ 4 h 1260"/>
                    <a:gd name="T6" fmla="*/ 248 w 260"/>
                    <a:gd name="T7" fmla="*/ 0 h 1260"/>
                    <a:gd name="T8" fmla="*/ 0 w 260"/>
                    <a:gd name="T9" fmla="*/ 1256 h 1260"/>
                    <a:gd name="T10" fmla="*/ 0 w 260"/>
                    <a:gd name="T11" fmla="*/ 1256 h 1260"/>
                    <a:gd name="T12" fmla="*/ 12 w 260"/>
                    <a:gd name="T13" fmla="*/ 1260 h 1260"/>
                    <a:gd name="T14" fmla="*/ 12 w 260"/>
                    <a:gd name="T15" fmla="*/ 1260 h 1260"/>
                    <a:gd name="T16" fmla="*/ 12 w 260"/>
                    <a:gd name="T17" fmla="*/ 1260 h 1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0" h="1260">
                      <a:moveTo>
                        <a:pt x="12" y="1260"/>
                      </a:moveTo>
                      <a:lnTo>
                        <a:pt x="12" y="1260"/>
                      </a:lnTo>
                      <a:lnTo>
                        <a:pt x="260" y="4"/>
                      </a:lnTo>
                      <a:lnTo>
                        <a:pt x="248" y="0"/>
                      </a:lnTo>
                      <a:lnTo>
                        <a:pt x="0" y="1256"/>
                      </a:lnTo>
                      <a:lnTo>
                        <a:pt x="0" y="1256"/>
                      </a:lnTo>
                      <a:lnTo>
                        <a:pt x="12" y="1260"/>
                      </a:lnTo>
                      <a:lnTo>
                        <a:pt x="12" y="1260"/>
                      </a:lnTo>
                      <a:lnTo>
                        <a:pt x="12" y="12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0" name="Freeform 362"/>
                <p:cNvSpPr>
                  <a:spLocks/>
                </p:cNvSpPr>
                <p:nvPr/>
              </p:nvSpPr>
              <p:spPr bwMode="auto">
                <a:xfrm>
                  <a:off x="1138" y="2833"/>
                  <a:ext cx="15" cy="16"/>
                </a:xfrm>
                <a:custGeom>
                  <a:avLst/>
                  <a:gdLst>
                    <a:gd name="T0" fmla="*/ 12 w 15"/>
                    <a:gd name="T1" fmla="*/ 16 h 16"/>
                    <a:gd name="T2" fmla="*/ 15 w 15"/>
                    <a:gd name="T3" fmla="*/ 12 h 16"/>
                    <a:gd name="T4" fmla="*/ 15 w 15"/>
                    <a:gd name="T5" fmla="*/ 4 h 16"/>
                    <a:gd name="T6" fmla="*/ 3 w 15"/>
                    <a:gd name="T7" fmla="*/ 0 h 16"/>
                    <a:gd name="T8" fmla="*/ 0 w 15"/>
                    <a:gd name="T9" fmla="*/ 8 h 16"/>
                    <a:gd name="T10" fmla="*/ 0 w 15"/>
                    <a:gd name="T11" fmla="*/ 8 h 16"/>
                    <a:gd name="T12" fmla="*/ 12 w 15"/>
                    <a:gd name="T13" fmla="*/ 16 h 16"/>
                    <a:gd name="T14" fmla="*/ 12 w 15"/>
                    <a:gd name="T15" fmla="*/ 16 h 16"/>
                    <a:gd name="T16" fmla="*/ 15 w 15"/>
                    <a:gd name="T17" fmla="*/ 12 h 16"/>
                    <a:gd name="T18" fmla="*/ 12 w 15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6">
                      <a:moveTo>
                        <a:pt x="12" y="16"/>
                      </a:moveTo>
                      <a:lnTo>
                        <a:pt x="15" y="12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16"/>
                      </a:lnTo>
                      <a:lnTo>
                        <a:pt x="12" y="16"/>
                      </a:lnTo>
                      <a:lnTo>
                        <a:pt x="15" y="12"/>
                      </a:lnTo>
                      <a:lnTo>
                        <a:pt x="12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1" name="Freeform 363"/>
                <p:cNvSpPr>
                  <a:spLocks/>
                </p:cNvSpPr>
                <p:nvPr/>
              </p:nvSpPr>
              <p:spPr bwMode="auto">
                <a:xfrm>
                  <a:off x="1135" y="2841"/>
                  <a:ext cx="15" cy="17"/>
                </a:xfrm>
                <a:custGeom>
                  <a:avLst/>
                  <a:gdLst>
                    <a:gd name="T0" fmla="*/ 12 w 15"/>
                    <a:gd name="T1" fmla="*/ 17 h 17"/>
                    <a:gd name="T2" fmla="*/ 12 w 15"/>
                    <a:gd name="T3" fmla="*/ 17 h 17"/>
                    <a:gd name="T4" fmla="*/ 15 w 15"/>
                    <a:gd name="T5" fmla="*/ 8 h 17"/>
                    <a:gd name="T6" fmla="*/ 3 w 15"/>
                    <a:gd name="T7" fmla="*/ 0 h 17"/>
                    <a:gd name="T8" fmla="*/ 0 w 15"/>
                    <a:gd name="T9" fmla="*/ 8 h 17"/>
                    <a:gd name="T10" fmla="*/ 0 w 15"/>
                    <a:gd name="T11" fmla="*/ 4 h 17"/>
                    <a:gd name="T12" fmla="*/ 12 w 15"/>
                    <a:gd name="T13" fmla="*/ 17 h 17"/>
                    <a:gd name="T14" fmla="*/ 12 w 15"/>
                    <a:gd name="T15" fmla="*/ 17 h 17"/>
                    <a:gd name="T16" fmla="*/ 12 w 15"/>
                    <a:gd name="T17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7">
                      <a:moveTo>
                        <a:pt x="12" y="17"/>
                      </a:moveTo>
                      <a:lnTo>
                        <a:pt x="12" y="17"/>
                      </a:lnTo>
                      <a:lnTo>
                        <a:pt x="15" y="8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1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2" name="Freeform 364"/>
                <p:cNvSpPr>
                  <a:spLocks/>
                </p:cNvSpPr>
                <p:nvPr/>
              </p:nvSpPr>
              <p:spPr bwMode="auto">
                <a:xfrm>
                  <a:off x="1132" y="2845"/>
                  <a:ext cx="15" cy="21"/>
                </a:xfrm>
                <a:custGeom>
                  <a:avLst/>
                  <a:gdLst>
                    <a:gd name="T0" fmla="*/ 12 w 15"/>
                    <a:gd name="T1" fmla="*/ 21 h 21"/>
                    <a:gd name="T2" fmla="*/ 12 w 15"/>
                    <a:gd name="T3" fmla="*/ 21 h 21"/>
                    <a:gd name="T4" fmla="*/ 15 w 15"/>
                    <a:gd name="T5" fmla="*/ 13 h 21"/>
                    <a:gd name="T6" fmla="*/ 3 w 15"/>
                    <a:gd name="T7" fmla="*/ 0 h 21"/>
                    <a:gd name="T8" fmla="*/ 0 w 15"/>
                    <a:gd name="T9" fmla="*/ 8 h 21"/>
                    <a:gd name="T10" fmla="*/ 0 w 15"/>
                    <a:gd name="T11" fmla="*/ 8 h 21"/>
                    <a:gd name="T12" fmla="*/ 12 w 15"/>
                    <a:gd name="T13" fmla="*/ 21 h 21"/>
                    <a:gd name="T14" fmla="*/ 12 w 15"/>
                    <a:gd name="T15" fmla="*/ 21 h 21"/>
                    <a:gd name="T16" fmla="*/ 12 w 15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1">
                      <a:moveTo>
                        <a:pt x="12" y="21"/>
                      </a:moveTo>
                      <a:lnTo>
                        <a:pt x="12" y="21"/>
                      </a:lnTo>
                      <a:lnTo>
                        <a:pt x="15" y="13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3" name="Freeform 365"/>
                <p:cNvSpPr>
                  <a:spLocks/>
                </p:cNvSpPr>
                <p:nvPr/>
              </p:nvSpPr>
              <p:spPr bwMode="auto">
                <a:xfrm>
                  <a:off x="1129" y="2853"/>
                  <a:ext cx="15" cy="21"/>
                </a:xfrm>
                <a:custGeom>
                  <a:avLst/>
                  <a:gdLst>
                    <a:gd name="T0" fmla="*/ 12 w 15"/>
                    <a:gd name="T1" fmla="*/ 21 h 21"/>
                    <a:gd name="T2" fmla="*/ 12 w 15"/>
                    <a:gd name="T3" fmla="*/ 21 h 21"/>
                    <a:gd name="T4" fmla="*/ 15 w 15"/>
                    <a:gd name="T5" fmla="*/ 13 h 21"/>
                    <a:gd name="T6" fmla="*/ 3 w 15"/>
                    <a:gd name="T7" fmla="*/ 0 h 21"/>
                    <a:gd name="T8" fmla="*/ 0 w 15"/>
                    <a:gd name="T9" fmla="*/ 9 h 21"/>
                    <a:gd name="T10" fmla="*/ 0 w 15"/>
                    <a:gd name="T11" fmla="*/ 9 h 21"/>
                    <a:gd name="T12" fmla="*/ 12 w 15"/>
                    <a:gd name="T13" fmla="*/ 21 h 21"/>
                    <a:gd name="T14" fmla="*/ 12 w 15"/>
                    <a:gd name="T15" fmla="*/ 21 h 21"/>
                    <a:gd name="T16" fmla="*/ 12 w 15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21">
                      <a:moveTo>
                        <a:pt x="12" y="21"/>
                      </a:moveTo>
                      <a:lnTo>
                        <a:pt x="12" y="21"/>
                      </a:lnTo>
                      <a:lnTo>
                        <a:pt x="15" y="13"/>
                      </a:lnTo>
                      <a:lnTo>
                        <a:pt x="3" y="0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2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4" name="Freeform 366"/>
                <p:cNvSpPr>
                  <a:spLocks/>
                </p:cNvSpPr>
                <p:nvPr/>
              </p:nvSpPr>
              <p:spPr bwMode="auto">
                <a:xfrm>
                  <a:off x="1126" y="2862"/>
                  <a:ext cx="15" cy="20"/>
                </a:xfrm>
                <a:custGeom>
                  <a:avLst/>
                  <a:gdLst>
                    <a:gd name="T0" fmla="*/ 9 w 15"/>
                    <a:gd name="T1" fmla="*/ 20 h 20"/>
                    <a:gd name="T2" fmla="*/ 9 w 15"/>
                    <a:gd name="T3" fmla="*/ 16 h 20"/>
                    <a:gd name="T4" fmla="*/ 15 w 15"/>
                    <a:gd name="T5" fmla="*/ 12 h 20"/>
                    <a:gd name="T6" fmla="*/ 3 w 15"/>
                    <a:gd name="T7" fmla="*/ 0 h 20"/>
                    <a:gd name="T8" fmla="*/ 0 w 15"/>
                    <a:gd name="T9" fmla="*/ 8 h 20"/>
                    <a:gd name="T10" fmla="*/ 0 w 15"/>
                    <a:gd name="T11" fmla="*/ 4 h 20"/>
                    <a:gd name="T12" fmla="*/ 9 w 15"/>
                    <a:gd name="T13" fmla="*/ 20 h 20"/>
                    <a:gd name="T14" fmla="*/ 9 w 15"/>
                    <a:gd name="T15" fmla="*/ 20 h 20"/>
                    <a:gd name="T16" fmla="*/ 9 w 15"/>
                    <a:gd name="T17" fmla="*/ 16 h 20"/>
                    <a:gd name="T18" fmla="*/ 9 w 15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0">
                      <a:moveTo>
                        <a:pt x="9" y="20"/>
                      </a:moveTo>
                      <a:lnTo>
                        <a:pt x="9" y="16"/>
                      </a:lnTo>
                      <a:lnTo>
                        <a:pt x="15" y="12"/>
                      </a:lnTo>
                      <a:lnTo>
                        <a:pt x="3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9" y="20"/>
                      </a:lnTo>
                      <a:lnTo>
                        <a:pt x="9" y="20"/>
                      </a:lnTo>
                      <a:lnTo>
                        <a:pt x="9" y="16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5" name="Freeform 367"/>
                <p:cNvSpPr>
                  <a:spLocks/>
                </p:cNvSpPr>
                <p:nvPr/>
              </p:nvSpPr>
              <p:spPr bwMode="auto">
                <a:xfrm>
                  <a:off x="1120" y="2866"/>
                  <a:ext cx="15" cy="20"/>
                </a:xfrm>
                <a:custGeom>
                  <a:avLst/>
                  <a:gdLst>
                    <a:gd name="T0" fmla="*/ 9 w 15"/>
                    <a:gd name="T1" fmla="*/ 20 h 20"/>
                    <a:gd name="T2" fmla="*/ 9 w 15"/>
                    <a:gd name="T3" fmla="*/ 20 h 20"/>
                    <a:gd name="T4" fmla="*/ 15 w 15"/>
                    <a:gd name="T5" fmla="*/ 16 h 20"/>
                    <a:gd name="T6" fmla="*/ 6 w 15"/>
                    <a:gd name="T7" fmla="*/ 0 h 20"/>
                    <a:gd name="T8" fmla="*/ 0 w 15"/>
                    <a:gd name="T9" fmla="*/ 8 h 20"/>
                    <a:gd name="T10" fmla="*/ 0 w 15"/>
                    <a:gd name="T11" fmla="*/ 8 h 20"/>
                    <a:gd name="T12" fmla="*/ 9 w 15"/>
                    <a:gd name="T13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" h="20">
                      <a:moveTo>
                        <a:pt x="9" y="20"/>
                      </a:moveTo>
                      <a:lnTo>
                        <a:pt x="9" y="20"/>
                      </a:lnTo>
                      <a:lnTo>
                        <a:pt x="15" y="16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9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6" name="Freeform 368"/>
                <p:cNvSpPr>
                  <a:spLocks/>
                </p:cNvSpPr>
                <p:nvPr/>
              </p:nvSpPr>
              <p:spPr bwMode="auto">
                <a:xfrm>
                  <a:off x="1117" y="2874"/>
                  <a:ext cx="12" cy="21"/>
                </a:xfrm>
                <a:custGeom>
                  <a:avLst/>
                  <a:gdLst>
                    <a:gd name="T0" fmla="*/ 6 w 12"/>
                    <a:gd name="T1" fmla="*/ 21 h 21"/>
                    <a:gd name="T2" fmla="*/ 9 w 12"/>
                    <a:gd name="T3" fmla="*/ 21 h 21"/>
                    <a:gd name="T4" fmla="*/ 12 w 12"/>
                    <a:gd name="T5" fmla="*/ 12 h 21"/>
                    <a:gd name="T6" fmla="*/ 3 w 12"/>
                    <a:gd name="T7" fmla="*/ 0 h 21"/>
                    <a:gd name="T8" fmla="*/ 0 w 12"/>
                    <a:gd name="T9" fmla="*/ 4 h 21"/>
                    <a:gd name="T10" fmla="*/ 0 w 12"/>
                    <a:gd name="T11" fmla="*/ 4 h 21"/>
                    <a:gd name="T12" fmla="*/ 6 w 12"/>
                    <a:gd name="T13" fmla="*/ 21 h 21"/>
                    <a:gd name="T14" fmla="*/ 9 w 12"/>
                    <a:gd name="T15" fmla="*/ 21 h 21"/>
                    <a:gd name="T16" fmla="*/ 9 w 12"/>
                    <a:gd name="T17" fmla="*/ 21 h 21"/>
                    <a:gd name="T18" fmla="*/ 6 w 12"/>
                    <a:gd name="T1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1">
                      <a:moveTo>
                        <a:pt x="6" y="21"/>
                      </a:moveTo>
                      <a:lnTo>
                        <a:pt x="9" y="21"/>
                      </a:lnTo>
                      <a:lnTo>
                        <a:pt x="12" y="12"/>
                      </a:lnTo>
                      <a:lnTo>
                        <a:pt x="3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6" y="21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6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7" name="Freeform 369"/>
                <p:cNvSpPr>
                  <a:spLocks/>
                </p:cNvSpPr>
                <p:nvPr/>
              </p:nvSpPr>
              <p:spPr bwMode="auto">
                <a:xfrm>
                  <a:off x="1111" y="2878"/>
                  <a:ext cx="12" cy="25"/>
                </a:xfrm>
                <a:custGeom>
                  <a:avLst/>
                  <a:gdLst>
                    <a:gd name="T0" fmla="*/ 6 w 12"/>
                    <a:gd name="T1" fmla="*/ 25 h 25"/>
                    <a:gd name="T2" fmla="*/ 9 w 12"/>
                    <a:gd name="T3" fmla="*/ 21 h 25"/>
                    <a:gd name="T4" fmla="*/ 12 w 12"/>
                    <a:gd name="T5" fmla="*/ 17 h 25"/>
                    <a:gd name="T6" fmla="*/ 6 w 12"/>
                    <a:gd name="T7" fmla="*/ 0 h 25"/>
                    <a:gd name="T8" fmla="*/ 0 w 12"/>
                    <a:gd name="T9" fmla="*/ 8 h 25"/>
                    <a:gd name="T10" fmla="*/ 0 w 12"/>
                    <a:gd name="T11" fmla="*/ 4 h 25"/>
                    <a:gd name="T12" fmla="*/ 6 w 12"/>
                    <a:gd name="T13" fmla="*/ 25 h 25"/>
                    <a:gd name="T14" fmla="*/ 9 w 12"/>
                    <a:gd name="T15" fmla="*/ 21 h 25"/>
                    <a:gd name="T16" fmla="*/ 9 w 12"/>
                    <a:gd name="T17" fmla="*/ 21 h 25"/>
                    <a:gd name="T18" fmla="*/ 6 w 12"/>
                    <a:gd name="T1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5">
                      <a:moveTo>
                        <a:pt x="6" y="25"/>
                      </a:moveTo>
                      <a:lnTo>
                        <a:pt x="9" y="21"/>
                      </a:lnTo>
                      <a:lnTo>
                        <a:pt x="12" y="17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6" y="25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6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8" name="Freeform 370"/>
                <p:cNvSpPr>
                  <a:spLocks/>
                </p:cNvSpPr>
                <p:nvPr/>
              </p:nvSpPr>
              <p:spPr bwMode="auto">
                <a:xfrm>
                  <a:off x="1105" y="2882"/>
                  <a:ext cx="12" cy="25"/>
                </a:xfrm>
                <a:custGeom>
                  <a:avLst/>
                  <a:gdLst>
                    <a:gd name="T0" fmla="*/ 6 w 12"/>
                    <a:gd name="T1" fmla="*/ 25 h 25"/>
                    <a:gd name="T2" fmla="*/ 6 w 12"/>
                    <a:gd name="T3" fmla="*/ 25 h 25"/>
                    <a:gd name="T4" fmla="*/ 12 w 12"/>
                    <a:gd name="T5" fmla="*/ 21 h 25"/>
                    <a:gd name="T6" fmla="*/ 6 w 12"/>
                    <a:gd name="T7" fmla="*/ 0 h 25"/>
                    <a:gd name="T8" fmla="*/ 0 w 12"/>
                    <a:gd name="T9" fmla="*/ 8 h 25"/>
                    <a:gd name="T10" fmla="*/ 0 w 12"/>
                    <a:gd name="T11" fmla="*/ 8 h 25"/>
                    <a:gd name="T12" fmla="*/ 6 w 12"/>
                    <a:gd name="T13" fmla="*/ 25 h 25"/>
                    <a:gd name="T14" fmla="*/ 6 w 12"/>
                    <a:gd name="T15" fmla="*/ 25 h 25"/>
                    <a:gd name="T16" fmla="*/ 6 w 12"/>
                    <a:gd name="T17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5">
                      <a:moveTo>
                        <a:pt x="6" y="25"/>
                      </a:moveTo>
                      <a:lnTo>
                        <a:pt x="6" y="25"/>
                      </a:lnTo>
                      <a:lnTo>
                        <a:pt x="12" y="21"/>
                      </a:lnTo>
                      <a:lnTo>
                        <a:pt x="6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6" y="25"/>
                      </a:lnTo>
                      <a:lnTo>
                        <a:pt x="6" y="25"/>
                      </a:lnTo>
                      <a:lnTo>
                        <a:pt x="6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9" name="Freeform 371"/>
                <p:cNvSpPr>
                  <a:spLocks/>
                </p:cNvSpPr>
                <p:nvPr/>
              </p:nvSpPr>
              <p:spPr bwMode="auto">
                <a:xfrm>
                  <a:off x="1099" y="2890"/>
                  <a:ext cx="12" cy="21"/>
                </a:xfrm>
                <a:custGeom>
                  <a:avLst/>
                  <a:gdLst>
                    <a:gd name="T0" fmla="*/ 6 w 12"/>
                    <a:gd name="T1" fmla="*/ 21 h 21"/>
                    <a:gd name="T2" fmla="*/ 6 w 12"/>
                    <a:gd name="T3" fmla="*/ 21 h 21"/>
                    <a:gd name="T4" fmla="*/ 12 w 12"/>
                    <a:gd name="T5" fmla="*/ 17 h 21"/>
                    <a:gd name="T6" fmla="*/ 6 w 12"/>
                    <a:gd name="T7" fmla="*/ 0 h 21"/>
                    <a:gd name="T8" fmla="*/ 0 w 12"/>
                    <a:gd name="T9" fmla="*/ 5 h 21"/>
                    <a:gd name="T10" fmla="*/ 0 w 12"/>
                    <a:gd name="T11" fmla="*/ 5 h 21"/>
                    <a:gd name="T12" fmla="*/ 6 w 12"/>
                    <a:gd name="T13" fmla="*/ 21 h 21"/>
                    <a:gd name="T14" fmla="*/ 6 w 12"/>
                    <a:gd name="T15" fmla="*/ 21 h 21"/>
                    <a:gd name="T16" fmla="*/ 6 w 12"/>
                    <a:gd name="T17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1">
                      <a:moveTo>
                        <a:pt x="6" y="21"/>
                      </a:moveTo>
                      <a:lnTo>
                        <a:pt x="6" y="21"/>
                      </a:lnTo>
                      <a:lnTo>
                        <a:pt x="12" y="17"/>
                      </a:lnTo>
                      <a:lnTo>
                        <a:pt x="6" y="0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6" y="21"/>
                      </a:lnTo>
                      <a:lnTo>
                        <a:pt x="6" y="21"/>
                      </a:lnTo>
                      <a:lnTo>
                        <a:pt x="6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0" name="Freeform 372"/>
                <p:cNvSpPr>
                  <a:spLocks/>
                </p:cNvSpPr>
                <p:nvPr/>
              </p:nvSpPr>
              <p:spPr bwMode="auto">
                <a:xfrm>
                  <a:off x="1093" y="2895"/>
                  <a:ext cx="12" cy="20"/>
                </a:xfrm>
                <a:custGeom>
                  <a:avLst/>
                  <a:gdLst>
                    <a:gd name="T0" fmla="*/ 3 w 12"/>
                    <a:gd name="T1" fmla="*/ 20 h 20"/>
                    <a:gd name="T2" fmla="*/ 6 w 12"/>
                    <a:gd name="T3" fmla="*/ 20 h 20"/>
                    <a:gd name="T4" fmla="*/ 12 w 12"/>
                    <a:gd name="T5" fmla="*/ 16 h 20"/>
                    <a:gd name="T6" fmla="*/ 6 w 12"/>
                    <a:gd name="T7" fmla="*/ 0 h 20"/>
                    <a:gd name="T8" fmla="*/ 0 w 12"/>
                    <a:gd name="T9" fmla="*/ 4 h 20"/>
                    <a:gd name="T10" fmla="*/ 0 w 12"/>
                    <a:gd name="T11" fmla="*/ 4 h 20"/>
                    <a:gd name="T12" fmla="*/ 3 w 12"/>
                    <a:gd name="T13" fmla="*/ 20 h 20"/>
                    <a:gd name="T14" fmla="*/ 6 w 12"/>
                    <a:gd name="T15" fmla="*/ 20 h 20"/>
                    <a:gd name="T16" fmla="*/ 6 w 12"/>
                    <a:gd name="T17" fmla="*/ 20 h 20"/>
                    <a:gd name="T18" fmla="*/ 3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3" y="20"/>
                      </a:moveTo>
                      <a:lnTo>
                        <a:pt x="6" y="20"/>
                      </a:lnTo>
                      <a:lnTo>
                        <a:pt x="12" y="16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20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1" name="Freeform 373"/>
                <p:cNvSpPr>
                  <a:spLocks/>
                </p:cNvSpPr>
                <p:nvPr/>
              </p:nvSpPr>
              <p:spPr bwMode="auto">
                <a:xfrm>
                  <a:off x="1087" y="2899"/>
                  <a:ext cx="9" cy="20"/>
                </a:xfrm>
                <a:custGeom>
                  <a:avLst/>
                  <a:gdLst>
                    <a:gd name="T0" fmla="*/ 3 w 9"/>
                    <a:gd name="T1" fmla="*/ 20 h 20"/>
                    <a:gd name="T2" fmla="*/ 3 w 9"/>
                    <a:gd name="T3" fmla="*/ 20 h 20"/>
                    <a:gd name="T4" fmla="*/ 9 w 9"/>
                    <a:gd name="T5" fmla="*/ 16 h 20"/>
                    <a:gd name="T6" fmla="*/ 6 w 9"/>
                    <a:gd name="T7" fmla="*/ 0 h 20"/>
                    <a:gd name="T8" fmla="*/ 0 w 9"/>
                    <a:gd name="T9" fmla="*/ 4 h 20"/>
                    <a:gd name="T10" fmla="*/ 0 w 9"/>
                    <a:gd name="T11" fmla="*/ 0 h 20"/>
                    <a:gd name="T12" fmla="*/ 3 w 9"/>
                    <a:gd name="T13" fmla="*/ 20 h 20"/>
                    <a:gd name="T14" fmla="*/ 3 w 9"/>
                    <a:gd name="T15" fmla="*/ 20 h 20"/>
                    <a:gd name="T16" fmla="*/ 3 w 9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0">
                      <a:moveTo>
                        <a:pt x="3" y="20"/>
                      </a:moveTo>
                      <a:lnTo>
                        <a:pt x="3" y="20"/>
                      </a:lnTo>
                      <a:lnTo>
                        <a:pt x="9" y="16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2" name="Freeform 374"/>
                <p:cNvSpPr>
                  <a:spLocks/>
                </p:cNvSpPr>
                <p:nvPr/>
              </p:nvSpPr>
              <p:spPr bwMode="auto">
                <a:xfrm>
                  <a:off x="1078" y="2899"/>
                  <a:ext cx="12" cy="24"/>
                </a:xfrm>
                <a:custGeom>
                  <a:avLst/>
                  <a:gdLst>
                    <a:gd name="T0" fmla="*/ 3 w 12"/>
                    <a:gd name="T1" fmla="*/ 24 h 24"/>
                    <a:gd name="T2" fmla="*/ 6 w 12"/>
                    <a:gd name="T3" fmla="*/ 24 h 24"/>
                    <a:gd name="T4" fmla="*/ 12 w 12"/>
                    <a:gd name="T5" fmla="*/ 20 h 24"/>
                    <a:gd name="T6" fmla="*/ 9 w 12"/>
                    <a:gd name="T7" fmla="*/ 0 h 24"/>
                    <a:gd name="T8" fmla="*/ 0 w 12"/>
                    <a:gd name="T9" fmla="*/ 4 h 24"/>
                    <a:gd name="T10" fmla="*/ 0 w 12"/>
                    <a:gd name="T11" fmla="*/ 4 h 24"/>
                    <a:gd name="T12" fmla="*/ 3 w 12"/>
                    <a:gd name="T13" fmla="*/ 24 h 24"/>
                    <a:gd name="T14" fmla="*/ 6 w 12"/>
                    <a:gd name="T15" fmla="*/ 24 h 24"/>
                    <a:gd name="T16" fmla="*/ 6 w 12"/>
                    <a:gd name="T17" fmla="*/ 24 h 24"/>
                    <a:gd name="T18" fmla="*/ 3 w 12"/>
                    <a:gd name="T19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4">
                      <a:moveTo>
                        <a:pt x="3" y="24"/>
                      </a:moveTo>
                      <a:lnTo>
                        <a:pt x="6" y="24"/>
                      </a:lnTo>
                      <a:lnTo>
                        <a:pt x="12" y="20"/>
                      </a:lnTo>
                      <a:lnTo>
                        <a:pt x="9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24"/>
                      </a:lnTo>
                      <a:lnTo>
                        <a:pt x="6" y="24"/>
                      </a:lnTo>
                      <a:lnTo>
                        <a:pt x="6" y="24"/>
                      </a:lnTo>
                      <a:lnTo>
                        <a:pt x="3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3" name="Freeform 375"/>
                <p:cNvSpPr>
                  <a:spLocks/>
                </p:cNvSpPr>
                <p:nvPr/>
              </p:nvSpPr>
              <p:spPr bwMode="auto">
                <a:xfrm>
                  <a:off x="1072" y="2903"/>
                  <a:ext cx="9" cy="20"/>
                </a:xfrm>
                <a:custGeom>
                  <a:avLst/>
                  <a:gdLst>
                    <a:gd name="T0" fmla="*/ 3 w 9"/>
                    <a:gd name="T1" fmla="*/ 20 h 20"/>
                    <a:gd name="T2" fmla="*/ 3 w 9"/>
                    <a:gd name="T3" fmla="*/ 20 h 20"/>
                    <a:gd name="T4" fmla="*/ 9 w 9"/>
                    <a:gd name="T5" fmla="*/ 20 h 20"/>
                    <a:gd name="T6" fmla="*/ 6 w 9"/>
                    <a:gd name="T7" fmla="*/ 0 h 20"/>
                    <a:gd name="T8" fmla="*/ 0 w 9"/>
                    <a:gd name="T9" fmla="*/ 4 h 20"/>
                    <a:gd name="T10" fmla="*/ 0 w 9"/>
                    <a:gd name="T11" fmla="*/ 4 h 20"/>
                    <a:gd name="T12" fmla="*/ 3 w 9"/>
                    <a:gd name="T13" fmla="*/ 20 h 20"/>
                    <a:gd name="T14" fmla="*/ 3 w 9"/>
                    <a:gd name="T15" fmla="*/ 20 h 20"/>
                    <a:gd name="T16" fmla="*/ 3 w 9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0">
                      <a:moveTo>
                        <a:pt x="3" y="20"/>
                      </a:moveTo>
                      <a:lnTo>
                        <a:pt x="3" y="20"/>
                      </a:lnTo>
                      <a:lnTo>
                        <a:pt x="9" y="2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20"/>
                      </a:lnTo>
                      <a:lnTo>
                        <a:pt x="3" y="20"/>
                      </a:lnTo>
                      <a:lnTo>
                        <a:pt x="3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4" name="Freeform 376"/>
                <p:cNvSpPr>
                  <a:spLocks/>
                </p:cNvSpPr>
                <p:nvPr/>
              </p:nvSpPr>
              <p:spPr bwMode="auto">
                <a:xfrm>
                  <a:off x="1066" y="2907"/>
                  <a:ext cx="9" cy="20"/>
                </a:xfrm>
                <a:custGeom>
                  <a:avLst/>
                  <a:gdLst>
                    <a:gd name="T0" fmla="*/ 0 w 9"/>
                    <a:gd name="T1" fmla="*/ 16 h 20"/>
                    <a:gd name="T2" fmla="*/ 0 w 9"/>
                    <a:gd name="T3" fmla="*/ 16 h 20"/>
                    <a:gd name="T4" fmla="*/ 9 w 9"/>
                    <a:gd name="T5" fmla="*/ 16 h 20"/>
                    <a:gd name="T6" fmla="*/ 6 w 9"/>
                    <a:gd name="T7" fmla="*/ 0 h 20"/>
                    <a:gd name="T8" fmla="*/ 0 w 9"/>
                    <a:gd name="T9" fmla="*/ 0 h 20"/>
                    <a:gd name="T10" fmla="*/ 0 w 9"/>
                    <a:gd name="T11" fmla="*/ 0 h 20"/>
                    <a:gd name="T12" fmla="*/ 0 w 9"/>
                    <a:gd name="T13" fmla="*/ 20 h 20"/>
                    <a:gd name="T14" fmla="*/ 0 w 9"/>
                    <a:gd name="T15" fmla="*/ 16 h 20"/>
                    <a:gd name="T16" fmla="*/ 0 w 9"/>
                    <a:gd name="T17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5" name="Freeform 377"/>
                <p:cNvSpPr>
                  <a:spLocks/>
                </p:cNvSpPr>
                <p:nvPr/>
              </p:nvSpPr>
              <p:spPr bwMode="auto">
                <a:xfrm>
                  <a:off x="1057" y="2907"/>
                  <a:ext cx="9" cy="20"/>
                </a:xfrm>
                <a:custGeom>
                  <a:avLst/>
                  <a:gdLst>
                    <a:gd name="T0" fmla="*/ 0 w 9"/>
                    <a:gd name="T1" fmla="*/ 20 h 20"/>
                    <a:gd name="T2" fmla="*/ 3 w 9"/>
                    <a:gd name="T3" fmla="*/ 20 h 20"/>
                    <a:gd name="T4" fmla="*/ 9 w 9"/>
                    <a:gd name="T5" fmla="*/ 16 h 20"/>
                    <a:gd name="T6" fmla="*/ 9 w 9"/>
                    <a:gd name="T7" fmla="*/ 0 h 20"/>
                    <a:gd name="T8" fmla="*/ 0 w 9"/>
                    <a:gd name="T9" fmla="*/ 0 h 20"/>
                    <a:gd name="T10" fmla="*/ 0 w 9"/>
                    <a:gd name="T11" fmla="*/ 0 h 20"/>
                    <a:gd name="T12" fmla="*/ 0 w 9"/>
                    <a:gd name="T13" fmla="*/ 20 h 20"/>
                    <a:gd name="T14" fmla="*/ 0 w 9"/>
                    <a:gd name="T15" fmla="*/ 20 h 20"/>
                    <a:gd name="T16" fmla="*/ 3 w 9"/>
                    <a:gd name="T17" fmla="*/ 20 h 20"/>
                    <a:gd name="T18" fmla="*/ 0 w 9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20">
                      <a:moveTo>
                        <a:pt x="0" y="20"/>
                      </a:moveTo>
                      <a:lnTo>
                        <a:pt x="3" y="20"/>
                      </a:lnTo>
                      <a:lnTo>
                        <a:pt x="9" y="16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3" y="2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6" name="Freeform 378"/>
                <p:cNvSpPr>
                  <a:spLocks/>
                </p:cNvSpPr>
                <p:nvPr/>
              </p:nvSpPr>
              <p:spPr bwMode="auto">
                <a:xfrm>
                  <a:off x="259" y="2907"/>
                  <a:ext cx="798" cy="20"/>
                </a:xfrm>
                <a:custGeom>
                  <a:avLst/>
                  <a:gdLst>
                    <a:gd name="T0" fmla="*/ 0 w 798"/>
                    <a:gd name="T1" fmla="*/ 20 h 20"/>
                    <a:gd name="T2" fmla="*/ 0 w 798"/>
                    <a:gd name="T3" fmla="*/ 20 h 20"/>
                    <a:gd name="T4" fmla="*/ 798 w 798"/>
                    <a:gd name="T5" fmla="*/ 20 h 20"/>
                    <a:gd name="T6" fmla="*/ 798 w 798"/>
                    <a:gd name="T7" fmla="*/ 0 h 20"/>
                    <a:gd name="T8" fmla="*/ 0 w 798"/>
                    <a:gd name="T9" fmla="*/ 0 h 20"/>
                    <a:gd name="T10" fmla="*/ 0 w 798"/>
                    <a:gd name="T11" fmla="*/ 0 h 20"/>
                    <a:gd name="T12" fmla="*/ 0 w 798"/>
                    <a:gd name="T13" fmla="*/ 20 h 20"/>
                    <a:gd name="T14" fmla="*/ 0 w 798"/>
                    <a:gd name="T15" fmla="*/ 20 h 20"/>
                    <a:gd name="T16" fmla="*/ 0 w 798"/>
                    <a:gd name="T17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98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798" y="20"/>
                      </a:lnTo>
                      <a:lnTo>
                        <a:pt x="79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" name="Freeform 379"/>
                <p:cNvSpPr>
                  <a:spLocks/>
                </p:cNvSpPr>
                <p:nvPr/>
              </p:nvSpPr>
              <p:spPr bwMode="auto">
                <a:xfrm>
                  <a:off x="249" y="2907"/>
                  <a:ext cx="10" cy="20"/>
                </a:xfrm>
                <a:custGeom>
                  <a:avLst/>
                  <a:gdLst>
                    <a:gd name="T0" fmla="*/ 0 w 10"/>
                    <a:gd name="T1" fmla="*/ 16 h 20"/>
                    <a:gd name="T2" fmla="*/ 0 w 10"/>
                    <a:gd name="T3" fmla="*/ 16 h 20"/>
                    <a:gd name="T4" fmla="*/ 10 w 10"/>
                    <a:gd name="T5" fmla="*/ 20 h 20"/>
                    <a:gd name="T6" fmla="*/ 10 w 10"/>
                    <a:gd name="T7" fmla="*/ 0 h 20"/>
                    <a:gd name="T8" fmla="*/ 3 w 10"/>
                    <a:gd name="T9" fmla="*/ 0 h 20"/>
                    <a:gd name="T10" fmla="*/ 3 w 10"/>
                    <a:gd name="T11" fmla="*/ 0 h 20"/>
                    <a:gd name="T12" fmla="*/ 0 w 10"/>
                    <a:gd name="T13" fmla="*/ 16 h 20"/>
                    <a:gd name="T14" fmla="*/ 0 w 10"/>
                    <a:gd name="T15" fmla="*/ 16 h 20"/>
                    <a:gd name="T16" fmla="*/ 0 w 10"/>
                    <a:gd name="T17" fmla="*/ 20 h 20"/>
                    <a:gd name="T18" fmla="*/ 0 w 10"/>
                    <a:gd name="T19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10" y="20"/>
                      </a:lnTo>
                      <a:lnTo>
                        <a:pt x="10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2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8" name="Freeform 380"/>
                <p:cNvSpPr>
                  <a:spLocks/>
                </p:cNvSpPr>
                <p:nvPr/>
              </p:nvSpPr>
              <p:spPr bwMode="auto">
                <a:xfrm>
                  <a:off x="243" y="2907"/>
                  <a:ext cx="9" cy="16"/>
                </a:xfrm>
                <a:custGeom>
                  <a:avLst/>
                  <a:gdLst>
                    <a:gd name="T0" fmla="*/ 0 w 9"/>
                    <a:gd name="T1" fmla="*/ 16 h 16"/>
                    <a:gd name="T2" fmla="*/ 0 w 9"/>
                    <a:gd name="T3" fmla="*/ 16 h 16"/>
                    <a:gd name="T4" fmla="*/ 6 w 9"/>
                    <a:gd name="T5" fmla="*/ 16 h 16"/>
                    <a:gd name="T6" fmla="*/ 9 w 9"/>
                    <a:gd name="T7" fmla="*/ 0 h 16"/>
                    <a:gd name="T8" fmla="*/ 0 w 9"/>
                    <a:gd name="T9" fmla="*/ 0 h 16"/>
                    <a:gd name="T10" fmla="*/ 3 w 9"/>
                    <a:gd name="T11" fmla="*/ 0 h 16"/>
                    <a:gd name="T12" fmla="*/ 0 w 9"/>
                    <a:gd name="T13" fmla="*/ 16 h 16"/>
                    <a:gd name="T14" fmla="*/ 0 w 9"/>
                    <a:gd name="T15" fmla="*/ 16 h 16"/>
                    <a:gd name="T16" fmla="*/ 0 w 9"/>
                    <a:gd name="T1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6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16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9" name="Freeform 381"/>
                <p:cNvSpPr>
                  <a:spLocks/>
                </p:cNvSpPr>
                <p:nvPr/>
              </p:nvSpPr>
              <p:spPr bwMode="auto">
                <a:xfrm>
                  <a:off x="234" y="2903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3 w 12"/>
                    <a:gd name="T3" fmla="*/ 20 h 20"/>
                    <a:gd name="T4" fmla="*/ 9 w 12"/>
                    <a:gd name="T5" fmla="*/ 20 h 20"/>
                    <a:gd name="T6" fmla="*/ 12 w 12"/>
                    <a:gd name="T7" fmla="*/ 4 h 20"/>
                    <a:gd name="T8" fmla="*/ 3 w 12"/>
                    <a:gd name="T9" fmla="*/ 0 h 20"/>
                    <a:gd name="T10" fmla="*/ 6 w 12"/>
                    <a:gd name="T11" fmla="*/ 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3 w 12"/>
                    <a:gd name="T17" fmla="*/ 20 h 20"/>
                    <a:gd name="T18" fmla="*/ 0 w 12"/>
                    <a:gd name="T1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20">
                      <a:moveTo>
                        <a:pt x="0" y="20"/>
                      </a:moveTo>
                      <a:lnTo>
                        <a:pt x="3" y="20"/>
                      </a:lnTo>
                      <a:lnTo>
                        <a:pt x="9" y="20"/>
                      </a:lnTo>
                      <a:lnTo>
                        <a:pt x="12" y="4"/>
                      </a:lnTo>
                      <a:lnTo>
                        <a:pt x="3" y="0"/>
                      </a:lnTo>
                      <a:lnTo>
                        <a:pt x="6" y="0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3" y="2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0" name="Freeform 382"/>
                <p:cNvSpPr>
                  <a:spLocks/>
                </p:cNvSpPr>
                <p:nvPr/>
              </p:nvSpPr>
              <p:spPr bwMode="auto">
                <a:xfrm>
                  <a:off x="228" y="2903"/>
                  <a:ext cx="12" cy="20"/>
                </a:xfrm>
                <a:custGeom>
                  <a:avLst/>
                  <a:gdLst>
                    <a:gd name="T0" fmla="*/ 0 w 12"/>
                    <a:gd name="T1" fmla="*/ 16 h 20"/>
                    <a:gd name="T2" fmla="*/ 0 w 12"/>
                    <a:gd name="T3" fmla="*/ 16 h 20"/>
                    <a:gd name="T4" fmla="*/ 6 w 12"/>
                    <a:gd name="T5" fmla="*/ 20 h 20"/>
                    <a:gd name="T6" fmla="*/ 12 w 12"/>
                    <a:gd name="T7" fmla="*/ 0 h 20"/>
                    <a:gd name="T8" fmla="*/ 6 w 12"/>
                    <a:gd name="T9" fmla="*/ 0 h 20"/>
                    <a:gd name="T10" fmla="*/ 6 w 12"/>
                    <a:gd name="T11" fmla="*/ 0 h 20"/>
                    <a:gd name="T12" fmla="*/ 0 w 12"/>
                    <a:gd name="T13" fmla="*/ 16 h 20"/>
                    <a:gd name="T14" fmla="*/ 0 w 12"/>
                    <a:gd name="T15" fmla="*/ 16 h 20"/>
                    <a:gd name="T16" fmla="*/ 0 w 12"/>
                    <a:gd name="T17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1" name="Freeform 383"/>
                <p:cNvSpPr>
                  <a:spLocks/>
                </p:cNvSpPr>
                <p:nvPr/>
              </p:nvSpPr>
              <p:spPr bwMode="auto">
                <a:xfrm>
                  <a:off x="222" y="2899"/>
                  <a:ext cx="12" cy="20"/>
                </a:xfrm>
                <a:custGeom>
                  <a:avLst/>
                  <a:gdLst>
                    <a:gd name="T0" fmla="*/ 0 w 12"/>
                    <a:gd name="T1" fmla="*/ 16 h 20"/>
                    <a:gd name="T2" fmla="*/ 0 w 12"/>
                    <a:gd name="T3" fmla="*/ 16 h 20"/>
                    <a:gd name="T4" fmla="*/ 6 w 12"/>
                    <a:gd name="T5" fmla="*/ 20 h 20"/>
                    <a:gd name="T6" fmla="*/ 12 w 12"/>
                    <a:gd name="T7" fmla="*/ 4 h 20"/>
                    <a:gd name="T8" fmla="*/ 6 w 12"/>
                    <a:gd name="T9" fmla="*/ 0 h 20"/>
                    <a:gd name="T10" fmla="*/ 6 w 12"/>
                    <a:gd name="T11" fmla="*/ 0 h 20"/>
                    <a:gd name="T12" fmla="*/ 0 w 12"/>
                    <a:gd name="T13" fmla="*/ 16 h 20"/>
                    <a:gd name="T14" fmla="*/ 0 w 12"/>
                    <a:gd name="T15" fmla="*/ 16 h 20"/>
                    <a:gd name="T16" fmla="*/ 0 w 12"/>
                    <a:gd name="T17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2" name="Freeform 384"/>
                <p:cNvSpPr>
                  <a:spLocks/>
                </p:cNvSpPr>
                <p:nvPr/>
              </p:nvSpPr>
              <p:spPr bwMode="auto">
                <a:xfrm>
                  <a:off x="216" y="2895"/>
                  <a:ext cx="12" cy="20"/>
                </a:xfrm>
                <a:custGeom>
                  <a:avLst/>
                  <a:gdLst>
                    <a:gd name="T0" fmla="*/ 0 w 12"/>
                    <a:gd name="T1" fmla="*/ 16 h 20"/>
                    <a:gd name="T2" fmla="*/ 0 w 12"/>
                    <a:gd name="T3" fmla="*/ 16 h 20"/>
                    <a:gd name="T4" fmla="*/ 6 w 12"/>
                    <a:gd name="T5" fmla="*/ 20 h 20"/>
                    <a:gd name="T6" fmla="*/ 12 w 12"/>
                    <a:gd name="T7" fmla="*/ 4 h 20"/>
                    <a:gd name="T8" fmla="*/ 6 w 12"/>
                    <a:gd name="T9" fmla="*/ 0 h 20"/>
                    <a:gd name="T10" fmla="*/ 9 w 12"/>
                    <a:gd name="T11" fmla="*/ 0 h 20"/>
                    <a:gd name="T12" fmla="*/ 0 w 12"/>
                    <a:gd name="T13" fmla="*/ 16 h 20"/>
                    <a:gd name="T14" fmla="*/ 0 w 12"/>
                    <a:gd name="T15" fmla="*/ 16 h 20"/>
                    <a:gd name="T16" fmla="*/ 0 w 12"/>
                    <a:gd name="T17" fmla="*/ 16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20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6" y="20"/>
                      </a:lnTo>
                      <a:lnTo>
                        <a:pt x="12" y="4"/>
                      </a:lnTo>
                      <a:lnTo>
                        <a:pt x="6" y="0"/>
                      </a:lnTo>
                      <a:lnTo>
                        <a:pt x="9" y="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3" name="Freeform 385"/>
                <p:cNvSpPr>
                  <a:spLocks/>
                </p:cNvSpPr>
                <p:nvPr/>
              </p:nvSpPr>
              <p:spPr bwMode="auto">
                <a:xfrm>
                  <a:off x="210" y="2890"/>
                  <a:ext cx="15" cy="21"/>
                </a:xfrm>
                <a:custGeom>
                  <a:avLst/>
                  <a:gdLst>
                    <a:gd name="T0" fmla="*/ 0 w 15"/>
                    <a:gd name="T1" fmla="*/ 13 h 21"/>
                    <a:gd name="T2" fmla="*/ 0 w 15"/>
                    <a:gd name="T3" fmla="*/ 17 h 21"/>
                    <a:gd name="T4" fmla="*/ 6 w 15"/>
                    <a:gd name="T5" fmla="*/ 21 h 21"/>
                    <a:gd name="T6" fmla="*/ 15 w 15"/>
                    <a:gd name="T7" fmla="*/ 5 h 21"/>
                    <a:gd name="T8" fmla="*/ 9 w 15"/>
                    <a:gd name="T9" fmla="*/ 0 h 21"/>
                    <a:gd name="T10" fmla="*/ 9 w 15"/>
                    <a:gd name="T11" fmla="*/ 0 h 21"/>
                    <a:gd name="T12" fmla="*/ 0 w 15"/>
                    <a:gd name="T13" fmla="*/ 13 h 21"/>
                    <a:gd name="T14" fmla="*/ 0 w 15"/>
                    <a:gd name="T15" fmla="*/ 17 h 21"/>
                    <a:gd name="T16" fmla="*/ 0 w 15"/>
                    <a:gd name="T17" fmla="*/ 17 h 21"/>
                    <a:gd name="T18" fmla="*/ 0 w 15"/>
                    <a:gd name="T19" fmla="*/ 13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21">
                      <a:moveTo>
                        <a:pt x="0" y="13"/>
                      </a:moveTo>
                      <a:lnTo>
                        <a:pt x="0" y="17"/>
                      </a:lnTo>
                      <a:lnTo>
                        <a:pt x="6" y="21"/>
                      </a:lnTo>
                      <a:lnTo>
                        <a:pt x="15" y="5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3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4" name="Freeform 386"/>
                <p:cNvSpPr>
                  <a:spLocks/>
                </p:cNvSpPr>
                <p:nvPr/>
              </p:nvSpPr>
              <p:spPr bwMode="auto">
                <a:xfrm>
                  <a:off x="207" y="2886"/>
                  <a:ext cx="12" cy="17"/>
                </a:xfrm>
                <a:custGeom>
                  <a:avLst/>
                  <a:gdLst>
                    <a:gd name="T0" fmla="*/ 0 w 12"/>
                    <a:gd name="T1" fmla="*/ 13 h 17"/>
                    <a:gd name="T2" fmla="*/ 0 w 12"/>
                    <a:gd name="T3" fmla="*/ 13 h 17"/>
                    <a:gd name="T4" fmla="*/ 3 w 12"/>
                    <a:gd name="T5" fmla="*/ 17 h 17"/>
                    <a:gd name="T6" fmla="*/ 12 w 12"/>
                    <a:gd name="T7" fmla="*/ 4 h 17"/>
                    <a:gd name="T8" fmla="*/ 9 w 12"/>
                    <a:gd name="T9" fmla="*/ 0 h 17"/>
                    <a:gd name="T10" fmla="*/ 9 w 12"/>
                    <a:gd name="T11" fmla="*/ 0 h 17"/>
                    <a:gd name="T12" fmla="*/ 0 w 12"/>
                    <a:gd name="T13" fmla="*/ 13 h 17"/>
                    <a:gd name="T14" fmla="*/ 0 w 12"/>
                    <a:gd name="T15" fmla="*/ 13 h 17"/>
                    <a:gd name="T16" fmla="*/ 0 w 12"/>
                    <a:gd name="T17" fmla="*/ 13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17">
                      <a:moveTo>
                        <a:pt x="0" y="13"/>
                      </a:moveTo>
                      <a:lnTo>
                        <a:pt x="0" y="13"/>
                      </a:lnTo>
                      <a:lnTo>
                        <a:pt x="3" y="17"/>
                      </a:lnTo>
                      <a:lnTo>
                        <a:pt x="12" y="4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5" name="Freeform 387"/>
                <p:cNvSpPr>
                  <a:spLocks/>
                </p:cNvSpPr>
                <p:nvPr/>
              </p:nvSpPr>
              <p:spPr bwMode="auto">
                <a:xfrm>
                  <a:off x="201" y="2882"/>
                  <a:ext cx="15" cy="17"/>
                </a:xfrm>
                <a:custGeom>
                  <a:avLst/>
                  <a:gdLst>
                    <a:gd name="T0" fmla="*/ 0 w 15"/>
                    <a:gd name="T1" fmla="*/ 8 h 17"/>
                    <a:gd name="T2" fmla="*/ 0 w 15"/>
                    <a:gd name="T3" fmla="*/ 13 h 17"/>
                    <a:gd name="T4" fmla="*/ 6 w 15"/>
                    <a:gd name="T5" fmla="*/ 17 h 17"/>
                    <a:gd name="T6" fmla="*/ 15 w 15"/>
                    <a:gd name="T7" fmla="*/ 4 h 17"/>
                    <a:gd name="T8" fmla="*/ 12 w 15"/>
                    <a:gd name="T9" fmla="*/ 0 h 17"/>
                    <a:gd name="T10" fmla="*/ 12 w 15"/>
                    <a:gd name="T11" fmla="*/ 0 h 17"/>
                    <a:gd name="T12" fmla="*/ 0 w 15"/>
                    <a:gd name="T13" fmla="*/ 8 h 17"/>
                    <a:gd name="T14" fmla="*/ 0 w 15"/>
                    <a:gd name="T15" fmla="*/ 13 h 17"/>
                    <a:gd name="T16" fmla="*/ 0 w 15"/>
                    <a:gd name="T17" fmla="*/ 13 h 17"/>
                    <a:gd name="T18" fmla="*/ 0 w 15"/>
                    <a:gd name="T19" fmla="*/ 8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" h="17">
                      <a:moveTo>
                        <a:pt x="0" y="8"/>
                      </a:moveTo>
                      <a:lnTo>
                        <a:pt x="0" y="13"/>
                      </a:lnTo>
                      <a:lnTo>
                        <a:pt x="6" y="17"/>
                      </a:lnTo>
                      <a:lnTo>
                        <a:pt x="15" y="4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0" y="8"/>
                      </a:lnTo>
                      <a:lnTo>
                        <a:pt x="0" y="13"/>
                      </a:lnTo>
                      <a:lnTo>
                        <a:pt x="0" y="13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6" name="Freeform 388"/>
                <p:cNvSpPr>
                  <a:spLocks/>
                </p:cNvSpPr>
                <p:nvPr/>
              </p:nvSpPr>
              <p:spPr bwMode="auto">
                <a:xfrm>
                  <a:off x="198" y="2874"/>
                  <a:ext cx="15" cy="16"/>
                </a:xfrm>
                <a:custGeom>
                  <a:avLst/>
                  <a:gdLst>
                    <a:gd name="T0" fmla="*/ 0 w 15"/>
                    <a:gd name="T1" fmla="*/ 12 h 16"/>
                    <a:gd name="T2" fmla="*/ 0 w 15"/>
                    <a:gd name="T3" fmla="*/ 12 h 16"/>
                    <a:gd name="T4" fmla="*/ 3 w 15"/>
                    <a:gd name="T5" fmla="*/ 16 h 16"/>
                    <a:gd name="T6" fmla="*/ 15 w 15"/>
                    <a:gd name="T7" fmla="*/ 8 h 16"/>
                    <a:gd name="T8" fmla="*/ 12 w 15"/>
                    <a:gd name="T9" fmla="*/ 0 h 16"/>
                    <a:gd name="T10" fmla="*/ 12 w 15"/>
                    <a:gd name="T11" fmla="*/ 4 h 16"/>
                    <a:gd name="T12" fmla="*/ 0 w 15"/>
                    <a:gd name="T13" fmla="*/ 12 h 16"/>
                    <a:gd name="T14" fmla="*/ 0 w 15"/>
                    <a:gd name="T15" fmla="*/ 12 h 16"/>
                    <a:gd name="T16" fmla="*/ 0 w 15"/>
                    <a:gd name="T17" fmla="*/ 12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0" y="12"/>
                      </a:moveTo>
                      <a:lnTo>
                        <a:pt x="0" y="12"/>
                      </a:lnTo>
                      <a:lnTo>
                        <a:pt x="3" y="16"/>
                      </a:lnTo>
                      <a:lnTo>
                        <a:pt x="15" y="8"/>
                      </a:lnTo>
                      <a:lnTo>
                        <a:pt x="12" y="0"/>
                      </a:lnTo>
                      <a:lnTo>
                        <a:pt x="12" y="4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7" name="Freeform 389"/>
                <p:cNvSpPr>
                  <a:spLocks/>
                </p:cNvSpPr>
                <p:nvPr/>
              </p:nvSpPr>
              <p:spPr bwMode="auto">
                <a:xfrm>
                  <a:off x="195" y="2870"/>
                  <a:ext cx="15" cy="16"/>
                </a:xfrm>
                <a:custGeom>
                  <a:avLst/>
                  <a:gdLst>
                    <a:gd name="T0" fmla="*/ 0 w 15"/>
                    <a:gd name="T1" fmla="*/ 8 h 16"/>
                    <a:gd name="T2" fmla="*/ 0 w 15"/>
                    <a:gd name="T3" fmla="*/ 8 h 16"/>
                    <a:gd name="T4" fmla="*/ 3 w 15"/>
                    <a:gd name="T5" fmla="*/ 16 h 16"/>
                    <a:gd name="T6" fmla="*/ 15 w 15"/>
                    <a:gd name="T7" fmla="*/ 8 h 16"/>
                    <a:gd name="T8" fmla="*/ 15 w 15"/>
                    <a:gd name="T9" fmla="*/ 0 h 16"/>
                    <a:gd name="T10" fmla="*/ 15 w 15"/>
                    <a:gd name="T11" fmla="*/ 0 h 16"/>
                    <a:gd name="T12" fmla="*/ 0 w 15"/>
                    <a:gd name="T13" fmla="*/ 8 h 16"/>
                    <a:gd name="T14" fmla="*/ 0 w 15"/>
                    <a:gd name="T15" fmla="*/ 8 h 16"/>
                    <a:gd name="T16" fmla="*/ 0 w 15"/>
                    <a:gd name="T17" fmla="*/ 8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6">
                      <a:moveTo>
                        <a:pt x="0" y="8"/>
                      </a:moveTo>
                      <a:lnTo>
                        <a:pt x="0" y="8"/>
                      </a:lnTo>
                      <a:lnTo>
                        <a:pt x="3" y="16"/>
                      </a:ln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8" name="Freeform 390"/>
                <p:cNvSpPr>
                  <a:spLocks/>
                </p:cNvSpPr>
                <p:nvPr/>
              </p:nvSpPr>
              <p:spPr bwMode="auto">
                <a:xfrm>
                  <a:off x="192" y="2866"/>
                  <a:ext cx="18" cy="12"/>
                </a:xfrm>
                <a:custGeom>
                  <a:avLst/>
                  <a:gdLst>
                    <a:gd name="T0" fmla="*/ 0 w 18"/>
                    <a:gd name="T1" fmla="*/ 4 h 12"/>
                    <a:gd name="T2" fmla="*/ 3 w 18"/>
                    <a:gd name="T3" fmla="*/ 4 h 12"/>
                    <a:gd name="T4" fmla="*/ 3 w 18"/>
                    <a:gd name="T5" fmla="*/ 12 h 12"/>
                    <a:gd name="T6" fmla="*/ 18 w 18"/>
                    <a:gd name="T7" fmla="*/ 4 h 12"/>
                    <a:gd name="T8" fmla="*/ 15 w 18"/>
                    <a:gd name="T9" fmla="*/ 0 h 12"/>
                    <a:gd name="T10" fmla="*/ 15 w 18"/>
                    <a:gd name="T11" fmla="*/ 0 h 12"/>
                    <a:gd name="T12" fmla="*/ 0 w 18"/>
                    <a:gd name="T13" fmla="*/ 4 h 12"/>
                    <a:gd name="T14" fmla="*/ 0 w 18"/>
                    <a:gd name="T15" fmla="*/ 4 h 12"/>
                    <a:gd name="T16" fmla="*/ 3 w 18"/>
                    <a:gd name="T17" fmla="*/ 4 h 12"/>
                    <a:gd name="T18" fmla="*/ 0 w 18"/>
                    <a:gd name="T19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12">
                      <a:moveTo>
                        <a:pt x="0" y="4"/>
                      </a:moveTo>
                      <a:lnTo>
                        <a:pt x="3" y="4"/>
                      </a:lnTo>
                      <a:lnTo>
                        <a:pt x="3" y="12"/>
                      </a:lnTo>
                      <a:lnTo>
                        <a:pt x="18" y="4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3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9" name="Freeform 391"/>
                <p:cNvSpPr>
                  <a:spLocks/>
                </p:cNvSpPr>
                <p:nvPr/>
              </p:nvSpPr>
              <p:spPr bwMode="auto">
                <a:xfrm>
                  <a:off x="192" y="2858"/>
                  <a:ext cx="15" cy="12"/>
                </a:xfrm>
                <a:custGeom>
                  <a:avLst/>
                  <a:gdLst>
                    <a:gd name="T0" fmla="*/ 0 w 15"/>
                    <a:gd name="T1" fmla="*/ 4 h 12"/>
                    <a:gd name="T2" fmla="*/ 0 w 15"/>
                    <a:gd name="T3" fmla="*/ 4 h 12"/>
                    <a:gd name="T4" fmla="*/ 0 w 15"/>
                    <a:gd name="T5" fmla="*/ 12 h 12"/>
                    <a:gd name="T6" fmla="*/ 15 w 15"/>
                    <a:gd name="T7" fmla="*/ 8 h 12"/>
                    <a:gd name="T8" fmla="*/ 15 w 15"/>
                    <a:gd name="T9" fmla="*/ 0 h 12"/>
                    <a:gd name="T10" fmla="*/ 15 w 15"/>
                    <a:gd name="T11" fmla="*/ 0 h 12"/>
                    <a:gd name="T12" fmla="*/ 0 w 15"/>
                    <a:gd name="T13" fmla="*/ 4 h 12"/>
                    <a:gd name="T14" fmla="*/ 0 w 15"/>
                    <a:gd name="T15" fmla="*/ 4 h 12"/>
                    <a:gd name="T16" fmla="*/ 0 w 15"/>
                    <a:gd name="T17" fmla="*/ 4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" h="12">
                      <a:moveTo>
                        <a:pt x="0" y="4"/>
                      </a:moveTo>
                      <a:lnTo>
                        <a:pt x="0" y="4"/>
                      </a:lnTo>
                      <a:lnTo>
                        <a:pt x="0" y="12"/>
                      </a:lnTo>
                      <a:lnTo>
                        <a:pt x="15" y="8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92" name="Freeform 393"/>
              <p:cNvSpPr>
                <a:spLocks/>
              </p:cNvSpPr>
              <p:nvPr/>
            </p:nvSpPr>
            <p:spPr bwMode="auto">
              <a:xfrm>
                <a:off x="192" y="2849"/>
                <a:ext cx="15" cy="13"/>
              </a:xfrm>
              <a:custGeom>
                <a:avLst/>
                <a:gdLst>
                  <a:gd name="T0" fmla="*/ 0 w 15"/>
                  <a:gd name="T1" fmla="*/ 0 h 13"/>
                  <a:gd name="T2" fmla="*/ 0 w 15"/>
                  <a:gd name="T3" fmla="*/ 4 h 13"/>
                  <a:gd name="T4" fmla="*/ 0 w 15"/>
                  <a:gd name="T5" fmla="*/ 13 h 13"/>
                  <a:gd name="T6" fmla="*/ 15 w 15"/>
                  <a:gd name="T7" fmla="*/ 9 h 13"/>
                  <a:gd name="T8" fmla="*/ 15 w 15"/>
                  <a:gd name="T9" fmla="*/ 4 h 13"/>
                  <a:gd name="T10" fmla="*/ 15 w 15"/>
                  <a:gd name="T11" fmla="*/ 4 h 13"/>
                  <a:gd name="T12" fmla="*/ 0 w 15"/>
                  <a:gd name="T13" fmla="*/ 0 h 13"/>
                  <a:gd name="T14" fmla="*/ 0 w 15"/>
                  <a:gd name="T15" fmla="*/ 4 h 13"/>
                  <a:gd name="T16" fmla="*/ 0 w 15"/>
                  <a:gd name="T17" fmla="*/ 4 h 13"/>
                  <a:gd name="T18" fmla="*/ 0 w 15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3">
                    <a:moveTo>
                      <a:pt x="0" y="0"/>
                    </a:moveTo>
                    <a:lnTo>
                      <a:pt x="0" y="4"/>
                    </a:lnTo>
                    <a:lnTo>
                      <a:pt x="0" y="13"/>
                    </a:lnTo>
                    <a:lnTo>
                      <a:pt x="15" y="9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3" name="Freeform 394"/>
              <p:cNvSpPr>
                <a:spLocks/>
              </p:cNvSpPr>
              <p:nvPr/>
            </p:nvSpPr>
            <p:spPr bwMode="auto">
              <a:xfrm>
                <a:off x="192" y="2841"/>
                <a:ext cx="15" cy="12"/>
              </a:xfrm>
              <a:custGeom>
                <a:avLst/>
                <a:gdLst>
                  <a:gd name="T0" fmla="*/ 0 w 15"/>
                  <a:gd name="T1" fmla="*/ 0 h 12"/>
                  <a:gd name="T2" fmla="*/ 0 w 15"/>
                  <a:gd name="T3" fmla="*/ 0 h 12"/>
                  <a:gd name="T4" fmla="*/ 0 w 15"/>
                  <a:gd name="T5" fmla="*/ 8 h 12"/>
                  <a:gd name="T6" fmla="*/ 15 w 15"/>
                  <a:gd name="T7" fmla="*/ 12 h 12"/>
                  <a:gd name="T8" fmla="*/ 15 w 15"/>
                  <a:gd name="T9" fmla="*/ 4 h 12"/>
                  <a:gd name="T10" fmla="*/ 15 w 15"/>
                  <a:gd name="T11" fmla="*/ 4 h 12"/>
                  <a:gd name="T12" fmla="*/ 0 w 15"/>
                  <a:gd name="T13" fmla="*/ 0 h 12"/>
                  <a:gd name="T14" fmla="*/ 0 w 15"/>
                  <a:gd name="T15" fmla="*/ 0 h 12"/>
                  <a:gd name="T16" fmla="*/ 0 w 15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15" y="12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4" name="Freeform 395"/>
              <p:cNvSpPr>
                <a:spLocks/>
              </p:cNvSpPr>
              <p:nvPr/>
            </p:nvSpPr>
            <p:spPr bwMode="auto">
              <a:xfrm>
                <a:off x="192" y="2833"/>
                <a:ext cx="15" cy="12"/>
              </a:xfrm>
              <a:custGeom>
                <a:avLst/>
                <a:gdLst>
                  <a:gd name="T0" fmla="*/ 3 w 15"/>
                  <a:gd name="T1" fmla="*/ 0 h 12"/>
                  <a:gd name="T2" fmla="*/ 3 w 15"/>
                  <a:gd name="T3" fmla="*/ 0 h 12"/>
                  <a:gd name="T4" fmla="*/ 0 w 15"/>
                  <a:gd name="T5" fmla="*/ 8 h 12"/>
                  <a:gd name="T6" fmla="*/ 15 w 15"/>
                  <a:gd name="T7" fmla="*/ 12 h 12"/>
                  <a:gd name="T8" fmla="*/ 15 w 15"/>
                  <a:gd name="T9" fmla="*/ 4 h 12"/>
                  <a:gd name="T10" fmla="*/ 15 w 15"/>
                  <a:gd name="T11" fmla="*/ 4 h 12"/>
                  <a:gd name="T12" fmla="*/ 3 w 15"/>
                  <a:gd name="T13" fmla="*/ 0 h 12"/>
                  <a:gd name="T14" fmla="*/ 3 w 15"/>
                  <a:gd name="T15" fmla="*/ 0 h 12"/>
                  <a:gd name="T16" fmla="*/ 3 w 15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2">
                    <a:moveTo>
                      <a:pt x="3" y="0"/>
                    </a:moveTo>
                    <a:lnTo>
                      <a:pt x="3" y="0"/>
                    </a:lnTo>
                    <a:lnTo>
                      <a:pt x="0" y="8"/>
                    </a:lnTo>
                    <a:lnTo>
                      <a:pt x="15" y="12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5" name="Freeform 396"/>
              <p:cNvSpPr>
                <a:spLocks/>
              </p:cNvSpPr>
              <p:nvPr/>
            </p:nvSpPr>
            <p:spPr bwMode="auto">
              <a:xfrm>
                <a:off x="195" y="1577"/>
                <a:ext cx="260" cy="1260"/>
              </a:xfrm>
              <a:custGeom>
                <a:avLst/>
                <a:gdLst>
                  <a:gd name="T0" fmla="*/ 248 w 260"/>
                  <a:gd name="T1" fmla="*/ 0 h 1260"/>
                  <a:gd name="T2" fmla="*/ 248 w 260"/>
                  <a:gd name="T3" fmla="*/ 0 h 1260"/>
                  <a:gd name="T4" fmla="*/ 0 w 260"/>
                  <a:gd name="T5" fmla="*/ 1256 h 1260"/>
                  <a:gd name="T6" fmla="*/ 12 w 260"/>
                  <a:gd name="T7" fmla="*/ 1260 h 1260"/>
                  <a:gd name="T8" fmla="*/ 260 w 260"/>
                  <a:gd name="T9" fmla="*/ 4 h 1260"/>
                  <a:gd name="T10" fmla="*/ 260 w 260"/>
                  <a:gd name="T11" fmla="*/ 4 h 1260"/>
                  <a:gd name="T12" fmla="*/ 248 w 260"/>
                  <a:gd name="T13" fmla="*/ 0 h 1260"/>
                  <a:gd name="T14" fmla="*/ 248 w 260"/>
                  <a:gd name="T15" fmla="*/ 0 h 1260"/>
                  <a:gd name="T16" fmla="*/ 248 w 260"/>
                  <a:gd name="T17" fmla="*/ 0 h 1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0" h="1260">
                    <a:moveTo>
                      <a:pt x="248" y="0"/>
                    </a:moveTo>
                    <a:lnTo>
                      <a:pt x="248" y="0"/>
                    </a:lnTo>
                    <a:lnTo>
                      <a:pt x="0" y="1256"/>
                    </a:lnTo>
                    <a:lnTo>
                      <a:pt x="12" y="1260"/>
                    </a:lnTo>
                    <a:lnTo>
                      <a:pt x="260" y="4"/>
                    </a:lnTo>
                    <a:lnTo>
                      <a:pt x="260" y="4"/>
                    </a:lnTo>
                    <a:lnTo>
                      <a:pt x="248" y="0"/>
                    </a:lnTo>
                    <a:lnTo>
                      <a:pt x="248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" name="Freeform 397"/>
              <p:cNvSpPr>
                <a:spLocks/>
              </p:cNvSpPr>
              <p:nvPr/>
            </p:nvSpPr>
            <p:spPr bwMode="auto">
              <a:xfrm>
                <a:off x="443" y="1569"/>
                <a:ext cx="15" cy="12"/>
              </a:xfrm>
              <a:custGeom>
                <a:avLst/>
                <a:gdLst>
                  <a:gd name="T0" fmla="*/ 3 w 15"/>
                  <a:gd name="T1" fmla="*/ 0 h 12"/>
                  <a:gd name="T2" fmla="*/ 3 w 15"/>
                  <a:gd name="T3" fmla="*/ 0 h 12"/>
                  <a:gd name="T4" fmla="*/ 0 w 15"/>
                  <a:gd name="T5" fmla="*/ 8 h 12"/>
                  <a:gd name="T6" fmla="*/ 12 w 15"/>
                  <a:gd name="T7" fmla="*/ 12 h 12"/>
                  <a:gd name="T8" fmla="*/ 15 w 15"/>
                  <a:gd name="T9" fmla="*/ 4 h 12"/>
                  <a:gd name="T10" fmla="*/ 15 w 15"/>
                  <a:gd name="T11" fmla="*/ 4 h 12"/>
                  <a:gd name="T12" fmla="*/ 3 w 15"/>
                  <a:gd name="T13" fmla="*/ 0 h 12"/>
                  <a:gd name="T14" fmla="*/ 3 w 15"/>
                  <a:gd name="T15" fmla="*/ 0 h 12"/>
                  <a:gd name="T16" fmla="*/ 3 w 15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12">
                    <a:moveTo>
                      <a:pt x="3" y="0"/>
                    </a:moveTo>
                    <a:lnTo>
                      <a:pt x="3" y="0"/>
                    </a:lnTo>
                    <a:lnTo>
                      <a:pt x="0" y="8"/>
                    </a:lnTo>
                    <a:lnTo>
                      <a:pt x="12" y="12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" name="Freeform 398"/>
              <p:cNvSpPr>
                <a:spLocks/>
              </p:cNvSpPr>
              <p:nvPr/>
            </p:nvSpPr>
            <p:spPr bwMode="auto">
              <a:xfrm>
                <a:off x="446" y="1556"/>
                <a:ext cx="15" cy="17"/>
              </a:xfrm>
              <a:custGeom>
                <a:avLst/>
                <a:gdLst>
                  <a:gd name="T0" fmla="*/ 0 w 15"/>
                  <a:gd name="T1" fmla="*/ 0 h 17"/>
                  <a:gd name="T2" fmla="*/ 0 w 15"/>
                  <a:gd name="T3" fmla="*/ 4 h 17"/>
                  <a:gd name="T4" fmla="*/ 0 w 15"/>
                  <a:gd name="T5" fmla="*/ 13 h 17"/>
                  <a:gd name="T6" fmla="*/ 12 w 15"/>
                  <a:gd name="T7" fmla="*/ 17 h 17"/>
                  <a:gd name="T8" fmla="*/ 15 w 15"/>
                  <a:gd name="T9" fmla="*/ 13 h 17"/>
                  <a:gd name="T10" fmla="*/ 15 w 15"/>
                  <a:gd name="T11" fmla="*/ 13 h 17"/>
                  <a:gd name="T12" fmla="*/ 0 w 15"/>
                  <a:gd name="T13" fmla="*/ 0 h 17"/>
                  <a:gd name="T14" fmla="*/ 0 w 15"/>
                  <a:gd name="T15" fmla="*/ 4 h 17"/>
                  <a:gd name="T16" fmla="*/ 0 w 15"/>
                  <a:gd name="T17" fmla="*/ 4 h 17"/>
                  <a:gd name="T18" fmla="*/ 0 w 15"/>
                  <a:gd name="T1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17">
                    <a:moveTo>
                      <a:pt x="0" y="0"/>
                    </a:moveTo>
                    <a:lnTo>
                      <a:pt x="0" y="4"/>
                    </a:lnTo>
                    <a:lnTo>
                      <a:pt x="0" y="13"/>
                    </a:lnTo>
                    <a:lnTo>
                      <a:pt x="12" y="17"/>
                    </a:lnTo>
                    <a:lnTo>
                      <a:pt x="15" y="13"/>
                    </a:lnTo>
                    <a:lnTo>
                      <a:pt x="15" y="13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8" name="Freeform 399"/>
              <p:cNvSpPr>
                <a:spLocks/>
              </p:cNvSpPr>
              <p:nvPr/>
            </p:nvSpPr>
            <p:spPr bwMode="auto">
              <a:xfrm>
                <a:off x="446" y="1548"/>
                <a:ext cx="18" cy="21"/>
              </a:xfrm>
              <a:custGeom>
                <a:avLst/>
                <a:gdLst>
                  <a:gd name="T0" fmla="*/ 6 w 18"/>
                  <a:gd name="T1" fmla="*/ 0 h 21"/>
                  <a:gd name="T2" fmla="*/ 6 w 18"/>
                  <a:gd name="T3" fmla="*/ 4 h 21"/>
                  <a:gd name="T4" fmla="*/ 0 w 18"/>
                  <a:gd name="T5" fmla="*/ 8 h 21"/>
                  <a:gd name="T6" fmla="*/ 15 w 18"/>
                  <a:gd name="T7" fmla="*/ 21 h 21"/>
                  <a:gd name="T8" fmla="*/ 18 w 18"/>
                  <a:gd name="T9" fmla="*/ 12 h 21"/>
                  <a:gd name="T10" fmla="*/ 18 w 18"/>
                  <a:gd name="T11" fmla="*/ 12 h 21"/>
                  <a:gd name="T12" fmla="*/ 6 w 18"/>
                  <a:gd name="T13" fmla="*/ 0 h 21"/>
                  <a:gd name="T14" fmla="*/ 6 w 18"/>
                  <a:gd name="T15" fmla="*/ 0 h 21"/>
                  <a:gd name="T16" fmla="*/ 6 w 18"/>
                  <a:gd name="T17" fmla="*/ 4 h 21"/>
                  <a:gd name="T18" fmla="*/ 6 w 18"/>
                  <a:gd name="T1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" h="21">
                    <a:moveTo>
                      <a:pt x="6" y="0"/>
                    </a:moveTo>
                    <a:lnTo>
                      <a:pt x="6" y="4"/>
                    </a:lnTo>
                    <a:lnTo>
                      <a:pt x="0" y="8"/>
                    </a:lnTo>
                    <a:lnTo>
                      <a:pt x="15" y="21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9" name="Freeform 400"/>
              <p:cNvSpPr>
                <a:spLocks/>
              </p:cNvSpPr>
              <p:nvPr/>
            </p:nvSpPr>
            <p:spPr bwMode="auto">
              <a:xfrm>
                <a:off x="452" y="1540"/>
                <a:ext cx="15" cy="20"/>
              </a:xfrm>
              <a:custGeom>
                <a:avLst/>
                <a:gdLst>
                  <a:gd name="T0" fmla="*/ 3 w 15"/>
                  <a:gd name="T1" fmla="*/ 0 h 20"/>
                  <a:gd name="T2" fmla="*/ 3 w 15"/>
                  <a:gd name="T3" fmla="*/ 4 h 20"/>
                  <a:gd name="T4" fmla="*/ 0 w 15"/>
                  <a:gd name="T5" fmla="*/ 8 h 20"/>
                  <a:gd name="T6" fmla="*/ 12 w 15"/>
                  <a:gd name="T7" fmla="*/ 20 h 20"/>
                  <a:gd name="T8" fmla="*/ 15 w 15"/>
                  <a:gd name="T9" fmla="*/ 12 h 20"/>
                  <a:gd name="T10" fmla="*/ 15 w 15"/>
                  <a:gd name="T11" fmla="*/ 16 h 20"/>
                  <a:gd name="T12" fmla="*/ 3 w 15"/>
                  <a:gd name="T13" fmla="*/ 0 h 20"/>
                  <a:gd name="T14" fmla="*/ 3 w 15"/>
                  <a:gd name="T15" fmla="*/ 4 h 20"/>
                  <a:gd name="T16" fmla="*/ 3 w 15"/>
                  <a:gd name="T17" fmla="*/ 4 h 20"/>
                  <a:gd name="T18" fmla="*/ 3 w 15"/>
                  <a:gd name="T1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20">
                    <a:moveTo>
                      <a:pt x="3" y="0"/>
                    </a:moveTo>
                    <a:lnTo>
                      <a:pt x="3" y="4"/>
                    </a:lnTo>
                    <a:lnTo>
                      <a:pt x="0" y="8"/>
                    </a:lnTo>
                    <a:lnTo>
                      <a:pt x="12" y="20"/>
                    </a:lnTo>
                    <a:lnTo>
                      <a:pt x="15" y="12"/>
                    </a:lnTo>
                    <a:lnTo>
                      <a:pt x="15" y="16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0" name="Freeform 401"/>
              <p:cNvSpPr>
                <a:spLocks/>
              </p:cNvSpPr>
              <p:nvPr/>
            </p:nvSpPr>
            <p:spPr bwMode="auto">
              <a:xfrm>
                <a:off x="455" y="1536"/>
                <a:ext cx="15" cy="20"/>
              </a:xfrm>
              <a:custGeom>
                <a:avLst/>
                <a:gdLst>
                  <a:gd name="T0" fmla="*/ 6 w 15"/>
                  <a:gd name="T1" fmla="*/ 0 h 20"/>
                  <a:gd name="T2" fmla="*/ 6 w 15"/>
                  <a:gd name="T3" fmla="*/ 0 h 20"/>
                  <a:gd name="T4" fmla="*/ 0 w 15"/>
                  <a:gd name="T5" fmla="*/ 4 h 20"/>
                  <a:gd name="T6" fmla="*/ 12 w 15"/>
                  <a:gd name="T7" fmla="*/ 20 h 20"/>
                  <a:gd name="T8" fmla="*/ 15 w 15"/>
                  <a:gd name="T9" fmla="*/ 12 h 20"/>
                  <a:gd name="T10" fmla="*/ 15 w 15"/>
                  <a:gd name="T11" fmla="*/ 12 h 20"/>
                  <a:gd name="T12" fmla="*/ 6 w 15"/>
                  <a:gd name="T13" fmla="*/ 0 h 20"/>
                  <a:gd name="T14" fmla="*/ 6 w 15"/>
                  <a:gd name="T15" fmla="*/ 0 h 20"/>
                  <a:gd name="T16" fmla="*/ 6 w 15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0">
                    <a:moveTo>
                      <a:pt x="6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12" y="20"/>
                    </a:lnTo>
                    <a:lnTo>
                      <a:pt x="15" y="12"/>
                    </a:lnTo>
                    <a:lnTo>
                      <a:pt x="15" y="1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1" name="Freeform 402"/>
              <p:cNvSpPr>
                <a:spLocks/>
              </p:cNvSpPr>
              <p:nvPr/>
            </p:nvSpPr>
            <p:spPr bwMode="auto">
              <a:xfrm>
                <a:off x="461" y="1527"/>
                <a:ext cx="15" cy="21"/>
              </a:xfrm>
              <a:custGeom>
                <a:avLst/>
                <a:gdLst>
                  <a:gd name="T0" fmla="*/ 3 w 15"/>
                  <a:gd name="T1" fmla="*/ 0 h 21"/>
                  <a:gd name="T2" fmla="*/ 3 w 15"/>
                  <a:gd name="T3" fmla="*/ 0 h 21"/>
                  <a:gd name="T4" fmla="*/ 0 w 15"/>
                  <a:gd name="T5" fmla="*/ 9 h 21"/>
                  <a:gd name="T6" fmla="*/ 9 w 15"/>
                  <a:gd name="T7" fmla="*/ 21 h 21"/>
                  <a:gd name="T8" fmla="*/ 15 w 15"/>
                  <a:gd name="T9" fmla="*/ 13 h 21"/>
                  <a:gd name="T10" fmla="*/ 15 w 15"/>
                  <a:gd name="T11" fmla="*/ 13 h 21"/>
                  <a:gd name="T12" fmla="*/ 3 w 15"/>
                  <a:gd name="T13" fmla="*/ 0 h 21"/>
                  <a:gd name="T14" fmla="*/ 3 w 15"/>
                  <a:gd name="T15" fmla="*/ 0 h 21"/>
                  <a:gd name="T16" fmla="*/ 3 w 15"/>
                  <a:gd name="T1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1">
                    <a:moveTo>
                      <a:pt x="3" y="0"/>
                    </a:moveTo>
                    <a:lnTo>
                      <a:pt x="3" y="0"/>
                    </a:lnTo>
                    <a:lnTo>
                      <a:pt x="0" y="9"/>
                    </a:lnTo>
                    <a:lnTo>
                      <a:pt x="9" y="21"/>
                    </a:lnTo>
                    <a:lnTo>
                      <a:pt x="15" y="13"/>
                    </a:lnTo>
                    <a:lnTo>
                      <a:pt x="15" y="1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2" name="Freeform 403"/>
              <p:cNvSpPr>
                <a:spLocks/>
              </p:cNvSpPr>
              <p:nvPr/>
            </p:nvSpPr>
            <p:spPr bwMode="auto">
              <a:xfrm>
                <a:off x="464" y="1519"/>
                <a:ext cx="15" cy="21"/>
              </a:xfrm>
              <a:custGeom>
                <a:avLst/>
                <a:gdLst>
                  <a:gd name="T0" fmla="*/ 9 w 15"/>
                  <a:gd name="T1" fmla="*/ 0 h 21"/>
                  <a:gd name="T2" fmla="*/ 6 w 15"/>
                  <a:gd name="T3" fmla="*/ 0 h 21"/>
                  <a:gd name="T4" fmla="*/ 0 w 15"/>
                  <a:gd name="T5" fmla="*/ 8 h 21"/>
                  <a:gd name="T6" fmla="*/ 12 w 15"/>
                  <a:gd name="T7" fmla="*/ 21 h 21"/>
                  <a:gd name="T8" fmla="*/ 15 w 15"/>
                  <a:gd name="T9" fmla="*/ 17 h 21"/>
                  <a:gd name="T10" fmla="*/ 15 w 15"/>
                  <a:gd name="T11" fmla="*/ 17 h 21"/>
                  <a:gd name="T12" fmla="*/ 9 w 15"/>
                  <a:gd name="T13" fmla="*/ 0 h 21"/>
                  <a:gd name="T14" fmla="*/ 6 w 15"/>
                  <a:gd name="T15" fmla="*/ 0 h 21"/>
                  <a:gd name="T16" fmla="*/ 6 w 15"/>
                  <a:gd name="T17" fmla="*/ 0 h 21"/>
                  <a:gd name="T18" fmla="*/ 9 w 15"/>
                  <a:gd name="T1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" h="21">
                    <a:moveTo>
                      <a:pt x="9" y="0"/>
                    </a:moveTo>
                    <a:lnTo>
                      <a:pt x="6" y="0"/>
                    </a:lnTo>
                    <a:lnTo>
                      <a:pt x="0" y="8"/>
                    </a:lnTo>
                    <a:lnTo>
                      <a:pt x="12" y="21"/>
                    </a:lnTo>
                    <a:lnTo>
                      <a:pt x="15" y="17"/>
                    </a:lnTo>
                    <a:lnTo>
                      <a:pt x="15" y="17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3" name="Freeform 404"/>
              <p:cNvSpPr>
                <a:spLocks/>
              </p:cNvSpPr>
              <p:nvPr/>
            </p:nvSpPr>
            <p:spPr bwMode="auto">
              <a:xfrm>
                <a:off x="473" y="1515"/>
                <a:ext cx="12" cy="21"/>
              </a:xfrm>
              <a:custGeom>
                <a:avLst/>
                <a:gdLst>
                  <a:gd name="T0" fmla="*/ 6 w 12"/>
                  <a:gd name="T1" fmla="*/ 0 h 21"/>
                  <a:gd name="T2" fmla="*/ 3 w 12"/>
                  <a:gd name="T3" fmla="*/ 0 h 21"/>
                  <a:gd name="T4" fmla="*/ 0 w 12"/>
                  <a:gd name="T5" fmla="*/ 4 h 21"/>
                  <a:gd name="T6" fmla="*/ 6 w 12"/>
                  <a:gd name="T7" fmla="*/ 21 h 21"/>
                  <a:gd name="T8" fmla="*/ 12 w 12"/>
                  <a:gd name="T9" fmla="*/ 17 h 21"/>
                  <a:gd name="T10" fmla="*/ 12 w 12"/>
                  <a:gd name="T11" fmla="*/ 17 h 21"/>
                  <a:gd name="T12" fmla="*/ 6 w 12"/>
                  <a:gd name="T13" fmla="*/ 0 h 21"/>
                  <a:gd name="T14" fmla="*/ 3 w 12"/>
                  <a:gd name="T15" fmla="*/ 0 h 21"/>
                  <a:gd name="T16" fmla="*/ 3 w 12"/>
                  <a:gd name="T17" fmla="*/ 0 h 21"/>
                  <a:gd name="T18" fmla="*/ 6 w 12"/>
                  <a:gd name="T1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21">
                    <a:moveTo>
                      <a:pt x="6" y="0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6" y="21"/>
                    </a:lnTo>
                    <a:lnTo>
                      <a:pt x="12" y="17"/>
                    </a:lnTo>
                    <a:lnTo>
                      <a:pt x="12" y="17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4" name="Freeform 405"/>
              <p:cNvSpPr>
                <a:spLocks/>
              </p:cNvSpPr>
              <p:nvPr/>
            </p:nvSpPr>
            <p:spPr bwMode="auto">
              <a:xfrm>
                <a:off x="479" y="1507"/>
                <a:ext cx="12" cy="25"/>
              </a:xfrm>
              <a:custGeom>
                <a:avLst/>
                <a:gdLst>
                  <a:gd name="T0" fmla="*/ 6 w 12"/>
                  <a:gd name="T1" fmla="*/ 0 h 25"/>
                  <a:gd name="T2" fmla="*/ 6 w 12"/>
                  <a:gd name="T3" fmla="*/ 0 h 25"/>
                  <a:gd name="T4" fmla="*/ 0 w 12"/>
                  <a:gd name="T5" fmla="*/ 8 h 25"/>
                  <a:gd name="T6" fmla="*/ 6 w 12"/>
                  <a:gd name="T7" fmla="*/ 25 h 25"/>
                  <a:gd name="T8" fmla="*/ 12 w 12"/>
                  <a:gd name="T9" fmla="*/ 16 h 25"/>
                  <a:gd name="T10" fmla="*/ 12 w 12"/>
                  <a:gd name="T11" fmla="*/ 16 h 25"/>
                  <a:gd name="T12" fmla="*/ 6 w 12"/>
                  <a:gd name="T13" fmla="*/ 0 h 25"/>
                  <a:gd name="T14" fmla="*/ 6 w 12"/>
                  <a:gd name="T15" fmla="*/ 0 h 25"/>
                  <a:gd name="T16" fmla="*/ 6 w 12"/>
                  <a:gd name="T1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5">
                    <a:moveTo>
                      <a:pt x="6" y="0"/>
                    </a:moveTo>
                    <a:lnTo>
                      <a:pt x="6" y="0"/>
                    </a:lnTo>
                    <a:lnTo>
                      <a:pt x="0" y="8"/>
                    </a:lnTo>
                    <a:lnTo>
                      <a:pt x="6" y="25"/>
                    </a:lnTo>
                    <a:lnTo>
                      <a:pt x="12" y="16"/>
                    </a:lnTo>
                    <a:lnTo>
                      <a:pt x="12" y="16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5" name="Freeform 406"/>
              <p:cNvSpPr>
                <a:spLocks/>
              </p:cNvSpPr>
              <p:nvPr/>
            </p:nvSpPr>
            <p:spPr bwMode="auto">
              <a:xfrm>
                <a:off x="485" y="1503"/>
                <a:ext cx="12" cy="20"/>
              </a:xfrm>
              <a:custGeom>
                <a:avLst/>
                <a:gdLst>
                  <a:gd name="T0" fmla="*/ 6 w 12"/>
                  <a:gd name="T1" fmla="*/ 0 h 20"/>
                  <a:gd name="T2" fmla="*/ 6 w 12"/>
                  <a:gd name="T3" fmla="*/ 0 h 20"/>
                  <a:gd name="T4" fmla="*/ 0 w 12"/>
                  <a:gd name="T5" fmla="*/ 4 h 20"/>
                  <a:gd name="T6" fmla="*/ 6 w 12"/>
                  <a:gd name="T7" fmla="*/ 20 h 20"/>
                  <a:gd name="T8" fmla="*/ 12 w 12"/>
                  <a:gd name="T9" fmla="*/ 16 h 20"/>
                  <a:gd name="T10" fmla="*/ 12 w 12"/>
                  <a:gd name="T11" fmla="*/ 20 h 20"/>
                  <a:gd name="T12" fmla="*/ 6 w 12"/>
                  <a:gd name="T13" fmla="*/ 0 h 20"/>
                  <a:gd name="T14" fmla="*/ 6 w 12"/>
                  <a:gd name="T15" fmla="*/ 0 h 20"/>
                  <a:gd name="T16" fmla="*/ 6 w 12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0">
                    <a:moveTo>
                      <a:pt x="6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6" y="20"/>
                    </a:lnTo>
                    <a:lnTo>
                      <a:pt x="12" y="16"/>
                    </a:lnTo>
                    <a:lnTo>
                      <a:pt x="12" y="2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" name="Freeform 407"/>
              <p:cNvSpPr>
                <a:spLocks/>
              </p:cNvSpPr>
              <p:nvPr/>
            </p:nvSpPr>
            <p:spPr bwMode="auto">
              <a:xfrm>
                <a:off x="491" y="1499"/>
                <a:ext cx="12" cy="24"/>
              </a:xfrm>
              <a:custGeom>
                <a:avLst/>
                <a:gdLst>
                  <a:gd name="T0" fmla="*/ 9 w 12"/>
                  <a:gd name="T1" fmla="*/ 0 h 24"/>
                  <a:gd name="T2" fmla="*/ 6 w 12"/>
                  <a:gd name="T3" fmla="*/ 0 h 24"/>
                  <a:gd name="T4" fmla="*/ 0 w 12"/>
                  <a:gd name="T5" fmla="*/ 4 h 24"/>
                  <a:gd name="T6" fmla="*/ 6 w 12"/>
                  <a:gd name="T7" fmla="*/ 24 h 24"/>
                  <a:gd name="T8" fmla="*/ 12 w 12"/>
                  <a:gd name="T9" fmla="*/ 20 h 24"/>
                  <a:gd name="T10" fmla="*/ 12 w 12"/>
                  <a:gd name="T11" fmla="*/ 20 h 24"/>
                  <a:gd name="T12" fmla="*/ 9 w 12"/>
                  <a:gd name="T13" fmla="*/ 0 h 24"/>
                  <a:gd name="T14" fmla="*/ 6 w 12"/>
                  <a:gd name="T15" fmla="*/ 0 h 24"/>
                  <a:gd name="T16" fmla="*/ 6 w 12"/>
                  <a:gd name="T17" fmla="*/ 0 h 24"/>
                  <a:gd name="T18" fmla="*/ 9 w 12"/>
                  <a:gd name="T1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24">
                    <a:moveTo>
                      <a:pt x="9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6" y="24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7" name="Freeform 408"/>
              <p:cNvSpPr>
                <a:spLocks/>
              </p:cNvSpPr>
              <p:nvPr/>
            </p:nvSpPr>
            <p:spPr bwMode="auto">
              <a:xfrm>
                <a:off x="500" y="1495"/>
                <a:ext cx="9" cy="24"/>
              </a:xfrm>
              <a:custGeom>
                <a:avLst/>
                <a:gdLst>
                  <a:gd name="T0" fmla="*/ 6 w 9"/>
                  <a:gd name="T1" fmla="*/ 0 h 24"/>
                  <a:gd name="T2" fmla="*/ 6 w 9"/>
                  <a:gd name="T3" fmla="*/ 0 h 24"/>
                  <a:gd name="T4" fmla="*/ 0 w 9"/>
                  <a:gd name="T5" fmla="*/ 4 h 24"/>
                  <a:gd name="T6" fmla="*/ 3 w 9"/>
                  <a:gd name="T7" fmla="*/ 24 h 24"/>
                  <a:gd name="T8" fmla="*/ 9 w 9"/>
                  <a:gd name="T9" fmla="*/ 20 h 24"/>
                  <a:gd name="T10" fmla="*/ 9 w 9"/>
                  <a:gd name="T11" fmla="*/ 20 h 24"/>
                  <a:gd name="T12" fmla="*/ 6 w 9"/>
                  <a:gd name="T13" fmla="*/ 0 h 24"/>
                  <a:gd name="T14" fmla="*/ 6 w 9"/>
                  <a:gd name="T15" fmla="*/ 0 h 24"/>
                  <a:gd name="T16" fmla="*/ 6 w 9"/>
                  <a:gd name="T1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24">
                    <a:moveTo>
                      <a:pt x="6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3" y="24"/>
                    </a:lnTo>
                    <a:lnTo>
                      <a:pt x="9" y="20"/>
                    </a:lnTo>
                    <a:lnTo>
                      <a:pt x="9" y="2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8" name="Freeform 409"/>
              <p:cNvSpPr>
                <a:spLocks/>
              </p:cNvSpPr>
              <p:nvPr/>
            </p:nvSpPr>
            <p:spPr bwMode="auto">
              <a:xfrm>
                <a:off x="506" y="1495"/>
                <a:ext cx="12" cy="20"/>
              </a:xfrm>
              <a:custGeom>
                <a:avLst/>
                <a:gdLst>
                  <a:gd name="T0" fmla="*/ 9 w 12"/>
                  <a:gd name="T1" fmla="*/ 0 h 20"/>
                  <a:gd name="T2" fmla="*/ 6 w 12"/>
                  <a:gd name="T3" fmla="*/ 0 h 20"/>
                  <a:gd name="T4" fmla="*/ 0 w 12"/>
                  <a:gd name="T5" fmla="*/ 0 h 20"/>
                  <a:gd name="T6" fmla="*/ 3 w 12"/>
                  <a:gd name="T7" fmla="*/ 20 h 20"/>
                  <a:gd name="T8" fmla="*/ 12 w 12"/>
                  <a:gd name="T9" fmla="*/ 16 h 20"/>
                  <a:gd name="T10" fmla="*/ 12 w 12"/>
                  <a:gd name="T11" fmla="*/ 16 h 20"/>
                  <a:gd name="T12" fmla="*/ 9 w 12"/>
                  <a:gd name="T13" fmla="*/ 0 h 20"/>
                  <a:gd name="T14" fmla="*/ 6 w 12"/>
                  <a:gd name="T15" fmla="*/ 0 h 20"/>
                  <a:gd name="T16" fmla="*/ 6 w 12"/>
                  <a:gd name="T17" fmla="*/ 0 h 20"/>
                  <a:gd name="T18" fmla="*/ 9 w 12"/>
                  <a:gd name="T1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20">
                    <a:moveTo>
                      <a:pt x="9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3" y="20"/>
                    </a:lnTo>
                    <a:lnTo>
                      <a:pt x="12" y="16"/>
                    </a:lnTo>
                    <a:lnTo>
                      <a:pt x="12" y="16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9" name="Freeform 410"/>
              <p:cNvSpPr>
                <a:spLocks/>
              </p:cNvSpPr>
              <p:nvPr/>
            </p:nvSpPr>
            <p:spPr bwMode="auto">
              <a:xfrm>
                <a:off x="515" y="1491"/>
                <a:ext cx="10" cy="20"/>
              </a:xfrm>
              <a:custGeom>
                <a:avLst/>
                <a:gdLst>
                  <a:gd name="T0" fmla="*/ 6 w 10"/>
                  <a:gd name="T1" fmla="*/ 0 h 20"/>
                  <a:gd name="T2" fmla="*/ 6 w 10"/>
                  <a:gd name="T3" fmla="*/ 0 h 20"/>
                  <a:gd name="T4" fmla="*/ 0 w 10"/>
                  <a:gd name="T5" fmla="*/ 4 h 20"/>
                  <a:gd name="T6" fmla="*/ 3 w 10"/>
                  <a:gd name="T7" fmla="*/ 20 h 20"/>
                  <a:gd name="T8" fmla="*/ 10 w 10"/>
                  <a:gd name="T9" fmla="*/ 20 h 20"/>
                  <a:gd name="T10" fmla="*/ 10 w 10"/>
                  <a:gd name="T11" fmla="*/ 20 h 20"/>
                  <a:gd name="T12" fmla="*/ 6 w 10"/>
                  <a:gd name="T13" fmla="*/ 0 h 20"/>
                  <a:gd name="T14" fmla="*/ 6 w 10"/>
                  <a:gd name="T15" fmla="*/ 0 h 20"/>
                  <a:gd name="T16" fmla="*/ 6 w 10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20">
                    <a:moveTo>
                      <a:pt x="6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3" y="20"/>
                    </a:lnTo>
                    <a:lnTo>
                      <a:pt x="10" y="20"/>
                    </a:lnTo>
                    <a:lnTo>
                      <a:pt x="10" y="2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0" name="Freeform 411"/>
              <p:cNvSpPr>
                <a:spLocks/>
              </p:cNvSpPr>
              <p:nvPr/>
            </p:nvSpPr>
            <p:spPr bwMode="auto">
              <a:xfrm>
                <a:off x="521" y="1491"/>
                <a:ext cx="10" cy="20"/>
              </a:xfrm>
              <a:custGeom>
                <a:avLst/>
                <a:gdLst>
                  <a:gd name="T0" fmla="*/ 10 w 10"/>
                  <a:gd name="T1" fmla="*/ 0 h 20"/>
                  <a:gd name="T2" fmla="*/ 10 w 10"/>
                  <a:gd name="T3" fmla="*/ 0 h 20"/>
                  <a:gd name="T4" fmla="*/ 0 w 10"/>
                  <a:gd name="T5" fmla="*/ 0 h 20"/>
                  <a:gd name="T6" fmla="*/ 4 w 10"/>
                  <a:gd name="T7" fmla="*/ 20 h 20"/>
                  <a:gd name="T8" fmla="*/ 10 w 10"/>
                  <a:gd name="T9" fmla="*/ 16 h 20"/>
                  <a:gd name="T10" fmla="*/ 10 w 10"/>
                  <a:gd name="T11" fmla="*/ 16 h 20"/>
                  <a:gd name="T12" fmla="*/ 10 w 10"/>
                  <a:gd name="T13" fmla="*/ 0 h 20"/>
                  <a:gd name="T14" fmla="*/ 10 w 10"/>
                  <a:gd name="T15" fmla="*/ 0 h 20"/>
                  <a:gd name="T16" fmla="*/ 10 w 10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20">
                    <a:moveTo>
                      <a:pt x="10" y="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4" y="20"/>
                    </a:lnTo>
                    <a:lnTo>
                      <a:pt x="10" y="16"/>
                    </a:lnTo>
                    <a:lnTo>
                      <a:pt x="10" y="16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1" name="Freeform 412"/>
              <p:cNvSpPr>
                <a:spLocks/>
              </p:cNvSpPr>
              <p:nvPr/>
            </p:nvSpPr>
            <p:spPr bwMode="auto">
              <a:xfrm>
                <a:off x="531" y="1491"/>
                <a:ext cx="9" cy="16"/>
              </a:xfrm>
              <a:custGeom>
                <a:avLst/>
                <a:gdLst>
                  <a:gd name="T0" fmla="*/ 6 w 9"/>
                  <a:gd name="T1" fmla="*/ 0 h 16"/>
                  <a:gd name="T2" fmla="*/ 6 w 9"/>
                  <a:gd name="T3" fmla="*/ 0 h 16"/>
                  <a:gd name="T4" fmla="*/ 0 w 9"/>
                  <a:gd name="T5" fmla="*/ 0 h 16"/>
                  <a:gd name="T6" fmla="*/ 0 w 9"/>
                  <a:gd name="T7" fmla="*/ 16 h 16"/>
                  <a:gd name="T8" fmla="*/ 9 w 9"/>
                  <a:gd name="T9" fmla="*/ 16 h 16"/>
                  <a:gd name="T10" fmla="*/ 6 w 9"/>
                  <a:gd name="T11" fmla="*/ 16 h 16"/>
                  <a:gd name="T12" fmla="*/ 6 w 9"/>
                  <a:gd name="T13" fmla="*/ 0 h 16"/>
                  <a:gd name="T14" fmla="*/ 6 w 9"/>
                  <a:gd name="T15" fmla="*/ 0 h 16"/>
                  <a:gd name="T16" fmla="*/ 6 w 9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16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9" y="16"/>
                    </a:lnTo>
                    <a:lnTo>
                      <a:pt x="6" y="16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2" name="AutoShape 418"/>
              <p:cNvSpPr>
                <a:spLocks noChangeArrowheads="1"/>
              </p:cNvSpPr>
              <p:nvPr/>
            </p:nvSpPr>
            <p:spPr bwMode="auto">
              <a:xfrm>
                <a:off x="384" y="2112"/>
                <a:ext cx="765" cy="576"/>
              </a:xfrm>
              <a:prstGeom prst="parallelogram">
                <a:avLst>
                  <a:gd name="adj" fmla="val 20315"/>
                </a:avLst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3" name="AutoShape 191"/>
              <p:cNvSpPr>
                <a:spLocks noChangeArrowheads="1"/>
              </p:cNvSpPr>
              <p:nvPr/>
            </p:nvSpPr>
            <p:spPr bwMode="auto">
              <a:xfrm rot="178329">
                <a:off x="480" y="2256"/>
                <a:ext cx="528" cy="288"/>
              </a:xfrm>
              <a:prstGeom prst="parallelogram">
                <a:avLst>
                  <a:gd name="adj" fmla="val 15626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1400" dirty="0">
                  <a:solidFill>
                    <a:srgbClr val="4C4D4F"/>
                  </a:solidFill>
                  <a:latin typeface="+mn-ea"/>
                </a:endParaRPr>
              </a:p>
            </p:txBody>
          </p:sp>
        </p:grpSp>
        <p:cxnSp>
          <p:nvCxnSpPr>
            <p:cNvPr id="1040" name="肘形连接符 1039"/>
            <p:cNvCxnSpPr>
              <a:stCxn id="41" idx="3"/>
            </p:cNvCxnSpPr>
            <p:nvPr/>
          </p:nvCxnSpPr>
          <p:spPr>
            <a:xfrm flipV="1">
              <a:off x="7044847" y="5154902"/>
              <a:ext cx="610651" cy="3071"/>
            </a:xfrm>
            <a:prstGeom prst="bentConnector3">
              <a:avLst>
                <a:gd name="adj1" fmla="val 50000"/>
              </a:avLst>
            </a:prstGeom>
            <a:ln w="57150">
              <a:solidFill>
                <a:schemeClr val="accent3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/>
          <p:cNvGrpSpPr/>
          <p:nvPr/>
        </p:nvGrpSpPr>
        <p:grpSpPr>
          <a:xfrm>
            <a:off x="2855879" y="3639865"/>
            <a:ext cx="4651677" cy="736367"/>
            <a:chOff x="2855879" y="3639865"/>
            <a:chExt cx="4651677" cy="736367"/>
          </a:xfrm>
        </p:grpSpPr>
        <p:cxnSp>
          <p:nvCxnSpPr>
            <p:cNvPr id="16" name="肘形连接符 15"/>
            <p:cNvCxnSpPr>
              <a:stCxn id="518" idx="2"/>
              <a:endCxn id="606" idx="0"/>
            </p:cNvCxnSpPr>
            <p:nvPr/>
          </p:nvCxnSpPr>
          <p:spPr>
            <a:xfrm rot="5400000">
              <a:off x="4813534" y="1682210"/>
              <a:ext cx="736367" cy="4651677"/>
            </a:xfrm>
            <a:prstGeom prst="bentConnector3">
              <a:avLst>
                <a:gd name="adj1" fmla="val 19979"/>
              </a:avLst>
            </a:prstGeom>
            <a:ln w="57150">
              <a:solidFill>
                <a:schemeClr val="accent3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AutoShape 397"/>
            <p:cNvSpPr>
              <a:spLocks noChangeArrowheads="1"/>
            </p:cNvSpPr>
            <p:nvPr/>
          </p:nvSpPr>
          <p:spPr bwMode="auto">
            <a:xfrm>
              <a:off x="5434683" y="3650202"/>
              <a:ext cx="852849" cy="262815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pPr marL="171450" indent="-171450" algn="ctr"/>
              <a:r>
                <a:rPr lang="zh-CN" altLang="en-US" sz="900" b="1" dirty="0">
                  <a:latin typeface="宋体" pitchFamily="2" charset="-122"/>
                  <a:ea typeface="宋体" pitchFamily="2" charset="-122"/>
                </a:rPr>
                <a:t>发放</a:t>
              </a:r>
              <a:endParaRPr lang="en-US" altLang="zh-CN" sz="900" b="1" dirty="0">
                <a:latin typeface="宋体" pitchFamily="2" charset="-122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0731080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未来选装</a:t>
            </a:r>
            <a:r>
              <a:rPr lang="zh-CN" altLang="en-US" dirty="0" smtClean="0"/>
              <a:t>选配总体业务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66693" y="1033692"/>
            <a:ext cx="8589524" cy="5167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未来的装载机产品使用超级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的管理方式，减少整车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的数量，由此降低整车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的维护成本。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使用超级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可以大大减少设计人员对产品的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的维护量，缩短工作时间，大大提高产品研发对市场的响应速度。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以整车超级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为基础，根据市场需求的不同，对低端用户提供较少的可选配置，例如国内用户只提供工作装置的选择，对主机不提供过多选择。对于高端客户考虑提供较多的可选配置，例如国外比较成熟的客户习惯于按单定制，接受相对较长的交货周期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对整车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中基本不变的部分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例如：装载机主机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可考虑生产成库存，对可选配的部分可考虑按订单需求进行装配，这样即可以避免销售预测生产计划不准的带来库存压力问题，又可以在满足客户需求的前提下缩短供货周期。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100259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未来选装选配总体业务流程图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20" y="941033"/>
            <a:ext cx="8833282" cy="5541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92417705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与现有业务差别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82102" y="1027312"/>
            <a:ext cx="8589524" cy="1188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32538479"/>
              </p:ext>
            </p:extLst>
          </p:nvPr>
        </p:nvGraphicFramePr>
        <p:xfrm>
          <a:off x="152400" y="990600"/>
          <a:ext cx="8839200" cy="5607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86000"/>
                <a:gridCol w="4343400"/>
              </a:tblGrid>
              <a:tr h="3809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业务角色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与现有业务是否相同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说明</a:t>
                      </a:r>
                      <a:endParaRPr lang="zh-CN" altLang="en-US" sz="1800" dirty="0"/>
                    </a:p>
                  </a:txBody>
                  <a:tcPr marT="45713" marB="45713"/>
                </a:tc>
              </a:tr>
              <a:tr h="689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/>
                        <a:t>销售</a:t>
                      </a:r>
                      <a:endParaRPr lang="en-US" altLang="zh-CN" sz="1800" dirty="0" smtClean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否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销售人员在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SAP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系统配置器中根据订单需求进行选择，选择完成后生成订单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，不再使用整机号下单。</a:t>
                      </a:r>
                      <a:endParaRPr lang="zh-CN" altLang="en-US" sz="12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13" marB="45713"/>
                </a:tc>
              </a:tr>
              <a:tr h="689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/>
                        <a:t>设计</a:t>
                      </a:r>
                    </a:p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否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设计工程师不再维护一机一</a:t>
                      </a:r>
                      <a:r>
                        <a:rPr lang="en-US" altLang="zh-CN" sz="1200" kern="1200" dirty="0" smtClean="0">
                          <a:solidFill>
                            <a:schemeClr val="dk1"/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BOM</a:t>
                      </a:r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，只按照产品族的划分维护超级</a:t>
                      </a:r>
                      <a:r>
                        <a:rPr lang="en-US" altLang="zh-CN" sz="1200" kern="1200" dirty="0" smtClean="0">
                          <a:solidFill>
                            <a:schemeClr val="dk1"/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BOM</a:t>
                      </a:r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和选装规则。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T="45713" marB="45713"/>
                </a:tc>
              </a:tr>
              <a:tr h="689318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制造</a:t>
                      </a:r>
                      <a:r>
                        <a:rPr lang="en-US" altLang="zh-CN" sz="1800" dirty="0" smtClean="0"/>
                        <a:t>(MBOM</a:t>
                      </a:r>
                      <a:r>
                        <a:rPr lang="zh-CN" altLang="en-US" sz="1800" dirty="0" smtClean="0"/>
                        <a:t>和工艺</a:t>
                      </a:r>
                      <a:r>
                        <a:rPr lang="en-US" altLang="zh-CN" sz="1800" dirty="0" smtClean="0"/>
                        <a:t>)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否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不再有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15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编码的一机一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，使用并维护超级制造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和选装规则。</a:t>
                      </a:r>
                      <a:endParaRPr lang="zh-CN" altLang="en-US" sz="12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13" marB="45713"/>
                </a:tc>
              </a:tr>
              <a:tr h="689318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财务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否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不再有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15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编码的一机一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，只能使用超级制造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，在没有订单的情况下，整车和许多大部件都不能确定其下选装的具体零部件，无法按照现有的业务模式对整机和大部件进行成本分析。</a:t>
                      </a:r>
                    </a:p>
                  </a:txBody>
                  <a:tcPr marT="45713" marB="45713"/>
                </a:tc>
              </a:tr>
              <a:tr h="822944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生产计划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否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不再有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15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编码的一机一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，只能使用超级制造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，在没有订单的情况下，整车和许多大部件都不能确定其下选装的具体零部件。</a:t>
                      </a:r>
                    </a:p>
                    <a:p>
                      <a:endParaRPr lang="zh-CN" altLang="en-US" sz="1200" dirty="0"/>
                    </a:p>
                  </a:txBody>
                  <a:tcPr marT="45713" marB="45713"/>
                </a:tc>
              </a:tr>
              <a:tr h="822944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采购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否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不再有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15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编码的一机一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，只能使用超级制造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，在没有订单的情况下，整车和许多大部件都不能确定其下选装的具体零部件。</a:t>
                      </a:r>
                    </a:p>
                    <a:p>
                      <a:endParaRPr lang="zh-CN" altLang="en-US" sz="1200" dirty="0"/>
                    </a:p>
                  </a:txBody>
                  <a:tcPr marT="45713" marB="45713"/>
                </a:tc>
              </a:tr>
              <a:tr h="822944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生产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否</a:t>
                      </a:r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不再有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15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编码的一机一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，只能使用超级制造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BOM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，在没有订单的情况下，整车和许多大部件都不能确定其下选装的具体零部件</a:t>
                      </a:r>
                      <a:r>
                        <a:rPr lang="en-US" altLang="zh-CN" sz="1200" dirty="0" smtClean="0">
                          <a:latin typeface="宋体" pitchFamily="2" charset="-122"/>
                          <a:ea typeface="宋体" pitchFamily="2" charset="-122"/>
                        </a:rPr>
                        <a:t>,</a:t>
                      </a:r>
                      <a:r>
                        <a:rPr lang="zh-CN" altLang="en-US" sz="1200" dirty="0" smtClean="0">
                          <a:latin typeface="宋体" pitchFamily="2" charset="-122"/>
                          <a:ea typeface="宋体" pitchFamily="2" charset="-122"/>
                        </a:rPr>
                        <a:t>分装厂的某些大总成将没有实际物料号。</a:t>
                      </a:r>
                    </a:p>
                    <a:p>
                      <a:endParaRPr lang="zh-CN" altLang="en-US" sz="1200" dirty="0"/>
                    </a:p>
                  </a:txBody>
                  <a:tcPr marT="45713" marB="45713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6314876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58" name="标题 5"/>
          <p:cNvSpPr>
            <a:spLocks noGrp="1"/>
          </p:cNvSpPr>
          <p:nvPr>
            <p:ph type="title"/>
          </p:nvPr>
        </p:nvSpPr>
        <p:spPr>
          <a:xfrm>
            <a:off x="216100" y="192088"/>
            <a:ext cx="7612056" cy="457200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柳工选装选配业务描述方案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9" name="副标题 6"/>
          <p:cNvSpPr>
            <a:spLocks noGrp="1"/>
          </p:cNvSpPr>
          <p:nvPr>
            <p:ph type="subTitle" idx="15"/>
          </p:nvPr>
        </p:nvSpPr>
        <p:spPr>
          <a:xfrm>
            <a:off x="216100" y="896112"/>
            <a:ext cx="7095744" cy="338806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目录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0" name="AutoShape 3"/>
          <p:cNvSpPr>
            <a:spLocks noChangeArrowheads="1"/>
          </p:cNvSpPr>
          <p:nvPr/>
        </p:nvSpPr>
        <p:spPr bwMode="auto">
          <a:xfrm>
            <a:off x="1312754" y="1815962"/>
            <a:ext cx="5034258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1635017" y="1776275"/>
            <a:ext cx="4935537" cy="466725"/>
          </a:xfrm>
          <a:prstGeom prst="roundRect">
            <a:avLst>
              <a:gd name="adj" fmla="val 16667"/>
            </a:avLst>
          </a:prstGeom>
          <a:noFill/>
          <a:ln w="38100">
            <a:noFill/>
            <a:round/>
            <a:headEnd/>
            <a:tailEnd/>
          </a:ln>
        </p:spPr>
        <p:txBody>
          <a:bodyPr wrap="none" anchor="ctr"/>
          <a:lstStyle/>
          <a:p>
            <a:pPr latinLnBrk="1"/>
            <a:r>
              <a:rPr kumimoji="1" lang="zh-CN" altLang="en-US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选装业务基本管理</a:t>
            </a:r>
            <a:endParaRPr kumimoji="1" lang="en-US" altLang="ko-KR" sz="2400" dirty="0">
              <a:solidFill>
                <a:schemeClr val="bg1"/>
              </a:solidFill>
              <a:latin typeface="Verdana" pitchFamily="34" charset="0"/>
              <a:ea typeface="굴림" pitchFamily="34" charset="-127"/>
            </a:endParaRP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344245" y="1484922"/>
            <a:ext cx="1275590" cy="3538899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571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atinLnBrk="1">
              <a:defRPr/>
            </a:pPr>
            <a:r>
              <a:rPr kumimoji="1" lang="en-US" altLang="ko-KR" sz="9600" b="1" dirty="0">
                <a:solidFill>
                  <a:srgbClr val="FFFFFF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3</a:t>
            </a:r>
          </a:p>
        </p:txBody>
      </p:sp>
      <p:sp>
        <p:nvSpPr>
          <p:cNvPr id="63" name="AutoShape 3"/>
          <p:cNvSpPr>
            <a:spLocks noChangeArrowheads="1"/>
          </p:cNvSpPr>
          <p:nvPr/>
        </p:nvSpPr>
        <p:spPr bwMode="auto">
          <a:xfrm>
            <a:off x="2312891" y="2569003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概念介绍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16" name="Line 3"/>
          <p:cNvSpPr>
            <a:spLocks noChangeShapeType="1"/>
          </p:cNvSpPr>
          <p:nvPr/>
        </p:nvSpPr>
        <p:spPr bwMode="auto">
          <a:xfrm flipV="1">
            <a:off x="1826707" y="2269863"/>
            <a:ext cx="6607288" cy="387"/>
          </a:xfrm>
          <a:prstGeom prst="line">
            <a:avLst/>
          </a:prstGeom>
          <a:noFill/>
          <a:ln w="50800" cmpd="thickThin">
            <a:solidFill>
              <a:schemeClr val="accent6">
                <a:lumMod val="50000"/>
              </a:schemeClr>
            </a:solidFill>
            <a:round/>
            <a:headEnd/>
            <a:tailEnd/>
          </a:ln>
        </p:spPr>
        <p:txBody>
          <a:bodyPr wrap="square" lIns="91407" tIns="45704" rIns="91407" bIns="45704" anchor="ctr">
            <a:spAutoFit/>
          </a:bodyPr>
          <a:lstStyle/>
          <a:p>
            <a:endParaRPr lang="zh-CN" altLang="en-US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2312890" y="3156408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整车通用产品结构的引入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847511" y="3608149"/>
            <a:ext cx="3417821" cy="37147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6350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lIns="45720" rIns="45720" anchor="ctr" anchorCtr="1"/>
          <a:lstStyle/>
          <a:p>
            <a:pPr algn="ctr" defTabSz="1187450" eaLnBrk="0" hangingPunct="0">
              <a:spcBef>
                <a:spcPct val="30000"/>
              </a:spcBef>
              <a:buClr>
                <a:schemeClr val="folHlink"/>
              </a:buClr>
              <a:defRPr/>
            </a:pPr>
            <a:r>
              <a:rPr lang="zh-CN" altLang="en-US" sz="1400" dirty="0" smtClean="0">
                <a:solidFill>
                  <a:schemeClr val="bg1"/>
                </a:solidFill>
                <a:latin typeface="Arial" pitchFamily="34" charset="0"/>
              </a:rPr>
              <a:t>选项库定义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830578" y="4082283"/>
            <a:ext cx="3417821" cy="37147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6350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lIns="45720" rIns="45720" anchor="ctr" anchorCtr="1"/>
          <a:lstStyle/>
          <a:p>
            <a:pPr algn="ctr" defTabSz="1187450" eaLnBrk="0" hangingPunct="0">
              <a:spcBef>
                <a:spcPct val="30000"/>
              </a:spcBef>
              <a:buClr>
                <a:schemeClr val="folHlink"/>
              </a:buClr>
              <a:defRPr/>
            </a:pPr>
            <a:r>
              <a:rPr lang="zh-CN" altLang="en-US" sz="1400" dirty="0" smtClean="0">
                <a:solidFill>
                  <a:schemeClr val="bg1"/>
                </a:solidFill>
              </a:rPr>
              <a:t>通用产品结构</a:t>
            </a:r>
            <a:r>
              <a:rPr lang="zh-CN" altLang="en-US" sz="1400" dirty="0" smtClean="0">
                <a:solidFill>
                  <a:schemeClr val="bg1"/>
                </a:solidFill>
                <a:latin typeface="Arial" pitchFamily="34" charset="0"/>
              </a:rPr>
              <a:t>模板</a:t>
            </a:r>
            <a:r>
              <a:rPr lang="zh-CN" altLang="en-US" sz="1400" dirty="0" smtClean="0">
                <a:solidFill>
                  <a:schemeClr val="bg1"/>
                </a:solidFill>
              </a:rPr>
              <a:t>定义</a:t>
            </a:r>
            <a:endParaRPr lang="en-US" altLang="en-US" sz="1400" dirty="0" smtClean="0">
              <a:solidFill>
                <a:schemeClr val="bg1"/>
              </a:solidFill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813645" y="4573349"/>
            <a:ext cx="3417821" cy="37147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6350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lIns="45720" rIns="45720" anchor="ctr" anchorCtr="1"/>
          <a:lstStyle/>
          <a:p>
            <a:pPr algn="ctr" eaLnBrk="0" hangingPunct="0">
              <a:defRPr/>
            </a:pPr>
            <a:r>
              <a:rPr lang="zh-CN" altLang="en-US" sz="1400" dirty="0" smtClean="0">
                <a:solidFill>
                  <a:schemeClr val="bg1"/>
                </a:solidFill>
              </a:rPr>
              <a:t>新产品家族</a:t>
            </a:r>
            <a:r>
              <a:rPr lang="en-US" altLang="zh-CN" sz="1400" dirty="0" smtClean="0">
                <a:solidFill>
                  <a:schemeClr val="bg1"/>
                </a:solidFill>
              </a:rPr>
              <a:t>Super</a:t>
            </a:r>
            <a:r>
              <a:rPr lang="zh-CN" altLang="en-US" sz="1400" dirty="0" smtClean="0">
                <a:solidFill>
                  <a:schemeClr val="bg1"/>
                </a:solidFill>
              </a:rPr>
              <a:t> </a:t>
            </a:r>
            <a:r>
              <a:rPr lang="en-US" altLang="zh-CN" sz="1400" dirty="0" smtClean="0">
                <a:solidFill>
                  <a:schemeClr val="bg1"/>
                </a:solidFill>
              </a:rPr>
              <a:t>BOM</a:t>
            </a:r>
            <a:r>
              <a:rPr lang="zh-CN" altLang="en-US" sz="1400" dirty="0" smtClean="0">
                <a:solidFill>
                  <a:schemeClr val="bg1"/>
                </a:solidFill>
              </a:rPr>
              <a:t>定义 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2796712" y="5039016"/>
            <a:ext cx="3417821" cy="37147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6350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lIns="45720" rIns="45720" anchor="ctr" anchorCtr="1"/>
          <a:lstStyle/>
          <a:p>
            <a:pPr algn="ctr" eaLnBrk="0" hangingPunct="0">
              <a:defRPr/>
            </a:pPr>
            <a:r>
              <a:rPr lang="zh-CN" altLang="en-US" sz="1400" dirty="0" smtClean="0">
                <a:solidFill>
                  <a:schemeClr val="bg1"/>
                </a:solidFill>
              </a:rPr>
              <a:t>新产品家族选项定义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332859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概念介绍</a:t>
            </a:r>
            <a:r>
              <a:rPr lang="en-US" altLang="zh-CN" dirty="0"/>
              <a:t>(1/4)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-505023" y="2225598"/>
            <a:ext cx="8235950" cy="5027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4213" indent="-22860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–"/>
              <a:defRPr sz="18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2pPr>
            <a:lvl3pPr marL="1143000" indent="-228600" algn="l" defTabSz="108585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•"/>
              <a:defRPr sz="16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42875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4pPr>
            <a:lvl5pPr marL="1827213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700" dirty="0" smtClean="0"/>
          </a:p>
          <a:p>
            <a:endParaRPr lang="en-US" altLang="zh-CN" sz="1700" dirty="0"/>
          </a:p>
        </p:txBody>
      </p:sp>
      <p:sp>
        <p:nvSpPr>
          <p:cNvPr id="18" name="矩形 17"/>
          <p:cNvSpPr/>
          <p:nvPr/>
        </p:nvSpPr>
        <p:spPr>
          <a:xfrm>
            <a:off x="152400" y="914400"/>
            <a:ext cx="8839200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产</a:t>
            </a:r>
            <a:r>
              <a:rPr lang="zh-CN" altLang="en-US" sz="1800" dirty="0" smtClean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品族</a:t>
            </a:r>
            <a:endParaRPr lang="en-US" altLang="zh-CN" sz="1800" dirty="0" smtClean="0">
              <a:solidFill>
                <a:schemeClr val="accent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0" dirty="0" smtClean="0">
                <a:latin typeface="宋体" pitchFamily="2" charset="-122"/>
                <a:ea typeface="宋体" pitchFamily="2" charset="-122"/>
              </a:rPr>
              <a:t>是</a:t>
            </a:r>
            <a:r>
              <a:rPr lang="zh-CN" altLang="en-US" sz="1600" b="0" dirty="0">
                <a:latin typeface="宋体" pitchFamily="2" charset="-122"/>
                <a:ea typeface="宋体" pitchFamily="2" charset="-122"/>
              </a:rPr>
              <a:t>以产品平台为基础</a:t>
            </a:r>
            <a:r>
              <a:rPr lang="en-US" altLang="zh-CN" sz="1600" b="0" dirty="0" smtClean="0"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1600" b="0" dirty="0" smtClean="0">
                <a:latin typeface="宋体" pitchFamily="2" charset="-122"/>
                <a:ea typeface="宋体" pitchFamily="2" charset="-122"/>
              </a:rPr>
              <a:t> 定位于一系列相关联的市场应用的一组产品集合。</a:t>
            </a:r>
            <a:endParaRPr lang="en-US" altLang="zh-CN" sz="1600" b="0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lnSpc>
                <a:spcPct val="150000"/>
              </a:lnSpc>
              <a:buFont typeface="宋体" pitchFamily="2" charset="-122"/>
              <a:buChar char="－"/>
            </a:pPr>
            <a:r>
              <a:rPr lang="zh-CN" altLang="en-US" sz="1600" b="0" dirty="0">
                <a:latin typeface="宋体" pitchFamily="2" charset="-122"/>
                <a:ea typeface="宋体" pitchFamily="2" charset="-122"/>
              </a:rPr>
              <a:t>产</a:t>
            </a:r>
            <a:r>
              <a:rPr lang="zh-CN" altLang="en-US" sz="1600" b="0" dirty="0" smtClean="0">
                <a:latin typeface="宋体" pitchFamily="2" charset="-122"/>
                <a:ea typeface="宋体" pitchFamily="2" charset="-122"/>
              </a:rPr>
              <a:t>品族中产品具有相同的市场定位和客户群需求</a:t>
            </a:r>
            <a:endParaRPr lang="en-US" altLang="zh-CN" sz="1600" b="0" dirty="0" smtClean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lnSpc>
                <a:spcPct val="150000"/>
              </a:lnSpc>
              <a:buFont typeface="宋体" pitchFamily="2" charset="-122"/>
              <a:buChar char="－"/>
            </a:pPr>
            <a:r>
              <a:rPr lang="zh-CN" altLang="en-US" sz="1600" b="0" dirty="0">
                <a:latin typeface="宋体" pitchFamily="2" charset="-122"/>
                <a:ea typeface="宋体" pitchFamily="2" charset="-122"/>
              </a:rPr>
              <a:t>产</a:t>
            </a:r>
            <a:r>
              <a:rPr lang="zh-CN" altLang="en-US" sz="1600" b="0" dirty="0" smtClean="0">
                <a:latin typeface="宋体" pitchFamily="2" charset="-122"/>
                <a:ea typeface="宋体" pitchFamily="2" charset="-122"/>
              </a:rPr>
              <a:t>品族中产品具有相似的产品结构和功能，并能通过通用结构来表达</a:t>
            </a:r>
            <a:endParaRPr lang="en-US" altLang="zh-CN" sz="1600" b="0" dirty="0" smtClean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600" b="0" dirty="0"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19" name="Tabelle 5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49602907"/>
              </p:ext>
            </p:extLst>
          </p:nvPr>
        </p:nvGraphicFramePr>
        <p:xfrm>
          <a:off x="414281" y="2800936"/>
          <a:ext cx="7623256" cy="1323024"/>
        </p:xfrm>
        <a:graphic>
          <a:graphicData uri="http://schemas.openxmlformats.org/drawingml/2006/table">
            <a:tbl>
              <a:tblPr/>
              <a:tblGrid>
                <a:gridCol w="849671"/>
                <a:gridCol w="114151"/>
                <a:gridCol w="1124660"/>
                <a:gridCol w="1383693"/>
                <a:gridCol w="461231"/>
                <a:gridCol w="922463"/>
                <a:gridCol w="922463"/>
                <a:gridCol w="461231"/>
                <a:gridCol w="1383693"/>
              </a:tblGrid>
              <a:tr h="159193">
                <a:tc gridSpan="2">
                  <a:txBody>
                    <a:bodyPr/>
                    <a:lstStyle/>
                    <a:p>
                      <a:pPr algn="l" fontAlgn="b"/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轮式装载机</a:t>
                      </a:r>
                      <a:endParaRPr lang="en-US" altLang="zh-CN" sz="1400" b="0" i="0" u="none" strike="noStrike" noProof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59193">
                <a:tc gridSpan="3">
                  <a:txBody>
                    <a:bodyPr/>
                    <a:lstStyle/>
                    <a:p>
                      <a:pPr algn="l" fontAlgn="b"/>
                      <a:r>
                        <a:rPr lang="zh-CN" altLang="en-US" sz="1400" b="1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产品平台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855N</a:t>
                      </a:r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装载机</a:t>
                      </a:r>
                      <a:endParaRPr lang="en-US" altLang="zh-CN" sz="1400" b="0" i="0" u="none" strike="noStrike" noProof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5919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驱动桥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柳工分体箱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5919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变速箱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柳工短轴箱</a:t>
                      </a:r>
                      <a:endParaRPr lang="en-US" altLang="zh-CN" sz="1400" b="0" i="0" u="none" strike="noStrike" noProof="0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1526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发动机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潍柴</a:t>
                      </a:r>
                      <a:r>
                        <a:rPr lang="en-US" altLang="zh-CN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II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玉柴</a:t>
                      </a:r>
                      <a:r>
                        <a:rPr lang="en-US" altLang="zh-CN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II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上柴</a:t>
                      </a:r>
                      <a:r>
                        <a:rPr lang="en-US" altLang="zh-CN" sz="1400" b="0" i="0" u="none" strike="noStrike" noProof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II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669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noProof="0" smtClean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液压系统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两联阀</a:t>
                      </a:r>
                      <a:r>
                        <a:rPr lang="en-US" altLang="zh-CN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两联阀</a:t>
                      </a:r>
                      <a:r>
                        <a:rPr 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II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三联阀</a:t>
                      </a:r>
                      <a:r>
                        <a:rPr 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三联阀</a:t>
                      </a:r>
                      <a:r>
                        <a:rPr lang="en-US" sz="1400" b="0" i="0" u="none" strike="noStrike" noProof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II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24596015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概念介绍</a:t>
            </a:r>
            <a:r>
              <a:rPr lang="en-US" altLang="zh-CN" dirty="0" smtClean="0"/>
              <a:t>(2/4</a:t>
            </a:r>
            <a:r>
              <a:rPr lang="en-US" altLang="zh-CN" dirty="0"/>
              <a:t>)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-505023" y="2225598"/>
            <a:ext cx="8235950" cy="5027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4213" indent="-22860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–"/>
              <a:defRPr sz="18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2pPr>
            <a:lvl3pPr marL="1143000" indent="-228600" algn="l" defTabSz="108585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•"/>
              <a:defRPr sz="16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42875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4pPr>
            <a:lvl5pPr marL="1827213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700" dirty="0" smtClean="0"/>
          </a:p>
          <a:p>
            <a:endParaRPr lang="en-US" altLang="zh-CN" sz="1700" dirty="0"/>
          </a:p>
        </p:txBody>
      </p:sp>
      <p:sp>
        <p:nvSpPr>
          <p:cNvPr id="79" name="矩形 78"/>
          <p:cNvSpPr/>
          <p:nvPr/>
        </p:nvSpPr>
        <p:spPr>
          <a:xfrm>
            <a:off x="152400" y="914400"/>
            <a:ext cx="8839200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chemeClr val="accent2">
                    <a:lumMod val="75000"/>
                  </a:schemeClr>
                </a:solidFill>
                <a:latin typeface="+mj-lt"/>
                <a:ea typeface="宋体" pitchFamily="2" charset="-122"/>
              </a:rPr>
              <a:t>GPS </a:t>
            </a:r>
            <a:r>
              <a:rPr lang="en-US" altLang="zh-CN" sz="1800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— </a:t>
            </a: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通用产品</a:t>
            </a:r>
            <a:r>
              <a:rPr lang="zh-CN" altLang="en-US" sz="1800" dirty="0" smtClean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结构</a:t>
            </a:r>
            <a:endParaRPr lang="en-US" altLang="zh-CN" sz="1800" dirty="0" smtClean="0">
              <a:solidFill>
                <a:schemeClr val="accent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1600" b="0" dirty="0" smtClean="0">
                <a:latin typeface="宋体" pitchFamily="2" charset="-122"/>
                <a:ea typeface="宋体" pitchFamily="2" charset="-122"/>
              </a:rPr>
              <a:t>每个产品族都拥有一个通用产品结构，我们通过它来表达产品族的</a:t>
            </a:r>
            <a:r>
              <a:rPr lang="zh-CN" altLang="en-US" sz="1600" b="0" dirty="0">
                <a:latin typeface="宋体" pitchFamily="2" charset="-122"/>
                <a:ea typeface="宋体" pitchFamily="2" charset="-122"/>
              </a:rPr>
              <a:t>结构信息，通用产品结构中的每个模块或</a:t>
            </a:r>
            <a:r>
              <a:rPr lang="zh-CN" altLang="en-US" sz="1600" b="0" dirty="0" smtClean="0">
                <a:latin typeface="宋体" pitchFamily="2" charset="-122"/>
                <a:ea typeface="宋体" pitchFamily="2" charset="-122"/>
              </a:rPr>
              <a:t>子模块</a:t>
            </a:r>
            <a:r>
              <a:rPr lang="zh-CN" altLang="en-US" sz="1600" b="0" dirty="0">
                <a:latin typeface="宋体" pitchFamily="2" charset="-122"/>
                <a:ea typeface="宋体" pitchFamily="2" charset="-122"/>
              </a:rPr>
              <a:t>也都有自己的结构。</a:t>
            </a:r>
            <a:endParaRPr lang="en-US" altLang="zh-CN" sz="1600" b="0" dirty="0" smtClean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600" b="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80" name="AutoShape 7"/>
          <p:cNvCxnSpPr>
            <a:cxnSpLocks noChangeShapeType="1"/>
          </p:cNvCxnSpPr>
          <p:nvPr/>
        </p:nvCxnSpPr>
        <p:spPr bwMode="auto">
          <a:xfrm rot="16200000" flipH="1">
            <a:off x="398295" y="2406817"/>
            <a:ext cx="582923" cy="157137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81" name="Gruppieren 93"/>
          <p:cNvGrpSpPr>
            <a:grpSpLocks/>
          </p:cNvGrpSpPr>
          <p:nvPr/>
        </p:nvGrpSpPr>
        <p:grpSpPr bwMode="auto">
          <a:xfrm>
            <a:off x="458788" y="1905000"/>
            <a:ext cx="1692955" cy="288925"/>
            <a:chOff x="214661" y="1225658"/>
            <a:chExt cx="1562857" cy="289021"/>
          </a:xfrm>
        </p:grpSpPr>
        <p:sp>
          <p:nvSpPr>
            <p:cNvPr id="82" name="AutoShape 47"/>
            <p:cNvSpPr>
              <a:spLocks noChangeArrowheads="1"/>
            </p:cNvSpPr>
            <p:nvPr/>
          </p:nvSpPr>
          <p:spPr bwMode="auto">
            <a:xfrm>
              <a:off x="214661" y="1225658"/>
              <a:ext cx="1562857" cy="284030"/>
            </a:xfrm>
            <a:prstGeom prst="roundRect">
              <a:avLst>
                <a:gd name="adj" fmla="val 30056"/>
              </a:avLst>
            </a:prstGeom>
            <a:solidFill>
              <a:srgbClr val="9999FF"/>
            </a:solidFill>
            <a:ln w="6350" algn="ctr">
              <a:solidFill>
                <a:srgbClr val="0E319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noProof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装载机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3" name="Abgerundetes Rechteck 92"/>
            <p:cNvSpPr/>
            <p:nvPr/>
          </p:nvSpPr>
          <p:spPr>
            <a:xfrm>
              <a:off x="260091" y="1468627"/>
              <a:ext cx="190516" cy="46052"/>
            </a:xfrm>
            <a:prstGeom prst="round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84" name="Rectangle 45"/>
          <p:cNvSpPr>
            <a:spLocks noChangeArrowheads="1"/>
          </p:cNvSpPr>
          <p:nvPr/>
        </p:nvSpPr>
        <p:spPr bwMode="auto">
          <a:xfrm>
            <a:off x="768325" y="2672080"/>
            <a:ext cx="1441435" cy="209535"/>
          </a:xfrm>
          <a:prstGeom prst="rect">
            <a:avLst/>
          </a:prstGeom>
          <a:solidFill>
            <a:srgbClr val="FFFF99"/>
          </a:solidFill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0" noProof="0" dirty="0" smtClean="0">
                <a:solidFill>
                  <a:sysClr val="windowText" lastClr="000000"/>
                </a:solidFill>
                <a:latin typeface="宋体" pitchFamily="2" charset="-122"/>
                <a:ea typeface="宋体" pitchFamily="2" charset="-122"/>
              </a:rPr>
              <a:t>工作装置系统组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5" name="Rectangle 46"/>
          <p:cNvSpPr>
            <a:spLocks noChangeArrowheads="1"/>
          </p:cNvSpPr>
          <p:nvPr/>
        </p:nvSpPr>
        <p:spPr bwMode="auto">
          <a:xfrm>
            <a:off x="842289" y="2594298"/>
            <a:ext cx="61923" cy="2873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6" name="Rectangle 51"/>
          <p:cNvSpPr>
            <a:spLocks noChangeArrowheads="1"/>
          </p:cNvSpPr>
          <p:nvPr/>
        </p:nvSpPr>
        <p:spPr bwMode="auto">
          <a:xfrm>
            <a:off x="1344555" y="4167394"/>
            <a:ext cx="1441435" cy="209535"/>
          </a:xfrm>
          <a:prstGeom prst="rect">
            <a:avLst/>
          </a:prstGeom>
          <a:solidFill>
            <a:srgbClr val="FFFF99"/>
          </a:solidFill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0" dirty="0" smtClean="0">
                <a:solidFill>
                  <a:sysClr val="windowText" lastClr="000000"/>
                </a:solidFill>
                <a:latin typeface="宋体" pitchFamily="2" charset="-122"/>
                <a:ea typeface="宋体" pitchFamily="2" charset="-122"/>
              </a:rPr>
              <a:t>工作装置系统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87" name="AutoShape 62"/>
          <p:cNvCxnSpPr>
            <a:cxnSpLocks noChangeShapeType="1"/>
          </p:cNvCxnSpPr>
          <p:nvPr/>
        </p:nvCxnSpPr>
        <p:spPr bwMode="auto">
          <a:xfrm rot="16200000" flipH="1">
            <a:off x="413635" y="3341247"/>
            <a:ext cx="1390536" cy="471304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88" name="Group 56"/>
          <p:cNvGrpSpPr>
            <a:grpSpLocks/>
          </p:cNvGrpSpPr>
          <p:nvPr/>
        </p:nvGrpSpPr>
        <p:grpSpPr bwMode="auto">
          <a:xfrm>
            <a:off x="1344557" y="2970503"/>
            <a:ext cx="1585923" cy="209535"/>
            <a:chOff x="3888" y="2160"/>
            <a:chExt cx="922" cy="132"/>
          </a:xfrm>
        </p:grpSpPr>
        <p:sp>
          <p:nvSpPr>
            <p:cNvPr id="89" name="Rectangle 57"/>
            <p:cNvSpPr>
              <a:spLocks noChangeArrowheads="1"/>
            </p:cNvSpPr>
            <p:nvPr/>
          </p:nvSpPr>
          <p:spPr bwMode="auto">
            <a:xfrm>
              <a:off x="3888" y="2160"/>
              <a:ext cx="922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noProof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工作装置限位系统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90" name="Rectangle 58"/>
            <p:cNvSpPr>
              <a:spLocks noChangeArrowheads="1"/>
            </p:cNvSpPr>
            <p:nvPr/>
          </p:nvSpPr>
          <p:spPr bwMode="auto">
            <a:xfrm>
              <a:off x="3921" y="2160"/>
              <a:ext cx="36" cy="1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91" name="AutoShape 63"/>
          <p:cNvCxnSpPr>
            <a:cxnSpLocks noChangeShapeType="1"/>
          </p:cNvCxnSpPr>
          <p:nvPr/>
        </p:nvCxnSpPr>
        <p:spPr bwMode="auto">
          <a:xfrm rot="16200000" flipH="1">
            <a:off x="1012080" y="2742802"/>
            <a:ext cx="193646" cy="471304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92" name="Group 53"/>
          <p:cNvGrpSpPr>
            <a:grpSpLocks/>
          </p:cNvGrpSpPr>
          <p:nvPr/>
        </p:nvGrpSpPr>
        <p:grpSpPr bwMode="auto">
          <a:xfrm>
            <a:off x="1344555" y="5592525"/>
            <a:ext cx="1441435" cy="290492"/>
            <a:chOff x="3888" y="2109"/>
            <a:chExt cx="838" cy="183"/>
          </a:xfrm>
        </p:grpSpPr>
        <p:sp>
          <p:nvSpPr>
            <p:cNvPr id="93" name="Rectangle 54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94" name="Rectangle 55"/>
            <p:cNvSpPr>
              <a:spLocks noChangeArrowheads="1"/>
            </p:cNvSpPr>
            <p:nvPr/>
          </p:nvSpPr>
          <p:spPr bwMode="auto">
            <a:xfrm>
              <a:off x="3921" y="2109"/>
              <a:ext cx="35" cy="1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95" name="AutoShape 64"/>
          <p:cNvCxnSpPr>
            <a:cxnSpLocks noChangeShapeType="1"/>
          </p:cNvCxnSpPr>
          <p:nvPr/>
        </p:nvCxnSpPr>
        <p:spPr bwMode="auto">
          <a:xfrm rot="16200000" flipH="1">
            <a:off x="-339406" y="4094288"/>
            <a:ext cx="2896618" cy="471304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96" name="Group 74"/>
          <p:cNvGrpSpPr>
            <a:grpSpLocks/>
          </p:cNvGrpSpPr>
          <p:nvPr/>
        </p:nvGrpSpPr>
        <p:grpSpPr bwMode="auto">
          <a:xfrm>
            <a:off x="1822739" y="4467404"/>
            <a:ext cx="1441435" cy="334938"/>
            <a:chOff x="3888" y="2160"/>
            <a:chExt cx="838" cy="211"/>
          </a:xfrm>
        </p:grpSpPr>
        <p:sp>
          <p:nvSpPr>
            <p:cNvPr id="97" name="Rectangle 75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noProof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摇臂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98" name="Rectangle 76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99" name="Group 77"/>
          <p:cNvGrpSpPr>
            <a:grpSpLocks/>
          </p:cNvGrpSpPr>
          <p:nvPr/>
        </p:nvGrpSpPr>
        <p:grpSpPr bwMode="auto">
          <a:xfrm>
            <a:off x="1822739" y="4765940"/>
            <a:ext cx="1441435" cy="334938"/>
            <a:chOff x="3888" y="2160"/>
            <a:chExt cx="838" cy="211"/>
          </a:xfrm>
        </p:grpSpPr>
        <p:sp>
          <p:nvSpPr>
            <p:cNvPr id="100" name="Rectangle 78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noProof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动臂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1" name="Rectangle 79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02" name="Group 80"/>
          <p:cNvGrpSpPr>
            <a:grpSpLocks/>
          </p:cNvGrpSpPr>
          <p:nvPr/>
        </p:nvGrpSpPr>
        <p:grpSpPr bwMode="auto">
          <a:xfrm>
            <a:off x="1822739" y="5064476"/>
            <a:ext cx="1441435" cy="334938"/>
            <a:chOff x="3888" y="2160"/>
            <a:chExt cx="838" cy="211"/>
          </a:xfrm>
        </p:grpSpPr>
        <p:sp>
          <p:nvSpPr>
            <p:cNvPr id="103" name="Rectangle 81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04" name="Rectangle 82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05" name="AutoShape 83"/>
          <p:cNvCxnSpPr>
            <a:cxnSpLocks noChangeShapeType="1"/>
          </p:cNvCxnSpPr>
          <p:nvPr/>
        </p:nvCxnSpPr>
        <p:spPr bwMode="auto">
          <a:xfrm rot="16200000" flipH="1">
            <a:off x="1529944" y="4279390"/>
            <a:ext cx="195130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06" name="AutoShape 84"/>
          <p:cNvCxnSpPr>
            <a:cxnSpLocks noChangeShapeType="1"/>
          </p:cNvCxnSpPr>
          <p:nvPr/>
        </p:nvCxnSpPr>
        <p:spPr bwMode="auto">
          <a:xfrm rot="16200000" flipH="1">
            <a:off x="1380677" y="4428657"/>
            <a:ext cx="493665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07" name="AutoShape 85"/>
          <p:cNvCxnSpPr>
            <a:cxnSpLocks noChangeShapeType="1"/>
          </p:cNvCxnSpPr>
          <p:nvPr/>
        </p:nvCxnSpPr>
        <p:spPr bwMode="auto">
          <a:xfrm rot="16200000" flipH="1">
            <a:off x="1231409" y="4577926"/>
            <a:ext cx="792201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08" name="AutoShape 65"/>
          <p:cNvCxnSpPr>
            <a:cxnSpLocks noChangeShapeType="1"/>
          </p:cNvCxnSpPr>
          <p:nvPr/>
        </p:nvCxnSpPr>
        <p:spPr bwMode="auto">
          <a:xfrm rot="16200000" flipH="1">
            <a:off x="1534577" y="3074608"/>
            <a:ext cx="185865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09" name="AutoShape 72"/>
          <p:cNvCxnSpPr>
            <a:cxnSpLocks noChangeShapeType="1"/>
          </p:cNvCxnSpPr>
          <p:nvPr/>
        </p:nvCxnSpPr>
        <p:spPr bwMode="auto">
          <a:xfrm rot="16200000" flipH="1">
            <a:off x="1385363" y="3223822"/>
            <a:ext cx="484293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10" name="AutoShape 73"/>
          <p:cNvCxnSpPr>
            <a:cxnSpLocks noChangeShapeType="1"/>
          </p:cNvCxnSpPr>
          <p:nvPr/>
        </p:nvCxnSpPr>
        <p:spPr bwMode="auto">
          <a:xfrm rot="16200000" flipH="1">
            <a:off x="1235355" y="3373831"/>
            <a:ext cx="784310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sp>
        <p:nvSpPr>
          <p:cNvPr id="111" name="Oval 109"/>
          <p:cNvSpPr>
            <a:spLocks noChangeArrowheads="1"/>
          </p:cNvSpPr>
          <p:nvPr/>
        </p:nvSpPr>
        <p:spPr bwMode="auto">
          <a:xfrm>
            <a:off x="811153" y="5922151"/>
            <a:ext cx="122127" cy="88894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12" name="AutoShape 110"/>
          <p:cNvCxnSpPr>
            <a:cxnSpLocks noChangeShapeType="1"/>
          </p:cNvCxnSpPr>
          <p:nvPr/>
        </p:nvCxnSpPr>
        <p:spPr bwMode="auto">
          <a:xfrm rot="5400000">
            <a:off x="-568541" y="4332705"/>
            <a:ext cx="2882550" cy="103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13" name="Group 90"/>
          <p:cNvGrpSpPr>
            <a:grpSpLocks/>
          </p:cNvGrpSpPr>
          <p:nvPr/>
        </p:nvGrpSpPr>
        <p:grpSpPr bwMode="auto">
          <a:xfrm>
            <a:off x="1828978" y="5363011"/>
            <a:ext cx="1441435" cy="334938"/>
            <a:chOff x="3888" y="2160"/>
            <a:chExt cx="838" cy="211"/>
          </a:xfrm>
        </p:grpSpPr>
        <p:sp>
          <p:nvSpPr>
            <p:cNvPr id="114" name="Rectangle 91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拉杆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5" name="Rectangle 92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16" name="AutoShape 93"/>
          <p:cNvCxnSpPr>
            <a:cxnSpLocks noChangeShapeType="1"/>
          </p:cNvCxnSpPr>
          <p:nvPr/>
        </p:nvCxnSpPr>
        <p:spPr bwMode="auto">
          <a:xfrm rot="16200000" flipH="1">
            <a:off x="1085261" y="4724074"/>
            <a:ext cx="1090736" cy="396698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17" name="Group 74"/>
          <p:cNvGrpSpPr>
            <a:grpSpLocks/>
          </p:cNvGrpSpPr>
          <p:nvPr/>
        </p:nvGrpSpPr>
        <p:grpSpPr bwMode="auto">
          <a:xfrm>
            <a:off x="1825002" y="5972504"/>
            <a:ext cx="1441435" cy="334938"/>
            <a:chOff x="3888" y="2160"/>
            <a:chExt cx="838" cy="211"/>
          </a:xfrm>
        </p:grpSpPr>
        <p:sp>
          <p:nvSpPr>
            <p:cNvPr id="118" name="Rectangle 75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19" name="Rectangle 76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20" name="AutoShape 93"/>
          <p:cNvCxnSpPr>
            <a:cxnSpLocks noChangeShapeType="1"/>
          </p:cNvCxnSpPr>
          <p:nvPr/>
        </p:nvCxnSpPr>
        <p:spPr bwMode="auto">
          <a:xfrm rot="16200000" flipH="1">
            <a:off x="1530714" y="5782995"/>
            <a:ext cx="195279" cy="393297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21" name="Group 44"/>
          <p:cNvGrpSpPr>
            <a:grpSpLocks/>
          </p:cNvGrpSpPr>
          <p:nvPr/>
        </p:nvGrpSpPr>
        <p:grpSpPr bwMode="auto">
          <a:xfrm>
            <a:off x="1835165" y="3200400"/>
            <a:ext cx="1441435" cy="287317"/>
            <a:chOff x="3888" y="2111"/>
            <a:chExt cx="838" cy="181"/>
          </a:xfrm>
        </p:grpSpPr>
        <p:sp>
          <p:nvSpPr>
            <p:cNvPr id="122" name="Rectangle 45"/>
            <p:cNvSpPr>
              <a:spLocks noChangeArrowheads="1"/>
            </p:cNvSpPr>
            <p:nvPr/>
          </p:nvSpPr>
          <p:spPr bwMode="auto">
            <a:xfrm>
              <a:off x="3888" y="2152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3931" y="2111"/>
              <a:ext cx="36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24" name="AutoShape 7"/>
          <p:cNvCxnSpPr>
            <a:cxnSpLocks noChangeShapeType="1"/>
          </p:cNvCxnSpPr>
          <p:nvPr/>
        </p:nvCxnSpPr>
        <p:spPr bwMode="auto">
          <a:xfrm rot="16200000" flipH="1">
            <a:off x="-1444983" y="4250094"/>
            <a:ext cx="4276739" cy="164397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25" name="Group 44"/>
          <p:cNvGrpSpPr>
            <a:grpSpLocks/>
          </p:cNvGrpSpPr>
          <p:nvPr/>
        </p:nvGrpSpPr>
        <p:grpSpPr bwMode="auto">
          <a:xfrm>
            <a:off x="768325" y="2220918"/>
            <a:ext cx="1441435" cy="287317"/>
            <a:chOff x="3888" y="2111"/>
            <a:chExt cx="838" cy="181"/>
          </a:xfrm>
        </p:grpSpPr>
        <p:sp>
          <p:nvSpPr>
            <p:cNvPr id="126" name="Rectangle 45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驾驶室系统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27" name="Rectangle 46"/>
            <p:cNvSpPr>
              <a:spLocks noChangeArrowheads="1"/>
            </p:cNvSpPr>
            <p:nvPr/>
          </p:nvSpPr>
          <p:spPr bwMode="auto">
            <a:xfrm>
              <a:off x="3931" y="2111"/>
              <a:ext cx="36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28" name="AutoShape 7"/>
          <p:cNvCxnSpPr>
            <a:cxnSpLocks noChangeShapeType="1"/>
          </p:cNvCxnSpPr>
          <p:nvPr/>
        </p:nvCxnSpPr>
        <p:spPr bwMode="auto">
          <a:xfrm rot="16200000" flipH="1">
            <a:off x="584985" y="2220127"/>
            <a:ext cx="209543" cy="157137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sp>
        <p:nvSpPr>
          <p:cNvPr id="129" name="Rechteck 274"/>
          <p:cNvSpPr/>
          <p:nvPr/>
        </p:nvSpPr>
        <p:spPr bwMode="auto">
          <a:xfrm>
            <a:off x="1825053" y="4765204"/>
            <a:ext cx="1451547" cy="213513"/>
          </a:xfrm>
          <a:prstGeom prst="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130" name="Group 44"/>
          <p:cNvGrpSpPr>
            <a:grpSpLocks/>
          </p:cNvGrpSpPr>
          <p:nvPr/>
        </p:nvGrpSpPr>
        <p:grpSpPr bwMode="auto">
          <a:xfrm>
            <a:off x="1828800" y="3505200"/>
            <a:ext cx="1441435" cy="287317"/>
            <a:chOff x="3888" y="2111"/>
            <a:chExt cx="838" cy="181"/>
          </a:xfrm>
        </p:grpSpPr>
        <p:sp>
          <p:nvSpPr>
            <p:cNvPr id="131" name="Rectangle 45"/>
            <p:cNvSpPr>
              <a:spLocks noChangeArrowheads="1"/>
            </p:cNvSpPr>
            <p:nvPr/>
          </p:nvSpPr>
          <p:spPr bwMode="auto">
            <a:xfrm>
              <a:off x="3888" y="2152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32" name="Rectangle 46"/>
            <p:cNvSpPr>
              <a:spLocks noChangeArrowheads="1"/>
            </p:cNvSpPr>
            <p:nvPr/>
          </p:nvSpPr>
          <p:spPr bwMode="auto">
            <a:xfrm>
              <a:off x="3931" y="2111"/>
              <a:ext cx="36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33" name="Group 44"/>
          <p:cNvGrpSpPr>
            <a:grpSpLocks/>
          </p:cNvGrpSpPr>
          <p:nvPr/>
        </p:nvGrpSpPr>
        <p:grpSpPr bwMode="auto">
          <a:xfrm>
            <a:off x="1828800" y="3810000"/>
            <a:ext cx="1441435" cy="287317"/>
            <a:chOff x="3888" y="2111"/>
            <a:chExt cx="838" cy="181"/>
          </a:xfrm>
        </p:grpSpPr>
        <p:sp>
          <p:nvSpPr>
            <p:cNvPr id="134" name="Rectangle 45"/>
            <p:cNvSpPr>
              <a:spLocks noChangeArrowheads="1"/>
            </p:cNvSpPr>
            <p:nvPr/>
          </p:nvSpPr>
          <p:spPr bwMode="auto">
            <a:xfrm>
              <a:off x="3888" y="2152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35" name="Rectangle 46"/>
            <p:cNvSpPr>
              <a:spLocks noChangeArrowheads="1"/>
            </p:cNvSpPr>
            <p:nvPr/>
          </p:nvSpPr>
          <p:spPr bwMode="auto">
            <a:xfrm>
              <a:off x="3931" y="2111"/>
              <a:ext cx="36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40" name="Gruppieren 288"/>
          <p:cNvGrpSpPr/>
          <p:nvPr/>
        </p:nvGrpSpPr>
        <p:grpSpPr>
          <a:xfrm>
            <a:off x="3384715" y="6079175"/>
            <a:ext cx="1811039" cy="474025"/>
            <a:chOff x="3505200" y="5499101"/>
            <a:chExt cx="2830513" cy="863599"/>
          </a:xfrm>
        </p:grpSpPr>
        <p:sp>
          <p:nvSpPr>
            <p:cNvPr id="141" name="Rectangle 120"/>
            <p:cNvSpPr>
              <a:spLocks noChangeArrowheads="1"/>
            </p:cNvSpPr>
            <p:nvPr/>
          </p:nvSpPr>
          <p:spPr bwMode="auto">
            <a:xfrm>
              <a:off x="3505200" y="5499101"/>
              <a:ext cx="2830513" cy="863599"/>
            </a:xfrm>
            <a:prstGeom prst="rect">
              <a:avLst/>
            </a:prstGeom>
            <a:solidFill>
              <a:srgbClr val="DDDDDD"/>
            </a:solidFill>
            <a:ln w="38100">
              <a:noFill/>
              <a:miter lim="800000"/>
              <a:headEnd/>
              <a:tailEnd/>
            </a:ln>
          </p:spPr>
          <p:txBody>
            <a:bodyPr wrap="none" lIns="39600" tIns="28800" rIns="182880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7F90BF"/>
                </a:buClr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42" name="Group 121"/>
            <p:cNvGrpSpPr>
              <a:grpSpLocks/>
            </p:cNvGrpSpPr>
            <p:nvPr/>
          </p:nvGrpSpPr>
          <p:grpSpPr bwMode="auto">
            <a:xfrm>
              <a:off x="3585160" y="5656250"/>
              <a:ext cx="1726570" cy="307975"/>
              <a:chOff x="699" y="3046"/>
              <a:chExt cx="1041" cy="194"/>
            </a:xfrm>
          </p:grpSpPr>
          <p:sp>
            <p:nvSpPr>
              <p:cNvPr id="146" name="AutoShape 122"/>
              <p:cNvSpPr>
                <a:spLocks noChangeAspect="1" noChangeArrowheads="1"/>
              </p:cNvSpPr>
              <p:nvPr/>
            </p:nvSpPr>
            <p:spPr bwMode="auto">
              <a:xfrm>
                <a:off x="699" y="3070"/>
                <a:ext cx="498" cy="115"/>
              </a:xfrm>
              <a:prstGeom prst="roundRect">
                <a:avLst>
                  <a:gd name="adj" fmla="val 30056"/>
                </a:avLst>
              </a:prstGeom>
              <a:solidFill>
                <a:srgbClr val="9999FF"/>
              </a:solidFill>
              <a:ln w="6350" algn="ctr">
                <a:solidFill>
                  <a:srgbClr val="0E319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7F90BF"/>
                  </a:buClr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7" name="Text Box 123"/>
              <p:cNvSpPr txBox="1">
                <a:spLocks noChangeAspect="1" noChangeArrowheads="1"/>
              </p:cNvSpPr>
              <p:nvPr/>
            </p:nvSpPr>
            <p:spPr bwMode="auto">
              <a:xfrm>
                <a:off x="1269" y="3046"/>
                <a:ext cx="471" cy="194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7F90BF"/>
                  </a:buClr>
                  <a:buSzTx/>
                  <a:buFontTx/>
                  <a:buNone/>
                  <a:tabLst/>
                  <a:defRPr/>
                </a:pPr>
                <a:r>
                  <a:rPr lang="zh-CN" altLang="en-US" sz="1100" b="0" kern="0" dirty="0">
                    <a:solidFill>
                      <a:sysClr val="windowText" lastClr="000000"/>
                    </a:solidFill>
                  </a:rPr>
                  <a:t>产</a:t>
                </a:r>
                <a:r>
                  <a:rPr lang="zh-CN" altLang="en-US" sz="1100" b="0" kern="0" dirty="0" smtClean="0">
                    <a:solidFill>
                      <a:sysClr val="windowText" lastClr="000000"/>
                    </a:solidFill>
                  </a:rPr>
                  <a:t>品族</a:t>
                </a:r>
                <a:endParaRPr kumimoji="0" 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43" name="Group 127"/>
            <p:cNvGrpSpPr>
              <a:grpSpLocks/>
            </p:cNvGrpSpPr>
            <p:nvPr/>
          </p:nvGrpSpPr>
          <p:grpSpPr bwMode="auto">
            <a:xfrm>
              <a:off x="3584542" y="6015055"/>
              <a:ext cx="2705820" cy="307976"/>
              <a:chOff x="699" y="3464"/>
              <a:chExt cx="1638" cy="194"/>
            </a:xfrm>
          </p:grpSpPr>
          <p:sp>
            <p:nvSpPr>
              <p:cNvPr id="144" name="Rectangle 128"/>
              <p:cNvSpPr>
                <a:spLocks noChangeAspect="1" noChangeArrowheads="1"/>
              </p:cNvSpPr>
              <p:nvPr/>
            </p:nvSpPr>
            <p:spPr bwMode="auto">
              <a:xfrm>
                <a:off x="699" y="3498"/>
                <a:ext cx="505" cy="10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E319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5" name="Text Box 129"/>
              <p:cNvSpPr txBox="1">
                <a:spLocks noChangeAspect="1" noChangeArrowheads="1"/>
              </p:cNvSpPr>
              <p:nvPr/>
            </p:nvSpPr>
            <p:spPr bwMode="auto">
              <a:xfrm>
                <a:off x="1269" y="3464"/>
                <a:ext cx="1068" cy="194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>
                    <a:srgbClr val="7F90BF"/>
                  </a:buClr>
                  <a:buSzTx/>
                  <a:buFontTx/>
                  <a:buNone/>
                  <a:tabLst/>
                  <a:defRPr/>
                </a:pPr>
                <a:r>
                  <a:rPr lang="zh-CN" altLang="en-US" sz="1100" b="0" kern="0" dirty="0" smtClean="0">
                    <a:solidFill>
                      <a:sysClr val="windowText" lastClr="000000"/>
                    </a:solidFill>
                    <a:latin typeface="宋体" pitchFamily="2" charset="-122"/>
                    <a:ea typeface="宋体" pitchFamily="2" charset="-122"/>
                  </a:rPr>
                  <a:t>通用结构中的模块</a:t>
                </a:r>
                <a:endParaRPr kumimoji="0" lang="en-US" sz="11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40962337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概念介绍</a:t>
            </a:r>
            <a:r>
              <a:rPr lang="en-US" altLang="zh-CN" dirty="0" smtClean="0"/>
              <a:t>(3/4</a:t>
            </a:r>
            <a:r>
              <a:rPr lang="en-US" altLang="zh-CN" dirty="0"/>
              <a:t>)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-505023" y="2225598"/>
            <a:ext cx="8235950" cy="5027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4213" indent="-22860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–"/>
              <a:defRPr sz="18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2pPr>
            <a:lvl3pPr marL="1143000" indent="-228600" algn="l" defTabSz="108585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•"/>
              <a:defRPr sz="16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42875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4pPr>
            <a:lvl5pPr marL="1827213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700" dirty="0" smtClean="0"/>
          </a:p>
          <a:p>
            <a:endParaRPr lang="en-US" altLang="zh-CN" sz="1700" dirty="0"/>
          </a:p>
        </p:txBody>
      </p:sp>
      <p:sp>
        <p:nvSpPr>
          <p:cNvPr id="79" name="Text Box 3"/>
          <p:cNvSpPr txBox="1">
            <a:spLocks noChangeArrowheads="1"/>
          </p:cNvSpPr>
          <p:nvPr/>
        </p:nvSpPr>
        <p:spPr bwMode="auto">
          <a:xfrm>
            <a:off x="684212" y="1676400"/>
            <a:ext cx="1296988" cy="314325"/>
          </a:xfrm>
          <a:prstGeom prst="rect">
            <a:avLst/>
          </a:prstGeom>
          <a:gradFill rotWithShape="1">
            <a:gsLst>
              <a:gs pos="0">
                <a:srgbClr val="F5F593"/>
              </a:gs>
              <a:gs pos="50000">
                <a:srgbClr val="FFFF99"/>
              </a:gs>
              <a:gs pos="100000">
                <a:srgbClr val="F5F593"/>
              </a:gs>
            </a:gsLst>
            <a:lin ang="5400000" scaled="1"/>
          </a:gradFill>
          <a:ln w="9525" algn="ctr">
            <a:solidFill>
              <a:srgbClr val="009900"/>
            </a:solidFill>
            <a:miter lim="800000"/>
            <a:headEnd/>
            <a:tailEnd/>
          </a:ln>
        </p:spPr>
        <p:txBody>
          <a:bodyPr lIns="18000" rIns="18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000066"/>
                </a:solidFill>
                <a:latin typeface="Arial Narrow" pitchFamily="34" charset="0"/>
                <a:ea typeface="华文楷体" pitchFamily="2" charset="-122"/>
              </a:rPr>
              <a:t>选项</a:t>
            </a:r>
            <a:endParaRPr lang="zh-CN" altLang="en-US" sz="1400" b="1" dirty="0">
              <a:solidFill>
                <a:srgbClr val="000066"/>
              </a:solidFill>
              <a:latin typeface="Arial Narrow" pitchFamily="34" charset="0"/>
              <a:ea typeface="华文楷体" pitchFamily="2" charset="-122"/>
            </a:endParaRPr>
          </a:p>
        </p:txBody>
      </p:sp>
      <p:sp>
        <p:nvSpPr>
          <p:cNvPr id="80" name="Text Box 4"/>
          <p:cNvSpPr txBox="1">
            <a:spLocks noChangeArrowheads="1"/>
          </p:cNvSpPr>
          <p:nvPr/>
        </p:nvSpPr>
        <p:spPr bwMode="auto">
          <a:xfrm>
            <a:off x="684212" y="2838450"/>
            <a:ext cx="1296988" cy="314325"/>
          </a:xfrm>
          <a:prstGeom prst="rect">
            <a:avLst/>
          </a:prstGeom>
          <a:gradFill rotWithShape="1">
            <a:gsLst>
              <a:gs pos="0">
                <a:srgbClr val="F5F593"/>
              </a:gs>
              <a:gs pos="50000">
                <a:srgbClr val="FFFF99"/>
              </a:gs>
              <a:gs pos="100000">
                <a:srgbClr val="F5F593"/>
              </a:gs>
            </a:gsLst>
            <a:lin ang="5400000" scaled="1"/>
          </a:gradFill>
          <a:ln w="9525" algn="ctr">
            <a:solidFill>
              <a:srgbClr val="009900"/>
            </a:solidFill>
            <a:miter lim="800000"/>
            <a:headEnd/>
            <a:tailEnd/>
          </a:ln>
        </p:spPr>
        <p:txBody>
          <a:bodyPr lIns="18000" rIns="18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1400" dirty="0" smtClean="0">
                <a:solidFill>
                  <a:srgbClr val="000066"/>
                </a:solidFill>
                <a:latin typeface="Arial Narrow" pitchFamily="34" charset="0"/>
                <a:ea typeface="华文楷体" pitchFamily="2" charset="-122"/>
              </a:rPr>
              <a:t>选项选择</a:t>
            </a:r>
            <a:endParaRPr lang="zh-CN" altLang="en-US" sz="1400" b="1" dirty="0">
              <a:solidFill>
                <a:srgbClr val="000066"/>
              </a:solidFill>
              <a:latin typeface="Arial Narrow" pitchFamily="34" charset="0"/>
              <a:ea typeface="华文楷体" pitchFamily="2" charset="-122"/>
            </a:endParaRPr>
          </a:p>
        </p:txBody>
      </p:sp>
      <p:cxnSp>
        <p:nvCxnSpPr>
          <p:cNvPr id="81" name="AutoShape 5"/>
          <p:cNvCxnSpPr>
            <a:cxnSpLocks noChangeShapeType="1"/>
            <a:stCxn id="79" idx="2"/>
            <a:endCxn id="80" idx="0"/>
          </p:cNvCxnSpPr>
          <p:nvPr/>
        </p:nvCxnSpPr>
        <p:spPr bwMode="auto">
          <a:xfrm>
            <a:off x="1333500" y="1990725"/>
            <a:ext cx="0" cy="847725"/>
          </a:xfrm>
          <a:prstGeom prst="straightConnector1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82" name="AutoShape 6"/>
          <p:cNvCxnSpPr>
            <a:cxnSpLocks noChangeShapeType="1"/>
            <a:stCxn id="80" idx="2"/>
            <a:endCxn id="83" idx="2"/>
          </p:cNvCxnSpPr>
          <p:nvPr/>
        </p:nvCxnSpPr>
        <p:spPr bwMode="auto">
          <a:xfrm flipH="1">
            <a:off x="1316037" y="3152775"/>
            <a:ext cx="17463" cy="1152525"/>
          </a:xfrm>
          <a:prstGeom prst="straightConnector1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3" name="Text Box 12"/>
          <p:cNvSpPr txBox="1">
            <a:spLocks noChangeArrowheads="1"/>
          </p:cNvSpPr>
          <p:nvPr/>
        </p:nvSpPr>
        <p:spPr bwMode="auto">
          <a:xfrm>
            <a:off x="666750" y="3990975"/>
            <a:ext cx="1296987" cy="314325"/>
          </a:xfrm>
          <a:prstGeom prst="rect">
            <a:avLst/>
          </a:prstGeom>
          <a:gradFill rotWithShape="1">
            <a:gsLst>
              <a:gs pos="0">
                <a:srgbClr val="F5F593"/>
              </a:gs>
              <a:gs pos="50000">
                <a:srgbClr val="FFFF99"/>
              </a:gs>
              <a:gs pos="100000">
                <a:srgbClr val="F5F593"/>
              </a:gs>
            </a:gsLst>
            <a:lin ang="5400000" scaled="1"/>
          </a:gradFill>
          <a:ln w="9525" algn="ctr">
            <a:solidFill>
              <a:srgbClr val="009900"/>
            </a:solidFill>
            <a:miter lim="800000"/>
            <a:headEnd/>
            <a:tailEnd/>
          </a:ln>
        </p:spPr>
        <p:txBody>
          <a:bodyPr lIns="18000" rIns="180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1400" b="1" dirty="0" smtClean="0">
                <a:solidFill>
                  <a:srgbClr val="000066"/>
                </a:solidFill>
                <a:latin typeface="Arial Narrow" pitchFamily="34" charset="0"/>
                <a:ea typeface="华文楷体" pitchFamily="2" charset="-122"/>
              </a:rPr>
              <a:t>模块</a:t>
            </a:r>
            <a:endParaRPr lang="zh-CN" altLang="en-US" sz="1400" b="1" dirty="0">
              <a:solidFill>
                <a:srgbClr val="000066"/>
              </a:solidFill>
              <a:latin typeface="Arial Narrow" pitchFamily="34" charset="0"/>
              <a:ea typeface="华文楷体" pitchFamily="2" charset="-122"/>
            </a:endParaRPr>
          </a:p>
        </p:txBody>
      </p:sp>
      <p:pic>
        <p:nvPicPr>
          <p:cNvPr id="84" name="Picture 1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" y="4081463"/>
            <a:ext cx="1524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" y="1752600"/>
            <a:ext cx="18097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Picture 1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" y="2924175"/>
            <a:ext cx="152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 Box 23"/>
          <p:cNvSpPr txBox="1">
            <a:spLocks noChangeArrowheads="1"/>
          </p:cNvSpPr>
          <p:nvPr/>
        </p:nvSpPr>
        <p:spPr bwMode="auto">
          <a:xfrm>
            <a:off x="1362075" y="2047875"/>
            <a:ext cx="3540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隶书" pitchFamily="49" charset="-122"/>
              </a:rPr>
              <a:t>1</a:t>
            </a:r>
          </a:p>
        </p:txBody>
      </p:sp>
      <p:sp>
        <p:nvSpPr>
          <p:cNvPr id="88" name="Text Box 24"/>
          <p:cNvSpPr txBox="1">
            <a:spLocks noChangeArrowheads="1"/>
          </p:cNvSpPr>
          <p:nvPr/>
        </p:nvSpPr>
        <p:spPr bwMode="auto">
          <a:xfrm>
            <a:off x="1417637" y="2530475"/>
            <a:ext cx="4079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algn="ctr"/>
            <a:r>
              <a:rPr lang="en-US" altLang="zh-CN" sz="1200">
                <a:ea typeface="宋体" pitchFamily="2" charset="-122"/>
              </a:rPr>
              <a:t>1-n</a:t>
            </a:r>
            <a:endParaRPr lang="zh-CN" altLang="en-US" sz="1200">
              <a:ea typeface="宋体" pitchFamily="2" charset="-122"/>
            </a:endParaRPr>
          </a:p>
        </p:txBody>
      </p:sp>
      <p:sp>
        <p:nvSpPr>
          <p:cNvPr id="89" name="Text Box 25"/>
          <p:cNvSpPr txBox="1">
            <a:spLocks noChangeArrowheads="1"/>
          </p:cNvSpPr>
          <p:nvPr/>
        </p:nvSpPr>
        <p:spPr bwMode="auto">
          <a:xfrm>
            <a:off x="1347787" y="3197225"/>
            <a:ext cx="4079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algn="ctr"/>
            <a:r>
              <a:rPr lang="en-US" altLang="zh-CN" sz="1200">
                <a:ea typeface="宋体" pitchFamily="2" charset="-122"/>
              </a:rPr>
              <a:t>1</a:t>
            </a:r>
            <a:endParaRPr lang="zh-CN" altLang="en-US" sz="1200">
              <a:ea typeface="宋体" pitchFamily="2" charset="-122"/>
            </a:endParaRPr>
          </a:p>
        </p:txBody>
      </p:sp>
      <p:sp>
        <p:nvSpPr>
          <p:cNvPr id="90" name="Text Box 26"/>
          <p:cNvSpPr txBox="1">
            <a:spLocks noChangeArrowheads="1"/>
          </p:cNvSpPr>
          <p:nvPr/>
        </p:nvSpPr>
        <p:spPr bwMode="auto">
          <a:xfrm>
            <a:off x="1385887" y="3698875"/>
            <a:ext cx="4079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algn="ctr"/>
            <a:r>
              <a:rPr lang="en-US" altLang="zh-CN" sz="1200" dirty="0">
                <a:ea typeface="宋体" pitchFamily="2" charset="-122"/>
              </a:rPr>
              <a:t>1-n</a:t>
            </a:r>
            <a:endParaRPr lang="zh-CN" altLang="en-US" sz="1200" dirty="0">
              <a:ea typeface="宋体" pitchFamily="2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2286000" y="1176263"/>
            <a:ext cx="6553200" cy="3022803"/>
            <a:chOff x="2286000" y="1176263"/>
            <a:chExt cx="6553200" cy="3022803"/>
          </a:xfrm>
        </p:grpSpPr>
        <p:sp>
          <p:nvSpPr>
            <p:cNvPr id="92" name="矩形 91"/>
            <p:cNvSpPr/>
            <p:nvPr/>
          </p:nvSpPr>
          <p:spPr>
            <a:xfrm>
              <a:off x="2286000" y="1176263"/>
              <a:ext cx="6553200" cy="24006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800" dirty="0" smtClean="0">
                  <a:solidFill>
                    <a:schemeClr val="accent2">
                      <a:lumMod val="75000"/>
                    </a:schemeClr>
                  </a:solidFill>
                  <a:latin typeface="宋体" pitchFamily="2" charset="-122"/>
                  <a:ea typeface="宋体" pitchFamily="2" charset="-122"/>
                </a:rPr>
                <a:t>选项</a:t>
              </a:r>
              <a:r>
                <a:rPr lang="en-US" altLang="zh-CN" dirty="0" smtClean="0">
                  <a:solidFill>
                    <a:schemeClr val="accent2">
                      <a:lumMod val="75000"/>
                    </a:schemeClr>
                  </a:solidFill>
                  <a:latin typeface="宋体" pitchFamily="2" charset="-122"/>
                  <a:ea typeface="宋体" pitchFamily="2" charset="-122"/>
                </a:rPr>
                <a:t>Option</a:t>
              </a:r>
              <a:endParaRPr lang="en-US" altLang="zh-CN" sz="1800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endParaRPr>
            </a:p>
            <a:p>
              <a:r>
                <a:rPr lang="zh-CN" altLang="en-US" sz="1600" b="0" dirty="0">
                  <a:latin typeface="宋体" charset="-122"/>
                  <a:ea typeface="宋体" charset="-122"/>
                </a:rPr>
                <a:t>代表可供用户选择的某一类</a:t>
              </a:r>
              <a:r>
                <a:rPr lang="zh-CN" altLang="en-US" sz="1600" b="0" dirty="0">
                  <a:solidFill>
                    <a:srgbClr val="FF0000"/>
                  </a:solidFill>
                  <a:latin typeface="宋体" charset="-122"/>
                  <a:ea typeface="宋体" charset="-122"/>
                </a:rPr>
                <a:t>功能特征</a:t>
              </a:r>
              <a:r>
                <a:rPr lang="zh-CN" altLang="en-US" sz="1600" b="0" dirty="0">
                  <a:latin typeface="宋体" charset="-122"/>
                  <a:ea typeface="宋体" charset="-122"/>
                </a:rPr>
                <a:t>的集合。例如</a:t>
              </a:r>
              <a:r>
                <a:rPr lang="zh-CN" altLang="en-US" sz="1600" b="0" dirty="0" smtClean="0">
                  <a:latin typeface="宋体" charset="-122"/>
                  <a:ea typeface="宋体" charset="-122"/>
                </a:rPr>
                <a:t>对应</a:t>
              </a:r>
              <a:r>
                <a:rPr lang="zh-CN" altLang="en-US" sz="1600" dirty="0" smtClean="0">
                  <a:latin typeface="宋体" charset="-122"/>
                  <a:ea typeface="宋体" charset="-122"/>
                </a:rPr>
                <a:t>装载机</a:t>
              </a:r>
              <a:r>
                <a:rPr lang="zh-CN" altLang="en-US" sz="1600" b="0" dirty="0" smtClean="0">
                  <a:latin typeface="宋体" charset="-122"/>
                  <a:ea typeface="宋体" charset="-122"/>
                </a:rPr>
                <a:t>的三联阀属具，</a:t>
              </a:r>
              <a:r>
                <a:rPr lang="zh-CN" altLang="en-US" sz="1600" b="0" dirty="0">
                  <a:latin typeface="宋体" charset="-122"/>
                  <a:ea typeface="宋体" charset="-122"/>
                </a:rPr>
                <a:t>有多种选项可供用户进行</a:t>
              </a:r>
              <a:r>
                <a:rPr lang="zh-CN" altLang="en-US" sz="1600" b="0" dirty="0" smtClean="0">
                  <a:latin typeface="宋体" charset="-122"/>
                  <a:ea typeface="宋体" charset="-122"/>
                </a:rPr>
                <a:t>选择。</a:t>
              </a:r>
              <a:endParaRPr lang="en-US" altLang="zh-CN" sz="1600" b="0" dirty="0" smtClean="0">
                <a:latin typeface="宋体" charset="-122"/>
                <a:ea typeface="宋体" charset="-122"/>
              </a:endParaRPr>
            </a:p>
            <a:p>
              <a:endParaRPr lang="en-US" altLang="zh-CN" sz="1600" b="0" dirty="0">
                <a:latin typeface="宋体" charset="-122"/>
                <a:ea typeface="宋体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800" dirty="0" smtClean="0">
                  <a:solidFill>
                    <a:schemeClr val="accent2">
                      <a:lumMod val="75000"/>
                    </a:schemeClr>
                  </a:solidFill>
                  <a:latin typeface="宋体" pitchFamily="2" charset="-122"/>
                  <a:ea typeface="宋体" pitchFamily="2" charset="-122"/>
                </a:rPr>
                <a:t>选项</a:t>
              </a:r>
              <a:r>
                <a:rPr lang="zh-CN" altLang="en-US" sz="1800" dirty="0" smtClean="0">
                  <a:solidFill>
                    <a:schemeClr val="accent2">
                      <a:lumMod val="75000"/>
                    </a:schemeClr>
                  </a:solidFill>
                  <a:latin typeface="宋体" pitchFamily="2" charset="-122"/>
                  <a:ea typeface="宋体" pitchFamily="2" charset="-122"/>
                </a:rPr>
                <a:t>选择</a:t>
              </a:r>
              <a:r>
                <a:rPr lang="en-US" altLang="zh-CN" sz="1800" dirty="0" smtClean="0">
                  <a:solidFill>
                    <a:schemeClr val="accent2">
                      <a:lumMod val="75000"/>
                    </a:schemeClr>
                  </a:solidFill>
                  <a:latin typeface="宋体" pitchFamily="2" charset="-122"/>
                  <a:ea typeface="宋体" pitchFamily="2" charset="-122"/>
                </a:rPr>
                <a:t>Choice</a:t>
              </a:r>
              <a:endParaRPr lang="en-US" altLang="zh-CN" sz="1800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endParaRPr>
            </a:p>
            <a:p>
              <a:r>
                <a:rPr lang="zh-CN" altLang="en-US" sz="1600" b="0" dirty="0">
                  <a:latin typeface="宋体" charset="-122"/>
                  <a:ea typeface="宋体" charset="-122"/>
                </a:rPr>
                <a:t>某一个选项特征下，可供用户选择的功能特征选项</a:t>
              </a:r>
              <a:r>
                <a:rPr lang="en-US" altLang="zh-CN" sz="1600" b="0" dirty="0">
                  <a:latin typeface="宋体" charset="-122"/>
                  <a:ea typeface="宋体" charset="-122"/>
                </a:rPr>
                <a:t>,</a:t>
              </a:r>
              <a:r>
                <a:rPr lang="zh-CN" altLang="en-US" sz="1600" b="0" dirty="0">
                  <a:latin typeface="宋体" charset="-122"/>
                  <a:ea typeface="宋体" charset="-122"/>
                </a:rPr>
                <a:t>我们称为选项值。选项值用于组织不同的选项，一个选项特征可能对应多种选项。</a:t>
              </a:r>
              <a:r>
                <a:rPr lang="zh-CN" altLang="en-US" sz="1600" b="0" dirty="0" smtClean="0">
                  <a:latin typeface="宋体" charset="-122"/>
                  <a:ea typeface="宋体" charset="-122"/>
                </a:rPr>
                <a:t>例如</a:t>
              </a:r>
              <a:r>
                <a:rPr lang="zh-CN" altLang="en-US" sz="1600" dirty="0" smtClean="0">
                  <a:latin typeface="宋体" charset="-122"/>
                  <a:ea typeface="宋体" charset="-122"/>
                </a:rPr>
                <a:t>属具</a:t>
              </a:r>
              <a:r>
                <a:rPr lang="zh-CN" altLang="en-GB" sz="1600" b="0" dirty="0" smtClean="0">
                  <a:latin typeface="宋体" charset="-122"/>
                  <a:ea typeface="宋体" charset="-122"/>
                </a:rPr>
                <a:t>有</a:t>
              </a:r>
              <a:r>
                <a:rPr lang="zh-CN" altLang="en-US" sz="1600" b="0" dirty="0">
                  <a:latin typeface="宋体" charset="-122"/>
                  <a:ea typeface="宋体" charset="-122"/>
                </a:rPr>
                <a:t>三</a:t>
              </a:r>
              <a:r>
                <a:rPr lang="zh-CN" altLang="en-GB" sz="1600" b="0" dirty="0">
                  <a:latin typeface="宋体" charset="-122"/>
                  <a:ea typeface="宋体" charset="-122"/>
                </a:rPr>
                <a:t>个选项供用户选择</a:t>
              </a:r>
              <a:r>
                <a:rPr lang="zh-CN" altLang="en-GB" sz="1600" b="0" dirty="0" smtClean="0">
                  <a:latin typeface="宋体" charset="-122"/>
                  <a:ea typeface="宋体" charset="-122"/>
                </a:rPr>
                <a:t>：</a:t>
              </a:r>
              <a:r>
                <a:rPr lang="zh-CN" altLang="en-US" sz="1600" dirty="0" smtClean="0">
                  <a:latin typeface="宋体" charset="-122"/>
                  <a:ea typeface="宋体" charset="-122"/>
                </a:rPr>
                <a:t>除雪铲</a:t>
              </a:r>
              <a:r>
                <a:rPr lang="zh-CN" altLang="en-US" sz="1600" b="0" dirty="0" smtClean="0">
                  <a:latin typeface="宋体" charset="-122"/>
                  <a:ea typeface="宋体" charset="-122"/>
                </a:rPr>
                <a:t>、抱叉、侧卸。</a:t>
              </a:r>
              <a:endParaRPr lang="zh-CN" altLang="en-US" sz="1600" b="0" dirty="0">
                <a:latin typeface="宋体" charset="-122"/>
                <a:ea typeface="宋体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2286000" y="3614291"/>
              <a:ext cx="6553199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0" dirty="0">
                  <a:latin typeface="宋体" charset="-122"/>
                  <a:ea typeface="宋体" charset="-122"/>
                </a:rPr>
                <a:t>选择某一个选项以后，为实现该选项对应</a:t>
              </a:r>
              <a:r>
                <a:rPr lang="zh-CN" altLang="en-US" sz="1600" b="0" dirty="0" smtClean="0">
                  <a:latin typeface="宋体" charset="-122"/>
                  <a:ea typeface="宋体" charset="-122"/>
                </a:rPr>
                <a:t>的产品的</a:t>
              </a:r>
              <a:r>
                <a:rPr lang="zh-CN" altLang="en-US" sz="1600" b="0" dirty="0">
                  <a:latin typeface="宋体" charset="-122"/>
                  <a:ea typeface="宋体" charset="-122"/>
                </a:rPr>
                <a:t>多个模块</a:t>
              </a:r>
              <a:r>
                <a:rPr lang="zh-CN" altLang="en-US" sz="1600" b="0" dirty="0" smtClean="0">
                  <a:latin typeface="宋体" charset="-122"/>
                  <a:ea typeface="宋体" charset="-122"/>
                </a:rPr>
                <a:t>部分内的零部件则被选择。</a:t>
              </a:r>
              <a:endParaRPr lang="zh-CN" altLang="en-US" sz="1600" b="0" dirty="0">
                <a:latin typeface="宋体" charset="-122"/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898015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概念介绍</a:t>
            </a:r>
            <a:r>
              <a:rPr lang="en-US" altLang="zh-CN" dirty="0" smtClean="0"/>
              <a:t>(4/4</a:t>
            </a:r>
            <a:r>
              <a:rPr lang="en-US" altLang="zh-CN" dirty="0"/>
              <a:t>)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-505023" y="2225598"/>
            <a:ext cx="8235950" cy="5027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4213" indent="-22860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–"/>
              <a:defRPr sz="18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2pPr>
            <a:lvl3pPr marL="1143000" indent="-228600" algn="l" defTabSz="108585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•"/>
              <a:defRPr sz="16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42875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4pPr>
            <a:lvl5pPr marL="1827213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700" dirty="0" smtClean="0"/>
          </a:p>
          <a:p>
            <a:endParaRPr lang="en-US" altLang="zh-CN" sz="1700" dirty="0"/>
          </a:p>
        </p:txBody>
      </p:sp>
      <p:sp>
        <p:nvSpPr>
          <p:cNvPr id="20" name="Footer Placeholder 4"/>
          <p:cNvSpPr txBox="1">
            <a:spLocks/>
          </p:cNvSpPr>
          <p:nvPr/>
        </p:nvSpPr>
        <p:spPr>
          <a:xfrm>
            <a:off x="2322576" y="6658944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ctr" defTabSz="914400" rtl="0" eaLnBrk="1" latinLnBrk="0" hangingPunct="1">
              <a:defRPr sz="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mtClean="0"/>
              <a:t>Topic</a:t>
            </a:r>
            <a:endParaRPr lang="en-US"/>
          </a:p>
        </p:txBody>
      </p:sp>
      <p:sp>
        <p:nvSpPr>
          <p:cNvPr id="21" name="矩形 20"/>
          <p:cNvSpPr/>
          <p:nvPr/>
        </p:nvSpPr>
        <p:spPr>
          <a:xfrm>
            <a:off x="152400" y="861648"/>
            <a:ext cx="88392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chemeClr val="accent2">
                    <a:lumMod val="75000"/>
                  </a:schemeClr>
                </a:solidFill>
                <a:latin typeface="+mj-lt"/>
                <a:ea typeface="宋体" pitchFamily="2" charset="-122"/>
              </a:rPr>
              <a:t>超级</a:t>
            </a:r>
            <a:r>
              <a:rPr lang="en-US" altLang="zh-CN" sz="1800" dirty="0" smtClean="0">
                <a:solidFill>
                  <a:schemeClr val="accent2">
                    <a:lumMod val="75000"/>
                  </a:schemeClr>
                </a:solidFill>
                <a:latin typeface="+mj-lt"/>
                <a:ea typeface="宋体" pitchFamily="2" charset="-122"/>
              </a:rPr>
              <a:t>BOM (Super BOM)</a:t>
            </a:r>
            <a:endParaRPr lang="en-US" altLang="zh-CN" sz="1800" dirty="0" smtClean="0">
              <a:solidFill>
                <a:schemeClr val="accent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pPr marL="285750" lvl="2" indent="-285750">
              <a:lnSpc>
                <a:spcPct val="150000"/>
              </a:lnSpc>
              <a:buFont typeface="宋体" pitchFamily="2" charset="-122"/>
              <a:buChar char="－"/>
            </a:pPr>
            <a:r>
              <a:rPr lang="en-US" altLang="zh-CN" sz="1600" b="0" dirty="0">
                <a:latin typeface="宋体" pitchFamily="2" charset="-122"/>
                <a:ea typeface="宋体" pitchFamily="2" charset="-122"/>
              </a:rPr>
              <a:t>150%BOM</a:t>
            </a:r>
          </a:p>
          <a:p>
            <a:pPr marL="285750" lvl="2" indent="-285750">
              <a:lnSpc>
                <a:spcPct val="150000"/>
              </a:lnSpc>
              <a:buFont typeface="宋体" pitchFamily="2" charset="-122"/>
              <a:buChar char="－"/>
            </a:pPr>
            <a:r>
              <a:rPr lang="zh-CN" altLang="en-US" sz="1600" b="0" dirty="0">
                <a:latin typeface="宋体" pitchFamily="2" charset="-122"/>
                <a:ea typeface="宋体" pitchFamily="2" charset="-122"/>
              </a:rPr>
              <a:t>包含特定产品家族</a:t>
            </a:r>
            <a:r>
              <a:rPr lang="zh-CN" altLang="en-US" sz="1600" b="0" dirty="0" smtClean="0">
                <a:latin typeface="宋体" pitchFamily="2" charset="-122"/>
                <a:ea typeface="宋体" pitchFamily="2" charset="-122"/>
              </a:rPr>
              <a:t>所有</a:t>
            </a:r>
            <a:r>
              <a:rPr lang="zh-CN" altLang="en-US" sz="1600" b="0" dirty="0">
                <a:latin typeface="宋体" pitchFamily="2" charset="-122"/>
                <a:ea typeface="宋体" pitchFamily="2" charset="-122"/>
              </a:rPr>
              <a:t>产品</a:t>
            </a:r>
            <a:r>
              <a:rPr lang="zh-CN" altLang="en-US" sz="1600" b="0" dirty="0" smtClean="0">
                <a:latin typeface="宋体" pitchFamily="2" charset="-122"/>
                <a:ea typeface="宋体" pitchFamily="2" charset="-122"/>
              </a:rPr>
              <a:t>的</a:t>
            </a:r>
            <a:r>
              <a:rPr lang="zh-CN" altLang="en-US" sz="1600" b="0" dirty="0">
                <a:latin typeface="宋体" pitchFamily="2" charset="-122"/>
                <a:ea typeface="宋体" pitchFamily="2" charset="-122"/>
              </a:rPr>
              <a:t>各种选项组合及其零部件</a:t>
            </a:r>
            <a:endParaRPr lang="en-US" altLang="zh-CN" sz="1600" b="0" dirty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600" b="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97" name="AutoShape 65"/>
          <p:cNvCxnSpPr>
            <a:cxnSpLocks noChangeShapeType="1"/>
          </p:cNvCxnSpPr>
          <p:nvPr/>
        </p:nvCxnSpPr>
        <p:spPr bwMode="auto">
          <a:xfrm rot="16200000" flipH="1">
            <a:off x="4089865" y="4942098"/>
            <a:ext cx="185865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98" name="AutoShape 72"/>
          <p:cNvCxnSpPr>
            <a:cxnSpLocks noChangeShapeType="1"/>
          </p:cNvCxnSpPr>
          <p:nvPr/>
        </p:nvCxnSpPr>
        <p:spPr bwMode="auto">
          <a:xfrm rot="16200000" flipH="1">
            <a:off x="3940651" y="5091312"/>
            <a:ext cx="484293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sp>
        <p:nvSpPr>
          <p:cNvPr id="100" name="Rectangle 45"/>
          <p:cNvSpPr>
            <a:spLocks noChangeArrowheads="1"/>
          </p:cNvSpPr>
          <p:nvPr/>
        </p:nvSpPr>
        <p:spPr bwMode="auto">
          <a:xfrm>
            <a:off x="4390453" y="5132973"/>
            <a:ext cx="1593835" cy="209535"/>
          </a:xfrm>
          <a:prstGeom prst="rect">
            <a:avLst/>
          </a:prstGeom>
          <a:solidFill>
            <a:srgbClr val="FFFF99"/>
          </a:solidFill>
          <a:ln w="9525">
            <a:solidFill>
              <a:srgbClr val="0E319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0" kern="0" dirty="0" smtClean="0">
                <a:solidFill>
                  <a:srgbClr val="0E3192"/>
                </a:solidFill>
                <a:latin typeface="宋体" pitchFamily="2" charset="-122"/>
                <a:ea typeface="宋体" pitchFamily="2" charset="-122"/>
              </a:rPr>
              <a:t>3004000751 </a:t>
            </a:r>
            <a:r>
              <a:rPr lang="zh-CN" altLang="en-US" sz="1400" kern="0" dirty="0" smtClean="0">
                <a:latin typeface="宋体" pitchFamily="2" charset="-122"/>
                <a:ea typeface="宋体" pitchFamily="2" charset="-122"/>
              </a:rPr>
              <a:t>加长臂</a:t>
            </a:r>
            <a:endParaRPr lang="en-US" altLang="zh-CN" sz="1400" b="0" kern="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1" name="Rectangle 46"/>
          <p:cNvSpPr>
            <a:spLocks noChangeArrowheads="1"/>
          </p:cNvSpPr>
          <p:nvPr/>
        </p:nvSpPr>
        <p:spPr bwMode="auto">
          <a:xfrm>
            <a:off x="4464417" y="5067890"/>
            <a:ext cx="61923" cy="2873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2" name="Rectangle 45"/>
          <p:cNvSpPr>
            <a:spLocks noChangeArrowheads="1"/>
          </p:cNvSpPr>
          <p:nvPr/>
        </p:nvSpPr>
        <p:spPr bwMode="auto">
          <a:xfrm>
            <a:off x="4384088" y="5437773"/>
            <a:ext cx="1600200" cy="209535"/>
          </a:xfrm>
          <a:prstGeom prst="rect">
            <a:avLst/>
          </a:prstGeom>
          <a:solidFill>
            <a:srgbClr val="FFFF99"/>
          </a:solidFill>
          <a:ln w="9525">
            <a:solidFill>
              <a:srgbClr val="0E3192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0" kern="0" dirty="0" smtClean="0">
                <a:solidFill>
                  <a:srgbClr val="0E3192"/>
                </a:solidFill>
                <a:latin typeface="宋体" pitchFamily="2" charset="-122"/>
                <a:ea typeface="宋体" pitchFamily="2" charset="-122"/>
              </a:rPr>
              <a:t>2015700309 </a:t>
            </a:r>
            <a:r>
              <a:rPr lang="zh-CN" altLang="en-US" sz="1400" kern="0" dirty="0" smtClean="0">
                <a:latin typeface="宋体" pitchFamily="2" charset="-122"/>
                <a:ea typeface="宋体" pitchFamily="2" charset="-122"/>
              </a:rPr>
              <a:t>普通臂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3" name="Rectangle 46"/>
          <p:cNvSpPr>
            <a:spLocks noChangeArrowheads="1"/>
          </p:cNvSpPr>
          <p:nvPr/>
        </p:nvSpPr>
        <p:spPr bwMode="auto">
          <a:xfrm>
            <a:off x="4458052" y="5372690"/>
            <a:ext cx="61923" cy="2873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06" name="AutoShape 63"/>
          <p:cNvCxnSpPr>
            <a:cxnSpLocks noChangeShapeType="1"/>
          </p:cNvCxnSpPr>
          <p:nvPr/>
        </p:nvCxnSpPr>
        <p:spPr bwMode="auto">
          <a:xfrm flipV="1">
            <a:off x="3294396" y="5041761"/>
            <a:ext cx="684294" cy="1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79" name="AutoShape 7"/>
          <p:cNvCxnSpPr>
            <a:cxnSpLocks noChangeShapeType="1"/>
          </p:cNvCxnSpPr>
          <p:nvPr/>
        </p:nvCxnSpPr>
        <p:spPr bwMode="auto">
          <a:xfrm rot="16200000" flipH="1">
            <a:off x="398295" y="2575499"/>
            <a:ext cx="582923" cy="157137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80" name="Gruppieren 93"/>
          <p:cNvGrpSpPr>
            <a:grpSpLocks/>
          </p:cNvGrpSpPr>
          <p:nvPr/>
        </p:nvGrpSpPr>
        <p:grpSpPr bwMode="auto">
          <a:xfrm>
            <a:off x="458788" y="2073682"/>
            <a:ext cx="1692955" cy="288925"/>
            <a:chOff x="214661" y="1225658"/>
            <a:chExt cx="1562857" cy="289021"/>
          </a:xfrm>
        </p:grpSpPr>
        <p:sp>
          <p:nvSpPr>
            <p:cNvPr id="81" name="AutoShape 47"/>
            <p:cNvSpPr>
              <a:spLocks noChangeArrowheads="1"/>
            </p:cNvSpPr>
            <p:nvPr/>
          </p:nvSpPr>
          <p:spPr bwMode="auto">
            <a:xfrm>
              <a:off x="214661" y="1225658"/>
              <a:ext cx="1562857" cy="284030"/>
            </a:xfrm>
            <a:prstGeom prst="roundRect">
              <a:avLst>
                <a:gd name="adj" fmla="val 30056"/>
              </a:avLst>
            </a:prstGeom>
            <a:solidFill>
              <a:srgbClr val="9999FF"/>
            </a:solidFill>
            <a:ln w="6350" algn="ctr">
              <a:solidFill>
                <a:srgbClr val="0E319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noProof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装载机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2" name="Abgerundetes Rechteck 92"/>
            <p:cNvSpPr/>
            <p:nvPr/>
          </p:nvSpPr>
          <p:spPr>
            <a:xfrm>
              <a:off x="260091" y="1468627"/>
              <a:ext cx="190516" cy="46052"/>
            </a:xfrm>
            <a:prstGeom prst="round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83" name="Rectangle 45"/>
          <p:cNvSpPr>
            <a:spLocks noChangeArrowheads="1"/>
          </p:cNvSpPr>
          <p:nvPr/>
        </p:nvSpPr>
        <p:spPr bwMode="auto">
          <a:xfrm>
            <a:off x="768325" y="2840762"/>
            <a:ext cx="1441435" cy="209535"/>
          </a:xfrm>
          <a:prstGeom prst="rect">
            <a:avLst/>
          </a:prstGeom>
          <a:solidFill>
            <a:srgbClr val="FFFF99"/>
          </a:solidFill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0" noProof="0" dirty="0" smtClean="0">
                <a:solidFill>
                  <a:sysClr val="windowText" lastClr="000000"/>
                </a:solidFill>
                <a:latin typeface="宋体" pitchFamily="2" charset="-122"/>
                <a:ea typeface="宋体" pitchFamily="2" charset="-122"/>
              </a:rPr>
              <a:t>工作装置系统组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4" name="Rectangle 46"/>
          <p:cNvSpPr>
            <a:spLocks noChangeArrowheads="1"/>
          </p:cNvSpPr>
          <p:nvPr/>
        </p:nvSpPr>
        <p:spPr bwMode="auto">
          <a:xfrm>
            <a:off x="842289" y="2762980"/>
            <a:ext cx="61923" cy="2873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5" name="Rectangle 51"/>
          <p:cNvSpPr>
            <a:spLocks noChangeArrowheads="1"/>
          </p:cNvSpPr>
          <p:nvPr/>
        </p:nvSpPr>
        <p:spPr bwMode="auto">
          <a:xfrm>
            <a:off x="1344555" y="4336076"/>
            <a:ext cx="1441435" cy="209535"/>
          </a:xfrm>
          <a:prstGeom prst="rect">
            <a:avLst/>
          </a:prstGeom>
          <a:solidFill>
            <a:srgbClr val="FFFF99"/>
          </a:solidFill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kern="0" dirty="0" smtClean="0">
                <a:solidFill>
                  <a:sysClr val="windowText" lastClr="000000"/>
                </a:solidFill>
                <a:latin typeface="宋体" pitchFamily="2" charset="-122"/>
                <a:ea typeface="宋体" pitchFamily="2" charset="-122"/>
              </a:rPr>
              <a:t>工作装置系统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86" name="AutoShape 62"/>
          <p:cNvCxnSpPr>
            <a:cxnSpLocks noChangeShapeType="1"/>
          </p:cNvCxnSpPr>
          <p:nvPr/>
        </p:nvCxnSpPr>
        <p:spPr bwMode="auto">
          <a:xfrm rot="16200000" flipH="1">
            <a:off x="413635" y="3509929"/>
            <a:ext cx="1390536" cy="471304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87" name="Group 56"/>
          <p:cNvGrpSpPr>
            <a:grpSpLocks/>
          </p:cNvGrpSpPr>
          <p:nvPr/>
        </p:nvGrpSpPr>
        <p:grpSpPr bwMode="auto">
          <a:xfrm>
            <a:off x="1344557" y="3139185"/>
            <a:ext cx="1585923" cy="209535"/>
            <a:chOff x="3888" y="2160"/>
            <a:chExt cx="922" cy="132"/>
          </a:xfrm>
        </p:grpSpPr>
        <p:sp>
          <p:nvSpPr>
            <p:cNvPr id="88" name="Rectangle 57"/>
            <p:cNvSpPr>
              <a:spLocks noChangeArrowheads="1"/>
            </p:cNvSpPr>
            <p:nvPr/>
          </p:nvSpPr>
          <p:spPr bwMode="auto">
            <a:xfrm>
              <a:off x="3888" y="2160"/>
              <a:ext cx="922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noProof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工作装置限位系统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9" name="Rectangle 58"/>
            <p:cNvSpPr>
              <a:spLocks noChangeArrowheads="1"/>
            </p:cNvSpPr>
            <p:nvPr/>
          </p:nvSpPr>
          <p:spPr bwMode="auto">
            <a:xfrm>
              <a:off x="3921" y="2160"/>
              <a:ext cx="36" cy="1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90" name="AutoShape 63"/>
          <p:cNvCxnSpPr>
            <a:cxnSpLocks noChangeShapeType="1"/>
          </p:cNvCxnSpPr>
          <p:nvPr/>
        </p:nvCxnSpPr>
        <p:spPr bwMode="auto">
          <a:xfrm rot="16200000" flipH="1">
            <a:off x="1012080" y="2911484"/>
            <a:ext cx="193646" cy="471304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91" name="Group 53"/>
          <p:cNvGrpSpPr>
            <a:grpSpLocks/>
          </p:cNvGrpSpPr>
          <p:nvPr/>
        </p:nvGrpSpPr>
        <p:grpSpPr bwMode="auto">
          <a:xfrm>
            <a:off x="1344555" y="5761207"/>
            <a:ext cx="1441435" cy="290492"/>
            <a:chOff x="3888" y="2109"/>
            <a:chExt cx="838" cy="183"/>
          </a:xfrm>
        </p:grpSpPr>
        <p:sp>
          <p:nvSpPr>
            <p:cNvPr id="92" name="Rectangle 54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93" name="Rectangle 55"/>
            <p:cNvSpPr>
              <a:spLocks noChangeArrowheads="1"/>
            </p:cNvSpPr>
            <p:nvPr/>
          </p:nvSpPr>
          <p:spPr bwMode="auto">
            <a:xfrm>
              <a:off x="3921" y="2109"/>
              <a:ext cx="35" cy="18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07" name="AutoShape 64"/>
          <p:cNvCxnSpPr>
            <a:cxnSpLocks noChangeShapeType="1"/>
          </p:cNvCxnSpPr>
          <p:nvPr/>
        </p:nvCxnSpPr>
        <p:spPr bwMode="auto">
          <a:xfrm rot="16200000" flipH="1">
            <a:off x="-339406" y="4262970"/>
            <a:ext cx="2896618" cy="471304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08" name="Group 74"/>
          <p:cNvGrpSpPr>
            <a:grpSpLocks/>
          </p:cNvGrpSpPr>
          <p:nvPr/>
        </p:nvGrpSpPr>
        <p:grpSpPr bwMode="auto">
          <a:xfrm>
            <a:off x="1822739" y="4636086"/>
            <a:ext cx="1441435" cy="334938"/>
            <a:chOff x="3888" y="2160"/>
            <a:chExt cx="838" cy="211"/>
          </a:xfrm>
        </p:grpSpPr>
        <p:sp>
          <p:nvSpPr>
            <p:cNvPr id="109" name="Rectangle 75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noProof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摇臂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0" name="Rectangle 76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11" name="Group 77"/>
          <p:cNvGrpSpPr>
            <a:grpSpLocks/>
          </p:cNvGrpSpPr>
          <p:nvPr/>
        </p:nvGrpSpPr>
        <p:grpSpPr bwMode="auto">
          <a:xfrm>
            <a:off x="1822739" y="4934622"/>
            <a:ext cx="1441435" cy="334938"/>
            <a:chOff x="3888" y="2160"/>
            <a:chExt cx="838" cy="211"/>
          </a:xfrm>
        </p:grpSpPr>
        <p:sp>
          <p:nvSpPr>
            <p:cNvPr id="112" name="Rectangle 78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noProof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动臂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3" name="Rectangle 79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14" name="Group 80"/>
          <p:cNvGrpSpPr>
            <a:grpSpLocks/>
          </p:cNvGrpSpPr>
          <p:nvPr/>
        </p:nvGrpSpPr>
        <p:grpSpPr bwMode="auto">
          <a:xfrm>
            <a:off x="1822739" y="5233158"/>
            <a:ext cx="1441435" cy="334938"/>
            <a:chOff x="3888" y="2160"/>
            <a:chExt cx="838" cy="211"/>
          </a:xfrm>
        </p:grpSpPr>
        <p:sp>
          <p:nvSpPr>
            <p:cNvPr id="115" name="Rectangle 81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16" name="Rectangle 82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17" name="AutoShape 83"/>
          <p:cNvCxnSpPr>
            <a:cxnSpLocks noChangeShapeType="1"/>
          </p:cNvCxnSpPr>
          <p:nvPr/>
        </p:nvCxnSpPr>
        <p:spPr bwMode="auto">
          <a:xfrm rot="16200000" flipH="1">
            <a:off x="1529944" y="4448072"/>
            <a:ext cx="195130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18" name="AutoShape 84"/>
          <p:cNvCxnSpPr>
            <a:cxnSpLocks noChangeShapeType="1"/>
          </p:cNvCxnSpPr>
          <p:nvPr/>
        </p:nvCxnSpPr>
        <p:spPr bwMode="auto">
          <a:xfrm rot="16200000" flipH="1">
            <a:off x="1380677" y="4597339"/>
            <a:ext cx="493665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19" name="AutoShape 85"/>
          <p:cNvCxnSpPr>
            <a:cxnSpLocks noChangeShapeType="1"/>
          </p:cNvCxnSpPr>
          <p:nvPr/>
        </p:nvCxnSpPr>
        <p:spPr bwMode="auto">
          <a:xfrm rot="16200000" flipH="1">
            <a:off x="1231409" y="4746608"/>
            <a:ext cx="792201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20" name="AutoShape 65"/>
          <p:cNvCxnSpPr>
            <a:cxnSpLocks noChangeShapeType="1"/>
          </p:cNvCxnSpPr>
          <p:nvPr/>
        </p:nvCxnSpPr>
        <p:spPr bwMode="auto">
          <a:xfrm rot="16200000" flipH="1">
            <a:off x="1534577" y="3243290"/>
            <a:ext cx="185865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21" name="AutoShape 72"/>
          <p:cNvCxnSpPr>
            <a:cxnSpLocks noChangeShapeType="1"/>
          </p:cNvCxnSpPr>
          <p:nvPr/>
        </p:nvCxnSpPr>
        <p:spPr bwMode="auto">
          <a:xfrm rot="16200000" flipH="1">
            <a:off x="1385363" y="3392504"/>
            <a:ext cx="484293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cxnSp>
        <p:nvCxnSpPr>
          <p:cNvPr id="122" name="AutoShape 73"/>
          <p:cNvCxnSpPr>
            <a:cxnSpLocks noChangeShapeType="1"/>
          </p:cNvCxnSpPr>
          <p:nvPr/>
        </p:nvCxnSpPr>
        <p:spPr bwMode="auto">
          <a:xfrm rot="16200000" flipH="1">
            <a:off x="1235355" y="3542513"/>
            <a:ext cx="784310" cy="390459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sp>
        <p:nvSpPr>
          <p:cNvPr id="123" name="Oval 109"/>
          <p:cNvSpPr>
            <a:spLocks noChangeArrowheads="1"/>
          </p:cNvSpPr>
          <p:nvPr/>
        </p:nvSpPr>
        <p:spPr bwMode="auto">
          <a:xfrm>
            <a:off x="811153" y="6090833"/>
            <a:ext cx="122127" cy="88894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24" name="AutoShape 110"/>
          <p:cNvCxnSpPr>
            <a:cxnSpLocks noChangeShapeType="1"/>
          </p:cNvCxnSpPr>
          <p:nvPr/>
        </p:nvCxnSpPr>
        <p:spPr bwMode="auto">
          <a:xfrm rot="5400000">
            <a:off x="-568541" y="4501387"/>
            <a:ext cx="2882550" cy="103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25" name="Group 90"/>
          <p:cNvGrpSpPr>
            <a:grpSpLocks/>
          </p:cNvGrpSpPr>
          <p:nvPr/>
        </p:nvGrpSpPr>
        <p:grpSpPr bwMode="auto">
          <a:xfrm>
            <a:off x="1828978" y="5531693"/>
            <a:ext cx="1441435" cy="334938"/>
            <a:chOff x="3888" y="2160"/>
            <a:chExt cx="838" cy="211"/>
          </a:xfrm>
        </p:grpSpPr>
        <p:sp>
          <p:nvSpPr>
            <p:cNvPr id="126" name="Rectangle 91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拉杆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27" name="Rectangle 92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28" name="AutoShape 93"/>
          <p:cNvCxnSpPr>
            <a:cxnSpLocks noChangeShapeType="1"/>
          </p:cNvCxnSpPr>
          <p:nvPr/>
        </p:nvCxnSpPr>
        <p:spPr bwMode="auto">
          <a:xfrm rot="16200000" flipH="1">
            <a:off x="1085261" y="4892756"/>
            <a:ext cx="1090736" cy="396698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29" name="Group 74"/>
          <p:cNvGrpSpPr>
            <a:grpSpLocks/>
          </p:cNvGrpSpPr>
          <p:nvPr/>
        </p:nvGrpSpPr>
        <p:grpSpPr bwMode="auto">
          <a:xfrm>
            <a:off x="1825002" y="6141186"/>
            <a:ext cx="1441435" cy="334938"/>
            <a:chOff x="3888" y="2160"/>
            <a:chExt cx="838" cy="211"/>
          </a:xfrm>
        </p:grpSpPr>
        <p:sp>
          <p:nvSpPr>
            <p:cNvPr id="130" name="Rectangle 75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31" name="Rectangle 76"/>
            <p:cNvSpPr>
              <a:spLocks noChangeArrowheads="1"/>
            </p:cNvSpPr>
            <p:nvPr/>
          </p:nvSpPr>
          <p:spPr bwMode="auto">
            <a:xfrm>
              <a:off x="3921" y="2179"/>
              <a:ext cx="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32" name="AutoShape 93"/>
          <p:cNvCxnSpPr>
            <a:cxnSpLocks noChangeShapeType="1"/>
          </p:cNvCxnSpPr>
          <p:nvPr/>
        </p:nvCxnSpPr>
        <p:spPr bwMode="auto">
          <a:xfrm rot="16200000" flipH="1">
            <a:off x="1530714" y="5951677"/>
            <a:ext cx="195279" cy="393297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33" name="Group 44"/>
          <p:cNvGrpSpPr>
            <a:grpSpLocks/>
          </p:cNvGrpSpPr>
          <p:nvPr/>
        </p:nvGrpSpPr>
        <p:grpSpPr bwMode="auto">
          <a:xfrm>
            <a:off x="1835165" y="3369082"/>
            <a:ext cx="1441435" cy="287317"/>
            <a:chOff x="3888" y="2111"/>
            <a:chExt cx="838" cy="181"/>
          </a:xfrm>
        </p:grpSpPr>
        <p:sp>
          <p:nvSpPr>
            <p:cNvPr id="134" name="Rectangle 45"/>
            <p:cNvSpPr>
              <a:spLocks noChangeArrowheads="1"/>
            </p:cNvSpPr>
            <p:nvPr/>
          </p:nvSpPr>
          <p:spPr bwMode="auto">
            <a:xfrm>
              <a:off x="3888" y="2152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35" name="Rectangle 46"/>
            <p:cNvSpPr>
              <a:spLocks noChangeArrowheads="1"/>
            </p:cNvSpPr>
            <p:nvPr/>
          </p:nvSpPr>
          <p:spPr bwMode="auto">
            <a:xfrm>
              <a:off x="3931" y="2111"/>
              <a:ext cx="36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36" name="AutoShape 7"/>
          <p:cNvCxnSpPr>
            <a:cxnSpLocks noChangeShapeType="1"/>
          </p:cNvCxnSpPr>
          <p:nvPr/>
        </p:nvCxnSpPr>
        <p:spPr bwMode="auto">
          <a:xfrm rot="16200000" flipH="1">
            <a:off x="-1444983" y="4418776"/>
            <a:ext cx="4276739" cy="164397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grpSp>
        <p:nvGrpSpPr>
          <p:cNvPr id="137" name="Group 44"/>
          <p:cNvGrpSpPr>
            <a:grpSpLocks/>
          </p:cNvGrpSpPr>
          <p:nvPr/>
        </p:nvGrpSpPr>
        <p:grpSpPr bwMode="auto">
          <a:xfrm>
            <a:off x="768325" y="2389600"/>
            <a:ext cx="1441435" cy="287317"/>
            <a:chOff x="3888" y="2111"/>
            <a:chExt cx="838" cy="181"/>
          </a:xfrm>
        </p:grpSpPr>
        <p:sp>
          <p:nvSpPr>
            <p:cNvPr id="138" name="Rectangle 45"/>
            <p:cNvSpPr>
              <a:spLocks noChangeArrowheads="1"/>
            </p:cNvSpPr>
            <p:nvPr/>
          </p:nvSpPr>
          <p:spPr bwMode="auto">
            <a:xfrm>
              <a:off x="3888" y="2160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 dirty="0" smtClean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驾驶室系统</a:t>
              </a: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39" name="Rectangle 46"/>
            <p:cNvSpPr>
              <a:spLocks noChangeArrowheads="1"/>
            </p:cNvSpPr>
            <p:nvPr/>
          </p:nvSpPr>
          <p:spPr bwMode="auto">
            <a:xfrm>
              <a:off x="3931" y="2111"/>
              <a:ext cx="36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cxnSp>
        <p:nvCxnSpPr>
          <p:cNvPr id="140" name="AutoShape 7"/>
          <p:cNvCxnSpPr>
            <a:cxnSpLocks noChangeShapeType="1"/>
          </p:cNvCxnSpPr>
          <p:nvPr/>
        </p:nvCxnSpPr>
        <p:spPr bwMode="auto">
          <a:xfrm rot="16200000" flipH="1">
            <a:off x="584985" y="2388809"/>
            <a:ext cx="209543" cy="157137"/>
          </a:xfrm>
          <a:prstGeom prst="bentConnector2">
            <a:avLst/>
          </a:prstGeom>
          <a:noFill/>
          <a:ln w="12700">
            <a:solidFill>
              <a:srgbClr val="0E3192"/>
            </a:solidFill>
            <a:miter lim="800000"/>
            <a:headEnd/>
            <a:tailEnd/>
          </a:ln>
        </p:spPr>
      </p:cxnSp>
      <p:sp>
        <p:nvSpPr>
          <p:cNvPr id="141" name="Rechteck 274"/>
          <p:cNvSpPr/>
          <p:nvPr/>
        </p:nvSpPr>
        <p:spPr bwMode="auto">
          <a:xfrm>
            <a:off x="1825053" y="4933886"/>
            <a:ext cx="1451547" cy="213513"/>
          </a:xfrm>
          <a:prstGeom prst="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squar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142" name="Group 44"/>
          <p:cNvGrpSpPr>
            <a:grpSpLocks/>
          </p:cNvGrpSpPr>
          <p:nvPr/>
        </p:nvGrpSpPr>
        <p:grpSpPr bwMode="auto">
          <a:xfrm>
            <a:off x="1828800" y="3673882"/>
            <a:ext cx="1441435" cy="287317"/>
            <a:chOff x="3888" y="2111"/>
            <a:chExt cx="838" cy="181"/>
          </a:xfrm>
        </p:grpSpPr>
        <p:sp>
          <p:nvSpPr>
            <p:cNvPr id="143" name="Rectangle 45"/>
            <p:cNvSpPr>
              <a:spLocks noChangeArrowheads="1"/>
            </p:cNvSpPr>
            <p:nvPr/>
          </p:nvSpPr>
          <p:spPr bwMode="auto">
            <a:xfrm>
              <a:off x="3888" y="2152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44" name="Rectangle 46"/>
            <p:cNvSpPr>
              <a:spLocks noChangeArrowheads="1"/>
            </p:cNvSpPr>
            <p:nvPr/>
          </p:nvSpPr>
          <p:spPr bwMode="auto">
            <a:xfrm>
              <a:off x="3931" y="2111"/>
              <a:ext cx="36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145" name="Group 44"/>
          <p:cNvGrpSpPr>
            <a:grpSpLocks/>
          </p:cNvGrpSpPr>
          <p:nvPr/>
        </p:nvGrpSpPr>
        <p:grpSpPr bwMode="auto">
          <a:xfrm>
            <a:off x="1828800" y="3978682"/>
            <a:ext cx="1441435" cy="287317"/>
            <a:chOff x="3888" y="2111"/>
            <a:chExt cx="838" cy="181"/>
          </a:xfrm>
        </p:grpSpPr>
        <p:sp>
          <p:nvSpPr>
            <p:cNvPr id="146" name="Rectangle 45"/>
            <p:cNvSpPr>
              <a:spLocks noChangeArrowheads="1"/>
            </p:cNvSpPr>
            <p:nvPr/>
          </p:nvSpPr>
          <p:spPr bwMode="auto">
            <a:xfrm>
              <a:off x="3888" y="2152"/>
              <a:ext cx="838" cy="13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E319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147" name="Rectangle 46"/>
            <p:cNvSpPr>
              <a:spLocks noChangeArrowheads="1"/>
            </p:cNvSpPr>
            <p:nvPr/>
          </p:nvSpPr>
          <p:spPr bwMode="auto">
            <a:xfrm>
              <a:off x="3931" y="2111"/>
              <a:ext cx="36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 anchor="ctr"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97607992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整车通用产品结构的引入 ─ 基本过程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-505023" y="2225598"/>
            <a:ext cx="8235950" cy="5027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4213" indent="-22860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–"/>
              <a:defRPr sz="18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2pPr>
            <a:lvl3pPr marL="1143000" indent="-228600" algn="l" defTabSz="108585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•"/>
              <a:defRPr sz="16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42875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4pPr>
            <a:lvl5pPr marL="1827213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700" dirty="0" smtClean="0"/>
          </a:p>
          <a:p>
            <a:endParaRPr lang="en-US" altLang="zh-CN" sz="1700" dirty="0"/>
          </a:p>
        </p:txBody>
      </p:sp>
      <p:sp>
        <p:nvSpPr>
          <p:cNvPr id="16" name="Abgerundetes Rechteck 149"/>
          <p:cNvSpPr/>
          <p:nvPr/>
        </p:nvSpPr>
        <p:spPr bwMode="auto">
          <a:xfrm>
            <a:off x="5811720" y="1253522"/>
            <a:ext cx="3048000" cy="7016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通用产品结构模板定义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17" name="Abgerundetes Rechteck 149"/>
          <p:cNvSpPr/>
          <p:nvPr/>
        </p:nvSpPr>
        <p:spPr bwMode="auto">
          <a:xfrm>
            <a:off x="249120" y="1245584"/>
            <a:ext cx="3048000" cy="723900"/>
          </a:xfrm>
          <a:prstGeom prst="roundRect">
            <a:avLst/>
          </a:prstGeom>
          <a:solidFill>
            <a:srgbClr val="FF0000"/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选项库定义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Abgerundetes Rechteck 149"/>
          <p:cNvSpPr/>
          <p:nvPr/>
        </p:nvSpPr>
        <p:spPr bwMode="auto">
          <a:xfrm>
            <a:off x="249120" y="5398484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新产品家族选项定义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19" name="Abgerundetes Rechteck 149"/>
          <p:cNvSpPr/>
          <p:nvPr/>
        </p:nvSpPr>
        <p:spPr bwMode="auto">
          <a:xfrm>
            <a:off x="5811720" y="5398484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新产品家族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 eaLnBrk="0" hangingPunct="0"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Super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BOM</a:t>
            </a:r>
            <a:r>
              <a:rPr lang="zh-CN" altLang="en-US" sz="2000" dirty="0">
                <a:solidFill>
                  <a:schemeClr val="tx1"/>
                </a:solidFill>
              </a:rPr>
              <a:t>定义 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cxnSp>
        <p:nvCxnSpPr>
          <p:cNvPr id="20" name="肘形连接符 57"/>
          <p:cNvCxnSpPr>
            <a:cxnSpLocks noChangeShapeType="1"/>
            <a:stCxn id="16" idx="1"/>
            <a:endCxn id="17" idx="3"/>
          </p:cNvCxnSpPr>
          <p:nvPr/>
        </p:nvCxnSpPr>
        <p:spPr bwMode="auto">
          <a:xfrm rot="10800000" flipV="1">
            <a:off x="3297120" y="1604359"/>
            <a:ext cx="2514600" cy="31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21" name="肘形连接符 76"/>
          <p:cNvCxnSpPr>
            <a:cxnSpLocks noChangeShapeType="1"/>
            <a:stCxn id="16" idx="2"/>
            <a:endCxn id="19" idx="0"/>
          </p:cNvCxnSpPr>
          <p:nvPr/>
        </p:nvCxnSpPr>
        <p:spPr bwMode="auto">
          <a:xfrm rot="5400000">
            <a:off x="5614077" y="3676840"/>
            <a:ext cx="3443288" cy="31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2" name="矩形 21"/>
          <p:cNvSpPr/>
          <p:nvPr/>
        </p:nvSpPr>
        <p:spPr bwMode="auto">
          <a:xfrm>
            <a:off x="6903920" y="3379184"/>
            <a:ext cx="874713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应用</a:t>
            </a:r>
            <a:endParaRPr lang="zh-CN" altLang="en-US" sz="1600" dirty="0">
              <a:solidFill>
                <a:schemeClr val="bg1"/>
              </a:solidFill>
              <a:ea typeface="黑体" pitchFamily="2" charset="-122"/>
            </a:endParaRPr>
          </a:p>
        </p:txBody>
      </p:sp>
      <p:cxnSp>
        <p:nvCxnSpPr>
          <p:cNvPr id="23" name="肘形连接符 81"/>
          <p:cNvCxnSpPr>
            <a:cxnSpLocks noChangeShapeType="1"/>
            <a:stCxn id="17" idx="2"/>
            <a:endCxn id="18" idx="0"/>
          </p:cNvCxnSpPr>
          <p:nvPr/>
        </p:nvCxnSpPr>
        <p:spPr bwMode="auto">
          <a:xfrm rot="16200000" flipH="1">
            <a:off x="58620" y="3683984"/>
            <a:ext cx="3429000" cy="0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4" name="矩形 23"/>
          <p:cNvSpPr/>
          <p:nvPr/>
        </p:nvSpPr>
        <p:spPr bwMode="auto">
          <a:xfrm>
            <a:off x="1053983" y="3379184"/>
            <a:ext cx="1447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选择</a:t>
            </a:r>
            <a:endParaRPr lang="zh-CN" altLang="en-US" sz="1600" dirty="0">
              <a:solidFill>
                <a:schemeClr val="bg1"/>
              </a:solidFill>
              <a:ea typeface="黑体" pitchFamily="2" charset="-122"/>
            </a:endParaRPr>
          </a:p>
        </p:txBody>
      </p:sp>
      <p:cxnSp>
        <p:nvCxnSpPr>
          <p:cNvPr id="25" name="肘形连接符 90"/>
          <p:cNvCxnSpPr>
            <a:cxnSpLocks noChangeShapeType="1"/>
            <a:stCxn id="19" idx="1"/>
            <a:endCxn id="18" idx="3"/>
          </p:cNvCxnSpPr>
          <p:nvPr/>
        </p:nvCxnSpPr>
        <p:spPr bwMode="auto">
          <a:xfrm rot="10800000">
            <a:off x="3297120" y="5760434"/>
            <a:ext cx="2514600" cy="1588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sp>
        <p:nvSpPr>
          <p:cNvPr id="26" name="矩形 25"/>
          <p:cNvSpPr/>
          <p:nvPr/>
        </p:nvSpPr>
        <p:spPr bwMode="auto">
          <a:xfrm>
            <a:off x="3982920" y="5588984"/>
            <a:ext cx="12192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  <a:ea typeface="黑体" pitchFamily="2" charset="-122"/>
              </a:rPr>
              <a:t>约束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6870" y="2369534"/>
            <a:ext cx="4235450" cy="248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76619926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选项管理</a:t>
            </a:r>
            <a:r>
              <a:rPr lang="en-US" altLang="zh-CN" dirty="0"/>
              <a:t>(Option Management)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82102" y="1027312"/>
            <a:ext cx="8589524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sz="2000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sz="20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Subtitle 3"/>
          <p:cNvSpPr>
            <a:spLocks noGrp="1"/>
          </p:cNvSpPr>
          <p:nvPr>
            <p:ph type="subTitle" idx="15"/>
          </p:nvPr>
        </p:nvSpPr>
        <p:spPr>
          <a:xfrm>
            <a:off x="228600" y="1066800"/>
            <a:ext cx="8695944" cy="338328"/>
          </a:xfrm>
        </p:spPr>
        <p:txBody>
          <a:bodyPr/>
          <a:lstStyle/>
          <a:p>
            <a:r>
              <a:rPr lang="zh-CN" altLang="en-US" sz="1800" dirty="0" smtClean="0">
                <a:solidFill>
                  <a:srgbClr val="4C4D4F"/>
                </a:solidFill>
                <a:latin typeface="+mn-ea"/>
              </a:rPr>
              <a:t>为企业定义选项</a:t>
            </a:r>
            <a:r>
              <a:rPr lang="en-US" altLang="zh-CN" sz="1800" dirty="0" smtClean="0">
                <a:solidFill>
                  <a:srgbClr val="4C4D4F"/>
                </a:solidFill>
                <a:latin typeface="+mn-ea"/>
              </a:rPr>
              <a:t>(Option)</a:t>
            </a:r>
            <a:r>
              <a:rPr lang="zh-CN" altLang="en-US" sz="1800" dirty="0" smtClean="0">
                <a:solidFill>
                  <a:srgbClr val="4C4D4F"/>
                </a:solidFill>
                <a:latin typeface="+mn-ea"/>
              </a:rPr>
              <a:t>和选项</a:t>
            </a:r>
            <a:r>
              <a:rPr lang="zh-CN" altLang="en-US" sz="1800" dirty="0">
                <a:solidFill>
                  <a:srgbClr val="4C4D4F"/>
                </a:solidFill>
                <a:latin typeface="+mn-ea"/>
              </a:rPr>
              <a:t>选择</a:t>
            </a:r>
            <a:r>
              <a:rPr lang="en-US" altLang="zh-CN" sz="1800" dirty="0" smtClean="0">
                <a:solidFill>
                  <a:srgbClr val="4C4D4F"/>
                </a:solidFill>
                <a:latin typeface="+mn-ea"/>
              </a:rPr>
              <a:t>(Choice)</a:t>
            </a:r>
            <a:r>
              <a:rPr lang="zh-CN" altLang="en-US" sz="1800" dirty="0" smtClean="0">
                <a:solidFill>
                  <a:srgbClr val="4C4D4F"/>
                </a:solidFill>
                <a:latin typeface="+mn-ea"/>
              </a:rPr>
              <a:t>库</a:t>
            </a:r>
            <a:endParaRPr lang="en-US" altLang="zh-CN" sz="1800" dirty="0">
              <a:solidFill>
                <a:srgbClr val="4C4D4F"/>
              </a:solidFill>
              <a:latin typeface="+mn-ea"/>
            </a:endParaRPr>
          </a:p>
          <a:p>
            <a:endParaRPr lang="en-US" dirty="0"/>
          </a:p>
        </p:txBody>
      </p:sp>
      <p:sp>
        <p:nvSpPr>
          <p:cNvPr id="14" name="Abgerundetes Rechteck 81"/>
          <p:cNvSpPr/>
          <p:nvPr/>
        </p:nvSpPr>
        <p:spPr bwMode="auto">
          <a:xfrm>
            <a:off x="778600" y="1981192"/>
            <a:ext cx="4533142" cy="1170296"/>
          </a:xfrm>
          <a:prstGeom prst="roundRect">
            <a:avLst>
              <a:gd name="adj" fmla="val 6361"/>
            </a:avLst>
          </a:prstGeom>
          <a:solidFill>
            <a:srgbClr val="FFFFCC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latin typeface="宋体" pitchFamily="2" charset="-122"/>
                <a:ea typeface="宋体" pitchFamily="2" charset="-122"/>
              </a:rPr>
              <a:t>定义专门的企业级选项库</a:t>
            </a:r>
            <a:endParaRPr kumimoji="0" 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5" name="Abgerundetes Rechteck 82"/>
          <p:cNvSpPr/>
          <p:nvPr/>
        </p:nvSpPr>
        <p:spPr bwMode="auto">
          <a:xfrm>
            <a:off x="3347990" y="2324277"/>
            <a:ext cx="1738201" cy="723332"/>
          </a:xfrm>
          <a:prstGeom prst="roundRect">
            <a:avLst/>
          </a:prstGeom>
          <a:solidFill>
            <a:srgbClr val="FFFFCC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none" lIns="90488" tIns="44450" rIns="90488" bIns="4445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确定产品</a:t>
            </a:r>
            <a:r>
              <a:rPr lang="zh-CN" altLang="en-US" sz="1400" dirty="0">
                <a:latin typeface="宋体" pitchFamily="2" charset="-122"/>
                <a:ea typeface="宋体" pitchFamily="2" charset="-122"/>
              </a:rPr>
              <a:t>家族</a:t>
            </a:r>
            <a:endParaRPr kumimoji="0" lang="en-US" altLang="zh-CN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</a:rPr>
              <a:t>选项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7" name="Abgerundetes Rechteck 85"/>
          <p:cNvSpPr/>
          <p:nvPr/>
        </p:nvSpPr>
        <p:spPr bwMode="auto">
          <a:xfrm>
            <a:off x="1096100" y="2324277"/>
            <a:ext cx="1738201" cy="723332"/>
          </a:xfrm>
          <a:prstGeom prst="roundRect">
            <a:avLst/>
          </a:prstGeom>
          <a:solidFill>
            <a:srgbClr val="FFFFCC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vert="horz" wrap="none" lIns="90488" tIns="44450" rIns="90488" bIns="4445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latin typeface="宋体" pitchFamily="2" charset="-122"/>
                <a:ea typeface="宋体" pitchFamily="2" charset="-122"/>
              </a:rPr>
              <a:t>识别选项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21" name="Gerade Verbindung mit Pfeil 90"/>
          <p:cNvCxnSpPr/>
          <p:nvPr/>
        </p:nvCxnSpPr>
        <p:spPr bwMode="auto">
          <a:xfrm>
            <a:off x="2834301" y="2668359"/>
            <a:ext cx="513689" cy="1588"/>
          </a:xfrm>
          <a:prstGeom prst="straightConnector1">
            <a:avLst/>
          </a:prstGeom>
          <a:solidFill>
            <a:srgbClr val="3366FF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cxnSp>
        <p:nvCxnSpPr>
          <p:cNvPr id="33" name="Gerade Verbindung mit Pfeil 102"/>
          <p:cNvCxnSpPr>
            <a:endCxn id="14" idx="1"/>
          </p:cNvCxnSpPr>
          <p:nvPr/>
        </p:nvCxnSpPr>
        <p:spPr bwMode="auto">
          <a:xfrm flipV="1">
            <a:off x="384900" y="2566340"/>
            <a:ext cx="393700" cy="13648"/>
          </a:xfrm>
          <a:prstGeom prst="straightConnector1">
            <a:avLst/>
          </a:prstGeom>
          <a:solidFill>
            <a:srgbClr val="3366FF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</p:spTree>
    <p:extLst>
      <p:ext uri="{BB962C8B-B14F-4D97-AF65-F5344CB8AC3E}">
        <p14:creationId xmlns="" xmlns:p14="http://schemas.microsoft.com/office/powerpoint/2010/main" val="214509971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识别选项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277136" y="948866"/>
            <a:ext cx="8695944" cy="338328"/>
          </a:xfrm>
        </p:spPr>
        <p:txBody>
          <a:bodyPr/>
          <a:lstStyle/>
          <a:p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以装载机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855N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为例识别选项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54995617"/>
              </p:ext>
            </p:extLst>
          </p:nvPr>
        </p:nvGraphicFramePr>
        <p:xfrm>
          <a:off x="521675" y="1484923"/>
          <a:ext cx="6793525" cy="4732997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299550"/>
                <a:gridCol w="4493975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选项（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Option</a:t>
                      </a:r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选项值（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Choice</a:t>
                      </a:r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6806">
                <a:tc>
                  <a:txBody>
                    <a:bodyPr/>
                    <a:lstStyle/>
                    <a:p>
                      <a:r>
                        <a:rPr lang="zh-CN" altLang="en-US" sz="1200" b="0" dirty="0" smtClean="0">
                          <a:latin typeface="+mn-ea"/>
                          <a:ea typeface="+mn-ea"/>
                        </a:rPr>
                        <a:t>发动机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潍柴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147125">
                <a:tc>
                  <a:txBody>
                    <a:bodyPr/>
                    <a:lstStyle/>
                    <a:p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玉柴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3289"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上柴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1531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桥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</a:rPr>
                        <a:t> 柳</a:t>
                      </a:r>
                      <a:r>
                        <a:rPr lang="zh-CN" altLang="en-US" sz="1200" b="0" i="0" u="none" strike="noStrike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</a:rPr>
                        <a:t>工分体桥</a:t>
                      </a:r>
                    </a:p>
                  </a:txBody>
                  <a:tcPr marL="7620" marR="7620" marT="7620" marB="0" anchor="b"/>
                </a:tc>
              </a:tr>
              <a:tr h="212188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箱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kern="1200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柳工</a:t>
                      </a:r>
                      <a:r>
                        <a:rPr lang="zh-CN" altLang="en-US" sz="1200" b="0" i="0" u="none" strike="noStrike" dirty="0">
                          <a:solidFill>
                            <a:srgbClr val="4C4D4F"/>
                          </a:solidFill>
                          <a:effectLst/>
                          <a:latin typeface="华文细黑"/>
                        </a:rPr>
                        <a:t>短</a:t>
                      </a:r>
                      <a:r>
                        <a:rPr lang="zh-CN" altLang="en-US" sz="1200" kern="1200" dirty="0">
                          <a:solidFill>
                            <a:srgbClr val="4C4D4F"/>
                          </a:solidFill>
                          <a:latin typeface="+mn-ea"/>
                          <a:ea typeface="+mn-ea"/>
                          <a:cs typeface="+mn-cs"/>
                        </a:rPr>
                        <a:t>轴箱</a:t>
                      </a:r>
                    </a:p>
                  </a:txBody>
                  <a:tcPr marL="7620" marR="7620" marT="7620" marB="0" anchor="b"/>
                </a:tc>
              </a:tr>
              <a:tr h="19284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液压系统</a:t>
                      </a:r>
                      <a:endParaRPr lang="zh-CN" altLang="en-US" sz="1200" b="0" i="0" u="none" strike="noStrike" kern="1200" dirty="0">
                        <a:solidFill>
                          <a:srgbClr val="4C4D4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两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I(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正常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17350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rgbClr val="4C4D4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两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无工作装置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21570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rgbClr val="4C4D4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三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I(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正常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29307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rgbClr val="4C4D4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三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无工作装置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19343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细黑"/>
                        </a:rPr>
                        <a:t>  </a:t>
                      </a:r>
                      <a:r>
                        <a:rPr lang="zh-CN" altLang="en-US" sz="1200" b="0" i="0" u="none" strike="noStrike" kern="1200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空调</a:t>
                      </a:r>
                      <a:endParaRPr lang="zh-CN" altLang="en-US" sz="1200" b="0" i="0" u="none" strike="noStrike" kern="1200" dirty="0">
                        <a:solidFill>
                          <a:srgbClr val="4C4D4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暖风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00465"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冷暖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空调</a:t>
                      </a:r>
                    </a:p>
                  </a:txBody>
                  <a:tcPr marL="7620" marR="7620" marT="7620" marB="0" anchor="b"/>
                </a:tc>
              </a:tr>
              <a:tr h="2514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kern="1200" dirty="0" smtClean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发动机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4C4D4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罩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发动机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罩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暖风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272562"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发动机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罩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空调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24442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动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臂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加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长臂</a:t>
                      </a:r>
                    </a:p>
                  </a:txBody>
                  <a:tcPr marL="7620" marR="7620" marT="7620" marB="0" anchor="b"/>
                </a:tc>
              </a:tr>
              <a:tr h="27783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普通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臂</a:t>
                      </a:r>
                    </a:p>
                  </a:txBody>
                  <a:tcPr marL="7620" marR="7620" marT="7620" marB="0" anchor="b"/>
                </a:tc>
              </a:tr>
              <a:tr h="27783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无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0340200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识别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- </a:t>
            </a:r>
            <a:r>
              <a:rPr lang="zh-CN" altLang="en-US" dirty="0" smtClean="0"/>
              <a:t>定义产品家族选项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277136" y="948866"/>
            <a:ext cx="7828177" cy="657992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未来的装载机产品以发动机、桥、箱、定额液压四个选项为划分标准建立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产品系列，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并在此基础上组织超级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BOM</a:t>
            </a:r>
            <a:r>
              <a:rPr lang="zh-CN" altLang="en-US" sz="18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。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09418"/>
              </p:ext>
            </p:extLst>
          </p:nvPr>
        </p:nvGraphicFramePr>
        <p:xfrm>
          <a:off x="441770" y="1795644"/>
          <a:ext cx="6793525" cy="4732997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299550"/>
                <a:gridCol w="4493975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选项（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Option</a:t>
                      </a:r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选项值（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Choice</a:t>
                      </a:r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6806">
                <a:tc>
                  <a:txBody>
                    <a:bodyPr/>
                    <a:lstStyle/>
                    <a:p>
                      <a:r>
                        <a:rPr lang="zh-CN" altLang="en-US" sz="12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发动机</a:t>
                      </a:r>
                      <a:endParaRPr lang="zh-CN" altLang="en-US" sz="12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潍柴</a:t>
                      </a:r>
                      <a:r>
                        <a:rPr lang="en-US" altLang="zh-CN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147125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玉柴</a:t>
                      </a:r>
                      <a:r>
                        <a:rPr lang="en-US" altLang="zh-CN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3289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上柴</a:t>
                      </a:r>
                      <a:r>
                        <a:rPr lang="en-US" altLang="zh-CN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1531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桥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柳</a:t>
                      </a:r>
                      <a:r>
                        <a:rPr lang="zh-CN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工分体桥</a:t>
                      </a:r>
                    </a:p>
                  </a:txBody>
                  <a:tcPr marL="7620" marR="7620" marT="7620" marB="0" anchor="b"/>
                </a:tc>
              </a:tr>
              <a:tr h="212188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箱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柳工</a:t>
                      </a:r>
                      <a:r>
                        <a:rPr lang="zh-CN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华文细黑"/>
                        </a:rPr>
                        <a:t>短</a:t>
                      </a:r>
                      <a:r>
                        <a:rPr lang="zh-CN" altLang="en-US" sz="120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轴箱</a:t>
                      </a:r>
                    </a:p>
                  </a:txBody>
                  <a:tcPr marL="7620" marR="7620" marT="7620" marB="0" anchor="b"/>
                </a:tc>
              </a:tr>
              <a:tr h="19284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液压系统</a:t>
                      </a:r>
                      <a:endParaRPr lang="zh-CN" altLang="en-US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两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I(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正常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17350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两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无工作装置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21570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三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I(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正常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29307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三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无工作装置</a:t>
                      </a:r>
                      <a:r>
                        <a:rPr lang="en-US" altLang="zh-C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19343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细黑"/>
                        </a:rPr>
                        <a:t>  空调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华文细黑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暖风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00465"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冷暖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空调</a:t>
                      </a:r>
                    </a:p>
                  </a:txBody>
                  <a:tcPr marL="7620" marR="7620" marT="7620" marB="0" anchor="b"/>
                </a:tc>
              </a:tr>
              <a:tr h="2514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细黑"/>
                        </a:rPr>
                        <a:t> 发动机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细黑"/>
                        </a:rPr>
                        <a:t>罩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发动机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罩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暖风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272562"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发动机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罩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空调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</a:tr>
              <a:tr h="24442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动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臂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加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长臂</a:t>
                      </a:r>
                    </a:p>
                  </a:txBody>
                  <a:tcPr marL="7620" marR="7620" marT="7620" marB="0" anchor="b"/>
                </a:tc>
              </a:tr>
              <a:tr h="27783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普通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臂</a:t>
                      </a:r>
                    </a:p>
                  </a:txBody>
                  <a:tcPr marL="7620" marR="7620" marT="7620" marB="0" anchor="b"/>
                </a:tc>
              </a:tr>
              <a:tr h="27783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无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2080670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识别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- </a:t>
            </a:r>
            <a:r>
              <a:rPr lang="zh-CN" altLang="en-US" dirty="0" smtClean="0"/>
              <a:t>选项约束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277136" y="948866"/>
            <a:ext cx="7828177" cy="657992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solidFill>
                  <a:schemeClr val="accent2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识别选项约束关系</a:t>
            </a:r>
            <a:endParaRPr lang="en-US" altLang="zh-CN" sz="1800" b="1" dirty="0">
              <a:solidFill>
                <a:schemeClr val="accent2">
                  <a:lumMod val="50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Font typeface="宋体" pitchFamily="2" charset="-122"/>
              <a:buChar char="－"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选项间的影响分析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Font typeface="宋体" pitchFamily="2" charset="-122"/>
              <a:buChar char="－"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选项值间的约束分析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2162592"/>
            <a:ext cx="8296275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47309274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识别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- </a:t>
            </a:r>
            <a:r>
              <a:rPr lang="zh-CN" altLang="en-US" dirty="0" smtClean="0"/>
              <a:t>选项约束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277136" y="948866"/>
            <a:ext cx="7828177" cy="657992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1800" b="1" dirty="0" smtClean="0">
                <a:solidFill>
                  <a:schemeClr val="accent2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选项约束的分类</a:t>
            </a:r>
            <a:endParaRPr lang="en-US" altLang="zh-CN" sz="1800" b="1" dirty="0">
              <a:solidFill>
                <a:schemeClr val="accent2">
                  <a:lumMod val="50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Font typeface="宋体" pitchFamily="2" charset="-122"/>
              <a:buChar char="－"/>
            </a:pPr>
            <a:r>
              <a:rPr lang="zh-CN" altLang="en-US" sz="1800" dirty="0" smtClean="0">
                <a:latin typeface="宋体" pitchFamily="2" charset="-122"/>
                <a:ea typeface="宋体" pitchFamily="2" charset="-122"/>
              </a:rPr>
              <a:t>包含关系：一对一关系，保证技术可行性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Font typeface="宋体" pitchFamily="2" charset="-122"/>
              <a:buChar char="－"/>
            </a:pPr>
            <a:r>
              <a:rPr lang="zh-CN" altLang="en-US" sz="1800" dirty="0" smtClean="0">
                <a:latin typeface="宋体" pitchFamily="2" charset="-122"/>
                <a:ea typeface="宋体" pitchFamily="2" charset="-122"/>
              </a:rPr>
              <a:t>排除关系：一对多关系，表示不兼容性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Rectangle 58"/>
          <p:cNvSpPr/>
          <p:nvPr/>
        </p:nvSpPr>
        <p:spPr bwMode="auto">
          <a:xfrm>
            <a:off x="1651247" y="2403469"/>
            <a:ext cx="1167669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ea"/>
              </a:rPr>
              <a:t>三联阀属具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" name="Rounded Rectangle 65"/>
          <p:cNvSpPr/>
          <p:nvPr/>
        </p:nvSpPr>
        <p:spPr bwMode="auto">
          <a:xfrm>
            <a:off x="2504161" y="2877951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除雪铲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ounded Rectangle 66"/>
          <p:cNvSpPr/>
          <p:nvPr/>
        </p:nvSpPr>
        <p:spPr bwMode="auto">
          <a:xfrm>
            <a:off x="2504161" y="3228059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抱叉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9" name="Elbow Connector 12"/>
          <p:cNvCxnSpPr>
            <a:stCxn id="6" idx="2"/>
            <a:endCxn id="7" idx="1"/>
          </p:cNvCxnSpPr>
          <p:nvPr/>
        </p:nvCxnSpPr>
        <p:spPr bwMode="auto">
          <a:xfrm rot="16200000" flipH="1">
            <a:off x="2212072" y="2715608"/>
            <a:ext cx="315098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Elbow Connector 12"/>
          <p:cNvCxnSpPr>
            <a:stCxn id="6" idx="2"/>
            <a:endCxn id="8" idx="1"/>
          </p:cNvCxnSpPr>
          <p:nvPr/>
        </p:nvCxnSpPr>
        <p:spPr bwMode="auto">
          <a:xfrm rot="16200000" flipH="1">
            <a:off x="2037018" y="2890662"/>
            <a:ext cx="665206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ounded Rectangle 69"/>
          <p:cNvSpPr/>
          <p:nvPr/>
        </p:nvSpPr>
        <p:spPr bwMode="auto">
          <a:xfrm>
            <a:off x="2504161" y="3578168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侧卸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12" name="Elbow Connector 12"/>
          <p:cNvCxnSpPr>
            <a:stCxn id="6" idx="2"/>
            <a:endCxn id="11" idx="1"/>
          </p:cNvCxnSpPr>
          <p:nvPr/>
        </p:nvCxnSpPr>
        <p:spPr bwMode="auto">
          <a:xfrm rot="16200000" flipH="1">
            <a:off x="1861964" y="3065716"/>
            <a:ext cx="1015315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Rectangle 78"/>
          <p:cNvSpPr/>
          <p:nvPr/>
        </p:nvSpPr>
        <p:spPr bwMode="auto">
          <a:xfrm>
            <a:off x="4782881" y="4577719"/>
            <a:ext cx="1006738" cy="336481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dirty="0" smtClean="0">
                <a:latin typeface="+mn-ea"/>
              </a:rPr>
              <a:t>动臂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1" name="Rounded Rectangle 79"/>
          <p:cNvSpPr/>
          <p:nvPr/>
        </p:nvSpPr>
        <p:spPr bwMode="auto">
          <a:xfrm>
            <a:off x="5493394" y="5099552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加长臂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sp>
        <p:nvSpPr>
          <p:cNvPr id="22" name="Rounded Rectangle 80"/>
          <p:cNvSpPr/>
          <p:nvPr/>
        </p:nvSpPr>
        <p:spPr bwMode="auto">
          <a:xfrm>
            <a:off x="5493394" y="5449660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普通臂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23" name="Elbow Connector 12"/>
          <p:cNvCxnSpPr>
            <a:stCxn id="20" idx="2"/>
            <a:endCxn id="21" idx="1"/>
          </p:cNvCxnSpPr>
          <p:nvPr/>
        </p:nvCxnSpPr>
        <p:spPr bwMode="auto">
          <a:xfrm rot="16200000" flipH="1">
            <a:off x="5229991" y="4970459"/>
            <a:ext cx="319663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Elbow Connector 12"/>
          <p:cNvCxnSpPr>
            <a:stCxn id="20" idx="2"/>
            <a:endCxn id="22" idx="1"/>
          </p:cNvCxnSpPr>
          <p:nvPr/>
        </p:nvCxnSpPr>
        <p:spPr bwMode="auto">
          <a:xfrm rot="16200000" flipH="1">
            <a:off x="5054937" y="5145513"/>
            <a:ext cx="669771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Rounded Rectangle 83"/>
          <p:cNvSpPr/>
          <p:nvPr/>
        </p:nvSpPr>
        <p:spPr bwMode="auto">
          <a:xfrm>
            <a:off x="5493394" y="5799769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无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26" name="Elbow Connector 12"/>
          <p:cNvCxnSpPr>
            <a:stCxn id="20" idx="2"/>
            <a:endCxn id="25" idx="1"/>
          </p:cNvCxnSpPr>
          <p:nvPr/>
        </p:nvCxnSpPr>
        <p:spPr bwMode="auto">
          <a:xfrm rot="16200000" flipH="1">
            <a:off x="4879882" y="5320568"/>
            <a:ext cx="1019880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Curved Connector 92"/>
          <p:cNvCxnSpPr>
            <a:stCxn id="65" idx="3"/>
            <a:endCxn id="21" idx="3"/>
          </p:cNvCxnSpPr>
          <p:nvPr/>
        </p:nvCxnSpPr>
        <p:spPr bwMode="auto">
          <a:xfrm flipH="1">
            <a:off x="6410523" y="3225005"/>
            <a:ext cx="913555" cy="2008858"/>
          </a:xfrm>
          <a:prstGeom prst="curvedConnector3">
            <a:avLst>
              <a:gd name="adj1" fmla="val -25023"/>
            </a:avLst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arrow" w="lg" len="lg"/>
            <a:tailEnd type="arrow" w="lg" len="lg"/>
          </a:ln>
          <a:effectLst/>
        </p:spPr>
      </p:cxnSp>
      <p:cxnSp>
        <p:nvCxnSpPr>
          <p:cNvPr id="35" name="Curved Connector 39"/>
          <p:cNvCxnSpPr>
            <a:stCxn id="7" idx="3"/>
            <a:endCxn id="43" idx="3"/>
          </p:cNvCxnSpPr>
          <p:nvPr/>
        </p:nvCxnSpPr>
        <p:spPr bwMode="auto">
          <a:xfrm flipH="1">
            <a:off x="3010218" y="3007697"/>
            <a:ext cx="321846" cy="2412572"/>
          </a:xfrm>
          <a:prstGeom prst="curvedConnector3">
            <a:avLst>
              <a:gd name="adj1" fmla="val -71028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cxnSp>
        <p:nvCxnSpPr>
          <p:cNvPr id="36" name="Curved Connector 39"/>
          <p:cNvCxnSpPr>
            <a:stCxn id="8" idx="3"/>
            <a:endCxn id="44" idx="3"/>
          </p:cNvCxnSpPr>
          <p:nvPr/>
        </p:nvCxnSpPr>
        <p:spPr bwMode="auto">
          <a:xfrm flipH="1">
            <a:off x="2897041" y="3357805"/>
            <a:ext cx="435023" cy="2412572"/>
          </a:xfrm>
          <a:prstGeom prst="curvedConnector3">
            <a:avLst>
              <a:gd name="adj1" fmla="val -52549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2831945" y="4425372"/>
            <a:ext cx="492443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</a:rPr>
              <a:t>包含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594365" y="4289380"/>
            <a:ext cx="492443" cy="27699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排除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42" name="Rectangle 58"/>
          <p:cNvSpPr/>
          <p:nvPr/>
        </p:nvSpPr>
        <p:spPr bwMode="auto">
          <a:xfrm>
            <a:off x="1216224" y="4816041"/>
            <a:ext cx="1266866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ea"/>
              </a:rPr>
              <a:t>三联阀属</a:t>
            </a:r>
            <a:r>
              <a:rPr lang="zh-CN" altLang="en-US" sz="1200" dirty="0" smtClean="0">
                <a:latin typeface="+mn-ea"/>
              </a:rPr>
              <a:t>具管路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Rounded Rectangle 65"/>
          <p:cNvSpPr/>
          <p:nvPr/>
        </p:nvSpPr>
        <p:spPr bwMode="auto">
          <a:xfrm>
            <a:off x="2069138" y="5290523"/>
            <a:ext cx="941080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除雪</a:t>
            </a: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铲管路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4" name="Rounded Rectangle 66"/>
          <p:cNvSpPr/>
          <p:nvPr/>
        </p:nvSpPr>
        <p:spPr bwMode="auto">
          <a:xfrm>
            <a:off x="2069138" y="5640631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抱叉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管路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45" name="Elbow Connector 12"/>
          <p:cNvCxnSpPr>
            <a:stCxn id="42" idx="2"/>
            <a:endCxn id="43" idx="1"/>
          </p:cNvCxnSpPr>
          <p:nvPr/>
        </p:nvCxnSpPr>
        <p:spPr bwMode="auto">
          <a:xfrm rot="16200000" flipH="1">
            <a:off x="1801848" y="5152979"/>
            <a:ext cx="315098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Elbow Connector 12"/>
          <p:cNvCxnSpPr>
            <a:stCxn id="42" idx="2"/>
            <a:endCxn id="44" idx="1"/>
          </p:cNvCxnSpPr>
          <p:nvPr/>
        </p:nvCxnSpPr>
        <p:spPr bwMode="auto">
          <a:xfrm rot="16200000" flipH="1">
            <a:off x="1626794" y="5328033"/>
            <a:ext cx="665206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Rounded Rectangle 69"/>
          <p:cNvSpPr/>
          <p:nvPr/>
        </p:nvSpPr>
        <p:spPr bwMode="auto">
          <a:xfrm>
            <a:off x="2069138" y="5990740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侧卸管路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48" name="Elbow Connector 12"/>
          <p:cNvCxnSpPr>
            <a:stCxn id="42" idx="2"/>
            <a:endCxn id="47" idx="1"/>
          </p:cNvCxnSpPr>
          <p:nvPr/>
        </p:nvCxnSpPr>
        <p:spPr bwMode="auto">
          <a:xfrm rot="16200000" flipH="1">
            <a:off x="1451740" y="5503087"/>
            <a:ext cx="1015315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Curved Connector 39"/>
          <p:cNvCxnSpPr>
            <a:stCxn id="11" idx="3"/>
            <a:endCxn id="47" idx="3"/>
          </p:cNvCxnSpPr>
          <p:nvPr/>
        </p:nvCxnSpPr>
        <p:spPr bwMode="auto">
          <a:xfrm flipH="1">
            <a:off x="2897041" y="3707914"/>
            <a:ext cx="435023" cy="2412572"/>
          </a:xfrm>
          <a:prstGeom prst="curvedConnector3">
            <a:avLst>
              <a:gd name="adj1" fmla="val -52549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sp>
        <p:nvSpPr>
          <p:cNvPr id="63" name="Rectangle 58"/>
          <p:cNvSpPr/>
          <p:nvPr/>
        </p:nvSpPr>
        <p:spPr bwMode="auto">
          <a:xfrm>
            <a:off x="4859962" y="2270669"/>
            <a:ext cx="1266866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 smtClean="0">
                <a:latin typeface="+mn-ea"/>
              </a:rPr>
              <a:t>液压系统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4" name="Rounded Rectangle 65"/>
          <p:cNvSpPr/>
          <p:nvPr/>
        </p:nvSpPr>
        <p:spPr bwMode="auto">
          <a:xfrm>
            <a:off x="5712875" y="2745151"/>
            <a:ext cx="1247217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两联阀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I(</a:t>
            </a: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正常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)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5" name="Rounded Rectangle 66"/>
          <p:cNvSpPr/>
          <p:nvPr/>
        </p:nvSpPr>
        <p:spPr bwMode="auto">
          <a:xfrm>
            <a:off x="5712876" y="3095259"/>
            <a:ext cx="1611202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两联阀</a:t>
            </a:r>
            <a:r>
              <a:rPr lang="en-US" altLang="zh-CN" sz="1100" dirty="0" smtClean="0">
                <a:latin typeface="Arial" charset="0"/>
                <a:ea typeface="MS PGothic" pitchFamily="34" charset="-128"/>
              </a:rPr>
              <a:t>II(</a:t>
            </a: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无工作装置</a:t>
            </a:r>
            <a:r>
              <a:rPr lang="en-US" altLang="zh-CN" sz="1100" dirty="0" smtClean="0">
                <a:latin typeface="Arial" charset="0"/>
                <a:ea typeface="MS PGothic" pitchFamily="34" charset="-128"/>
              </a:rPr>
              <a:t>)</a:t>
            </a:r>
            <a:endParaRPr lang="en-US" altLang="zh-CN" sz="1100" dirty="0">
              <a:latin typeface="Arial" charset="0"/>
              <a:ea typeface="MS PGothic" pitchFamily="34" charset="-128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66" name="Elbow Connector 12"/>
          <p:cNvCxnSpPr>
            <a:stCxn id="63" idx="2"/>
            <a:endCxn id="64" idx="1"/>
          </p:cNvCxnSpPr>
          <p:nvPr/>
        </p:nvCxnSpPr>
        <p:spPr bwMode="auto">
          <a:xfrm rot="16200000" flipH="1">
            <a:off x="5445586" y="2607608"/>
            <a:ext cx="315098" cy="21948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Elbow Connector 12"/>
          <p:cNvCxnSpPr>
            <a:stCxn id="63" idx="2"/>
            <a:endCxn id="65" idx="1"/>
          </p:cNvCxnSpPr>
          <p:nvPr/>
        </p:nvCxnSpPr>
        <p:spPr bwMode="auto">
          <a:xfrm rot="16200000" flipH="1">
            <a:off x="5270532" y="2782661"/>
            <a:ext cx="665206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8" name="Rounded Rectangle 69"/>
          <p:cNvSpPr/>
          <p:nvPr/>
        </p:nvSpPr>
        <p:spPr bwMode="auto">
          <a:xfrm>
            <a:off x="5712876" y="3445368"/>
            <a:ext cx="1247216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三联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阀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I(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正常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)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69" name="Elbow Connector 12"/>
          <p:cNvCxnSpPr>
            <a:stCxn id="63" idx="2"/>
            <a:endCxn id="68" idx="1"/>
          </p:cNvCxnSpPr>
          <p:nvPr/>
        </p:nvCxnSpPr>
        <p:spPr bwMode="auto">
          <a:xfrm rot="16200000" flipH="1">
            <a:off x="5095478" y="2957715"/>
            <a:ext cx="1015315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Rounded Rectangle 69"/>
          <p:cNvSpPr/>
          <p:nvPr/>
        </p:nvSpPr>
        <p:spPr bwMode="auto">
          <a:xfrm>
            <a:off x="5723228" y="3819718"/>
            <a:ext cx="1600850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三联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阀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II(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无工作装置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)</a:t>
            </a:r>
          </a:p>
        </p:txBody>
      </p:sp>
      <p:cxnSp>
        <p:nvCxnSpPr>
          <p:cNvPr id="71" name="Elbow Connector 12"/>
          <p:cNvCxnSpPr>
            <a:stCxn id="63" idx="2"/>
            <a:endCxn id="70" idx="1"/>
          </p:cNvCxnSpPr>
          <p:nvPr/>
        </p:nvCxnSpPr>
        <p:spPr bwMode="auto">
          <a:xfrm rot="16200000" flipH="1">
            <a:off x="4913479" y="3139714"/>
            <a:ext cx="1389665" cy="22983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Curved Connector 92"/>
          <p:cNvCxnSpPr>
            <a:stCxn id="70" idx="3"/>
            <a:endCxn id="21" idx="3"/>
          </p:cNvCxnSpPr>
          <p:nvPr/>
        </p:nvCxnSpPr>
        <p:spPr bwMode="auto">
          <a:xfrm flipH="1">
            <a:off x="6410523" y="3949464"/>
            <a:ext cx="913555" cy="1284399"/>
          </a:xfrm>
          <a:prstGeom prst="curvedConnector3">
            <a:avLst>
              <a:gd name="adj1" fmla="val -25023"/>
            </a:avLst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arrow" w="lg" len="lg"/>
            <a:tailEnd type="arrow" w="lg" len="lg"/>
          </a:ln>
          <a:effectLst/>
        </p:spPr>
      </p:cxnSp>
    </p:spTree>
    <p:extLst>
      <p:ext uri="{BB962C8B-B14F-4D97-AF65-F5344CB8AC3E}">
        <p14:creationId xmlns="" xmlns:p14="http://schemas.microsoft.com/office/powerpoint/2010/main" val="13261313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2019" y="6731338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识别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- </a:t>
            </a:r>
            <a:r>
              <a:rPr lang="zh-CN" altLang="en-US" dirty="0" smtClean="0"/>
              <a:t>选项约束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277136" y="948866"/>
            <a:ext cx="7828177" cy="657992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装载机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855N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选项约束关系成果</a:t>
            </a:r>
          </a:p>
          <a:p>
            <a:pPr>
              <a:spcBef>
                <a:spcPct val="50000"/>
              </a:spcBef>
            </a:pPr>
            <a:endParaRPr lang="en-US" altLang="zh-CN" sz="1800" b="1" dirty="0">
              <a:solidFill>
                <a:schemeClr val="accent2">
                  <a:lumMod val="50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304800" y="1388534"/>
          <a:ext cx="8619068" cy="4962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874"/>
                <a:gridCol w="1651356"/>
                <a:gridCol w="5543838"/>
              </a:tblGrid>
              <a:tr h="20565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dirty="0"/>
                        <a:t>选项</a:t>
                      </a:r>
                      <a:r>
                        <a:rPr lang="en-US" altLang="zh-CN" sz="800" dirty="0"/>
                        <a:t>(</a:t>
                      </a:r>
                      <a:r>
                        <a:rPr lang="en-US" sz="800" dirty="0"/>
                        <a:t>Option)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/>
                        <a:t>选项值</a:t>
                      </a:r>
                      <a:r>
                        <a:rPr lang="en-US" altLang="zh-CN" sz="800"/>
                        <a:t>(</a:t>
                      </a:r>
                      <a:r>
                        <a:rPr lang="en-US" sz="800"/>
                        <a:t>Choice)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dirty="0"/>
                        <a:t>选项约束</a:t>
                      </a:r>
                      <a:r>
                        <a:rPr lang="en-US" altLang="zh-CN" sz="800" dirty="0"/>
                        <a:t>(</a:t>
                      </a:r>
                      <a:r>
                        <a:rPr lang="en-US" sz="800" dirty="0"/>
                        <a:t>Constraint)</a:t>
                      </a:r>
                    </a:p>
                  </a:txBody>
                  <a:tcPr marL="9525" marR="9525" marT="9525" marB="0" anchor="ctr"/>
                </a:tc>
              </a:tr>
              <a:tr h="200744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 smtClean="0"/>
                        <a:t>液压系统</a:t>
                      </a:r>
                      <a:endParaRPr lang="zh-CN" altLang="en-US" sz="800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两联阀</a:t>
                      </a:r>
                      <a:r>
                        <a:rPr lang="en-US" sz="800"/>
                        <a:t>I(</a:t>
                      </a:r>
                      <a:r>
                        <a:rPr lang="zh-CN" altLang="en-US" sz="800"/>
                        <a:t>正常</a:t>
                      </a:r>
                      <a:r>
                        <a:rPr lang="en-US" altLang="zh-CN" sz="800"/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两联阀</a:t>
                      </a:r>
                      <a:r>
                        <a:rPr lang="en-US" altLang="zh-CN" sz="800"/>
                        <a:t>II(</a:t>
                      </a:r>
                      <a:r>
                        <a:rPr lang="zh-CN" altLang="en-US" sz="800"/>
                        <a:t>无工作装置</a:t>
                      </a:r>
                      <a:r>
                        <a:rPr lang="en-US" altLang="zh-CN" sz="800"/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三联阀</a:t>
                      </a:r>
                      <a:r>
                        <a:rPr lang="en-US" sz="800"/>
                        <a:t>I(</a:t>
                      </a:r>
                      <a:r>
                        <a:rPr lang="zh-CN" altLang="en-US" sz="800"/>
                        <a:t>正常</a:t>
                      </a:r>
                      <a:r>
                        <a:rPr lang="en-US" altLang="zh-CN" sz="800"/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三联阀</a:t>
                      </a:r>
                      <a:r>
                        <a:rPr lang="en-US" altLang="zh-CN" sz="800" dirty="0"/>
                        <a:t>II(</a:t>
                      </a:r>
                      <a:r>
                        <a:rPr lang="zh-CN" altLang="en-US" sz="800" dirty="0"/>
                        <a:t>无工作装置</a:t>
                      </a:r>
                      <a:r>
                        <a:rPr lang="en-US" altLang="zh-CN" sz="800" dirty="0"/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空调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暖风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冷暖空调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发动机罩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发动机罩</a:t>
                      </a:r>
                      <a:r>
                        <a:rPr lang="en-US" altLang="zh-CN" sz="800"/>
                        <a:t>(</a:t>
                      </a:r>
                      <a:r>
                        <a:rPr lang="zh-CN" altLang="en-US" sz="800"/>
                        <a:t>暖风</a:t>
                      </a:r>
                      <a:r>
                        <a:rPr lang="en-US" altLang="zh-CN" sz="800"/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空调</a:t>
                      </a:r>
                      <a:r>
                        <a:rPr lang="en-US" altLang="zh-CN" sz="800" dirty="0"/>
                        <a:t>=‘</a:t>
                      </a:r>
                      <a:r>
                        <a:rPr lang="zh-CN" altLang="en-US" sz="800" dirty="0"/>
                        <a:t>暖风’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发动机罩</a:t>
                      </a:r>
                      <a:r>
                        <a:rPr lang="en-US" altLang="zh-CN" sz="800" dirty="0"/>
                        <a:t>II(</a:t>
                      </a:r>
                      <a:r>
                        <a:rPr lang="zh-CN" altLang="en-US" sz="800" dirty="0"/>
                        <a:t>空调</a:t>
                      </a:r>
                      <a:r>
                        <a:rPr lang="en-US" altLang="zh-CN" sz="800" dirty="0"/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空调</a:t>
                      </a:r>
                      <a:r>
                        <a:rPr lang="en-US" altLang="zh-CN" sz="800" dirty="0"/>
                        <a:t>=‘</a:t>
                      </a:r>
                      <a:r>
                        <a:rPr lang="zh-CN" altLang="en-US" sz="800" dirty="0"/>
                        <a:t>冷暖空调’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动臂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加长臂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液压系统＝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两联阀</a:t>
                      </a:r>
                      <a:r>
                        <a:rPr lang="en-US" altLang="zh-CN" sz="800" dirty="0"/>
                        <a:t>I(</a:t>
                      </a:r>
                      <a:r>
                        <a:rPr lang="zh-CN" altLang="en-US" sz="800" dirty="0"/>
                        <a:t>正常</a:t>
                      </a:r>
                      <a:r>
                        <a:rPr lang="en-US" altLang="zh-CN" sz="800" dirty="0" smtClean="0"/>
                        <a:t>)‘ || </a:t>
                      </a:r>
                      <a:r>
                        <a:rPr lang="zh-CN" altLang="en-US" sz="800" dirty="0" smtClean="0"/>
                        <a:t>液压系统</a:t>
                      </a:r>
                      <a:r>
                        <a:rPr lang="zh-CN" altLang="en-US" sz="800" dirty="0"/>
                        <a:t>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三联阀</a:t>
                      </a:r>
                      <a:r>
                        <a:rPr lang="en-US" altLang="zh-CN" sz="800" dirty="0"/>
                        <a:t>I(</a:t>
                      </a:r>
                      <a:r>
                        <a:rPr lang="zh-CN" altLang="en-US" sz="800" dirty="0"/>
                        <a:t>正常</a:t>
                      </a:r>
                      <a:r>
                        <a:rPr lang="en-US" altLang="zh-CN" sz="800" dirty="0"/>
                        <a:t>)'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普通臂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液压系统＝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两联阀</a:t>
                      </a:r>
                      <a:r>
                        <a:rPr lang="en-US" altLang="zh-CN" sz="800" dirty="0"/>
                        <a:t>I(</a:t>
                      </a:r>
                      <a:r>
                        <a:rPr lang="zh-CN" altLang="en-US" sz="800" dirty="0"/>
                        <a:t>正常</a:t>
                      </a:r>
                      <a:r>
                        <a:rPr lang="en-US" altLang="zh-CN" sz="800" dirty="0" smtClean="0"/>
                        <a:t>)‘ || </a:t>
                      </a:r>
                      <a:r>
                        <a:rPr lang="zh-CN" altLang="en-US" sz="800" dirty="0" smtClean="0"/>
                        <a:t>液压系统</a:t>
                      </a:r>
                      <a:r>
                        <a:rPr lang="zh-CN" altLang="en-US" sz="800" dirty="0"/>
                        <a:t>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三联阀</a:t>
                      </a:r>
                      <a:r>
                        <a:rPr lang="en-US" altLang="zh-CN" sz="800" dirty="0"/>
                        <a:t>I(</a:t>
                      </a:r>
                      <a:r>
                        <a:rPr lang="zh-CN" altLang="en-US" sz="800" dirty="0"/>
                        <a:t>正常</a:t>
                      </a:r>
                      <a:r>
                        <a:rPr lang="en-US" altLang="zh-CN" sz="800" dirty="0"/>
                        <a:t>)'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液压系统</a:t>
                      </a:r>
                      <a:r>
                        <a:rPr lang="zh-CN" altLang="en-US" sz="800" dirty="0" smtClean="0"/>
                        <a:t>＝</a:t>
                      </a:r>
                      <a:r>
                        <a:rPr lang="en-US" altLang="zh-CN" sz="800" dirty="0" smtClean="0"/>
                        <a:t>‘</a:t>
                      </a:r>
                      <a:r>
                        <a:rPr lang="zh-CN" altLang="en-US" sz="800" dirty="0" smtClean="0"/>
                        <a:t>两</a:t>
                      </a:r>
                      <a:r>
                        <a:rPr lang="zh-CN" altLang="en-US" sz="800" dirty="0"/>
                        <a:t>联阀</a:t>
                      </a:r>
                      <a:r>
                        <a:rPr lang="en-US" altLang="zh-CN" sz="800" dirty="0"/>
                        <a:t>II(</a:t>
                      </a:r>
                      <a:r>
                        <a:rPr lang="zh-CN" altLang="en-US" sz="800" dirty="0"/>
                        <a:t>无工作装置</a:t>
                      </a:r>
                      <a:r>
                        <a:rPr lang="en-US" altLang="zh-CN" sz="800" dirty="0" smtClean="0"/>
                        <a:t>)‘ || </a:t>
                      </a:r>
                      <a:r>
                        <a:rPr lang="zh-CN" altLang="en-US" sz="800" dirty="0"/>
                        <a:t>液压系统</a:t>
                      </a:r>
                      <a:r>
                        <a:rPr lang="zh-CN" altLang="en-US" sz="800" dirty="0" smtClean="0"/>
                        <a:t>＝</a:t>
                      </a:r>
                      <a:r>
                        <a:rPr lang="en-US" altLang="zh-CN" sz="800" dirty="0" smtClean="0"/>
                        <a:t>’</a:t>
                      </a:r>
                      <a:r>
                        <a:rPr lang="zh-CN" altLang="en-US" sz="800" dirty="0" smtClean="0"/>
                        <a:t>三</a:t>
                      </a:r>
                      <a:r>
                        <a:rPr lang="zh-CN" altLang="en-US" sz="800" dirty="0"/>
                        <a:t>联</a:t>
                      </a:r>
                      <a:r>
                        <a:rPr lang="zh-CN" altLang="en-US" sz="800" dirty="0" smtClean="0"/>
                        <a:t>阀 </a:t>
                      </a:r>
                      <a:r>
                        <a:rPr lang="en-US" altLang="zh-CN" sz="800" dirty="0" smtClean="0"/>
                        <a:t>II(</a:t>
                      </a:r>
                      <a:r>
                        <a:rPr lang="zh-CN" altLang="en-US" sz="800" dirty="0"/>
                        <a:t>无工作装置</a:t>
                      </a:r>
                      <a:r>
                        <a:rPr lang="en-US" altLang="zh-CN" sz="800" dirty="0"/>
                        <a:t>)'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三联阀属具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除雪铲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抱叉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侧卸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多功能管路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有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三联阀属具＝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除雪</a:t>
                      </a:r>
                      <a:r>
                        <a:rPr lang="zh-CN" altLang="en-US" sz="800" dirty="0" smtClean="0"/>
                        <a:t>铲</a:t>
                      </a:r>
                      <a:r>
                        <a:rPr lang="en-US" altLang="zh-CN" sz="800" dirty="0" smtClean="0"/>
                        <a:t>‘ || </a:t>
                      </a:r>
                      <a:r>
                        <a:rPr lang="zh-CN" altLang="en-US" sz="800" dirty="0" smtClean="0"/>
                        <a:t>三</a:t>
                      </a:r>
                      <a:r>
                        <a:rPr lang="zh-CN" altLang="en-US" sz="800" dirty="0"/>
                        <a:t>联阀属具＝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抱</a:t>
                      </a:r>
                      <a:r>
                        <a:rPr lang="zh-CN" altLang="en-US" sz="800" dirty="0" smtClean="0"/>
                        <a:t>叉</a:t>
                      </a:r>
                      <a:r>
                        <a:rPr lang="en-US" altLang="zh-CN" sz="800" dirty="0" smtClean="0"/>
                        <a:t>‘ || </a:t>
                      </a:r>
                      <a:r>
                        <a:rPr lang="zh-CN" altLang="en-US" sz="800" dirty="0" smtClean="0"/>
                        <a:t>三</a:t>
                      </a:r>
                      <a:r>
                        <a:rPr lang="zh-CN" altLang="en-US" sz="800" dirty="0"/>
                        <a:t>联阀属具＝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侧</a:t>
                      </a:r>
                      <a:r>
                        <a:rPr lang="zh-CN" altLang="en-US" sz="800" dirty="0" smtClean="0"/>
                        <a:t>卸</a:t>
                      </a:r>
                      <a:r>
                        <a:rPr lang="en-US" altLang="zh-CN" sz="800" dirty="0" smtClean="0"/>
                        <a:t>‘ || </a:t>
                      </a:r>
                      <a:r>
                        <a:rPr lang="zh-CN" altLang="en-US" sz="800" dirty="0" smtClean="0"/>
                        <a:t>三</a:t>
                      </a:r>
                      <a:r>
                        <a:rPr lang="zh-CN" altLang="en-US" sz="800" dirty="0"/>
                        <a:t>联阀属具＝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无</a:t>
                      </a:r>
                      <a:r>
                        <a:rPr lang="en-US" altLang="zh-CN" sz="800" dirty="0"/>
                        <a:t>'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三联阀属具＝</a:t>
                      </a:r>
                      <a:r>
                        <a:rPr lang="en-US" altLang="zh-CN" sz="800"/>
                        <a:t>'</a:t>
                      </a:r>
                      <a:r>
                        <a:rPr lang="zh-CN" altLang="en-US" sz="800"/>
                        <a:t>无</a:t>
                      </a:r>
                      <a:r>
                        <a:rPr lang="en-US" altLang="zh-CN" sz="800"/>
                        <a:t>'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三联阀属具管路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除雪铲管路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三联阀属具＝</a:t>
                      </a:r>
                      <a:r>
                        <a:rPr lang="en-US" altLang="zh-CN" sz="800"/>
                        <a:t>'</a:t>
                      </a:r>
                      <a:r>
                        <a:rPr lang="zh-CN" altLang="en-US" sz="800"/>
                        <a:t>除雪铲</a:t>
                      </a:r>
                      <a:r>
                        <a:rPr lang="en-US" altLang="zh-CN" sz="800"/>
                        <a:t>'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抱叉管路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三联阀属具＝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抱叉</a:t>
                      </a:r>
                      <a:r>
                        <a:rPr lang="en-US" altLang="zh-CN" sz="800" dirty="0"/>
                        <a:t>'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侧卸管路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三联阀属具＝</a:t>
                      </a:r>
                      <a:r>
                        <a:rPr lang="en-US" altLang="zh-CN" sz="800" dirty="0"/>
                        <a:t>'</a:t>
                      </a:r>
                      <a:r>
                        <a:rPr lang="zh-CN" altLang="en-US" sz="800" dirty="0"/>
                        <a:t>侧卸</a:t>
                      </a:r>
                      <a:r>
                        <a:rPr lang="en-US" altLang="zh-CN" sz="800" dirty="0"/>
                        <a:t>'</a:t>
                      </a:r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 dirty="0"/>
                    </a:p>
                  </a:txBody>
                  <a:tcPr marL="9525" marR="9525" marT="9525" marB="0" anchor="b"/>
                </a:tc>
              </a:tr>
              <a:tr h="2056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限位系统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普通臂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动臂</a:t>
                      </a:r>
                      <a:r>
                        <a:rPr lang="en-US" altLang="zh-CN" sz="800" dirty="0"/>
                        <a:t>='</a:t>
                      </a:r>
                      <a:r>
                        <a:rPr lang="zh-CN" altLang="en-US" sz="800" dirty="0"/>
                        <a:t>普通臂</a:t>
                      </a:r>
                      <a:r>
                        <a:rPr lang="en-US" altLang="zh-CN" sz="800" dirty="0"/>
                        <a:t>'</a:t>
                      </a:r>
                    </a:p>
                  </a:txBody>
                  <a:tcPr marL="9525" marR="9525" marT="9525" marB="0" anchor="b"/>
                </a:tc>
              </a:tr>
              <a:tr h="237584">
                <a:tc>
                  <a:txBody>
                    <a:bodyPr/>
                    <a:lstStyle/>
                    <a:p>
                      <a:pPr algn="l" fontAlgn="b"/>
                      <a:endParaRPr lang="zh-CN" altLang="en-US" sz="800"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/>
                        <a:t>加长臂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dirty="0"/>
                        <a:t>动臂</a:t>
                      </a:r>
                      <a:r>
                        <a:rPr lang="en-US" altLang="zh-CN" sz="800" dirty="0"/>
                        <a:t>='</a:t>
                      </a:r>
                      <a:r>
                        <a:rPr lang="zh-CN" altLang="en-US" sz="800" dirty="0"/>
                        <a:t>加长臂</a:t>
                      </a:r>
                      <a:r>
                        <a:rPr lang="en-US" altLang="zh-CN" sz="800" dirty="0"/>
                        <a:t>'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3261313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整车通用产品结构的引入 ─ 基本过程</a:t>
            </a:r>
          </a:p>
        </p:txBody>
      </p:sp>
      <p:sp>
        <p:nvSpPr>
          <p:cNvPr id="7" name="Abgerundetes Rechteck 149"/>
          <p:cNvSpPr/>
          <p:nvPr/>
        </p:nvSpPr>
        <p:spPr bwMode="auto">
          <a:xfrm>
            <a:off x="5829304" y="1200770"/>
            <a:ext cx="3048000" cy="701675"/>
          </a:xfrm>
          <a:prstGeom prst="roundRect">
            <a:avLst/>
          </a:prstGeom>
          <a:solidFill>
            <a:srgbClr val="FF0000"/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通用产品结构模板定义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Abgerundetes Rechteck 149"/>
          <p:cNvSpPr/>
          <p:nvPr/>
        </p:nvSpPr>
        <p:spPr bwMode="auto">
          <a:xfrm>
            <a:off x="266704" y="1192832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选项库定义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Abgerundetes Rechteck 149"/>
          <p:cNvSpPr/>
          <p:nvPr/>
        </p:nvSpPr>
        <p:spPr bwMode="auto">
          <a:xfrm>
            <a:off x="266704" y="5345732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新产品家族选项定义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Abgerundetes Rechteck 149"/>
          <p:cNvSpPr/>
          <p:nvPr/>
        </p:nvSpPr>
        <p:spPr bwMode="auto">
          <a:xfrm>
            <a:off x="5829304" y="5345732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新产品家族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 eaLnBrk="0" hangingPunct="0"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Super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BOM</a:t>
            </a:r>
            <a:r>
              <a:rPr lang="zh-CN" altLang="en-US" sz="2000" dirty="0">
                <a:solidFill>
                  <a:schemeClr val="tx1"/>
                </a:solidFill>
              </a:rPr>
              <a:t>定义 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cxnSp>
        <p:nvCxnSpPr>
          <p:cNvPr id="11" name="肘形连接符 57"/>
          <p:cNvCxnSpPr>
            <a:cxnSpLocks noChangeShapeType="1"/>
            <a:stCxn id="7" idx="1"/>
            <a:endCxn id="8" idx="3"/>
          </p:cNvCxnSpPr>
          <p:nvPr/>
        </p:nvCxnSpPr>
        <p:spPr bwMode="auto">
          <a:xfrm rot="10800000" flipV="1">
            <a:off x="3314704" y="1551607"/>
            <a:ext cx="2514600" cy="31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12" name="肘形连接符 76"/>
          <p:cNvCxnSpPr>
            <a:cxnSpLocks noChangeShapeType="1"/>
            <a:stCxn id="7" idx="2"/>
            <a:endCxn id="10" idx="0"/>
          </p:cNvCxnSpPr>
          <p:nvPr/>
        </p:nvCxnSpPr>
        <p:spPr bwMode="auto">
          <a:xfrm rot="5400000">
            <a:off x="5631661" y="3624088"/>
            <a:ext cx="3443288" cy="31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3" name="矩形 12"/>
          <p:cNvSpPr/>
          <p:nvPr/>
        </p:nvSpPr>
        <p:spPr bwMode="auto">
          <a:xfrm>
            <a:off x="6921504" y="3326432"/>
            <a:ext cx="874713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应用</a:t>
            </a:r>
            <a:endParaRPr lang="zh-CN" altLang="en-US" sz="1600" dirty="0">
              <a:solidFill>
                <a:schemeClr val="bg1"/>
              </a:solidFill>
              <a:ea typeface="黑体" pitchFamily="2" charset="-122"/>
            </a:endParaRPr>
          </a:p>
        </p:txBody>
      </p:sp>
      <p:cxnSp>
        <p:nvCxnSpPr>
          <p:cNvPr id="14" name="肘形连接符 81"/>
          <p:cNvCxnSpPr>
            <a:cxnSpLocks noChangeShapeType="1"/>
            <a:stCxn id="8" idx="2"/>
            <a:endCxn id="9" idx="0"/>
          </p:cNvCxnSpPr>
          <p:nvPr/>
        </p:nvCxnSpPr>
        <p:spPr bwMode="auto">
          <a:xfrm rot="16200000" flipH="1">
            <a:off x="76204" y="3631232"/>
            <a:ext cx="3429000" cy="0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5" name="矩形 14"/>
          <p:cNvSpPr/>
          <p:nvPr/>
        </p:nvSpPr>
        <p:spPr bwMode="auto">
          <a:xfrm>
            <a:off x="1071567" y="3326432"/>
            <a:ext cx="1447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选择</a:t>
            </a:r>
            <a:endParaRPr lang="zh-CN" altLang="en-US" sz="1600" dirty="0">
              <a:solidFill>
                <a:schemeClr val="bg1"/>
              </a:solidFill>
              <a:ea typeface="黑体" pitchFamily="2" charset="-122"/>
            </a:endParaRPr>
          </a:p>
        </p:txBody>
      </p:sp>
      <p:cxnSp>
        <p:nvCxnSpPr>
          <p:cNvPr id="16" name="肘形连接符 90"/>
          <p:cNvCxnSpPr>
            <a:cxnSpLocks noChangeShapeType="1"/>
            <a:stCxn id="10" idx="1"/>
            <a:endCxn id="9" idx="3"/>
          </p:cNvCxnSpPr>
          <p:nvPr/>
        </p:nvCxnSpPr>
        <p:spPr bwMode="auto">
          <a:xfrm rot="10800000">
            <a:off x="3314704" y="5707682"/>
            <a:ext cx="2514600" cy="1588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sp>
        <p:nvSpPr>
          <p:cNvPr id="17" name="矩形 16"/>
          <p:cNvSpPr/>
          <p:nvPr/>
        </p:nvSpPr>
        <p:spPr bwMode="auto">
          <a:xfrm>
            <a:off x="4000504" y="5536232"/>
            <a:ext cx="12192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  <a:ea typeface="黑体" pitchFamily="2" charset="-122"/>
              </a:rPr>
              <a:t>约束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4454" y="2316782"/>
            <a:ext cx="4235450" cy="248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4932845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通用产品模板定义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82102" y="1027312"/>
            <a:ext cx="8589524" cy="4536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r>
              <a:rPr lang="zh-CN" altLang="en-US" sz="2200" dirty="0" smtClean="0"/>
              <a:t>基本要素</a:t>
            </a:r>
            <a:r>
              <a:rPr lang="zh-CN" altLang="zh-CN" sz="2200" dirty="0" smtClean="0"/>
              <a:t>：</a:t>
            </a:r>
            <a:endParaRPr lang="en-US" altLang="zh-CN" sz="2200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一般来说，每一个平台产品系列定义一个通用产品结构模板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GPS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，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GPS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的建立需要建立在产品模块化的基础上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相同平台的不同产品系列的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GPS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存在一定差别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但是都很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象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GPS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应满足不同部门的需求：销售、市场、研发、工艺、生产、采购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等</a:t>
            </a: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“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走自己的路”（不同的企业，不同的业务环境和发展历史、研发模式、生产环境、供应链体系等），无需从“空白”做起，分析既有的成果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tabLst>
                <a:tab pos="357188" algn="l"/>
              </a:tabLst>
            </a:pPr>
            <a:endParaRPr lang="en-US" altLang="zh-CN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2438" indent="-452438">
              <a:lnSpc>
                <a:spcPct val="150000"/>
              </a:lnSpc>
              <a:spcBef>
                <a:spcPts val="1200"/>
              </a:spcBef>
              <a:spcAft>
                <a:spcPct val="40000"/>
              </a:spcAft>
              <a:buClr>
                <a:schemeClr val="tx1"/>
              </a:buClr>
              <a:buSzPct val="80000"/>
              <a:buFont typeface="Wingdings" pitchFamily="2" charset="2"/>
              <a:buChar char="Ø"/>
              <a:tabLst>
                <a:tab pos="357188" algn="l"/>
              </a:tabLst>
            </a:pPr>
            <a:endParaRPr lang="zh-CN" altLang="zh-CN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21944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 bwMode="auto">
          <a:xfrm>
            <a:off x="304800" y="1354667"/>
            <a:ext cx="7222067" cy="5274733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通用产品模板定义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02190" y="90753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装载机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855N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通用产品模板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91068" y="1456269"/>
          <a:ext cx="2133600" cy="4857190"/>
        </p:xfrm>
        <a:graphic>
          <a:graphicData uri="http://schemas.openxmlformats.org/drawingml/2006/table">
            <a:tbl>
              <a:tblPr/>
              <a:tblGrid>
                <a:gridCol w="2133600"/>
              </a:tblGrid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工作液压系统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分配阀及管路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泵安装总成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液压油箱总成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动臂油缸总成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转斗油缸总成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先导阀及管路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散热管路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三联阀属具管路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多功能管路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电器系统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前车架线路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后车架线路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B050"/>
                          </a:solidFill>
                          <a:latin typeface="宋体"/>
                        </a:rPr>
                        <a:t>   驾驶室线路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车架系统组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铰接总成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前车架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后车架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配重总成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工作装置系统组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工作装置系统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    动臂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 摇臂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 拉杆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 销轴组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70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   工作装置限位系统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056466" y="1492043"/>
          <a:ext cx="3210630" cy="5044005"/>
        </p:xfrm>
        <a:graphic>
          <a:graphicData uri="http://schemas.openxmlformats.org/drawingml/2006/table">
            <a:tbl>
              <a:tblPr/>
              <a:tblGrid>
                <a:gridCol w="3210630"/>
              </a:tblGrid>
              <a:tr h="4042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动力系统组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柴油机系统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B050"/>
                          </a:solidFill>
                          <a:latin typeface="宋体"/>
                        </a:rPr>
                        <a:t>      柴油机安装总成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进排气总成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燃油供油管路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乙醚冷启动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冷却液加热系统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散热系统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散热器安装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隔热支架安装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放油装置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散热管路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燃油箱系统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燃油箱总成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双变系统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变速箱变矩器总成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油滤管路总成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散热管路总成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桥系统组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传动轴系统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传动轴总成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桥系统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前桥安装总成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后桥安装总成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轮胎轮辋系统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   轮胎总成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B050"/>
                          </a:solidFill>
                          <a:latin typeface="宋体"/>
                        </a:rPr>
                        <a:t>      轮辋总成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452533" y="1505957"/>
          <a:ext cx="3210630" cy="3362670"/>
        </p:xfrm>
        <a:graphic>
          <a:graphicData uri="http://schemas.openxmlformats.org/drawingml/2006/table">
            <a:tbl>
              <a:tblPr/>
              <a:tblGrid>
                <a:gridCol w="3210630"/>
              </a:tblGrid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属具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   三联阀属具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驾驶室系统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驾驶室总成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司机椅总成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驾驶室护盖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方向机总成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覆盖件组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发动机罩系统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挡泥板扶梯系统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铲斗组件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62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华文细黑"/>
                        </a:rPr>
                        <a:t>      普通铲斗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整机辅件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标贴组件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铭牌组件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随机工具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随机备件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>
                          <a:solidFill>
                            <a:srgbClr val="00B050"/>
                          </a:solidFill>
                          <a:latin typeface="宋体"/>
                        </a:rPr>
                        <a:t>   整机油料表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221944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整车通用产品结构的引入 ─ 基本过程</a:t>
            </a:r>
          </a:p>
        </p:txBody>
      </p:sp>
      <p:sp>
        <p:nvSpPr>
          <p:cNvPr id="31" name="Abgerundetes Rechteck 149"/>
          <p:cNvSpPr/>
          <p:nvPr/>
        </p:nvSpPr>
        <p:spPr bwMode="auto">
          <a:xfrm>
            <a:off x="5863698" y="1331446"/>
            <a:ext cx="3048000" cy="7016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通用产品结构模板定义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32" name="Abgerundetes Rechteck 149"/>
          <p:cNvSpPr/>
          <p:nvPr/>
        </p:nvSpPr>
        <p:spPr bwMode="auto">
          <a:xfrm>
            <a:off x="301098" y="1323508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选项库定义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33" name="Abgerundetes Rechteck 149"/>
          <p:cNvSpPr/>
          <p:nvPr/>
        </p:nvSpPr>
        <p:spPr bwMode="auto">
          <a:xfrm>
            <a:off x="301098" y="5476408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新产品家族选项定义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34" name="Abgerundetes Rechteck 149"/>
          <p:cNvSpPr/>
          <p:nvPr/>
        </p:nvSpPr>
        <p:spPr bwMode="auto">
          <a:xfrm>
            <a:off x="5863698" y="5476408"/>
            <a:ext cx="3048000" cy="723900"/>
          </a:xfrm>
          <a:prstGeom prst="roundRect">
            <a:avLst/>
          </a:prstGeom>
          <a:solidFill>
            <a:srgbClr val="FF0000"/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新产品家族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 eaLnBrk="0" hangingPunct="0"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Super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BOM</a:t>
            </a:r>
            <a:r>
              <a:rPr lang="zh-CN" altLang="en-US" sz="2000" dirty="0">
                <a:solidFill>
                  <a:schemeClr val="tx1"/>
                </a:solidFill>
              </a:rPr>
              <a:t>定义 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cxnSp>
        <p:nvCxnSpPr>
          <p:cNvPr id="35" name="肘形连接符 57"/>
          <p:cNvCxnSpPr>
            <a:cxnSpLocks noChangeShapeType="1"/>
            <a:stCxn id="31" idx="1"/>
            <a:endCxn id="32" idx="3"/>
          </p:cNvCxnSpPr>
          <p:nvPr/>
        </p:nvCxnSpPr>
        <p:spPr bwMode="auto">
          <a:xfrm rot="10800000" flipV="1">
            <a:off x="3349098" y="1682283"/>
            <a:ext cx="2514600" cy="31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36" name="肘形连接符 76"/>
          <p:cNvCxnSpPr>
            <a:cxnSpLocks noChangeShapeType="1"/>
            <a:stCxn id="31" idx="2"/>
            <a:endCxn id="34" idx="0"/>
          </p:cNvCxnSpPr>
          <p:nvPr/>
        </p:nvCxnSpPr>
        <p:spPr bwMode="auto">
          <a:xfrm rot="5400000">
            <a:off x="5666055" y="3754764"/>
            <a:ext cx="3443288" cy="31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7" name="矩形 36"/>
          <p:cNvSpPr/>
          <p:nvPr/>
        </p:nvSpPr>
        <p:spPr bwMode="auto">
          <a:xfrm>
            <a:off x="6955898" y="3457108"/>
            <a:ext cx="874713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应用</a:t>
            </a:r>
            <a:endParaRPr lang="zh-CN" altLang="en-US" sz="1600" dirty="0">
              <a:solidFill>
                <a:schemeClr val="bg1"/>
              </a:solidFill>
              <a:ea typeface="黑体" pitchFamily="2" charset="-122"/>
            </a:endParaRPr>
          </a:p>
        </p:txBody>
      </p:sp>
      <p:cxnSp>
        <p:nvCxnSpPr>
          <p:cNvPr id="38" name="肘形连接符 81"/>
          <p:cNvCxnSpPr>
            <a:cxnSpLocks noChangeShapeType="1"/>
            <a:stCxn id="32" idx="2"/>
            <a:endCxn id="33" idx="0"/>
          </p:cNvCxnSpPr>
          <p:nvPr/>
        </p:nvCxnSpPr>
        <p:spPr bwMode="auto">
          <a:xfrm rot="16200000" flipH="1">
            <a:off x="110598" y="3761908"/>
            <a:ext cx="3429000" cy="0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9" name="矩形 38"/>
          <p:cNvSpPr/>
          <p:nvPr/>
        </p:nvSpPr>
        <p:spPr bwMode="auto">
          <a:xfrm>
            <a:off x="1105961" y="3457108"/>
            <a:ext cx="1447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选择</a:t>
            </a:r>
            <a:endParaRPr lang="zh-CN" altLang="en-US" sz="1600" dirty="0">
              <a:solidFill>
                <a:schemeClr val="bg1"/>
              </a:solidFill>
              <a:ea typeface="黑体" pitchFamily="2" charset="-122"/>
            </a:endParaRPr>
          </a:p>
        </p:txBody>
      </p:sp>
      <p:cxnSp>
        <p:nvCxnSpPr>
          <p:cNvPr id="40" name="肘形连接符 90"/>
          <p:cNvCxnSpPr>
            <a:cxnSpLocks noChangeShapeType="1"/>
            <a:stCxn id="34" idx="1"/>
            <a:endCxn id="33" idx="3"/>
          </p:cNvCxnSpPr>
          <p:nvPr/>
        </p:nvCxnSpPr>
        <p:spPr bwMode="auto">
          <a:xfrm rot="10800000">
            <a:off x="3349098" y="5838358"/>
            <a:ext cx="2514600" cy="1588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sp>
        <p:nvSpPr>
          <p:cNvPr id="41" name="矩形 40"/>
          <p:cNvSpPr/>
          <p:nvPr/>
        </p:nvSpPr>
        <p:spPr bwMode="auto">
          <a:xfrm>
            <a:off x="4034898" y="5666908"/>
            <a:ext cx="12192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  <a:ea typeface="黑体" pitchFamily="2" charset="-122"/>
              </a:rPr>
              <a:t>约束</a:t>
            </a:r>
          </a:p>
        </p:txBody>
      </p:sp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8848" y="2447458"/>
            <a:ext cx="4235450" cy="248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3791873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hangingPunct="0">
              <a:defRPr/>
            </a:pPr>
            <a:r>
              <a:rPr lang="zh-CN" altLang="en-US" dirty="0"/>
              <a:t>新产品</a:t>
            </a:r>
            <a:r>
              <a:rPr lang="zh-CN" altLang="en-US" dirty="0" smtClean="0"/>
              <a:t>家族</a:t>
            </a:r>
            <a:r>
              <a:rPr lang="en-US" altLang="zh-CN" dirty="0" smtClean="0"/>
              <a:t>Super BOM</a:t>
            </a:r>
            <a:r>
              <a:rPr lang="zh-CN" altLang="en-US" dirty="0" smtClean="0"/>
              <a:t>定义</a:t>
            </a:r>
            <a:endParaRPr lang="en-US" altLang="en-US" dirty="0"/>
          </a:p>
        </p:txBody>
      </p:sp>
      <p:sp>
        <p:nvSpPr>
          <p:cNvPr id="3" name="矩形 2"/>
          <p:cNvSpPr/>
          <p:nvPr/>
        </p:nvSpPr>
        <p:spPr bwMode="auto">
          <a:xfrm>
            <a:off x="1509287" y="2334842"/>
            <a:ext cx="1633491" cy="3444536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31905802"/>
              </p:ext>
            </p:extLst>
          </p:nvPr>
        </p:nvGraphicFramePr>
        <p:xfrm>
          <a:off x="1555319" y="2384860"/>
          <a:ext cx="1551948" cy="3362670"/>
        </p:xfrm>
        <a:graphic>
          <a:graphicData uri="http://schemas.openxmlformats.org/drawingml/2006/table">
            <a:tbl>
              <a:tblPr/>
              <a:tblGrid>
                <a:gridCol w="1551948"/>
              </a:tblGrid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属具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   三联阀属具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驾驶室系统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驾驶室总成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司机椅总成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>
                          <a:solidFill>
                            <a:srgbClr val="00B050"/>
                          </a:solidFill>
                          <a:latin typeface="宋体"/>
                        </a:rPr>
                        <a:t>   驾驶室护盖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方向机总成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覆盖件组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发动机罩系统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挡泥板扶梯系统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铲斗组件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62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华文细黑"/>
                        </a:rPr>
                        <a:t>      普通铲斗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整机辅件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标贴组件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铭牌组件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随机工具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随机备件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>
                          <a:solidFill>
                            <a:srgbClr val="00B050"/>
                          </a:solidFill>
                          <a:latin typeface="宋体"/>
                        </a:rPr>
                        <a:t>   整机油料表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 bwMode="auto">
          <a:xfrm>
            <a:off x="4662340" y="2325757"/>
            <a:ext cx="1633491" cy="397738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76917050"/>
              </p:ext>
            </p:extLst>
          </p:nvPr>
        </p:nvGraphicFramePr>
        <p:xfrm>
          <a:off x="4708372" y="2375775"/>
          <a:ext cx="1551948" cy="3911310"/>
        </p:xfrm>
        <a:graphic>
          <a:graphicData uri="http://schemas.openxmlformats.org/drawingml/2006/table">
            <a:tbl>
              <a:tblPr/>
              <a:tblGrid>
                <a:gridCol w="1551948"/>
              </a:tblGrid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属具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   三联阀属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具</a:t>
                      </a:r>
                      <a:endParaRPr lang="en-US" altLang="zh-CN" sz="1200" b="0" i="0" u="none" strike="noStrike" dirty="0" smtClean="0">
                        <a:solidFill>
                          <a:srgbClr val="000000"/>
                        </a:solidFill>
                        <a:latin typeface="宋体"/>
                      </a:endParaRPr>
                    </a:p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      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除雪铲</a:t>
                      </a:r>
                      <a:endParaRPr lang="en-US" altLang="zh-CN" sz="1200" b="0" i="0" u="none" strike="noStrike" dirty="0" smtClean="0">
                        <a:solidFill>
                          <a:srgbClr val="000000"/>
                        </a:solidFill>
                        <a:latin typeface="宋体"/>
                      </a:endParaRPr>
                    </a:p>
                    <a:p>
                      <a:pPr algn="l" fontAlgn="ctr"/>
                      <a:r>
                        <a:rPr lang="en-US" altLang="zh-CN" sz="1200" b="0" i="0" u="none" strike="noStrike" baseline="0" dirty="0" smtClean="0">
                          <a:solidFill>
                            <a:srgbClr val="000000"/>
                          </a:solidFill>
                          <a:latin typeface="宋体"/>
                        </a:rPr>
                        <a:t>      </a:t>
                      </a:r>
                      <a:r>
                        <a:rPr lang="zh-CN" altLang="en-US" sz="1200" b="0" i="0" u="none" strike="noStrike" baseline="0" dirty="0" smtClean="0">
                          <a:solidFill>
                            <a:srgbClr val="000000"/>
                          </a:solidFill>
                          <a:latin typeface="宋体"/>
                        </a:rPr>
                        <a:t>抱叉</a:t>
                      </a:r>
                      <a:endParaRPr lang="en-US" altLang="zh-CN" sz="1200" b="0" i="0" u="none" strike="noStrike" baseline="0" dirty="0" smtClean="0">
                        <a:solidFill>
                          <a:srgbClr val="000000"/>
                        </a:solidFill>
                        <a:latin typeface="宋体"/>
                      </a:endParaRPr>
                    </a:p>
                    <a:p>
                      <a:pPr algn="l" fontAlgn="ctr"/>
                      <a:r>
                        <a:rPr lang="en-US" altLang="zh-CN" sz="1200" b="0" i="0" u="none" strike="noStrike" baseline="0" dirty="0" smtClean="0">
                          <a:solidFill>
                            <a:srgbClr val="000000"/>
                          </a:solidFill>
                          <a:latin typeface="宋体"/>
                        </a:rPr>
                        <a:t>      </a:t>
                      </a:r>
                      <a:r>
                        <a:rPr lang="zh-CN" altLang="en-US" sz="1200" b="0" i="0" u="none" strike="noStrike" baseline="0" dirty="0" smtClean="0">
                          <a:solidFill>
                            <a:srgbClr val="000000"/>
                          </a:solidFill>
                          <a:latin typeface="宋体"/>
                        </a:rPr>
                        <a:t>侧卸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驾驶室系统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驾驶室总成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司机椅总成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>
                          <a:solidFill>
                            <a:srgbClr val="00B050"/>
                          </a:solidFill>
                          <a:latin typeface="宋体"/>
                        </a:rPr>
                        <a:t>   驾驶室护盖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方向机总成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覆盖件组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   发动机罩系统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挡泥板扶梯系统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铲斗组件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62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华文细黑"/>
                        </a:rPr>
                        <a:t>      普通铲斗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18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整机辅件</a:t>
                      </a:r>
                    </a:p>
                  </a:txBody>
                  <a:tcPr marL="3935" marR="3935" marT="393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标贴组件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铭牌组件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随机工具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>
                          <a:solidFill>
                            <a:srgbClr val="00B050"/>
                          </a:solidFill>
                          <a:latin typeface="宋体"/>
                        </a:rPr>
                        <a:t>   随机备件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479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>
                          <a:solidFill>
                            <a:srgbClr val="00B050"/>
                          </a:solidFill>
                          <a:latin typeface="宋体"/>
                        </a:rPr>
                        <a:t>   整机油料表</a:t>
                      </a:r>
                    </a:p>
                  </a:txBody>
                  <a:tcPr marL="3935" marR="3935" marT="393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上弧形箭头 3"/>
          <p:cNvSpPr/>
          <p:nvPr/>
        </p:nvSpPr>
        <p:spPr bwMode="auto">
          <a:xfrm>
            <a:off x="2513943" y="1202925"/>
            <a:ext cx="2965142" cy="701336"/>
          </a:xfrm>
          <a:prstGeom prst="curvedDownArrow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606940" y="2081107"/>
            <a:ext cx="163349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</a:rPr>
              <a:t>通用产品模板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2339" y="2081107"/>
            <a:ext cx="163349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</a:rPr>
              <a:t>产品家族超级</a:t>
            </a:r>
            <a:r>
              <a:rPr lang="en-US" altLang="zh-CN" sz="1400" dirty="0" smtClean="0">
                <a:solidFill>
                  <a:srgbClr val="FF0000"/>
                </a:solidFill>
              </a:rPr>
              <a:t>BOM</a:t>
            </a:r>
            <a:endParaRPr lang="zh-CN" altLang="en-US" sz="1400" dirty="0" smtClean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40431" y="1455938"/>
            <a:ext cx="142190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400" dirty="0"/>
              <a:t>复制</a:t>
            </a:r>
            <a:endParaRPr lang="zh-CN" altLang="en-US" sz="1400" dirty="0" smtClean="0"/>
          </a:p>
        </p:txBody>
      </p:sp>
      <p:sp>
        <p:nvSpPr>
          <p:cNvPr id="8" name="矩形 7"/>
          <p:cNvSpPr/>
          <p:nvPr/>
        </p:nvSpPr>
        <p:spPr bwMode="auto">
          <a:xfrm>
            <a:off x="4980373" y="2725445"/>
            <a:ext cx="1704512" cy="603681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33" name="AutoShape 47"/>
          <p:cNvSpPr>
            <a:spLocks noChangeArrowheads="1"/>
          </p:cNvSpPr>
          <p:nvPr/>
        </p:nvSpPr>
        <p:spPr bwMode="auto">
          <a:xfrm>
            <a:off x="6738361" y="3596331"/>
            <a:ext cx="980878" cy="246863"/>
          </a:xfrm>
          <a:prstGeom prst="wedgeRectCallout">
            <a:avLst>
              <a:gd name="adj1" fmla="val -54030"/>
              <a:gd name="adj2" fmla="val -165104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完善产品结构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356428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整车通用产品结构的引入 ─ 基本过程</a:t>
            </a:r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090A50-CAEC-44DF-9798-93AE79073980}" type="slidenum">
              <a:rPr lang="zh-CN" altLang="en-US" smtClean="0"/>
              <a:pPr/>
              <a:t>35</a:t>
            </a:fld>
            <a:endParaRPr lang="en-US" altLang="zh-CN" smtClean="0"/>
          </a:p>
        </p:txBody>
      </p:sp>
      <p:sp>
        <p:nvSpPr>
          <p:cNvPr id="48" name="Abgerundetes Rechteck 149"/>
          <p:cNvSpPr/>
          <p:nvPr/>
        </p:nvSpPr>
        <p:spPr bwMode="auto">
          <a:xfrm>
            <a:off x="5943600" y="1455738"/>
            <a:ext cx="3048000" cy="7016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通用产品结构模板定义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50" name="Abgerundetes Rechteck 149"/>
          <p:cNvSpPr/>
          <p:nvPr/>
        </p:nvSpPr>
        <p:spPr bwMode="auto">
          <a:xfrm>
            <a:off x="381000" y="1447800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选项库定义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53" name="Abgerundetes Rechteck 149"/>
          <p:cNvSpPr/>
          <p:nvPr/>
        </p:nvSpPr>
        <p:spPr bwMode="auto">
          <a:xfrm>
            <a:off x="381000" y="5600700"/>
            <a:ext cx="3048000" cy="723900"/>
          </a:xfrm>
          <a:prstGeom prst="roundRect">
            <a:avLst/>
          </a:prstGeom>
          <a:solidFill>
            <a:srgbClr val="FF0000"/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新产品家族选项定义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54" name="Abgerundetes Rechteck 149"/>
          <p:cNvSpPr/>
          <p:nvPr/>
        </p:nvSpPr>
        <p:spPr bwMode="auto">
          <a:xfrm>
            <a:off x="5943600" y="5600700"/>
            <a:ext cx="3048000" cy="723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stealth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新产品家族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 eaLnBrk="0" hangingPunct="0">
              <a:defRPr/>
            </a:pPr>
            <a:r>
              <a:rPr lang="en-US" altLang="zh-CN" sz="2000" dirty="0">
                <a:solidFill>
                  <a:schemeClr val="tx1"/>
                </a:solidFill>
              </a:rPr>
              <a:t>Super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BOM</a:t>
            </a:r>
            <a:r>
              <a:rPr lang="zh-CN" altLang="en-US" sz="2000" dirty="0">
                <a:solidFill>
                  <a:schemeClr val="tx1"/>
                </a:solidFill>
              </a:rPr>
              <a:t>定义 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cxnSp>
        <p:nvCxnSpPr>
          <p:cNvPr id="27656" name="肘形连接符 57"/>
          <p:cNvCxnSpPr>
            <a:cxnSpLocks noChangeShapeType="1"/>
            <a:stCxn id="48" idx="1"/>
            <a:endCxn id="50" idx="3"/>
          </p:cNvCxnSpPr>
          <p:nvPr/>
        </p:nvCxnSpPr>
        <p:spPr bwMode="auto">
          <a:xfrm rot="10800000" flipV="1">
            <a:off x="3429000" y="1806575"/>
            <a:ext cx="2514600" cy="31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27657" name="肘形连接符 76"/>
          <p:cNvCxnSpPr>
            <a:cxnSpLocks noChangeShapeType="1"/>
            <a:stCxn id="48" idx="2"/>
            <a:endCxn id="54" idx="0"/>
          </p:cNvCxnSpPr>
          <p:nvPr/>
        </p:nvCxnSpPr>
        <p:spPr bwMode="auto">
          <a:xfrm rot="5400000">
            <a:off x="5745957" y="3879056"/>
            <a:ext cx="3443288" cy="31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81" name="矩形 80"/>
          <p:cNvSpPr/>
          <p:nvPr/>
        </p:nvSpPr>
        <p:spPr bwMode="auto">
          <a:xfrm>
            <a:off x="7035800" y="3581400"/>
            <a:ext cx="874713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应用</a:t>
            </a:r>
            <a:endParaRPr lang="zh-CN" altLang="en-US" sz="1600" dirty="0">
              <a:solidFill>
                <a:schemeClr val="bg1"/>
              </a:solidFill>
              <a:ea typeface="黑体" pitchFamily="2" charset="-122"/>
            </a:endParaRPr>
          </a:p>
        </p:txBody>
      </p:sp>
      <p:cxnSp>
        <p:nvCxnSpPr>
          <p:cNvPr id="27659" name="肘形连接符 81"/>
          <p:cNvCxnSpPr>
            <a:cxnSpLocks noChangeShapeType="1"/>
            <a:stCxn id="50" idx="2"/>
            <a:endCxn id="53" idx="0"/>
          </p:cNvCxnSpPr>
          <p:nvPr/>
        </p:nvCxnSpPr>
        <p:spPr bwMode="auto">
          <a:xfrm rot="16200000" flipH="1">
            <a:off x="190500" y="3886200"/>
            <a:ext cx="3429000" cy="0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86" name="矩形 85"/>
          <p:cNvSpPr/>
          <p:nvPr/>
        </p:nvSpPr>
        <p:spPr bwMode="auto">
          <a:xfrm>
            <a:off x="1185863" y="3581400"/>
            <a:ext cx="1447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选择</a:t>
            </a:r>
            <a:endParaRPr lang="zh-CN" altLang="en-US" sz="1600" dirty="0">
              <a:solidFill>
                <a:schemeClr val="bg1"/>
              </a:solidFill>
              <a:ea typeface="黑体" pitchFamily="2" charset="-122"/>
            </a:endParaRPr>
          </a:p>
        </p:txBody>
      </p:sp>
      <p:cxnSp>
        <p:nvCxnSpPr>
          <p:cNvPr id="27661" name="肘形连接符 90"/>
          <p:cNvCxnSpPr>
            <a:cxnSpLocks noChangeShapeType="1"/>
            <a:stCxn id="54" idx="1"/>
            <a:endCxn id="53" idx="3"/>
          </p:cNvCxnSpPr>
          <p:nvPr/>
        </p:nvCxnSpPr>
        <p:spPr bwMode="auto">
          <a:xfrm rot="10800000">
            <a:off x="3429000" y="5962650"/>
            <a:ext cx="2514600" cy="1588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sp>
        <p:nvSpPr>
          <p:cNvPr id="94" name="矩形 93"/>
          <p:cNvSpPr/>
          <p:nvPr/>
        </p:nvSpPr>
        <p:spPr bwMode="auto">
          <a:xfrm>
            <a:off x="4114800" y="5791200"/>
            <a:ext cx="12192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zh-CN" altLang="en-US" sz="1600" dirty="0">
                <a:solidFill>
                  <a:schemeClr val="bg1"/>
                </a:solidFill>
                <a:ea typeface="黑体" pitchFamily="2" charset="-122"/>
              </a:rPr>
              <a:t>约束</a:t>
            </a:r>
          </a:p>
        </p:txBody>
      </p:sp>
      <p:pic>
        <p:nvPicPr>
          <p:cNvPr id="2766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8750" y="2571750"/>
            <a:ext cx="4235450" cy="248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64" name="页脚占位符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© 2009 PTC</a:t>
            </a:r>
          </a:p>
        </p:txBody>
      </p:sp>
    </p:spTree>
    <p:extLst>
      <p:ext uri="{BB962C8B-B14F-4D97-AF65-F5344CB8AC3E}">
        <p14:creationId xmlns="" xmlns:p14="http://schemas.microsoft.com/office/powerpoint/2010/main" val="3381496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hangingPunct="0">
              <a:defRPr/>
            </a:pPr>
            <a:r>
              <a:rPr lang="zh-CN" altLang="en-US" dirty="0"/>
              <a:t>新产品家族选项定义</a:t>
            </a:r>
            <a:endParaRPr lang="en-US" altLang="en-US" dirty="0"/>
          </a:p>
        </p:txBody>
      </p:sp>
      <p:sp>
        <p:nvSpPr>
          <p:cNvPr id="14" name="Footer Placeholder 4"/>
          <p:cNvSpPr txBox="1">
            <a:spLocks/>
          </p:cNvSpPr>
          <p:nvPr/>
        </p:nvSpPr>
        <p:spPr>
          <a:xfrm>
            <a:off x="2215787" y="6162646"/>
            <a:ext cx="4498848" cy="109728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ctr" defTabSz="914400" rtl="0" eaLnBrk="1" latinLnBrk="0" hangingPunct="1">
              <a:defRPr sz="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mtClean="0"/>
              <a:t>Confidential - PTC Proprietary</a:t>
            </a:r>
            <a:endParaRPr lang="en-US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19697036"/>
              </p:ext>
            </p:extLst>
          </p:nvPr>
        </p:nvGraphicFramePr>
        <p:xfrm>
          <a:off x="645957" y="1539377"/>
          <a:ext cx="6793525" cy="4732997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384013"/>
                <a:gridCol w="3491941"/>
                <a:gridCol w="191757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选项（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Option</a:t>
                      </a:r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选项值（</a:t>
                      </a:r>
                      <a:r>
                        <a:rPr lang="en-US" altLang="zh-CN" sz="1200" dirty="0" smtClean="0">
                          <a:latin typeface="+mn-ea"/>
                          <a:ea typeface="+mn-ea"/>
                        </a:rPr>
                        <a:t>Choice</a:t>
                      </a:r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ea"/>
                          <a:ea typeface="+mn-ea"/>
                        </a:rPr>
                        <a:t>新车型家族子集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6806">
                <a:tc>
                  <a:txBody>
                    <a:bodyPr/>
                    <a:lstStyle/>
                    <a:p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发动机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潍柴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147125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玉柴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3289"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上柴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Ⅱ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31531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桥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柳</a:t>
                      </a: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工分体桥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b"/>
                </a:tc>
              </a:tr>
              <a:tr h="212188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箱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柳工</a:t>
                      </a: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华文细黑"/>
                        </a:rPr>
                        <a:t>短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轴箱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19284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液压系统</a:t>
                      </a:r>
                      <a:endParaRPr lang="zh-CN" alt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两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I(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正常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altLang="zh-CN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17350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两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无工作装置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altLang="zh-CN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21570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三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I(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正常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altLang="zh-CN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29307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三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联阀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无工作装置</a:t>
                      </a:r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altLang="zh-CN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19343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细黑"/>
                        </a:rPr>
                        <a:t>  空调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华文细黑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暖风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i="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×</a:t>
                      </a:r>
                      <a:endParaRPr lang="zh-CN" altLang="en-US" sz="1200" b="1" i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00465"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冷暖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空调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i="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 ×</a:t>
                      </a:r>
                      <a:endParaRPr lang="zh-CN" altLang="en-US" sz="1200" b="1" i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2514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细黑"/>
                        </a:rPr>
                        <a:t> 发动机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华文细黑"/>
                        </a:rPr>
                        <a:t>罩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发动机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罩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暖风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i="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 ×</a:t>
                      </a:r>
                      <a:endParaRPr lang="en-US" altLang="zh-CN" sz="1200" b="1" i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272562"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发动机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罩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II(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空调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i="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 ×</a:t>
                      </a:r>
                      <a:endParaRPr lang="en-US" altLang="zh-CN" sz="1200" b="1" i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24442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动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臂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加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长臂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i="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 ×</a:t>
                      </a:r>
                      <a:endParaRPr lang="zh-CN" altLang="en-US" sz="1200" b="1" i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27783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普通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臂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i="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 ×</a:t>
                      </a:r>
                      <a:endParaRPr lang="zh-CN" altLang="en-US" sz="1200" b="1" i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  <a:tr h="27783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2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无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altLang="zh-CN" sz="1200" b="1" i="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  ×</a:t>
                      </a:r>
                      <a:endParaRPr lang="zh-CN" altLang="en-US" sz="1200" b="1" i="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  <p:sp>
        <p:nvSpPr>
          <p:cNvPr id="17" name="矩形 10"/>
          <p:cNvSpPr>
            <a:spLocks noChangeArrowheads="1"/>
          </p:cNvSpPr>
          <p:nvPr/>
        </p:nvSpPr>
        <p:spPr bwMode="auto">
          <a:xfrm>
            <a:off x="695417" y="941033"/>
            <a:ext cx="2667000" cy="454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 eaLnBrk="0" hangingPunct="0">
              <a:lnSpc>
                <a:spcPct val="150000"/>
              </a:lnSpc>
            </a:pPr>
            <a:r>
              <a:rPr lang="zh-CN" altLang="en-US" sz="1800" b="1" i="1" dirty="0" smtClean="0"/>
              <a:t>新</a:t>
            </a:r>
            <a:r>
              <a:rPr lang="zh-CN" altLang="en-US" b="1" i="1" dirty="0" smtClean="0"/>
              <a:t>车型</a:t>
            </a:r>
            <a:r>
              <a:rPr lang="zh-CN" altLang="en-US" b="1" i="1" dirty="0"/>
              <a:t>家族</a:t>
            </a:r>
            <a:r>
              <a:rPr lang="zh-CN" altLang="en-US" sz="1800" b="1" i="1" dirty="0" smtClean="0"/>
              <a:t>选项</a:t>
            </a:r>
            <a:r>
              <a:rPr lang="zh-CN" altLang="en-US" sz="1800" b="1" i="1" dirty="0"/>
              <a:t>的建立</a:t>
            </a:r>
            <a:endParaRPr lang="en-US" altLang="zh-CN" sz="1800" b="1" i="1" dirty="0"/>
          </a:p>
        </p:txBody>
      </p:sp>
    </p:spTree>
    <p:extLst>
      <p:ext uri="{BB962C8B-B14F-4D97-AF65-F5344CB8AC3E}">
        <p14:creationId xmlns="" xmlns:p14="http://schemas.microsoft.com/office/powerpoint/2010/main" val="29385442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8952" y="6571019"/>
            <a:ext cx="4498848" cy="109728"/>
          </a:xfrm>
        </p:spPr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hangingPunct="0">
              <a:defRPr/>
            </a:pPr>
            <a:r>
              <a:rPr lang="zh-CN" altLang="en-US" dirty="0"/>
              <a:t>新产品家族选项定义</a:t>
            </a:r>
            <a:endParaRPr lang="en-US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28895032"/>
              </p:ext>
            </p:extLst>
          </p:nvPr>
        </p:nvGraphicFramePr>
        <p:xfrm>
          <a:off x="526742" y="1589132"/>
          <a:ext cx="7836457" cy="4394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18879"/>
                <a:gridCol w="3517578"/>
              </a:tblGrid>
              <a:tr h="70991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 smtClean="0">
                          <a:solidFill>
                            <a:srgbClr val="F78E1E"/>
                          </a:solidFill>
                          <a:effectLst/>
                          <a:latin typeface="+mn-ea"/>
                          <a:ea typeface="+mn-ea"/>
                        </a:rPr>
                        <a:t>超级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F78E1E"/>
                          </a:solidFill>
                          <a:effectLst/>
                          <a:latin typeface="+mn-ea"/>
                          <a:ea typeface="+mn-ea"/>
                        </a:rPr>
                        <a:t>BOM</a:t>
                      </a:r>
                      <a:endParaRPr lang="zh-CN" altLang="en-US" sz="2000" b="0" i="0" u="none" strike="noStrike" dirty="0">
                        <a:solidFill>
                          <a:srgbClr val="F78E1E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i="0" u="none" strike="noStrike" dirty="0" smtClean="0">
                          <a:solidFill>
                            <a:srgbClr val="F78E1E"/>
                          </a:solidFill>
                          <a:effectLst/>
                          <a:latin typeface="+mn-ea"/>
                          <a:ea typeface="+mn-ea"/>
                        </a:rPr>
                        <a:t>OD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F78E1E"/>
                          </a:solidFill>
                          <a:effectLst/>
                          <a:latin typeface="+mn-ea"/>
                          <a:ea typeface="+mn-ea"/>
                        </a:rPr>
                        <a:t>关系</a:t>
                      </a:r>
                    </a:p>
                  </a:txBody>
                  <a:tcPr marL="7620" marR="7620" marT="7620" marB="0" anchor="ctr"/>
                </a:tc>
              </a:tr>
              <a:tr h="23771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</a:rPr>
                        <a:t>工作装置系统组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  工作装置系统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动臂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3771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   加长臂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动臂</a:t>
                      </a:r>
                      <a:r>
                        <a:rPr lang="en-US" altLang="zh-CN" sz="1200" u="none" strike="noStrike">
                          <a:effectLst/>
                        </a:rPr>
                        <a:t>='</a:t>
                      </a:r>
                      <a:r>
                        <a:rPr lang="zh-CN" altLang="en-US" sz="1200" u="none" strike="noStrike">
                          <a:effectLst/>
                        </a:rPr>
                        <a:t>加长臂</a:t>
                      </a:r>
                      <a:r>
                        <a:rPr lang="en-US" altLang="zh-CN" sz="1200" u="none" strike="noStrike">
                          <a:effectLst/>
                        </a:rPr>
                        <a:t>'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</a:tr>
              <a:tr h="23771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   普通臂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动臂</a:t>
                      </a:r>
                      <a:r>
                        <a:rPr lang="en-US" altLang="zh-CN" sz="1200" u="none" strike="noStrike">
                          <a:effectLst/>
                        </a:rPr>
                        <a:t>=</a:t>
                      </a:r>
                      <a:r>
                        <a:rPr lang="zh-CN" altLang="en-US" sz="1200" u="none" strike="noStrike">
                          <a:effectLst/>
                        </a:rPr>
                        <a:t>普通臂</a:t>
                      </a:r>
                      <a:r>
                        <a:rPr lang="en-US" altLang="zh-CN" sz="1200" u="none" strike="noStrike">
                          <a:effectLst/>
                        </a:rPr>
                        <a:t>'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摇臂</a:t>
                      </a:r>
                      <a:endParaRPr lang="zh-CN" altLang="en-US" sz="1200" b="0" i="0" u="none" strike="noStrike">
                        <a:solidFill>
                          <a:srgbClr val="00B05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拉杆</a:t>
                      </a:r>
                      <a:endParaRPr lang="zh-CN" altLang="en-US" sz="1200" b="0" i="0" u="none" strike="noStrike">
                        <a:solidFill>
                          <a:srgbClr val="00B05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销轴组</a:t>
                      </a:r>
                      <a:endParaRPr lang="zh-CN" altLang="en-US" sz="1200" b="0" i="0" u="none" strike="noStrike">
                        <a:solidFill>
                          <a:srgbClr val="00B05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  工作装置限位系统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       普通臂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限位系统</a:t>
                      </a:r>
                      <a:r>
                        <a:rPr lang="en-US" altLang="zh-CN" sz="1200" u="none" strike="noStrike">
                          <a:effectLst/>
                        </a:rPr>
                        <a:t>='</a:t>
                      </a:r>
                      <a:r>
                        <a:rPr lang="zh-CN" altLang="en-US" sz="1200" u="none" strike="noStrike">
                          <a:effectLst/>
                        </a:rPr>
                        <a:t>限位系统</a:t>
                      </a:r>
                      <a:r>
                        <a:rPr lang="en-US" altLang="zh-CN" sz="1200" u="none" strike="noStrike">
                          <a:effectLst/>
                        </a:rPr>
                        <a:t>(</a:t>
                      </a:r>
                      <a:r>
                        <a:rPr lang="zh-CN" altLang="en-US" sz="1200" u="none" strike="noStrike">
                          <a:effectLst/>
                        </a:rPr>
                        <a:t>普通臂</a:t>
                      </a:r>
                      <a:r>
                        <a:rPr lang="en-US" altLang="zh-CN" sz="1200" u="none" strike="noStrike">
                          <a:effectLst/>
                        </a:rPr>
                        <a:t>)'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       加长臂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限位系统</a:t>
                      </a:r>
                      <a:r>
                        <a:rPr lang="en-US" altLang="zh-CN" sz="1200" u="none" strike="noStrike">
                          <a:effectLst/>
                        </a:rPr>
                        <a:t>='</a:t>
                      </a:r>
                      <a:r>
                        <a:rPr lang="zh-CN" altLang="en-US" sz="1200" u="none" strike="noStrike">
                          <a:effectLst/>
                        </a:rPr>
                        <a:t>限位系统</a:t>
                      </a:r>
                      <a:r>
                        <a:rPr lang="en-US" altLang="zh-CN" sz="1200" u="none" strike="noStrike">
                          <a:effectLst/>
                        </a:rPr>
                        <a:t>(</a:t>
                      </a:r>
                      <a:r>
                        <a:rPr lang="zh-CN" altLang="en-US" sz="1200" u="none" strike="noStrike">
                          <a:effectLst/>
                        </a:rPr>
                        <a:t>加长臂</a:t>
                      </a:r>
                      <a:r>
                        <a:rPr lang="en-US" altLang="zh-CN" sz="1200" u="none" strike="noStrike">
                          <a:effectLst/>
                        </a:rPr>
                        <a:t>)'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</a:tr>
              <a:tr h="22856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属具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   三联阀属具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    除雪铲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三联阀属具＝</a:t>
                      </a:r>
                      <a:r>
                        <a:rPr lang="en-US" altLang="zh-CN" sz="1200" u="none" strike="noStrike">
                          <a:effectLst/>
                        </a:rPr>
                        <a:t>'</a:t>
                      </a:r>
                      <a:r>
                        <a:rPr lang="zh-CN" altLang="en-US" sz="1200" u="none" strike="noStrike">
                          <a:effectLst/>
                        </a:rPr>
                        <a:t>除雪铲</a:t>
                      </a:r>
                      <a:r>
                        <a:rPr lang="en-US" altLang="zh-CN" sz="1200" u="none" strike="noStrike">
                          <a:effectLst/>
                        </a:rPr>
                        <a:t>'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>
                          <a:effectLst/>
                        </a:rPr>
                        <a:t>           抱叉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</a:rPr>
                        <a:t>三联阀属具＝</a:t>
                      </a:r>
                      <a:r>
                        <a:rPr lang="en-US" altLang="zh-CN" sz="1200" u="none" strike="noStrike">
                          <a:effectLst/>
                        </a:rPr>
                        <a:t>'</a:t>
                      </a:r>
                      <a:r>
                        <a:rPr lang="zh-CN" altLang="en-US" sz="1200" u="none" strike="noStrike">
                          <a:effectLst/>
                        </a:rPr>
                        <a:t>抱叉</a:t>
                      </a:r>
                      <a:r>
                        <a:rPr lang="en-US" altLang="zh-CN" sz="1200" u="none" strike="noStrike">
                          <a:effectLst/>
                        </a:rPr>
                        <a:t>'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  <a:tr h="2285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u="none" strike="noStrike" dirty="0">
                          <a:effectLst/>
                        </a:rPr>
                        <a:t>           侧卸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</a:rPr>
                        <a:t>三联阀属具＝</a:t>
                      </a:r>
                      <a:r>
                        <a:rPr lang="en-US" altLang="zh-CN" sz="1200" u="none" strike="noStrike" dirty="0">
                          <a:effectLst/>
                        </a:rPr>
                        <a:t>'</a:t>
                      </a:r>
                      <a:r>
                        <a:rPr lang="zh-CN" altLang="en-US" sz="1200" u="none" strike="noStrike" dirty="0">
                          <a:effectLst/>
                        </a:rPr>
                        <a:t>侧卸</a:t>
                      </a:r>
                      <a:r>
                        <a:rPr lang="en-US" altLang="zh-CN" sz="1200" u="none" strike="noStrike" dirty="0">
                          <a:effectLst/>
                        </a:rPr>
                        <a:t>'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  <p:sp>
        <p:nvSpPr>
          <p:cNvPr id="9" name="矩形 10"/>
          <p:cNvSpPr>
            <a:spLocks noChangeArrowheads="1"/>
          </p:cNvSpPr>
          <p:nvPr/>
        </p:nvSpPr>
        <p:spPr bwMode="auto">
          <a:xfrm>
            <a:off x="526741" y="941032"/>
            <a:ext cx="4009747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eaLnBrk="0" hangingPunct="0">
              <a:lnSpc>
                <a:spcPct val="150000"/>
              </a:lnSpc>
            </a:pPr>
            <a:r>
              <a:rPr lang="zh-CN" altLang="en-US" sz="1800" b="1" i="1" dirty="0" smtClean="0"/>
              <a:t>为新</a:t>
            </a:r>
            <a:r>
              <a:rPr lang="zh-CN" altLang="en-US" b="1" i="1" dirty="0" smtClean="0"/>
              <a:t>车型家族超级</a:t>
            </a:r>
            <a:r>
              <a:rPr lang="en-US" altLang="zh-CN" b="1" i="1" dirty="0" smtClean="0"/>
              <a:t>BOM</a:t>
            </a:r>
            <a:r>
              <a:rPr lang="zh-CN" altLang="en-US" b="1" i="1" dirty="0" smtClean="0"/>
              <a:t>指定选项关系</a:t>
            </a:r>
            <a:endParaRPr lang="en-US" altLang="zh-CN" sz="1800" b="1" i="1" dirty="0"/>
          </a:p>
        </p:txBody>
      </p:sp>
    </p:spTree>
    <p:extLst>
      <p:ext uri="{BB962C8B-B14F-4D97-AF65-F5344CB8AC3E}">
        <p14:creationId xmlns="" xmlns:p14="http://schemas.microsoft.com/office/powerpoint/2010/main" val="31784428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58" name="标题 5"/>
          <p:cNvSpPr>
            <a:spLocks noGrp="1"/>
          </p:cNvSpPr>
          <p:nvPr>
            <p:ph type="title"/>
          </p:nvPr>
        </p:nvSpPr>
        <p:spPr>
          <a:xfrm>
            <a:off x="216100" y="192088"/>
            <a:ext cx="7612056" cy="457200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柳工选装选配业务描述方案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9" name="副标题 6"/>
          <p:cNvSpPr>
            <a:spLocks noGrp="1"/>
          </p:cNvSpPr>
          <p:nvPr>
            <p:ph type="subTitle" idx="15"/>
          </p:nvPr>
        </p:nvSpPr>
        <p:spPr>
          <a:xfrm>
            <a:off x="216100" y="896112"/>
            <a:ext cx="7095744" cy="338806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目录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0" name="AutoShape 3"/>
          <p:cNvSpPr>
            <a:spLocks noChangeArrowheads="1"/>
          </p:cNvSpPr>
          <p:nvPr/>
        </p:nvSpPr>
        <p:spPr bwMode="auto">
          <a:xfrm>
            <a:off x="1312754" y="1815962"/>
            <a:ext cx="5034258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1635017" y="1776275"/>
            <a:ext cx="4935537" cy="466725"/>
          </a:xfrm>
          <a:prstGeom prst="roundRect">
            <a:avLst>
              <a:gd name="adj" fmla="val 16667"/>
            </a:avLst>
          </a:prstGeom>
          <a:noFill/>
          <a:ln w="38100">
            <a:noFill/>
            <a:round/>
            <a:headEnd/>
            <a:tailEnd/>
          </a:ln>
        </p:spPr>
        <p:txBody>
          <a:bodyPr wrap="none" anchor="ctr"/>
          <a:lstStyle/>
          <a:p>
            <a:pPr latinLnBrk="1"/>
            <a:r>
              <a:rPr kumimoji="1" lang="zh-CN" altLang="en-US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未来</a:t>
            </a:r>
            <a:r>
              <a:rPr kumimoji="1" lang="en-US" altLang="zh-CN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EBOM</a:t>
            </a:r>
            <a:r>
              <a:rPr kumimoji="1" lang="zh-CN" altLang="en-US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管理方式</a:t>
            </a:r>
            <a:endParaRPr kumimoji="1" lang="en-US" altLang="ko-KR" sz="2400" dirty="0">
              <a:solidFill>
                <a:schemeClr val="bg1"/>
              </a:solidFill>
              <a:latin typeface="Verdana" pitchFamily="34" charset="0"/>
              <a:ea typeface="굴림" pitchFamily="34" charset="-127"/>
            </a:endParaRP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344245" y="1484922"/>
            <a:ext cx="1275590" cy="3538899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571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atinLnBrk="1">
              <a:defRPr/>
            </a:pPr>
            <a:r>
              <a:rPr kumimoji="1" lang="en-US" altLang="zh-CN" sz="9600" b="1" dirty="0">
                <a:solidFill>
                  <a:srgbClr val="FFFFFF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4</a:t>
            </a:r>
            <a:endParaRPr kumimoji="1" lang="en-US" altLang="ko-KR" sz="9600" b="1" dirty="0">
              <a:solidFill>
                <a:srgbClr val="FFFFFF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63" name="AutoShape 3"/>
          <p:cNvSpPr>
            <a:spLocks noChangeArrowheads="1"/>
          </p:cNvSpPr>
          <p:nvPr/>
        </p:nvSpPr>
        <p:spPr bwMode="auto">
          <a:xfrm>
            <a:off x="2312891" y="2569003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未来产品结构规划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16" name="Line 3"/>
          <p:cNvSpPr>
            <a:spLocks noChangeShapeType="1"/>
          </p:cNvSpPr>
          <p:nvPr/>
        </p:nvSpPr>
        <p:spPr bwMode="auto">
          <a:xfrm flipV="1">
            <a:off x="1826707" y="2269863"/>
            <a:ext cx="6607288" cy="387"/>
          </a:xfrm>
          <a:prstGeom prst="line">
            <a:avLst/>
          </a:prstGeom>
          <a:noFill/>
          <a:ln w="50800" cmpd="thickThin">
            <a:solidFill>
              <a:schemeClr val="accent6">
                <a:lumMod val="50000"/>
              </a:schemeClr>
            </a:solidFill>
            <a:round/>
            <a:headEnd/>
            <a:tailEnd/>
          </a:ln>
        </p:spPr>
        <p:txBody>
          <a:bodyPr wrap="square" lIns="91407" tIns="45704" rIns="91407" bIns="45704" anchor="ctr">
            <a:spAutoFit/>
          </a:bodyPr>
          <a:lstStyle/>
          <a:p>
            <a:endParaRPr lang="zh-CN" altLang="en-US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18" name="AutoShape 3"/>
          <p:cNvSpPr>
            <a:spLocks noChangeArrowheads="1"/>
          </p:cNvSpPr>
          <p:nvPr/>
        </p:nvSpPr>
        <p:spPr bwMode="auto">
          <a:xfrm>
            <a:off x="2312890" y="3189007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>
                <a:solidFill>
                  <a:schemeClr val="bg1"/>
                </a:solidFill>
                <a:ea typeface="宋体" charset="-122"/>
              </a:rPr>
              <a:t>未来</a:t>
            </a:r>
            <a:r>
              <a:rPr lang="en-US" altLang="zh-CN" dirty="0" smtClean="0">
                <a:solidFill>
                  <a:schemeClr val="bg1"/>
                </a:solidFill>
                <a:ea typeface="宋体" charset="-122"/>
              </a:rPr>
              <a:t>EBOM</a:t>
            </a:r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建立流程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615414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未来产品结构规划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产品结构的层次</a:t>
            </a:r>
            <a:endParaRPr 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29" name="Freeform 26"/>
          <p:cNvSpPr>
            <a:spLocks/>
          </p:cNvSpPr>
          <p:nvPr/>
        </p:nvSpPr>
        <p:spPr bwMode="gray">
          <a:xfrm>
            <a:off x="3709391" y="4131498"/>
            <a:ext cx="989045" cy="1646737"/>
          </a:xfrm>
          <a:custGeom>
            <a:avLst/>
            <a:gdLst>
              <a:gd name="T0" fmla="*/ 0 w 655"/>
              <a:gd name="T1" fmla="*/ 26 h 849"/>
              <a:gd name="T2" fmla="*/ 17 w 655"/>
              <a:gd name="T3" fmla="*/ 94 h 849"/>
              <a:gd name="T4" fmla="*/ 30 w 655"/>
              <a:gd name="T5" fmla="*/ 59 h 849"/>
              <a:gd name="T6" fmla="*/ 8 w 655"/>
              <a:gd name="T7" fmla="*/ 0 h 849"/>
              <a:gd name="T8" fmla="*/ 0 w 655"/>
              <a:gd name="T9" fmla="*/ 26 h 8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5"/>
              <a:gd name="T16" fmla="*/ 0 h 849"/>
              <a:gd name="T17" fmla="*/ 655 w 655"/>
              <a:gd name="T18" fmla="*/ 849 h 8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5" h="849">
                <a:moveTo>
                  <a:pt x="0" y="230"/>
                </a:moveTo>
                <a:lnTo>
                  <a:pt x="387" y="848"/>
                </a:lnTo>
                <a:lnTo>
                  <a:pt x="654" y="531"/>
                </a:lnTo>
                <a:lnTo>
                  <a:pt x="188" y="0"/>
                </a:lnTo>
                <a:lnTo>
                  <a:pt x="0" y="230"/>
                </a:lnTo>
              </a:path>
            </a:pathLst>
          </a:custGeom>
          <a:gradFill rotWithShape="1">
            <a:gsLst>
              <a:gs pos="0">
                <a:srgbClr val="B27A09"/>
              </a:gs>
              <a:gs pos="100000">
                <a:srgbClr val="F4A70C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0" name="Freeform 27"/>
          <p:cNvSpPr>
            <a:spLocks/>
          </p:cNvSpPr>
          <p:nvPr/>
        </p:nvSpPr>
        <p:spPr bwMode="gray">
          <a:xfrm>
            <a:off x="1002799" y="4131498"/>
            <a:ext cx="2987370" cy="444536"/>
          </a:xfrm>
          <a:custGeom>
            <a:avLst/>
            <a:gdLst>
              <a:gd name="T0" fmla="*/ 0 w 1980"/>
              <a:gd name="T1" fmla="*/ 26 h 229"/>
              <a:gd name="T2" fmla="*/ 81 w 1980"/>
              <a:gd name="T3" fmla="*/ 26 h 229"/>
              <a:gd name="T4" fmla="*/ 89 w 1980"/>
              <a:gd name="T5" fmla="*/ 0 h 229"/>
              <a:gd name="T6" fmla="*/ 23 w 1980"/>
              <a:gd name="T7" fmla="*/ 0 h 229"/>
              <a:gd name="T8" fmla="*/ 0 w 1980"/>
              <a:gd name="T9" fmla="*/ 26 h 2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80"/>
              <a:gd name="T16" fmla="*/ 0 h 229"/>
              <a:gd name="T17" fmla="*/ 1980 w 1980"/>
              <a:gd name="T18" fmla="*/ 229 h 2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80" h="229">
                <a:moveTo>
                  <a:pt x="0" y="228"/>
                </a:moveTo>
                <a:lnTo>
                  <a:pt x="1791" y="228"/>
                </a:lnTo>
                <a:lnTo>
                  <a:pt x="1979" y="0"/>
                </a:lnTo>
                <a:lnTo>
                  <a:pt x="500" y="0"/>
                </a:lnTo>
                <a:lnTo>
                  <a:pt x="0" y="228"/>
                </a:lnTo>
              </a:path>
            </a:pathLst>
          </a:custGeom>
          <a:gradFill rotWithShape="0">
            <a:gsLst>
              <a:gs pos="0">
                <a:srgbClr val="F4A70C"/>
              </a:gs>
              <a:gs pos="100000">
                <a:srgbClr val="744F06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1" name="Freeform 28"/>
          <p:cNvSpPr>
            <a:spLocks/>
          </p:cNvSpPr>
          <p:nvPr/>
        </p:nvSpPr>
        <p:spPr bwMode="gray">
          <a:xfrm>
            <a:off x="426067" y="4573237"/>
            <a:ext cx="3867645" cy="1204998"/>
          </a:xfrm>
          <a:custGeom>
            <a:avLst/>
            <a:gdLst>
              <a:gd name="T0" fmla="*/ 0 w 2561"/>
              <a:gd name="T1" fmla="*/ 69 h 621"/>
              <a:gd name="T2" fmla="*/ 116 w 2561"/>
              <a:gd name="T3" fmla="*/ 69 h 621"/>
              <a:gd name="T4" fmla="*/ 99 w 2561"/>
              <a:gd name="T5" fmla="*/ 0 h 621"/>
              <a:gd name="T6" fmla="*/ 17 w 2561"/>
              <a:gd name="T7" fmla="*/ 0 h 621"/>
              <a:gd name="T8" fmla="*/ 0 w 2561"/>
              <a:gd name="T9" fmla="*/ 69 h 6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1"/>
              <a:gd name="T16" fmla="*/ 0 h 621"/>
              <a:gd name="T17" fmla="*/ 2561 w 2561"/>
              <a:gd name="T18" fmla="*/ 621 h 6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1" h="621">
                <a:moveTo>
                  <a:pt x="0" y="620"/>
                </a:moveTo>
                <a:lnTo>
                  <a:pt x="2560" y="620"/>
                </a:lnTo>
                <a:lnTo>
                  <a:pt x="2172" y="0"/>
                </a:lnTo>
                <a:lnTo>
                  <a:pt x="382" y="0"/>
                </a:lnTo>
                <a:lnTo>
                  <a:pt x="0" y="620"/>
                </a:lnTo>
              </a:path>
            </a:pathLst>
          </a:custGeom>
          <a:gradFill rotWithShape="0">
            <a:gsLst>
              <a:gs pos="0">
                <a:srgbClr val="FAD58C"/>
              </a:gs>
              <a:gs pos="100000">
                <a:srgbClr val="F4A70C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2" name="Freeform 29"/>
          <p:cNvSpPr>
            <a:spLocks/>
          </p:cNvSpPr>
          <p:nvPr/>
        </p:nvSpPr>
        <p:spPr bwMode="gray">
          <a:xfrm>
            <a:off x="3034008" y="2943276"/>
            <a:ext cx="849920" cy="1431458"/>
          </a:xfrm>
          <a:custGeom>
            <a:avLst/>
            <a:gdLst>
              <a:gd name="T0" fmla="*/ 17 w 564"/>
              <a:gd name="T1" fmla="*/ 83 h 738"/>
              <a:gd name="T2" fmla="*/ 25 w 564"/>
              <a:gd name="T3" fmla="*/ 59 h 738"/>
              <a:gd name="T4" fmla="*/ 5 w 564"/>
              <a:gd name="T5" fmla="*/ 0 h 738"/>
              <a:gd name="T6" fmla="*/ 0 w 564"/>
              <a:gd name="T7" fmla="*/ 12 h 738"/>
              <a:gd name="T8" fmla="*/ 17 w 564"/>
              <a:gd name="T9" fmla="*/ 83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4"/>
              <a:gd name="T16" fmla="*/ 0 h 738"/>
              <a:gd name="T17" fmla="*/ 564 w 564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4" h="738">
                <a:moveTo>
                  <a:pt x="385" y="737"/>
                </a:moveTo>
                <a:lnTo>
                  <a:pt x="563" y="527"/>
                </a:lnTo>
                <a:lnTo>
                  <a:pt x="97" y="0"/>
                </a:lnTo>
                <a:lnTo>
                  <a:pt x="0" y="111"/>
                </a:lnTo>
                <a:lnTo>
                  <a:pt x="385" y="737"/>
                </a:lnTo>
              </a:path>
            </a:pathLst>
          </a:custGeom>
          <a:gradFill rotWithShape="0">
            <a:gsLst>
              <a:gs pos="0">
                <a:srgbClr val="9A38CA"/>
              </a:gs>
              <a:gs pos="100000">
                <a:srgbClr val="C247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3" name="Freeform 30"/>
          <p:cNvSpPr>
            <a:spLocks/>
          </p:cNvSpPr>
          <p:nvPr/>
        </p:nvSpPr>
        <p:spPr bwMode="gray">
          <a:xfrm>
            <a:off x="1685771" y="2943276"/>
            <a:ext cx="1492420" cy="215279"/>
          </a:xfrm>
          <a:custGeom>
            <a:avLst/>
            <a:gdLst>
              <a:gd name="T0" fmla="*/ 0 w 987"/>
              <a:gd name="T1" fmla="*/ 13 h 110"/>
              <a:gd name="T2" fmla="*/ 41 w 987"/>
              <a:gd name="T3" fmla="*/ 13 h 110"/>
              <a:gd name="T4" fmla="*/ 45 w 987"/>
              <a:gd name="T5" fmla="*/ 0 h 110"/>
              <a:gd name="T6" fmla="*/ 14 w 987"/>
              <a:gd name="T7" fmla="*/ 0 h 110"/>
              <a:gd name="T8" fmla="*/ 0 w 987"/>
              <a:gd name="T9" fmla="*/ 13 h 1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87"/>
              <a:gd name="T16" fmla="*/ 0 h 110"/>
              <a:gd name="T17" fmla="*/ 987 w 987"/>
              <a:gd name="T18" fmla="*/ 110 h 1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87" h="110">
                <a:moveTo>
                  <a:pt x="0" y="109"/>
                </a:moveTo>
                <a:lnTo>
                  <a:pt x="889" y="109"/>
                </a:lnTo>
                <a:lnTo>
                  <a:pt x="986" y="0"/>
                </a:lnTo>
                <a:lnTo>
                  <a:pt x="308" y="0"/>
                </a:lnTo>
                <a:lnTo>
                  <a:pt x="0" y="109"/>
                </a:lnTo>
              </a:path>
            </a:pathLst>
          </a:custGeom>
          <a:gradFill rotWithShape="0">
            <a:gsLst>
              <a:gs pos="0">
                <a:srgbClr val="C247FF"/>
              </a:gs>
              <a:gs pos="100000">
                <a:srgbClr val="632482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4" name="Freeform 31"/>
          <p:cNvSpPr>
            <a:spLocks/>
          </p:cNvSpPr>
          <p:nvPr/>
        </p:nvSpPr>
        <p:spPr bwMode="gray">
          <a:xfrm>
            <a:off x="1098921" y="3155758"/>
            <a:ext cx="2519407" cy="1218976"/>
          </a:xfrm>
          <a:custGeom>
            <a:avLst/>
            <a:gdLst>
              <a:gd name="T0" fmla="*/ 0 w 1669"/>
              <a:gd name="T1" fmla="*/ 70 h 629"/>
              <a:gd name="T2" fmla="*/ 75 w 1669"/>
              <a:gd name="T3" fmla="*/ 70 h 629"/>
              <a:gd name="T4" fmla="*/ 58 w 1669"/>
              <a:gd name="T5" fmla="*/ 0 h 629"/>
              <a:gd name="T6" fmla="*/ 17 w 1669"/>
              <a:gd name="T7" fmla="*/ 0 h 629"/>
              <a:gd name="T8" fmla="*/ 0 w 1669"/>
              <a:gd name="T9" fmla="*/ 70 h 6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9"/>
              <a:gd name="T16" fmla="*/ 0 h 629"/>
              <a:gd name="T17" fmla="*/ 1669 w 1669"/>
              <a:gd name="T18" fmla="*/ 629 h 6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9" h="629">
                <a:moveTo>
                  <a:pt x="0" y="628"/>
                </a:moveTo>
                <a:lnTo>
                  <a:pt x="1668" y="628"/>
                </a:lnTo>
                <a:lnTo>
                  <a:pt x="1281" y="0"/>
                </a:lnTo>
                <a:lnTo>
                  <a:pt x="388" y="0"/>
                </a:lnTo>
                <a:lnTo>
                  <a:pt x="0" y="628"/>
                </a:lnTo>
              </a:path>
            </a:pathLst>
          </a:custGeom>
          <a:gradFill rotWithShape="0">
            <a:gsLst>
              <a:gs pos="0">
                <a:srgbClr val="E0A3FF"/>
              </a:gs>
              <a:gs pos="100000">
                <a:srgbClr val="C247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5" name="Freeform 32"/>
          <p:cNvSpPr>
            <a:spLocks/>
          </p:cNvSpPr>
          <p:nvPr/>
        </p:nvSpPr>
        <p:spPr bwMode="gray">
          <a:xfrm>
            <a:off x="2353565" y="1755053"/>
            <a:ext cx="718385" cy="1213385"/>
          </a:xfrm>
          <a:custGeom>
            <a:avLst/>
            <a:gdLst>
              <a:gd name="T0" fmla="*/ 17 w 477"/>
              <a:gd name="T1" fmla="*/ 70 h 625"/>
              <a:gd name="T2" fmla="*/ 21 w 477"/>
              <a:gd name="T3" fmla="*/ 59 h 625"/>
              <a:gd name="T4" fmla="*/ 0 w 477"/>
              <a:gd name="T5" fmla="*/ 0 h 625"/>
              <a:gd name="T6" fmla="*/ 17 w 477"/>
              <a:gd name="T7" fmla="*/ 70 h 625"/>
              <a:gd name="T8" fmla="*/ 0 60000 65536"/>
              <a:gd name="T9" fmla="*/ 0 60000 65536"/>
              <a:gd name="T10" fmla="*/ 0 60000 65536"/>
              <a:gd name="T11" fmla="*/ 0 60000 65536"/>
              <a:gd name="T12" fmla="*/ 0 w 477"/>
              <a:gd name="T13" fmla="*/ 0 h 625"/>
              <a:gd name="T14" fmla="*/ 477 w 477"/>
              <a:gd name="T15" fmla="*/ 625 h 6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7" h="625">
                <a:moveTo>
                  <a:pt x="387" y="624"/>
                </a:moveTo>
                <a:lnTo>
                  <a:pt x="476" y="527"/>
                </a:lnTo>
                <a:lnTo>
                  <a:pt x="0" y="0"/>
                </a:lnTo>
                <a:lnTo>
                  <a:pt x="387" y="624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6" name="Freeform 33"/>
          <p:cNvSpPr>
            <a:spLocks/>
          </p:cNvSpPr>
          <p:nvPr/>
        </p:nvSpPr>
        <p:spPr bwMode="gray">
          <a:xfrm>
            <a:off x="1769246" y="1755053"/>
            <a:ext cx="1168641" cy="1213385"/>
          </a:xfrm>
          <a:custGeom>
            <a:avLst/>
            <a:gdLst>
              <a:gd name="T0" fmla="*/ 0 w 773"/>
              <a:gd name="T1" fmla="*/ 70 h 625"/>
              <a:gd name="T2" fmla="*/ 35 w 773"/>
              <a:gd name="T3" fmla="*/ 70 h 625"/>
              <a:gd name="T4" fmla="*/ 17 w 773"/>
              <a:gd name="T5" fmla="*/ 0 h 625"/>
              <a:gd name="T6" fmla="*/ 0 w 773"/>
              <a:gd name="T7" fmla="*/ 70 h 625"/>
              <a:gd name="T8" fmla="*/ 0 60000 65536"/>
              <a:gd name="T9" fmla="*/ 0 60000 65536"/>
              <a:gd name="T10" fmla="*/ 0 60000 65536"/>
              <a:gd name="T11" fmla="*/ 0 60000 65536"/>
              <a:gd name="T12" fmla="*/ 0 w 773"/>
              <a:gd name="T13" fmla="*/ 0 h 625"/>
              <a:gd name="T14" fmla="*/ 773 w 773"/>
              <a:gd name="T15" fmla="*/ 625 h 6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3" h="625">
                <a:moveTo>
                  <a:pt x="0" y="624"/>
                </a:moveTo>
                <a:lnTo>
                  <a:pt x="772" y="624"/>
                </a:lnTo>
                <a:lnTo>
                  <a:pt x="387" y="0"/>
                </a:lnTo>
                <a:lnTo>
                  <a:pt x="0" y="624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gray">
          <a:xfrm>
            <a:off x="2086754" y="2463400"/>
            <a:ext cx="543739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14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顶</a:t>
            </a:r>
            <a:r>
              <a:rPr lang="zh-CN" altLang="en-US" sz="1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层</a:t>
            </a:r>
            <a:endParaRPr lang="en-US" altLang="zh-CN" sz="1400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gray">
          <a:xfrm>
            <a:off x="1938723" y="3678575"/>
            <a:ext cx="723275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1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选项层</a:t>
            </a:r>
            <a:endParaRPr lang="en-US" altLang="zh-CN" sz="1400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gray">
          <a:xfrm>
            <a:off x="1938723" y="5070892"/>
            <a:ext cx="723275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1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工程层</a:t>
            </a:r>
            <a:endParaRPr lang="en-US" altLang="zh-CN" sz="1400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27468" y="2040061"/>
            <a:ext cx="491729" cy="493823"/>
            <a:chOff x="4119958" y="2427177"/>
            <a:chExt cx="491729" cy="493823"/>
          </a:xfrm>
        </p:grpSpPr>
        <p:grpSp>
          <p:nvGrpSpPr>
            <p:cNvPr id="26" name="Group 6"/>
            <p:cNvGrpSpPr>
              <a:grpSpLocks/>
            </p:cNvGrpSpPr>
            <p:nvPr/>
          </p:nvGrpSpPr>
          <p:grpSpPr bwMode="auto">
            <a:xfrm>
              <a:off x="4119958" y="2451100"/>
              <a:ext cx="491729" cy="469900"/>
              <a:chOff x="2016" y="1920"/>
              <a:chExt cx="1680" cy="1680"/>
            </a:xfrm>
          </p:grpSpPr>
          <p:sp>
            <p:nvSpPr>
              <p:cNvPr id="28" name="Oval 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39216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40" name="Freeform 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160 w 1321"/>
                  <a:gd name="T1" fmla="*/ 199 h 712"/>
                  <a:gd name="T2" fmla="*/ 1174 w 1321"/>
                  <a:gd name="T3" fmla="*/ 221 h 712"/>
                  <a:gd name="T4" fmla="*/ 1177 w 1321"/>
                  <a:gd name="T5" fmla="*/ 240 h 712"/>
                  <a:gd name="T6" fmla="*/ 1172 w 1321"/>
                  <a:gd name="T7" fmla="*/ 257 h 712"/>
                  <a:gd name="T8" fmla="*/ 1157 w 1321"/>
                  <a:gd name="T9" fmla="*/ 273 h 712"/>
                  <a:gd name="T10" fmla="*/ 1134 w 1321"/>
                  <a:gd name="T11" fmla="*/ 289 h 712"/>
                  <a:gd name="T12" fmla="*/ 1105 w 1321"/>
                  <a:gd name="T13" fmla="*/ 301 h 712"/>
                  <a:gd name="T14" fmla="*/ 1066 w 1321"/>
                  <a:gd name="T15" fmla="*/ 313 h 712"/>
                  <a:gd name="T16" fmla="*/ 1023 w 1321"/>
                  <a:gd name="T17" fmla="*/ 324 h 712"/>
                  <a:gd name="T18" fmla="*/ 973 w 1321"/>
                  <a:gd name="T19" fmla="*/ 332 h 712"/>
                  <a:gd name="T20" fmla="*/ 919 w 1321"/>
                  <a:gd name="T21" fmla="*/ 340 h 712"/>
                  <a:gd name="T22" fmla="*/ 862 w 1321"/>
                  <a:gd name="T23" fmla="*/ 345 h 712"/>
                  <a:gd name="T24" fmla="*/ 799 w 1321"/>
                  <a:gd name="T25" fmla="*/ 351 h 712"/>
                  <a:gd name="T26" fmla="*/ 735 w 1321"/>
                  <a:gd name="T27" fmla="*/ 354 h 712"/>
                  <a:gd name="T28" fmla="*/ 709 w 1321"/>
                  <a:gd name="T29" fmla="*/ 355 h 712"/>
                  <a:gd name="T30" fmla="*/ 425 w 1321"/>
                  <a:gd name="T31" fmla="*/ 355 h 712"/>
                  <a:gd name="T32" fmla="*/ 421 w 1321"/>
                  <a:gd name="T33" fmla="*/ 355 h 712"/>
                  <a:gd name="T34" fmla="*/ 365 w 1321"/>
                  <a:gd name="T35" fmla="*/ 353 h 712"/>
                  <a:gd name="T36" fmla="*/ 311 w 1321"/>
                  <a:gd name="T37" fmla="*/ 351 h 712"/>
                  <a:gd name="T38" fmla="*/ 260 w 1321"/>
                  <a:gd name="T39" fmla="*/ 347 h 712"/>
                  <a:gd name="T40" fmla="*/ 211 w 1321"/>
                  <a:gd name="T41" fmla="*/ 344 h 712"/>
                  <a:gd name="T42" fmla="*/ 167 w 1321"/>
                  <a:gd name="T43" fmla="*/ 337 h 712"/>
                  <a:gd name="T44" fmla="*/ 126 w 1321"/>
                  <a:gd name="T45" fmla="*/ 329 h 712"/>
                  <a:gd name="T46" fmla="*/ 90 w 1321"/>
                  <a:gd name="T47" fmla="*/ 323 h 712"/>
                  <a:gd name="T48" fmla="*/ 61 w 1321"/>
                  <a:gd name="T49" fmla="*/ 314 h 712"/>
                  <a:gd name="T50" fmla="*/ 33 w 1321"/>
                  <a:gd name="T51" fmla="*/ 303 h 712"/>
                  <a:gd name="T52" fmla="*/ 18 w 1321"/>
                  <a:gd name="T53" fmla="*/ 290 h 712"/>
                  <a:gd name="T54" fmla="*/ 6 w 1321"/>
                  <a:gd name="T55" fmla="*/ 276 h 712"/>
                  <a:gd name="T56" fmla="*/ 0 w 1321"/>
                  <a:gd name="T57" fmla="*/ 261 h 712"/>
                  <a:gd name="T58" fmla="*/ 0 w 1321"/>
                  <a:gd name="T59" fmla="*/ 259 h 712"/>
                  <a:gd name="T60" fmla="*/ 4 w 1321"/>
                  <a:gd name="T61" fmla="*/ 242 h 712"/>
                  <a:gd name="T62" fmla="*/ 16 w 1321"/>
                  <a:gd name="T63" fmla="*/ 222 h 712"/>
                  <a:gd name="T64" fmla="*/ 45 w 1321"/>
                  <a:gd name="T65" fmla="*/ 184 h 712"/>
                  <a:gd name="T66" fmla="*/ 82 w 1321"/>
                  <a:gd name="T67" fmla="*/ 149 h 712"/>
                  <a:gd name="T68" fmla="*/ 130 w 1321"/>
                  <a:gd name="T69" fmla="*/ 118 h 712"/>
                  <a:gd name="T70" fmla="*/ 181 w 1321"/>
                  <a:gd name="T71" fmla="*/ 88 h 712"/>
                  <a:gd name="T72" fmla="*/ 240 w 1321"/>
                  <a:gd name="T73" fmla="*/ 61 h 712"/>
                  <a:gd name="T74" fmla="*/ 305 w 1321"/>
                  <a:gd name="T75" fmla="*/ 41 h 712"/>
                  <a:gd name="T76" fmla="*/ 370 w 1321"/>
                  <a:gd name="T77" fmla="*/ 23 h 712"/>
                  <a:gd name="T78" fmla="*/ 443 w 1321"/>
                  <a:gd name="T79" fmla="*/ 11 h 712"/>
                  <a:gd name="T80" fmla="*/ 518 w 1321"/>
                  <a:gd name="T81" fmla="*/ 4 h 712"/>
                  <a:gd name="T82" fmla="*/ 595 w 1321"/>
                  <a:gd name="T83" fmla="*/ 0 h 712"/>
                  <a:gd name="T84" fmla="*/ 595 w 1321"/>
                  <a:gd name="T85" fmla="*/ 0 h 712"/>
                  <a:gd name="T86" fmla="*/ 677 w 1321"/>
                  <a:gd name="T87" fmla="*/ 4 h 712"/>
                  <a:gd name="T88" fmla="*/ 755 w 1321"/>
                  <a:gd name="T89" fmla="*/ 11 h 712"/>
                  <a:gd name="T90" fmla="*/ 831 w 1321"/>
                  <a:gd name="T91" fmla="*/ 26 h 712"/>
                  <a:gd name="T92" fmla="*/ 901 w 1321"/>
                  <a:gd name="T93" fmla="*/ 45 h 712"/>
                  <a:gd name="T94" fmla="*/ 965 w 1321"/>
                  <a:gd name="T95" fmla="*/ 69 h 712"/>
                  <a:gd name="T96" fmla="*/ 1024 w 1321"/>
                  <a:gd name="T97" fmla="*/ 97 h 712"/>
                  <a:gd name="T98" fmla="*/ 1077 w 1321"/>
                  <a:gd name="T99" fmla="*/ 127 h 712"/>
                  <a:gd name="T100" fmla="*/ 1122 w 1321"/>
                  <a:gd name="T101" fmla="*/ 162 h 712"/>
                  <a:gd name="T102" fmla="*/ 1160 w 1321"/>
                  <a:gd name="T103" fmla="*/ 199 h 712"/>
                  <a:gd name="T104" fmla="*/ 1160 w 1321"/>
                  <a:gd name="T105" fmla="*/ 199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27" name="Text Box 9"/>
            <p:cNvSpPr txBox="1">
              <a:spLocks noChangeArrowheads="1"/>
            </p:cNvSpPr>
            <p:nvPr/>
          </p:nvSpPr>
          <p:spPr bwMode="gray">
            <a:xfrm>
              <a:off x="4176156" y="2427177"/>
              <a:ext cx="404278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zh-CN" sz="24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  <a:ea typeface="宋体" charset="-122"/>
                </a:rPr>
                <a:t>1</a:t>
              </a:r>
              <a:endPara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970520" y="3137805"/>
            <a:ext cx="491729" cy="493823"/>
            <a:chOff x="4119958" y="2427177"/>
            <a:chExt cx="491729" cy="493823"/>
          </a:xfrm>
        </p:grpSpPr>
        <p:grpSp>
          <p:nvGrpSpPr>
            <p:cNvPr id="42" name="Group 6"/>
            <p:cNvGrpSpPr>
              <a:grpSpLocks/>
            </p:cNvGrpSpPr>
            <p:nvPr/>
          </p:nvGrpSpPr>
          <p:grpSpPr bwMode="auto">
            <a:xfrm>
              <a:off x="4119958" y="2451100"/>
              <a:ext cx="491729" cy="469900"/>
              <a:chOff x="2016" y="1920"/>
              <a:chExt cx="1680" cy="1680"/>
            </a:xfrm>
          </p:grpSpPr>
          <p:sp>
            <p:nvSpPr>
              <p:cNvPr id="44" name="Oval 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39216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45" name="Freeform 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160 w 1321"/>
                  <a:gd name="T1" fmla="*/ 199 h 712"/>
                  <a:gd name="T2" fmla="*/ 1174 w 1321"/>
                  <a:gd name="T3" fmla="*/ 221 h 712"/>
                  <a:gd name="T4" fmla="*/ 1177 w 1321"/>
                  <a:gd name="T5" fmla="*/ 240 h 712"/>
                  <a:gd name="T6" fmla="*/ 1172 w 1321"/>
                  <a:gd name="T7" fmla="*/ 257 h 712"/>
                  <a:gd name="T8" fmla="*/ 1157 w 1321"/>
                  <a:gd name="T9" fmla="*/ 273 h 712"/>
                  <a:gd name="T10" fmla="*/ 1134 w 1321"/>
                  <a:gd name="T11" fmla="*/ 289 h 712"/>
                  <a:gd name="T12" fmla="*/ 1105 w 1321"/>
                  <a:gd name="T13" fmla="*/ 301 h 712"/>
                  <a:gd name="T14" fmla="*/ 1066 w 1321"/>
                  <a:gd name="T15" fmla="*/ 313 h 712"/>
                  <a:gd name="T16" fmla="*/ 1023 w 1321"/>
                  <a:gd name="T17" fmla="*/ 324 h 712"/>
                  <a:gd name="T18" fmla="*/ 973 w 1321"/>
                  <a:gd name="T19" fmla="*/ 332 h 712"/>
                  <a:gd name="T20" fmla="*/ 919 w 1321"/>
                  <a:gd name="T21" fmla="*/ 340 h 712"/>
                  <a:gd name="T22" fmla="*/ 862 w 1321"/>
                  <a:gd name="T23" fmla="*/ 345 h 712"/>
                  <a:gd name="T24" fmla="*/ 799 w 1321"/>
                  <a:gd name="T25" fmla="*/ 351 h 712"/>
                  <a:gd name="T26" fmla="*/ 735 w 1321"/>
                  <a:gd name="T27" fmla="*/ 354 h 712"/>
                  <a:gd name="T28" fmla="*/ 709 w 1321"/>
                  <a:gd name="T29" fmla="*/ 355 h 712"/>
                  <a:gd name="T30" fmla="*/ 425 w 1321"/>
                  <a:gd name="T31" fmla="*/ 355 h 712"/>
                  <a:gd name="T32" fmla="*/ 421 w 1321"/>
                  <a:gd name="T33" fmla="*/ 355 h 712"/>
                  <a:gd name="T34" fmla="*/ 365 w 1321"/>
                  <a:gd name="T35" fmla="*/ 353 h 712"/>
                  <a:gd name="T36" fmla="*/ 311 w 1321"/>
                  <a:gd name="T37" fmla="*/ 351 h 712"/>
                  <a:gd name="T38" fmla="*/ 260 w 1321"/>
                  <a:gd name="T39" fmla="*/ 347 h 712"/>
                  <a:gd name="T40" fmla="*/ 211 w 1321"/>
                  <a:gd name="T41" fmla="*/ 344 h 712"/>
                  <a:gd name="T42" fmla="*/ 167 w 1321"/>
                  <a:gd name="T43" fmla="*/ 337 h 712"/>
                  <a:gd name="T44" fmla="*/ 126 w 1321"/>
                  <a:gd name="T45" fmla="*/ 329 h 712"/>
                  <a:gd name="T46" fmla="*/ 90 w 1321"/>
                  <a:gd name="T47" fmla="*/ 323 h 712"/>
                  <a:gd name="T48" fmla="*/ 61 w 1321"/>
                  <a:gd name="T49" fmla="*/ 314 h 712"/>
                  <a:gd name="T50" fmla="*/ 33 w 1321"/>
                  <a:gd name="T51" fmla="*/ 303 h 712"/>
                  <a:gd name="T52" fmla="*/ 18 w 1321"/>
                  <a:gd name="T53" fmla="*/ 290 h 712"/>
                  <a:gd name="T54" fmla="*/ 6 w 1321"/>
                  <a:gd name="T55" fmla="*/ 276 h 712"/>
                  <a:gd name="T56" fmla="*/ 0 w 1321"/>
                  <a:gd name="T57" fmla="*/ 261 h 712"/>
                  <a:gd name="T58" fmla="*/ 0 w 1321"/>
                  <a:gd name="T59" fmla="*/ 259 h 712"/>
                  <a:gd name="T60" fmla="*/ 4 w 1321"/>
                  <a:gd name="T61" fmla="*/ 242 h 712"/>
                  <a:gd name="T62" fmla="*/ 16 w 1321"/>
                  <a:gd name="T63" fmla="*/ 222 h 712"/>
                  <a:gd name="T64" fmla="*/ 45 w 1321"/>
                  <a:gd name="T65" fmla="*/ 184 h 712"/>
                  <a:gd name="T66" fmla="*/ 82 w 1321"/>
                  <a:gd name="T67" fmla="*/ 149 h 712"/>
                  <a:gd name="T68" fmla="*/ 130 w 1321"/>
                  <a:gd name="T69" fmla="*/ 118 h 712"/>
                  <a:gd name="T70" fmla="*/ 181 w 1321"/>
                  <a:gd name="T71" fmla="*/ 88 h 712"/>
                  <a:gd name="T72" fmla="*/ 240 w 1321"/>
                  <a:gd name="T73" fmla="*/ 61 h 712"/>
                  <a:gd name="T74" fmla="*/ 305 w 1321"/>
                  <a:gd name="T75" fmla="*/ 41 h 712"/>
                  <a:gd name="T76" fmla="*/ 370 w 1321"/>
                  <a:gd name="T77" fmla="*/ 23 h 712"/>
                  <a:gd name="T78" fmla="*/ 443 w 1321"/>
                  <a:gd name="T79" fmla="*/ 11 h 712"/>
                  <a:gd name="T80" fmla="*/ 518 w 1321"/>
                  <a:gd name="T81" fmla="*/ 4 h 712"/>
                  <a:gd name="T82" fmla="*/ 595 w 1321"/>
                  <a:gd name="T83" fmla="*/ 0 h 712"/>
                  <a:gd name="T84" fmla="*/ 595 w 1321"/>
                  <a:gd name="T85" fmla="*/ 0 h 712"/>
                  <a:gd name="T86" fmla="*/ 677 w 1321"/>
                  <a:gd name="T87" fmla="*/ 4 h 712"/>
                  <a:gd name="T88" fmla="*/ 755 w 1321"/>
                  <a:gd name="T89" fmla="*/ 11 h 712"/>
                  <a:gd name="T90" fmla="*/ 831 w 1321"/>
                  <a:gd name="T91" fmla="*/ 26 h 712"/>
                  <a:gd name="T92" fmla="*/ 901 w 1321"/>
                  <a:gd name="T93" fmla="*/ 45 h 712"/>
                  <a:gd name="T94" fmla="*/ 965 w 1321"/>
                  <a:gd name="T95" fmla="*/ 69 h 712"/>
                  <a:gd name="T96" fmla="*/ 1024 w 1321"/>
                  <a:gd name="T97" fmla="*/ 97 h 712"/>
                  <a:gd name="T98" fmla="*/ 1077 w 1321"/>
                  <a:gd name="T99" fmla="*/ 127 h 712"/>
                  <a:gd name="T100" fmla="*/ 1122 w 1321"/>
                  <a:gd name="T101" fmla="*/ 162 h 712"/>
                  <a:gd name="T102" fmla="*/ 1160 w 1321"/>
                  <a:gd name="T103" fmla="*/ 199 h 712"/>
                  <a:gd name="T104" fmla="*/ 1160 w 1321"/>
                  <a:gd name="T105" fmla="*/ 199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43" name="Text Box 9"/>
            <p:cNvSpPr txBox="1">
              <a:spLocks noChangeArrowheads="1"/>
            </p:cNvSpPr>
            <p:nvPr/>
          </p:nvSpPr>
          <p:spPr bwMode="gray">
            <a:xfrm>
              <a:off x="4176156" y="2427177"/>
              <a:ext cx="404278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  <a:ea typeface="宋体" charset="-122"/>
                </a:rPr>
                <a:t>2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625446" y="4323585"/>
            <a:ext cx="491729" cy="493823"/>
            <a:chOff x="4119958" y="2427177"/>
            <a:chExt cx="491729" cy="493823"/>
          </a:xfrm>
        </p:grpSpPr>
        <p:grpSp>
          <p:nvGrpSpPr>
            <p:cNvPr id="47" name="Group 6"/>
            <p:cNvGrpSpPr>
              <a:grpSpLocks/>
            </p:cNvGrpSpPr>
            <p:nvPr/>
          </p:nvGrpSpPr>
          <p:grpSpPr bwMode="auto">
            <a:xfrm>
              <a:off x="4119958" y="2451100"/>
              <a:ext cx="491729" cy="469900"/>
              <a:chOff x="2016" y="1920"/>
              <a:chExt cx="1680" cy="1680"/>
            </a:xfrm>
          </p:grpSpPr>
          <p:sp>
            <p:nvSpPr>
              <p:cNvPr id="49" name="Oval 7"/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39216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50" name="Freeform 8"/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1160 w 1321"/>
                  <a:gd name="T1" fmla="*/ 199 h 712"/>
                  <a:gd name="T2" fmla="*/ 1174 w 1321"/>
                  <a:gd name="T3" fmla="*/ 221 h 712"/>
                  <a:gd name="T4" fmla="*/ 1177 w 1321"/>
                  <a:gd name="T5" fmla="*/ 240 h 712"/>
                  <a:gd name="T6" fmla="*/ 1172 w 1321"/>
                  <a:gd name="T7" fmla="*/ 257 h 712"/>
                  <a:gd name="T8" fmla="*/ 1157 w 1321"/>
                  <a:gd name="T9" fmla="*/ 273 h 712"/>
                  <a:gd name="T10" fmla="*/ 1134 w 1321"/>
                  <a:gd name="T11" fmla="*/ 289 h 712"/>
                  <a:gd name="T12" fmla="*/ 1105 w 1321"/>
                  <a:gd name="T13" fmla="*/ 301 h 712"/>
                  <a:gd name="T14" fmla="*/ 1066 w 1321"/>
                  <a:gd name="T15" fmla="*/ 313 h 712"/>
                  <a:gd name="T16" fmla="*/ 1023 w 1321"/>
                  <a:gd name="T17" fmla="*/ 324 h 712"/>
                  <a:gd name="T18" fmla="*/ 973 w 1321"/>
                  <a:gd name="T19" fmla="*/ 332 h 712"/>
                  <a:gd name="T20" fmla="*/ 919 w 1321"/>
                  <a:gd name="T21" fmla="*/ 340 h 712"/>
                  <a:gd name="T22" fmla="*/ 862 w 1321"/>
                  <a:gd name="T23" fmla="*/ 345 h 712"/>
                  <a:gd name="T24" fmla="*/ 799 w 1321"/>
                  <a:gd name="T25" fmla="*/ 351 h 712"/>
                  <a:gd name="T26" fmla="*/ 735 w 1321"/>
                  <a:gd name="T27" fmla="*/ 354 h 712"/>
                  <a:gd name="T28" fmla="*/ 709 w 1321"/>
                  <a:gd name="T29" fmla="*/ 355 h 712"/>
                  <a:gd name="T30" fmla="*/ 425 w 1321"/>
                  <a:gd name="T31" fmla="*/ 355 h 712"/>
                  <a:gd name="T32" fmla="*/ 421 w 1321"/>
                  <a:gd name="T33" fmla="*/ 355 h 712"/>
                  <a:gd name="T34" fmla="*/ 365 w 1321"/>
                  <a:gd name="T35" fmla="*/ 353 h 712"/>
                  <a:gd name="T36" fmla="*/ 311 w 1321"/>
                  <a:gd name="T37" fmla="*/ 351 h 712"/>
                  <a:gd name="T38" fmla="*/ 260 w 1321"/>
                  <a:gd name="T39" fmla="*/ 347 h 712"/>
                  <a:gd name="T40" fmla="*/ 211 w 1321"/>
                  <a:gd name="T41" fmla="*/ 344 h 712"/>
                  <a:gd name="T42" fmla="*/ 167 w 1321"/>
                  <a:gd name="T43" fmla="*/ 337 h 712"/>
                  <a:gd name="T44" fmla="*/ 126 w 1321"/>
                  <a:gd name="T45" fmla="*/ 329 h 712"/>
                  <a:gd name="T46" fmla="*/ 90 w 1321"/>
                  <a:gd name="T47" fmla="*/ 323 h 712"/>
                  <a:gd name="T48" fmla="*/ 61 w 1321"/>
                  <a:gd name="T49" fmla="*/ 314 h 712"/>
                  <a:gd name="T50" fmla="*/ 33 w 1321"/>
                  <a:gd name="T51" fmla="*/ 303 h 712"/>
                  <a:gd name="T52" fmla="*/ 18 w 1321"/>
                  <a:gd name="T53" fmla="*/ 290 h 712"/>
                  <a:gd name="T54" fmla="*/ 6 w 1321"/>
                  <a:gd name="T55" fmla="*/ 276 h 712"/>
                  <a:gd name="T56" fmla="*/ 0 w 1321"/>
                  <a:gd name="T57" fmla="*/ 261 h 712"/>
                  <a:gd name="T58" fmla="*/ 0 w 1321"/>
                  <a:gd name="T59" fmla="*/ 259 h 712"/>
                  <a:gd name="T60" fmla="*/ 4 w 1321"/>
                  <a:gd name="T61" fmla="*/ 242 h 712"/>
                  <a:gd name="T62" fmla="*/ 16 w 1321"/>
                  <a:gd name="T63" fmla="*/ 222 h 712"/>
                  <a:gd name="T64" fmla="*/ 45 w 1321"/>
                  <a:gd name="T65" fmla="*/ 184 h 712"/>
                  <a:gd name="T66" fmla="*/ 82 w 1321"/>
                  <a:gd name="T67" fmla="*/ 149 h 712"/>
                  <a:gd name="T68" fmla="*/ 130 w 1321"/>
                  <a:gd name="T69" fmla="*/ 118 h 712"/>
                  <a:gd name="T70" fmla="*/ 181 w 1321"/>
                  <a:gd name="T71" fmla="*/ 88 h 712"/>
                  <a:gd name="T72" fmla="*/ 240 w 1321"/>
                  <a:gd name="T73" fmla="*/ 61 h 712"/>
                  <a:gd name="T74" fmla="*/ 305 w 1321"/>
                  <a:gd name="T75" fmla="*/ 41 h 712"/>
                  <a:gd name="T76" fmla="*/ 370 w 1321"/>
                  <a:gd name="T77" fmla="*/ 23 h 712"/>
                  <a:gd name="T78" fmla="*/ 443 w 1321"/>
                  <a:gd name="T79" fmla="*/ 11 h 712"/>
                  <a:gd name="T80" fmla="*/ 518 w 1321"/>
                  <a:gd name="T81" fmla="*/ 4 h 712"/>
                  <a:gd name="T82" fmla="*/ 595 w 1321"/>
                  <a:gd name="T83" fmla="*/ 0 h 712"/>
                  <a:gd name="T84" fmla="*/ 595 w 1321"/>
                  <a:gd name="T85" fmla="*/ 0 h 712"/>
                  <a:gd name="T86" fmla="*/ 677 w 1321"/>
                  <a:gd name="T87" fmla="*/ 4 h 712"/>
                  <a:gd name="T88" fmla="*/ 755 w 1321"/>
                  <a:gd name="T89" fmla="*/ 11 h 712"/>
                  <a:gd name="T90" fmla="*/ 831 w 1321"/>
                  <a:gd name="T91" fmla="*/ 26 h 712"/>
                  <a:gd name="T92" fmla="*/ 901 w 1321"/>
                  <a:gd name="T93" fmla="*/ 45 h 712"/>
                  <a:gd name="T94" fmla="*/ 965 w 1321"/>
                  <a:gd name="T95" fmla="*/ 69 h 712"/>
                  <a:gd name="T96" fmla="*/ 1024 w 1321"/>
                  <a:gd name="T97" fmla="*/ 97 h 712"/>
                  <a:gd name="T98" fmla="*/ 1077 w 1321"/>
                  <a:gd name="T99" fmla="*/ 127 h 712"/>
                  <a:gd name="T100" fmla="*/ 1122 w 1321"/>
                  <a:gd name="T101" fmla="*/ 162 h 712"/>
                  <a:gd name="T102" fmla="*/ 1160 w 1321"/>
                  <a:gd name="T103" fmla="*/ 199 h 712"/>
                  <a:gd name="T104" fmla="*/ 1160 w 1321"/>
                  <a:gd name="T105" fmla="*/ 199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48" name="Text Box 9"/>
            <p:cNvSpPr txBox="1">
              <a:spLocks noChangeArrowheads="1"/>
            </p:cNvSpPr>
            <p:nvPr/>
          </p:nvSpPr>
          <p:spPr bwMode="gray">
            <a:xfrm>
              <a:off x="4176156" y="2427177"/>
              <a:ext cx="404278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zh-CN" sz="24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  <a:ea typeface="宋体" charset="-122"/>
                </a:rPr>
                <a:t>3</a:t>
              </a:r>
              <a:endPara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宋体" charset="-122"/>
              </a:endParaRPr>
            </a:p>
          </p:txBody>
        </p:sp>
      </p:grpSp>
      <p:sp>
        <p:nvSpPr>
          <p:cNvPr id="51" name="Text Box 11"/>
          <p:cNvSpPr txBox="1">
            <a:spLocks noChangeArrowheads="1"/>
          </p:cNvSpPr>
          <p:nvPr/>
        </p:nvSpPr>
        <p:spPr bwMode="auto">
          <a:xfrm>
            <a:off x="3883904" y="1928472"/>
            <a:ext cx="47513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顶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层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：顶层主要包含产品的系统、子系统和规模较大的模块，此层结构基本是不变的</a:t>
            </a:r>
            <a:r>
              <a:rPr lang="zh-CN" altLang="en-US" dirty="0" smtClean="0">
                <a:latin typeface="宋体" charset="-122"/>
                <a:ea typeface="宋体" charset="-122"/>
              </a:rPr>
              <a:t>。</a:t>
            </a:r>
            <a:endParaRPr lang="zh-CN" altLang="en-US" dirty="0">
              <a:latin typeface="宋体" charset="-122"/>
              <a:ea typeface="宋体" charset="-122"/>
            </a:endParaRPr>
          </a:p>
        </p:txBody>
      </p:sp>
      <p:sp>
        <p:nvSpPr>
          <p:cNvPr id="52" name="Text Box 12"/>
          <p:cNvSpPr txBox="1">
            <a:spLocks noChangeArrowheads="1"/>
          </p:cNvSpPr>
          <p:nvPr/>
        </p:nvSpPr>
        <p:spPr bwMode="auto">
          <a:xfrm>
            <a:off x="4768783" y="3128719"/>
            <a:ext cx="405420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选配配置层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在选配层完成选装选配管理</a:t>
            </a:r>
            <a:r>
              <a:rPr lang="zh-CN" altLang="en-US" dirty="0" smtClean="0">
                <a:latin typeface="宋体" charset="-122"/>
                <a:ea typeface="宋体" charset="-122"/>
              </a:rPr>
              <a:t>。</a:t>
            </a:r>
            <a:endParaRPr lang="en-US" altLang="zh-CN" dirty="0">
              <a:latin typeface="宋体" charset="-122"/>
              <a:ea typeface="宋体" charset="-122"/>
            </a:endParaRPr>
          </a:p>
        </p:txBody>
      </p:sp>
      <p:sp>
        <p:nvSpPr>
          <p:cNvPr id="53" name="Text Box 12"/>
          <p:cNvSpPr txBox="1">
            <a:spLocks noChangeArrowheads="1"/>
          </p:cNvSpPr>
          <p:nvPr/>
        </p:nvSpPr>
        <p:spPr bwMode="auto">
          <a:xfrm>
            <a:off x="5322179" y="4353766"/>
            <a:ext cx="33131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工程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层：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由具体的技术解决方案组成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，此层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产品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结构包括用于组成产品的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实际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零部件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未来产品结构规划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728663" y="1028700"/>
            <a:ext cx="7679531" cy="54363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grpSp>
        <p:nvGrpSpPr>
          <p:cNvPr id="290" name="组合 289"/>
          <p:cNvGrpSpPr/>
          <p:nvPr/>
        </p:nvGrpSpPr>
        <p:grpSpPr>
          <a:xfrm>
            <a:off x="1480760" y="1817560"/>
            <a:ext cx="968881" cy="416164"/>
            <a:chOff x="1959396" y="2505036"/>
            <a:chExt cx="1065905" cy="445194"/>
          </a:xfrm>
        </p:grpSpPr>
        <p:pic>
          <p:nvPicPr>
            <p:cNvPr id="291" name="Picture 94" descr="structurenod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7958" y="2505036"/>
              <a:ext cx="277813" cy="27781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2" name="TextBox 291"/>
            <p:cNvSpPr txBox="1"/>
            <p:nvPr/>
          </p:nvSpPr>
          <p:spPr>
            <a:xfrm>
              <a:off x="1959396" y="2796342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双变系统</a:t>
              </a:r>
              <a:endParaRPr lang="zh-CN" altLang="en-US" sz="1000" dirty="0" smtClean="0"/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2993986" y="1875069"/>
            <a:ext cx="968881" cy="416164"/>
            <a:chOff x="1959396" y="2505036"/>
            <a:chExt cx="1065905" cy="445194"/>
          </a:xfrm>
        </p:grpSpPr>
        <p:pic>
          <p:nvPicPr>
            <p:cNvPr id="294" name="Picture 94" descr="structurenod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7958" y="2505036"/>
              <a:ext cx="277813" cy="27781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5" name="TextBox 294"/>
            <p:cNvSpPr txBox="1"/>
            <p:nvPr/>
          </p:nvSpPr>
          <p:spPr>
            <a:xfrm>
              <a:off x="1959396" y="2796342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000" dirty="0" smtClean="0"/>
                <a:t>………..</a:t>
              </a:r>
              <a:endParaRPr lang="zh-CN" altLang="en-US" sz="1000" dirty="0" smtClean="0"/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6215053" y="1911456"/>
            <a:ext cx="968881" cy="416164"/>
            <a:chOff x="1959396" y="2505036"/>
            <a:chExt cx="1065905" cy="445194"/>
          </a:xfrm>
        </p:grpSpPr>
        <p:pic>
          <p:nvPicPr>
            <p:cNvPr id="303" name="Picture 94" descr="structurenod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7958" y="2505036"/>
              <a:ext cx="277813" cy="27781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4" name="TextBox 303"/>
            <p:cNvSpPr txBox="1"/>
            <p:nvPr/>
          </p:nvSpPr>
          <p:spPr>
            <a:xfrm>
              <a:off x="1959396" y="2796342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铲斗组件</a:t>
              </a:r>
              <a:endParaRPr lang="zh-CN" altLang="en-US" sz="1000" dirty="0" smtClean="0"/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4565270" y="1902362"/>
            <a:ext cx="968881" cy="416164"/>
            <a:chOff x="1959396" y="2505036"/>
            <a:chExt cx="1065905" cy="445194"/>
          </a:xfrm>
        </p:grpSpPr>
        <p:pic>
          <p:nvPicPr>
            <p:cNvPr id="306" name="Picture 94" descr="structurenod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7958" y="2505036"/>
              <a:ext cx="277813" cy="27781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7" name="TextBox 306"/>
            <p:cNvSpPr txBox="1"/>
            <p:nvPr/>
          </p:nvSpPr>
          <p:spPr>
            <a:xfrm>
              <a:off x="1959396" y="2796342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工作装置系统组</a:t>
              </a:r>
              <a:endParaRPr lang="zh-CN" altLang="en-US" sz="1000" dirty="0" smtClean="0"/>
            </a:p>
          </p:txBody>
        </p:sp>
      </p:grpSp>
      <p:cxnSp>
        <p:nvCxnSpPr>
          <p:cNvPr id="308" name="AutoShape 113"/>
          <p:cNvCxnSpPr>
            <a:cxnSpLocks noChangeShapeType="1"/>
            <a:endCxn id="291" idx="0"/>
          </p:cNvCxnSpPr>
          <p:nvPr/>
        </p:nvCxnSpPr>
        <p:spPr bwMode="auto">
          <a:xfrm flipH="1">
            <a:off x="1978396" y="1383142"/>
            <a:ext cx="2441983" cy="4344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9" name="AutoShape 113"/>
          <p:cNvCxnSpPr>
            <a:cxnSpLocks noChangeShapeType="1"/>
            <a:endCxn id="294" idx="0"/>
          </p:cNvCxnSpPr>
          <p:nvPr/>
        </p:nvCxnSpPr>
        <p:spPr bwMode="auto">
          <a:xfrm flipH="1">
            <a:off x="3491621" y="1538218"/>
            <a:ext cx="778435" cy="33685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0" name="AutoShape 113"/>
          <p:cNvCxnSpPr>
            <a:cxnSpLocks noChangeShapeType="1"/>
            <a:endCxn id="306" idx="0"/>
          </p:cNvCxnSpPr>
          <p:nvPr/>
        </p:nvCxnSpPr>
        <p:spPr bwMode="auto">
          <a:xfrm>
            <a:off x="4317408" y="1538218"/>
            <a:ext cx="745497" cy="36414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2" name="AutoShape 113"/>
          <p:cNvCxnSpPr>
            <a:cxnSpLocks noChangeShapeType="1"/>
            <a:endCxn id="303" idx="0"/>
          </p:cNvCxnSpPr>
          <p:nvPr/>
        </p:nvCxnSpPr>
        <p:spPr bwMode="auto">
          <a:xfrm>
            <a:off x="4396148" y="1383142"/>
            <a:ext cx="2316540" cy="52831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5" name="组合 4"/>
          <p:cNvGrpSpPr/>
          <p:nvPr/>
        </p:nvGrpSpPr>
        <p:grpSpPr>
          <a:xfrm>
            <a:off x="855051" y="3546789"/>
            <a:ext cx="968881" cy="408938"/>
            <a:chOff x="2267636" y="3419392"/>
            <a:chExt cx="1065905" cy="437463"/>
          </a:xfrm>
        </p:grpSpPr>
        <p:sp>
          <p:nvSpPr>
            <p:cNvPr id="315" name="TextBox 314"/>
            <p:cNvSpPr txBox="1"/>
            <p:nvPr/>
          </p:nvSpPr>
          <p:spPr>
            <a:xfrm>
              <a:off x="2267636" y="3702967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油滤管路总成</a:t>
              </a:r>
              <a:endParaRPr lang="zh-CN" altLang="en-US" sz="1000" dirty="0" smtClean="0"/>
            </a:p>
          </p:txBody>
        </p:sp>
        <p:pic>
          <p:nvPicPr>
            <p:cNvPr id="33" name="Picture 92" descr="basicnod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647" y="3419392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6" name="AutoShape 113"/>
          <p:cNvCxnSpPr>
            <a:cxnSpLocks noChangeShapeType="1"/>
            <a:stCxn id="292" idx="2"/>
            <a:endCxn id="33" idx="0"/>
          </p:cNvCxnSpPr>
          <p:nvPr/>
        </p:nvCxnSpPr>
        <p:spPr bwMode="auto">
          <a:xfrm flipH="1">
            <a:off x="1311292" y="2233725"/>
            <a:ext cx="653909" cy="13130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40" name="组合 39"/>
          <p:cNvGrpSpPr/>
          <p:nvPr/>
        </p:nvGrpSpPr>
        <p:grpSpPr>
          <a:xfrm>
            <a:off x="1753827" y="3573655"/>
            <a:ext cx="968881" cy="552792"/>
            <a:chOff x="2267636" y="3419392"/>
            <a:chExt cx="1065905" cy="591352"/>
          </a:xfrm>
        </p:grpSpPr>
        <p:sp>
          <p:nvSpPr>
            <p:cNvPr id="41" name="TextBox 40"/>
            <p:cNvSpPr txBox="1"/>
            <p:nvPr/>
          </p:nvSpPr>
          <p:spPr>
            <a:xfrm>
              <a:off x="2267636" y="3702967"/>
              <a:ext cx="106590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变速箱</a:t>
              </a:r>
              <a:endParaRPr lang="en-US" altLang="zh-CN" sz="1000" dirty="0" smtClean="0"/>
            </a:p>
            <a:p>
              <a:pPr algn="ctr"/>
              <a:r>
                <a:rPr lang="zh-CN" altLang="en-US" sz="1000" dirty="0" smtClean="0"/>
                <a:t>变</a:t>
              </a:r>
              <a:r>
                <a:rPr lang="zh-CN" altLang="en-US" sz="1000" dirty="0"/>
                <a:t>矩器总成</a:t>
              </a:r>
              <a:endParaRPr lang="zh-CN" altLang="en-US" sz="1000" dirty="0" smtClean="0"/>
            </a:p>
          </p:txBody>
        </p:sp>
        <p:pic>
          <p:nvPicPr>
            <p:cNvPr id="42" name="Picture 92" descr="basicnod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647" y="3419392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3" name="组合 42"/>
          <p:cNvGrpSpPr/>
          <p:nvPr/>
        </p:nvGrpSpPr>
        <p:grpSpPr>
          <a:xfrm>
            <a:off x="2635125" y="3561524"/>
            <a:ext cx="968881" cy="408938"/>
            <a:chOff x="2267636" y="3419392"/>
            <a:chExt cx="1065905" cy="437463"/>
          </a:xfrm>
        </p:grpSpPr>
        <p:sp>
          <p:nvSpPr>
            <p:cNvPr id="44" name="TextBox 43"/>
            <p:cNvSpPr txBox="1"/>
            <p:nvPr/>
          </p:nvSpPr>
          <p:spPr>
            <a:xfrm>
              <a:off x="2267636" y="3702967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散热管路总成</a:t>
              </a:r>
              <a:endParaRPr lang="zh-CN" altLang="en-US" sz="1000" dirty="0" smtClean="0"/>
            </a:p>
          </p:txBody>
        </p:sp>
        <p:pic>
          <p:nvPicPr>
            <p:cNvPr id="45" name="Picture 92" descr="basicnod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647" y="3419392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20" name="Picture 275" descr="John-Deere-844J---4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941" y="1157288"/>
            <a:ext cx="867878" cy="451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" name="AutoShape 113"/>
          <p:cNvCxnSpPr>
            <a:cxnSpLocks noChangeShapeType="1"/>
            <a:stCxn id="292" idx="2"/>
            <a:endCxn id="42" idx="0"/>
          </p:cNvCxnSpPr>
          <p:nvPr/>
        </p:nvCxnSpPr>
        <p:spPr bwMode="auto">
          <a:xfrm>
            <a:off x="1965201" y="2233725"/>
            <a:ext cx="244867" cy="133993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113"/>
          <p:cNvCxnSpPr>
            <a:cxnSpLocks noChangeShapeType="1"/>
            <a:stCxn id="295" idx="2"/>
          </p:cNvCxnSpPr>
          <p:nvPr/>
        </p:nvCxnSpPr>
        <p:spPr bwMode="auto">
          <a:xfrm flipH="1">
            <a:off x="2993986" y="2291234"/>
            <a:ext cx="484440" cy="49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3" name="AutoShape 113"/>
          <p:cNvCxnSpPr>
            <a:cxnSpLocks noChangeShapeType="1"/>
            <a:endCxn id="295" idx="2"/>
          </p:cNvCxnSpPr>
          <p:nvPr/>
        </p:nvCxnSpPr>
        <p:spPr bwMode="auto">
          <a:xfrm flipH="1" flipV="1">
            <a:off x="3478426" y="2291234"/>
            <a:ext cx="405699" cy="49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6" name="AutoShape 113"/>
          <p:cNvCxnSpPr>
            <a:cxnSpLocks noChangeShapeType="1"/>
            <a:stCxn id="292" idx="2"/>
            <a:endCxn id="45" idx="0"/>
          </p:cNvCxnSpPr>
          <p:nvPr/>
        </p:nvCxnSpPr>
        <p:spPr bwMode="auto">
          <a:xfrm>
            <a:off x="1965201" y="2233725"/>
            <a:ext cx="1126165" cy="132779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59" name="组合 58"/>
          <p:cNvGrpSpPr/>
          <p:nvPr/>
        </p:nvGrpSpPr>
        <p:grpSpPr>
          <a:xfrm>
            <a:off x="4209546" y="2758415"/>
            <a:ext cx="968881" cy="416164"/>
            <a:chOff x="1959396" y="2505036"/>
            <a:chExt cx="1065905" cy="445194"/>
          </a:xfrm>
        </p:grpSpPr>
        <p:pic>
          <p:nvPicPr>
            <p:cNvPr id="60" name="Picture 94" descr="structurenod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7958" y="2505036"/>
              <a:ext cx="277813" cy="27781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/>
            <p:cNvSpPr txBox="1"/>
            <p:nvPr/>
          </p:nvSpPr>
          <p:spPr>
            <a:xfrm>
              <a:off x="1959396" y="2796342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工作装置系统</a:t>
              </a:r>
            </a:p>
          </p:txBody>
        </p:sp>
      </p:grpSp>
      <p:cxnSp>
        <p:nvCxnSpPr>
          <p:cNvPr id="62" name="AutoShape 113"/>
          <p:cNvCxnSpPr>
            <a:cxnSpLocks noChangeShapeType="1"/>
            <a:stCxn id="307" idx="2"/>
            <a:endCxn id="60" idx="0"/>
          </p:cNvCxnSpPr>
          <p:nvPr/>
        </p:nvCxnSpPr>
        <p:spPr bwMode="auto">
          <a:xfrm flipH="1">
            <a:off x="4707181" y="2318526"/>
            <a:ext cx="342528" cy="4398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74" name="组合 73"/>
          <p:cNvGrpSpPr/>
          <p:nvPr/>
        </p:nvGrpSpPr>
        <p:grpSpPr>
          <a:xfrm>
            <a:off x="4112133" y="3527785"/>
            <a:ext cx="968881" cy="408938"/>
            <a:chOff x="2267636" y="3419392"/>
            <a:chExt cx="1065905" cy="437463"/>
          </a:xfrm>
        </p:grpSpPr>
        <p:sp>
          <p:nvSpPr>
            <p:cNvPr id="75" name="TextBox 74"/>
            <p:cNvSpPr txBox="1"/>
            <p:nvPr/>
          </p:nvSpPr>
          <p:spPr>
            <a:xfrm>
              <a:off x="2267636" y="3702967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动臂</a:t>
              </a:r>
              <a:endParaRPr lang="en-US" altLang="zh-CN" sz="1000" dirty="0" smtClean="0"/>
            </a:p>
          </p:txBody>
        </p:sp>
        <p:pic>
          <p:nvPicPr>
            <p:cNvPr id="76" name="Picture 92" descr="basicnod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647" y="3419392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86" name="AutoShape 113"/>
          <p:cNvCxnSpPr>
            <a:cxnSpLocks noChangeShapeType="1"/>
            <a:stCxn id="61" idx="2"/>
            <a:endCxn id="76" idx="0"/>
          </p:cNvCxnSpPr>
          <p:nvPr/>
        </p:nvCxnSpPr>
        <p:spPr bwMode="auto">
          <a:xfrm flipH="1">
            <a:off x="4568374" y="3174579"/>
            <a:ext cx="125612" cy="3532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92" name="组合 91"/>
          <p:cNvGrpSpPr/>
          <p:nvPr/>
        </p:nvGrpSpPr>
        <p:grpSpPr>
          <a:xfrm>
            <a:off x="5241167" y="2764473"/>
            <a:ext cx="968881" cy="416164"/>
            <a:chOff x="1959396" y="2505036"/>
            <a:chExt cx="1065905" cy="445194"/>
          </a:xfrm>
        </p:grpSpPr>
        <p:pic>
          <p:nvPicPr>
            <p:cNvPr id="93" name="Picture 94" descr="structurenod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7958" y="2505036"/>
              <a:ext cx="277813" cy="27781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Box 93"/>
            <p:cNvSpPr txBox="1"/>
            <p:nvPr/>
          </p:nvSpPr>
          <p:spPr>
            <a:xfrm>
              <a:off x="1959396" y="2796342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工作装置限位系统</a:t>
              </a:r>
            </a:p>
          </p:txBody>
        </p:sp>
      </p:grpSp>
      <p:cxnSp>
        <p:nvCxnSpPr>
          <p:cNvPr id="95" name="AutoShape 113"/>
          <p:cNvCxnSpPr>
            <a:cxnSpLocks noChangeShapeType="1"/>
            <a:stCxn id="93" idx="0"/>
            <a:endCxn id="307" idx="2"/>
          </p:cNvCxnSpPr>
          <p:nvPr/>
        </p:nvCxnSpPr>
        <p:spPr bwMode="auto">
          <a:xfrm flipH="1" flipV="1">
            <a:off x="5049710" y="2318526"/>
            <a:ext cx="689092" cy="44594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98" name="AutoShape 113"/>
          <p:cNvCxnSpPr>
            <a:cxnSpLocks noChangeShapeType="1"/>
            <a:stCxn id="75" idx="2"/>
            <a:endCxn id="35" idx="0"/>
          </p:cNvCxnSpPr>
          <p:nvPr/>
        </p:nvCxnSpPr>
        <p:spPr bwMode="auto">
          <a:xfrm flipH="1">
            <a:off x="4245826" y="3936723"/>
            <a:ext cx="350748" cy="42354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66" name="组合 265"/>
          <p:cNvGrpSpPr/>
          <p:nvPr/>
        </p:nvGrpSpPr>
        <p:grpSpPr>
          <a:xfrm>
            <a:off x="3746909" y="4360269"/>
            <a:ext cx="968881" cy="364292"/>
            <a:chOff x="3850567" y="4299174"/>
            <a:chExt cx="1065905" cy="389703"/>
          </a:xfrm>
        </p:grpSpPr>
        <p:pic>
          <p:nvPicPr>
            <p:cNvPr id="35" name="Picture 111" descr="varian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TextBox 102"/>
            <p:cNvSpPr txBox="1"/>
            <p:nvPr/>
          </p:nvSpPr>
          <p:spPr>
            <a:xfrm>
              <a:off x="3850567" y="4534989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普通臂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4601680" y="4357233"/>
            <a:ext cx="968881" cy="364292"/>
            <a:chOff x="3850567" y="4299174"/>
            <a:chExt cx="1065905" cy="389703"/>
          </a:xfrm>
        </p:grpSpPr>
        <p:pic>
          <p:nvPicPr>
            <p:cNvPr id="107" name="Picture 111" descr="varian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TextBox 107"/>
            <p:cNvSpPr txBox="1"/>
            <p:nvPr/>
          </p:nvSpPr>
          <p:spPr>
            <a:xfrm>
              <a:off x="3850567" y="4534989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加</a:t>
              </a:r>
              <a:r>
                <a:rPr lang="zh-CN" altLang="en-US" sz="1000" dirty="0" smtClean="0"/>
                <a:t>长臂</a:t>
              </a:r>
            </a:p>
          </p:txBody>
        </p:sp>
      </p:grpSp>
      <p:cxnSp>
        <p:nvCxnSpPr>
          <p:cNvPr id="109" name="AutoShape 113"/>
          <p:cNvCxnSpPr>
            <a:cxnSpLocks noChangeShapeType="1"/>
            <a:stCxn id="75" idx="2"/>
            <a:endCxn id="107" idx="0"/>
          </p:cNvCxnSpPr>
          <p:nvPr/>
        </p:nvCxnSpPr>
        <p:spPr bwMode="auto">
          <a:xfrm>
            <a:off x="4596574" y="3936723"/>
            <a:ext cx="504022" cy="4205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14" name="组合 113"/>
          <p:cNvGrpSpPr/>
          <p:nvPr/>
        </p:nvGrpSpPr>
        <p:grpSpPr>
          <a:xfrm>
            <a:off x="728663" y="4366326"/>
            <a:ext cx="968881" cy="364292"/>
            <a:chOff x="3850567" y="4299174"/>
            <a:chExt cx="1065905" cy="389703"/>
          </a:xfrm>
        </p:grpSpPr>
        <p:pic>
          <p:nvPicPr>
            <p:cNvPr id="115" name="Picture 111" descr="varian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TextBox 115"/>
            <p:cNvSpPr txBox="1"/>
            <p:nvPr/>
          </p:nvSpPr>
          <p:spPr>
            <a:xfrm>
              <a:off x="3850567" y="4534989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滤管路</a:t>
              </a:r>
              <a:r>
                <a:rPr lang="zh-CN" altLang="en-US" sz="1000" dirty="0" smtClean="0"/>
                <a:t>总成</a:t>
              </a:r>
              <a:endParaRPr lang="zh-CN" altLang="en-US" sz="1000" dirty="0"/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1751441" y="4363289"/>
            <a:ext cx="968881" cy="508147"/>
            <a:chOff x="3850567" y="4299174"/>
            <a:chExt cx="1065905" cy="543592"/>
          </a:xfrm>
        </p:grpSpPr>
        <p:pic>
          <p:nvPicPr>
            <p:cNvPr id="118" name="Picture 111" descr="varian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TextBox 118"/>
            <p:cNvSpPr txBox="1"/>
            <p:nvPr/>
          </p:nvSpPr>
          <p:spPr>
            <a:xfrm>
              <a:off x="3850567" y="4534989"/>
              <a:ext cx="106590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变速箱</a:t>
              </a:r>
              <a:endParaRPr lang="en-US" altLang="zh-CN" sz="1000" dirty="0"/>
            </a:p>
            <a:p>
              <a:pPr algn="ctr"/>
              <a:r>
                <a:rPr lang="zh-CN" altLang="en-US" sz="1000" dirty="0"/>
                <a:t>变矩器</a:t>
              </a:r>
              <a:r>
                <a:rPr lang="zh-CN" altLang="en-US" sz="1000" dirty="0" smtClean="0"/>
                <a:t>总成</a:t>
              </a:r>
              <a:endParaRPr lang="zh-CN" altLang="en-US" sz="1000" dirty="0"/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2694637" y="4369347"/>
            <a:ext cx="968881" cy="364292"/>
            <a:chOff x="3850567" y="4299174"/>
            <a:chExt cx="1065905" cy="389703"/>
          </a:xfrm>
        </p:grpSpPr>
        <p:pic>
          <p:nvPicPr>
            <p:cNvPr id="121" name="Picture 111" descr="varian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TextBox 121"/>
            <p:cNvSpPr txBox="1"/>
            <p:nvPr/>
          </p:nvSpPr>
          <p:spPr>
            <a:xfrm>
              <a:off x="3850567" y="4534989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散热管路</a:t>
              </a:r>
              <a:r>
                <a:rPr lang="zh-CN" altLang="en-US" sz="1000" dirty="0" smtClean="0"/>
                <a:t>总成</a:t>
              </a:r>
              <a:endParaRPr lang="zh-CN" altLang="en-US" sz="1000" dirty="0"/>
            </a:p>
          </p:txBody>
        </p:sp>
      </p:grpSp>
      <p:cxnSp>
        <p:nvCxnSpPr>
          <p:cNvPr id="124" name="AutoShape 113"/>
          <p:cNvCxnSpPr>
            <a:cxnSpLocks noChangeShapeType="1"/>
            <a:stCxn id="315" idx="2"/>
          </p:cNvCxnSpPr>
          <p:nvPr/>
        </p:nvCxnSpPr>
        <p:spPr bwMode="auto">
          <a:xfrm flipH="1">
            <a:off x="1262949" y="3955727"/>
            <a:ext cx="76543" cy="41059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27" name="AutoShape 113"/>
          <p:cNvCxnSpPr>
            <a:cxnSpLocks noChangeShapeType="1"/>
            <a:stCxn id="41" idx="2"/>
            <a:endCxn id="118" idx="0"/>
          </p:cNvCxnSpPr>
          <p:nvPr/>
        </p:nvCxnSpPr>
        <p:spPr bwMode="auto">
          <a:xfrm>
            <a:off x="2238268" y="4126447"/>
            <a:ext cx="12090" cy="23684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30" name="AutoShape 113"/>
          <p:cNvCxnSpPr>
            <a:cxnSpLocks noChangeShapeType="1"/>
            <a:stCxn id="44" idx="2"/>
            <a:endCxn id="121" idx="0"/>
          </p:cNvCxnSpPr>
          <p:nvPr/>
        </p:nvCxnSpPr>
        <p:spPr bwMode="auto">
          <a:xfrm>
            <a:off x="3119566" y="3970462"/>
            <a:ext cx="73986" cy="39888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9" name="直接连接符 278"/>
          <p:cNvCxnSpPr/>
          <p:nvPr/>
        </p:nvCxnSpPr>
        <p:spPr>
          <a:xfrm>
            <a:off x="728663" y="3351181"/>
            <a:ext cx="7679531" cy="0"/>
          </a:xfrm>
          <a:prstGeom prst="line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6" name="直接连接符 135"/>
          <p:cNvCxnSpPr/>
          <p:nvPr/>
        </p:nvCxnSpPr>
        <p:spPr>
          <a:xfrm>
            <a:off x="734554" y="4921351"/>
            <a:ext cx="7673640" cy="0"/>
          </a:xfrm>
          <a:prstGeom prst="line">
            <a:avLst/>
          </a:prstGeom>
          <a:ln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137" name="组合 136"/>
          <p:cNvGrpSpPr/>
          <p:nvPr/>
        </p:nvGrpSpPr>
        <p:grpSpPr>
          <a:xfrm>
            <a:off x="6213697" y="3515655"/>
            <a:ext cx="968881" cy="408938"/>
            <a:chOff x="2267636" y="3419392"/>
            <a:chExt cx="1065905" cy="437463"/>
          </a:xfrm>
        </p:grpSpPr>
        <p:sp>
          <p:nvSpPr>
            <p:cNvPr id="138" name="TextBox 137"/>
            <p:cNvSpPr txBox="1"/>
            <p:nvPr/>
          </p:nvSpPr>
          <p:spPr>
            <a:xfrm>
              <a:off x="2267636" y="3702967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普通铲斗</a:t>
              </a:r>
              <a:endParaRPr lang="en-US" altLang="zh-CN" sz="1000" dirty="0" smtClean="0"/>
            </a:p>
          </p:txBody>
        </p:sp>
        <p:pic>
          <p:nvPicPr>
            <p:cNvPr id="139" name="Picture 92" descr="basicnod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647" y="3419392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0" name="组合 139"/>
          <p:cNvGrpSpPr/>
          <p:nvPr/>
        </p:nvGrpSpPr>
        <p:grpSpPr>
          <a:xfrm>
            <a:off x="5468246" y="4357233"/>
            <a:ext cx="968881" cy="364292"/>
            <a:chOff x="3850567" y="4299174"/>
            <a:chExt cx="1065905" cy="389703"/>
          </a:xfrm>
        </p:grpSpPr>
        <p:pic>
          <p:nvPicPr>
            <p:cNvPr id="141" name="Picture 111" descr="varian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" name="TextBox 141"/>
            <p:cNvSpPr txBox="1"/>
            <p:nvPr/>
          </p:nvSpPr>
          <p:spPr>
            <a:xfrm>
              <a:off x="3850567" y="4534989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000" dirty="0"/>
                <a:t>2.7</a:t>
              </a:r>
              <a:r>
                <a:rPr lang="zh-CN" altLang="en-US" sz="1000" dirty="0"/>
                <a:t>方活动斗齿斗</a:t>
              </a:r>
              <a:endParaRPr lang="zh-CN" altLang="en-US" sz="1000" dirty="0" smtClean="0"/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6119638" y="4354196"/>
            <a:ext cx="968881" cy="364292"/>
            <a:chOff x="3850567" y="4299174"/>
            <a:chExt cx="1065905" cy="389703"/>
          </a:xfrm>
        </p:grpSpPr>
        <p:pic>
          <p:nvPicPr>
            <p:cNvPr id="144" name="Picture 111" descr="varian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TextBox 144"/>
            <p:cNvSpPr txBox="1"/>
            <p:nvPr/>
          </p:nvSpPr>
          <p:spPr>
            <a:xfrm>
              <a:off x="3850567" y="4534989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000" dirty="0" smtClean="0"/>
                <a:t>4</a:t>
              </a:r>
              <a:r>
                <a:rPr lang="zh-CN" altLang="en-US" sz="1000" dirty="0" smtClean="0"/>
                <a:t>方斗</a:t>
              </a: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6638394" y="4360253"/>
            <a:ext cx="968881" cy="364292"/>
            <a:chOff x="3850567" y="4299174"/>
            <a:chExt cx="1065905" cy="389703"/>
          </a:xfrm>
        </p:grpSpPr>
        <p:pic>
          <p:nvPicPr>
            <p:cNvPr id="147" name="Picture 111" descr="varian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TextBox 147"/>
            <p:cNvSpPr txBox="1"/>
            <p:nvPr/>
          </p:nvSpPr>
          <p:spPr>
            <a:xfrm>
              <a:off x="3850567" y="4534989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000" dirty="0" smtClean="0"/>
                <a:t>4</a:t>
              </a:r>
              <a:r>
                <a:rPr lang="zh-CN" altLang="en-US" sz="1000" dirty="0" smtClean="0"/>
                <a:t>方平斗</a:t>
              </a:r>
            </a:p>
          </p:txBody>
        </p:sp>
      </p:grpSp>
      <p:cxnSp>
        <p:nvCxnSpPr>
          <p:cNvPr id="149" name="AutoShape 113"/>
          <p:cNvCxnSpPr>
            <a:cxnSpLocks noChangeShapeType="1"/>
            <a:stCxn id="304" idx="2"/>
            <a:endCxn id="139" idx="0"/>
          </p:cNvCxnSpPr>
          <p:nvPr/>
        </p:nvCxnSpPr>
        <p:spPr bwMode="auto">
          <a:xfrm flipH="1">
            <a:off x="6669938" y="2327620"/>
            <a:ext cx="29555" cy="11880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52" name="AutoShape 113"/>
          <p:cNvCxnSpPr>
            <a:cxnSpLocks noChangeShapeType="1"/>
            <a:stCxn id="138" idx="2"/>
            <a:endCxn id="141" idx="0"/>
          </p:cNvCxnSpPr>
          <p:nvPr/>
        </p:nvCxnSpPr>
        <p:spPr bwMode="auto">
          <a:xfrm flipH="1">
            <a:off x="5967162" y="3924592"/>
            <a:ext cx="730976" cy="4326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pic>
        <p:nvPicPr>
          <p:cNvPr id="82" name="Picture 170" descr="par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133" y="5077554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 Box 172"/>
          <p:cNvSpPr txBox="1">
            <a:spLocks noChangeArrowheads="1"/>
          </p:cNvSpPr>
          <p:nvPr/>
        </p:nvSpPr>
        <p:spPr bwMode="auto">
          <a:xfrm>
            <a:off x="4315512" y="5069229"/>
            <a:ext cx="1495265" cy="23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zh-CN" altLang="en-US" sz="1000" b="0" dirty="0" smtClean="0">
                <a:solidFill>
                  <a:srgbClr val="0066FF"/>
                </a:solidFill>
                <a:latin typeface="+mn-ea"/>
                <a:ea typeface="+mn-ea"/>
              </a:rPr>
              <a:t>普通臂 </a:t>
            </a:r>
            <a:r>
              <a:rPr lang="de-DE" sz="1000" b="0" dirty="0" smtClean="0">
                <a:solidFill>
                  <a:srgbClr val="0066FF"/>
                </a:solidFill>
              </a:rPr>
              <a:t>6B4.300.202.HST</a:t>
            </a:r>
            <a:endParaRPr lang="de-DE" sz="1000" b="0" dirty="0">
              <a:solidFill>
                <a:srgbClr val="0066FF"/>
              </a:solidFill>
            </a:endParaRPr>
          </a:p>
        </p:txBody>
      </p:sp>
      <p:cxnSp>
        <p:nvCxnSpPr>
          <p:cNvPr id="87" name="AutoShape 176"/>
          <p:cNvCxnSpPr>
            <a:cxnSpLocks noChangeShapeType="1"/>
          </p:cNvCxnSpPr>
          <p:nvPr/>
        </p:nvCxnSpPr>
        <p:spPr bwMode="auto">
          <a:xfrm rot="16200000" flipH="1">
            <a:off x="4227759" y="5303746"/>
            <a:ext cx="277633" cy="289623"/>
          </a:xfrm>
          <a:prstGeom prst="bentConnector2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88" name="AutoShape 177"/>
          <p:cNvCxnSpPr>
            <a:cxnSpLocks noChangeShapeType="1"/>
          </p:cNvCxnSpPr>
          <p:nvPr/>
        </p:nvCxnSpPr>
        <p:spPr bwMode="auto">
          <a:xfrm rot="16200000" flipH="1">
            <a:off x="4063528" y="5475330"/>
            <a:ext cx="623143" cy="293455"/>
          </a:xfrm>
          <a:prstGeom prst="bentConnector2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9" name="Text Box 178"/>
          <p:cNvSpPr txBox="1">
            <a:spLocks noChangeArrowheads="1"/>
          </p:cNvSpPr>
          <p:nvPr/>
        </p:nvSpPr>
        <p:spPr bwMode="auto">
          <a:xfrm>
            <a:off x="4714146" y="5443333"/>
            <a:ext cx="938657" cy="23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000" b="0" dirty="0">
                <a:solidFill>
                  <a:srgbClr val="0066FF"/>
                </a:solidFill>
              </a:rPr>
              <a:t>6B4.300.212.C</a:t>
            </a:r>
          </a:p>
        </p:txBody>
      </p:sp>
      <p:cxnSp>
        <p:nvCxnSpPr>
          <p:cNvPr id="96" name="AutoShape 181"/>
          <p:cNvCxnSpPr>
            <a:cxnSpLocks noChangeShapeType="1"/>
          </p:cNvCxnSpPr>
          <p:nvPr/>
        </p:nvCxnSpPr>
        <p:spPr bwMode="auto">
          <a:xfrm rot="16200000" flipH="1">
            <a:off x="3892364" y="5631647"/>
            <a:ext cx="946986" cy="282478"/>
          </a:xfrm>
          <a:prstGeom prst="bentConnector3">
            <a:avLst>
              <a:gd name="adj1" fmla="val 98012"/>
            </a:avLst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97" name="Text Box 182"/>
          <p:cNvSpPr txBox="1">
            <a:spLocks noChangeArrowheads="1"/>
          </p:cNvSpPr>
          <p:nvPr/>
        </p:nvSpPr>
        <p:spPr bwMode="auto">
          <a:xfrm>
            <a:off x="4725787" y="6110095"/>
            <a:ext cx="305317" cy="255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200" b="0" dirty="0"/>
              <a:t>…</a:t>
            </a:r>
          </a:p>
        </p:txBody>
      </p:sp>
      <p:cxnSp>
        <p:nvCxnSpPr>
          <p:cNvPr id="99" name="AutoShape 113"/>
          <p:cNvCxnSpPr>
            <a:cxnSpLocks noChangeShapeType="1"/>
            <a:stCxn id="103" idx="2"/>
            <a:endCxn id="82" idx="0"/>
          </p:cNvCxnSpPr>
          <p:nvPr/>
        </p:nvCxnSpPr>
        <p:spPr bwMode="auto">
          <a:xfrm>
            <a:off x="4231350" y="4724560"/>
            <a:ext cx="5865" cy="3529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pic>
        <p:nvPicPr>
          <p:cNvPr id="100" name="Picture 170" descr="par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094" y="5465545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" name="Picture 170" descr="par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826" y="5817162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 Box 178"/>
          <p:cNvSpPr txBox="1">
            <a:spLocks noChangeArrowheads="1"/>
          </p:cNvSpPr>
          <p:nvPr/>
        </p:nvSpPr>
        <p:spPr bwMode="auto">
          <a:xfrm>
            <a:off x="4720036" y="5804043"/>
            <a:ext cx="938657" cy="23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000" b="0" dirty="0">
                <a:solidFill>
                  <a:srgbClr val="0066FF"/>
                </a:solidFill>
              </a:rPr>
              <a:t>6B4.300.212.C</a:t>
            </a:r>
          </a:p>
        </p:txBody>
      </p:sp>
      <p:pic>
        <p:nvPicPr>
          <p:cNvPr id="111" name="Picture 170" descr="par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717" y="6132405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" name="Group 371"/>
          <p:cNvGrpSpPr>
            <a:grpSpLocks/>
          </p:cNvGrpSpPr>
          <p:nvPr/>
        </p:nvGrpSpPr>
        <p:grpSpPr bwMode="auto">
          <a:xfrm>
            <a:off x="1752835" y="5104859"/>
            <a:ext cx="1764809" cy="1170661"/>
            <a:chOff x="3004" y="2263"/>
            <a:chExt cx="1170" cy="839"/>
          </a:xfrm>
        </p:grpSpPr>
        <p:sp>
          <p:nvSpPr>
            <p:cNvPr id="113" name="Text Box 196"/>
            <p:cNvSpPr txBox="1">
              <a:spLocks noChangeArrowheads="1"/>
            </p:cNvSpPr>
            <p:nvPr/>
          </p:nvSpPr>
          <p:spPr bwMode="auto">
            <a:xfrm>
              <a:off x="3320" y="2923"/>
              <a:ext cx="168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/>
                <a:t>…</a:t>
              </a:r>
            </a:p>
          </p:txBody>
        </p:sp>
        <p:cxnSp>
          <p:nvCxnSpPr>
            <p:cNvPr id="123" name="AutoShape 197"/>
            <p:cNvCxnSpPr>
              <a:cxnSpLocks noChangeShapeType="1"/>
            </p:cNvCxnSpPr>
            <p:nvPr/>
          </p:nvCxnSpPr>
          <p:spPr bwMode="auto">
            <a:xfrm rot="16200000" flipH="1">
              <a:off x="3081" y="2428"/>
              <a:ext cx="173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" name="AutoShape 198"/>
            <p:cNvCxnSpPr>
              <a:cxnSpLocks noChangeShapeType="1"/>
            </p:cNvCxnSpPr>
            <p:nvPr/>
          </p:nvCxnSpPr>
          <p:spPr bwMode="auto">
            <a:xfrm rot="16200000" flipH="1">
              <a:off x="2972" y="2537"/>
              <a:ext cx="391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6" name="Text Box 199"/>
            <p:cNvSpPr txBox="1">
              <a:spLocks noChangeArrowheads="1"/>
            </p:cNvSpPr>
            <p:nvPr/>
          </p:nvSpPr>
          <p:spPr bwMode="auto">
            <a:xfrm>
              <a:off x="3312" y="2490"/>
              <a:ext cx="86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>
                  <a:solidFill>
                    <a:srgbClr val="0066FF"/>
                  </a:solidFill>
                </a:rPr>
                <a:t>6B4_300_212_C.PRT</a:t>
              </a:r>
            </a:p>
          </p:txBody>
        </p:sp>
        <p:sp>
          <p:nvSpPr>
            <p:cNvPr id="128" name="Text Box 200"/>
            <p:cNvSpPr txBox="1">
              <a:spLocks noChangeArrowheads="1"/>
            </p:cNvSpPr>
            <p:nvPr/>
          </p:nvSpPr>
          <p:spPr bwMode="auto">
            <a:xfrm>
              <a:off x="3312" y="2703"/>
              <a:ext cx="8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6B4_300_236_E.PRT</a:t>
              </a:r>
            </a:p>
          </p:txBody>
        </p:sp>
        <p:cxnSp>
          <p:nvCxnSpPr>
            <p:cNvPr id="129" name="AutoShape 201"/>
            <p:cNvCxnSpPr>
              <a:cxnSpLocks noChangeShapeType="1"/>
            </p:cNvCxnSpPr>
            <p:nvPr/>
          </p:nvCxnSpPr>
          <p:spPr bwMode="auto">
            <a:xfrm rot="16200000" flipH="1">
              <a:off x="2854" y="2655"/>
              <a:ext cx="627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1" name="Rectangle 206"/>
            <p:cNvSpPr>
              <a:spLocks noChangeArrowheads="1"/>
            </p:cNvSpPr>
            <p:nvPr/>
          </p:nvSpPr>
          <p:spPr bwMode="auto">
            <a:xfrm>
              <a:off x="3114" y="2263"/>
              <a:ext cx="100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/>
              <a:r>
                <a:rPr lang="de-DE" sz="1000" b="0" dirty="0"/>
                <a:t>L224_400_202_HST.ASM</a:t>
              </a:r>
              <a:endParaRPr lang="en-US" altLang="zh-CN" sz="1000" b="0" dirty="0"/>
            </a:p>
          </p:txBody>
        </p:sp>
        <p:pic>
          <p:nvPicPr>
            <p:cNvPr id="132" name="Picture 367" descr="Assembly Icon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4" y="2282"/>
              <a:ext cx="145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" name="Picture 368" descr="prt_imag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3" y="2510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" name="Picture 369" descr="prt_imag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0" y="2733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5" name="Picture 370" descr="prt_imag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3" y="2965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50" name="AutoShape 113"/>
          <p:cNvCxnSpPr>
            <a:cxnSpLocks noChangeShapeType="1"/>
            <a:stCxn id="138" idx="2"/>
            <a:endCxn id="144" idx="0"/>
          </p:cNvCxnSpPr>
          <p:nvPr/>
        </p:nvCxnSpPr>
        <p:spPr bwMode="auto">
          <a:xfrm flipH="1">
            <a:off x="6618555" y="3924592"/>
            <a:ext cx="79583" cy="42960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51" name="AutoShape 113"/>
          <p:cNvCxnSpPr>
            <a:cxnSpLocks noChangeShapeType="1"/>
            <a:stCxn id="138" idx="2"/>
            <a:endCxn id="147" idx="0"/>
          </p:cNvCxnSpPr>
          <p:nvPr/>
        </p:nvCxnSpPr>
        <p:spPr bwMode="auto">
          <a:xfrm>
            <a:off x="6698138" y="3924592"/>
            <a:ext cx="439173" cy="43566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53" name="AutoShape 156"/>
          <p:cNvSpPr>
            <a:spLocks noChangeArrowheads="1"/>
          </p:cNvSpPr>
          <p:nvPr/>
        </p:nvSpPr>
        <p:spPr bwMode="auto">
          <a:xfrm rot="10800000" flipH="1">
            <a:off x="3646562" y="5511418"/>
            <a:ext cx="337662" cy="247826"/>
          </a:xfrm>
          <a:prstGeom prst="rightArrow">
            <a:avLst>
              <a:gd name="adj1" fmla="val 50000"/>
              <a:gd name="adj2" fmla="val 35030"/>
            </a:avLst>
          </a:prstGeom>
          <a:gradFill rotWithShape="1">
            <a:gsLst>
              <a:gs pos="0">
                <a:schemeClr val="tx1"/>
              </a:gs>
              <a:gs pos="100000">
                <a:schemeClr val="hlink"/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7801802" y="1906323"/>
            <a:ext cx="360669" cy="5754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顶</a:t>
            </a:r>
            <a:endParaRPr lang="en-US" altLang="zh-CN" sz="2000" b="1" dirty="0" smtClean="0">
              <a:solidFill>
                <a:schemeClr val="accent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层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772322" y="3377130"/>
            <a:ext cx="360669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选</a:t>
            </a:r>
            <a:endParaRPr lang="en-US" altLang="zh-CN" sz="2000" b="1" dirty="0" smtClean="0">
              <a:solidFill>
                <a:schemeClr val="accent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项配置</a:t>
            </a:r>
            <a:endParaRPr lang="en-US" altLang="zh-CN" sz="2000" b="1" dirty="0" smtClean="0">
              <a:solidFill>
                <a:schemeClr val="accent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层</a:t>
            </a:r>
            <a:endParaRPr lang="en-US" altLang="zh-CN" sz="2000" b="1" dirty="0" smtClean="0">
              <a:solidFill>
                <a:schemeClr val="accent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7751685" y="5092130"/>
            <a:ext cx="360669" cy="8631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 smtClean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工程层</a:t>
            </a:r>
            <a:endParaRPr lang="en-US" altLang="zh-CN" sz="2000" b="1" dirty="0" smtClean="0">
              <a:solidFill>
                <a:schemeClr val="accent2">
                  <a:lumMod val="75000"/>
                </a:schemeClr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27822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选项配置层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概述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5"/>
          </p:nvPr>
        </p:nvSpPr>
        <p:spPr>
          <a:xfrm>
            <a:off x="205862" y="925295"/>
            <a:ext cx="8695944" cy="338328"/>
          </a:xfrm>
        </p:spPr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选项层配置定义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:</a:t>
            </a:r>
            <a:endParaRPr 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98" name="Text Box 3"/>
          <p:cNvSpPr txBox="1">
            <a:spLocks noChangeArrowheads="1"/>
          </p:cNvSpPr>
          <p:nvPr/>
        </p:nvSpPr>
        <p:spPr bwMode="auto">
          <a:xfrm>
            <a:off x="154661" y="1373661"/>
            <a:ext cx="8571049" cy="996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zh-CN" altLang="en-GB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为了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支持产品模块的选装选配管理，在产品结构管理中引入了选项层，这层主要包含基本节点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(Basic Node)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、</a:t>
            </a:r>
            <a:r>
              <a:rPr lang="zh-CN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选项节点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(Variant Node)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和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 OD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关系。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zh-CN" b="1" dirty="0" smtClean="0">
              <a:latin typeface="宋体" charset="-122"/>
              <a:ea typeface="宋体" charset="-122"/>
            </a:endParaRP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-505023" y="2225598"/>
            <a:ext cx="8235950" cy="5027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Font typeface="Wingdings" pitchFamily="2" charset="2"/>
              <a:buChar char="§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4213" indent="-22860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–"/>
              <a:defRPr sz="18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2pPr>
            <a:lvl3pPr marL="1143000" indent="-228600" algn="l" defTabSz="1085850" rtl="0" eaLnBrk="1" latinLnBrk="0" hangingPunct="1">
              <a:spcBef>
                <a:spcPts val="0"/>
              </a:spcBef>
              <a:spcAft>
                <a:spcPts val="200"/>
              </a:spcAft>
              <a:buFont typeface="Arial" pitchFamily="34" charset="0"/>
              <a:buChar char="•"/>
              <a:defRPr sz="1600" kern="1200">
                <a:solidFill>
                  <a:srgbClr val="4C4D4F"/>
                </a:solidFill>
                <a:latin typeface="Arial Narrow" pitchFamily="34" charset="0"/>
                <a:ea typeface="+mn-ea"/>
                <a:cs typeface="+mn-cs"/>
              </a:defRPr>
            </a:lvl3pPr>
            <a:lvl4pPr marL="142875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4pPr>
            <a:lvl5pPr marL="1827213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4C4D4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700" smtClean="0"/>
          </a:p>
          <a:p>
            <a:endParaRPr lang="en-US" altLang="zh-CN" sz="1700"/>
          </a:p>
        </p:txBody>
      </p:sp>
      <p:sp>
        <p:nvSpPr>
          <p:cNvPr id="16" name="圆角矩形 15"/>
          <p:cNvSpPr/>
          <p:nvPr/>
        </p:nvSpPr>
        <p:spPr bwMode="auto">
          <a:xfrm>
            <a:off x="2371791" y="2714625"/>
            <a:ext cx="2807494" cy="3007519"/>
          </a:xfrm>
          <a:prstGeom prst="roundRect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2822444" y="3106155"/>
            <a:ext cx="3079818" cy="1967985"/>
            <a:chOff x="2162835" y="3622643"/>
            <a:chExt cx="3202612" cy="1812279"/>
          </a:xfrm>
        </p:grpSpPr>
        <p:grpSp>
          <p:nvGrpSpPr>
            <p:cNvPr id="15" name="组合 14"/>
            <p:cNvGrpSpPr/>
            <p:nvPr/>
          </p:nvGrpSpPr>
          <p:grpSpPr>
            <a:xfrm>
              <a:off x="2162835" y="3622643"/>
              <a:ext cx="793103" cy="338137"/>
              <a:chOff x="2331243" y="3646488"/>
              <a:chExt cx="793103" cy="338137"/>
            </a:xfrm>
          </p:grpSpPr>
          <p:sp>
            <p:nvSpPr>
              <p:cNvPr id="112" name="Text Box 4"/>
              <p:cNvSpPr txBox="1">
                <a:spLocks noChangeArrowheads="1"/>
              </p:cNvSpPr>
              <p:nvPr/>
            </p:nvSpPr>
            <p:spPr bwMode="auto">
              <a:xfrm>
                <a:off x="2631903" y="3646488"/>
                <a:ext cx="492443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3CED5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175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200" b="1" dirty="0" smtClean="0"/>
                  <a:t>动臂</a:t>
                </a:r>
                <a:endParaRPr lang="en-US" altLang="zh-CN" sz="1200" b="1" dirty="0"/>
              </a:p>
            </p:txBody>
          </p:sp>
          <p:pic>
            <p:nvPicPr>
              <p:cNvPr id="181" name="Picture 87" descr="basicnode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31243" y="3663950"/>
                <a:ext cx="320675" cy="3206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" name="组合 10"/>
            <p:cNvGrpSpPr/>
            <p:nvPr/>
          </p:nvGrpSpPr>
          <p:grpSpPr>
            <a:xfrm>
              <a:off x="2323172" y="3960780"/>
              <a:ext cx="3042275" cy="921678"/>
              <a:chOff x="2094564" y="3710740"/>
              <a:chExt cx="3042275" cy="921678"/>
            </a:xfrm>
          </p:grpSpPr>
          <p:cxnSp>
            <p:nvCxnSpPr>
              <p:cNvPr id="113" name="AutoShape 5"/>
              <p:cNvCxnSpPr>
                <a:cxnSpLocks noChangeShapeType="1"/>
                <a:stCxn id="181" idx="2"/>
                <a:endCxn id="116" idx="1"/>
              </p:cNvCxnSpPr>
              <p:nvPr/>
            </p:nvCxnSpPr>
            <p:spPr bwMode="auto">
              <a:xfrm rot="16200000" flipH="1">
                <a:off x="3109910" y="2695394"/>
                <a:ext cx="532472" cy="2563163"/>
              </a:xfrm>
              <a:prstGeom prst="bentConnector2">
                <a:avLst/>
              </a:prstGeom>
              <a:noFill/>
              <a:ln w="317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pic>
            <p:nvPicPr>
              <p:cNvPr id="116" name="Picture 8" descr="Icon_Part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7728" y="4108458"/>
                <a:ext cx="285747" cy="2695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3" name="Picture 89" descr="variant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83400" y="4093005"/>
                <a:ext cx="341313" cy="3413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9" name="Text Box 9"/>
              <p:cNvSpPr txBox="1">
                <a:spLocks noChangeArrowheads="1"/>
              </p:cNvSpPr>
              <p:nvPr/>
            </p:nvSpPr>
            <p:spPr bwMode="auto">
              <a:xfrm>
                <a:off x="3523692" y="4345899"/>
                <a:ext cx="646331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3CED5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175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1200" dirty="0" smtClean="0"/>
                  <a:t>普通臂</a:t>
                </a:r>
                <a:endParaRPr lang="en-US" altLang="zh-CN" sz="1200" dirty="0"/>
              </a:p>
            </p:txBody>
          </p:sp>
          <p:sp>
            <p:nvSpPr>
              <p:cNvPr id="62" name="Rectangle 24"/>
              <p:cNvSpPr>
                <a:spLocks noChangeArrowheads="1"/>
              </p:cNvSpPr>
              <p:nvPr/>
            </p:nvSpPr>
            <p:spPr bwMode="auto">
              <a:xfrm>
                <a:off x="2745762" y="4124133"/>
                <a:ext cx="713633" cy="307975"/>
              </a:xfrm>
              <a:prstGeom prst="rect">
                <a:avLst/>
              </a:prstGeom>
              <a:solidFill>
                <a:srgbClr val="C3CED5"/>
              </a:solidFill>
              <a:ln w="3175" algn="ctr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800" dirty="0" smtClean="0">
                    <a:solidFill>
                      <a:srgbClr val="FF0000"/>
                    </a:solidFill>
                  </a:rPr>
                  <a:t>动臂＝</a:t>
                </a:r>
                <a:r>
                  <a:rPr lang="en-US" altLang="zh-CN" sz="800" dirty="0" smtClean="0">
                    <a:solidFill>
                      <a:srgbClr val="FF0000"/>
                    </a:solidFill>
                  </a:rPr>
                  <a:t>’</a:t>
                </a:r>
                <a:r>
                  <a:rPr lang="zh-CN" altLang="en-US" sz="800" dirty="0" smtClean="0">
                    <a:solidFill>
                      <a:srgbClr val="FF0000"/>
                    </a:solidFill>
                  </a:rPr>
                  <a:t>普通臂</a:t>
                </a:r>
                <a:r>
                  <a:rPr lang="en-US" altLang="zh-CN" sz="800" dirty="0" smtClean="0">
                    <a:solidFill>
                      <a:srgbClr val="FF0000"/>
                    </a:solidFill>
                  </a:rPr>
                  <a:t>’</a:t>
                </a:r>
                <a:endParaRPr lang="en-US" altLang="zh-CN" sz="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Text Box 9"/>
              <p:cNvSpPr txBox="1">
                <a:spLocks noChangeArrowheads="1"/>
              </p:cNvSpPr>
              <p:nvPr/>
            </p:nvSpPr>
            <p:spPr bwMode="auto">
              <a:xfrm>
                <a:off x="4490508" y="4355419"/>
                <a:ext cx="646331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3CED5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175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1200" dirty="0" smtClean="0"/>
                  <a:t>普通臂</a:t>
                </a:r>
                <a:endParaRPr lang="en-US" altLang="zh-CN" sz="1200" dirty="0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323172" y="3960780"/>
              <a:ext cx="3030363" cy="1474142"/>
              <a:chOff x="2106476" y="3158276"/>
              <a:chExt cx="3030363" cy="1474142"/>
            </a:xfrm>
          </p:grpSpPr>
          <p:cxnSp>
            <p:nvCxnSpPr>
              <p:cNvPr id="38" name="AutoShape 5"/>
              <p:cNvCxnSpPr>
                <a:cxnSpLocks noChangeShapeType="1"/>
                <a:stCxn id="181" idx="2"/>
                <a:endCxn id="40" idx="1"/>
              </p:cNvCxnSpPr>
              <p:nvPr/>
            </p:nvCxnSpPr>
            <p:spPr bwMode="auto">
              <a:xfrm rot="16200000" flipH="1">
                <a:off x="2839634" y="2425118"/>
                <a:ext cx="1084936" cy="2551251"/>
              </a:xfrm>
              <a:prstGeom prst="bentConnector2">
                <a:avLst/>
              </a:prstGeom>
              <a:noFill/>
              <a:ln w="317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pic>
            <p:nvPicPr>
              <p:cNvPr id="40" name="Picture 8" descr="Icon_Part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7728" y="4108458"/>
                <a:ext cx="285747" cy="2695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89" descr="variant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83400" y="4093005"/>
                <a:ext cx="341313" cy="3413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7" name="Text Box 9"/>
              <p:cNvSpPr txBox="1">
                <a:spLocks noChangeArrowheads="1"/>
              </p:cNvSpPr>
              <p:nvPr/>
            </p:nvSpPr>
            <p:spPr bwMode="auto">
              <a:xfrm>
                <a:off x="3523692" y="4345899"/>
                <a:ext cx="646331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3CED5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175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1200" dirty="0"/>
                  <a:t>加长</a:t>
                </a:r>
                <a:r>
                  <a:rPr lang="zh-CN" altLang="en-US" sz="1200" dirty="0" smtClean="0"/>
                  <a:t>臂</a:t>
                </a:r>
                <a:endParaRPr lang="en-US" altLang="zh-CN" sz="1200" dirty="0"/>
              </a:p>
            </p:txBody>
          </p:sp>
          <p:sp>
            <p:nvSpPr>
              <p:cNvPr id="48" name="Rectangle 24"/>
              <p:cNvSpPr>
                <a:spLocks noChangeArrowheads="1"/>
              </p:cNvSpPr>
              <p:nvPr/>
            </p:nvSpPr>
            <p:spPr bwMode="auto">
              <a:xfrm>
                <a:off x="2745762" y="4124133"/>
                <a:ext cx="713633" cy="307975"/>
              </a:xfrm>
              <a:prstGeom prst="rect">
                <a:avLst/>
              </a:prstGeom>
              <a:solidFill>
                <a:srgbClr val="C3CED5"/>
              </a:solidFill>
              <a:ln w="3175" algn="ctr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zh-CN" altLang="en-US" sz="800" dirty="0" smtClean="0">
                    <a:solidFill>
                      <a:srgbClr val="FF0000"/>
                    </a:solidFill>
                  </a:rPr>
                  <a:t>动臂＝</a:t>
                </a:r>
                <a:r>
                  <a:rPr lang="en-US" altLang="zh-CN" sz="800" dirty="0" smtClean="0">
                    <a:solidFill>
                      <a:srgbClr val="FF0000"/>
                    </a:solidFill>
                  </a:rPr>
                  <a:t>’</a:t>
                </a:r>
                <a:r>
                  <a:rPr lang="zh-CN" altLang="en-US" sz="800" dirty="0">
                    <a:solidFill>
                      <a:srgbClr val="FF0000"/>
                    </a:solidFill>
                  </a:rPr>
                  <a:t>加长</a:t>
                </a:r>
                <a:r>
                  <a:rPr lang="zh-CN" altLang="en-US" sz="800" dirty="0" smtClean="0">
                    <a:solidFill>
                      <a:srgbClr val="FF0000"/>
                    </a:solidFill>
                  </a:rPr>
                  <a:t>臂</a:t>
                </a:r>
                <a:r>
                  <a:rPr lang="en-US" altLang="zh-CN" sz="800" dirty="0" smtClean="0">
                    <a:solidFill>
                      <a:srgbClr val="FF0000"/>
                    </a:solidFill>
                  </a:rPr>
                  <a:t>’</a:t>
                </a:r>
                <a:endParaRPr lang="en-US" altLang="zh-CN" sz="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Text Box 9"/>
              <p:cNvSpPr txBox="1">
                <a:spLocks noChangeArrowheads="1"/>
              </p:cNvSpPr>
              <p:nvPr/>
            </p:nvSpPr>
            <p:spPr bwMode="auto">
              <a:xfrm>
                <a:off x="4490508" y="4355419"/>
                <a:ext cx="646331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C3CED5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3175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1200" dirty="0" smtClean="0"/>
                  <a:t>加长臂</a:t>
                </a:r>
                <a:endParaRPr lang="en-US" altLang="zh-CN" sz="1200" dirty="0"/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820207" y="5351400"/>
            <a:ext cx="1197104" cy="928688"/>
            <a:chOff x="4882227" y="5400675"/>
            <a:chExt cx="1197104" cy="928688"/>
          </a:xfrm>
        </p:grpSpPr>
        <p:sp>
          <p:nvSpPr>
            <p:cNvPr id="18" name="矩形 17"/>
            <p:cNvSpPr/>
            <p:nvPr/>
          </p:nvSpPr>
          <p:spPr bwMode="auto">
            <a:xfrm>
              <a:off x="4882227" y="5400675"/>
              <a:ext cx="1197104" cy="928688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pic>
          <p:nvPicPr>
            <p:cNvPr id="50" name="Picture 87" descr="basicnod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3191" y="5634849"/>
              <a:ext cx="167543" cy="15636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矩形 16"/>
            <p:cNvSpPr/>
            <p:nvPr/>
          </p:nvSpPr>
          <p:spPr>
            <a:xfrm>
              <a:off x="5250734" y="5595723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" b="1" dirty="0">
                  <a:solidFill>
                    <a:schemeClr val="accent2">
                      <a:lumMod val="50000"/>
                    </a:schemeClr>
                  </a:solidFill>
                  <a:latin typeface="+mn-ea"/>
                </a:rPr>
                <a:t>基本</a:t>
              </a:r>
              <a:r>
                <a:rPr lang="zh-CN" altLang="en-US" sz="800" b="1" dirty="0" smtClean="0">
                  <a:solidFill>
                    <a:schemeClr val="accent2">
                      <a:lumMod val="50000"/>
                    </a:schemeClr>
                  </a:solidFill>
                  <a:latin typeface="+mn-ea"/>
                </a:rPr>
                <a:t>节点</a:t>
              </a:r>
              <a:endParaRPr lang="zh-CN" altLang="en-US" sz="800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5260254" y="5833851"/>
              <a:ext cx="5950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" b="1" dirty="0">
                  <a:solidFill>
                    <a:schemeClr val="accent2">
                      <a:lumMod val="50000"/>
                    </a:schemeClr>
                  </a:solidFill>
                  <a:latin typeface="+mn-ea"/>
                </a:rPr>
                <a:t>选项</a:t>
              </a:r>
              <a:r>
                <a:rPr lang="zh-CN" altLang="en-US" sz="800" b="1" dirty="0" smtClean="0">
                  <a:solidFill>
                    <a:schemeClr val="accent2">
                      <a:lumMod val="50000"/>
                    </a:schemeClr>
                  </a:solidFill>
                  <a:latin typeface="+mn-ea"/>
                </a:rPr>
                <a:t>节点</a:t>
              </a:r>
              <a:endParaRPr lang="zh-CN" altLang="en-US" sz="800" b="1" dirty="0"/>
            </a:p>
          </p:txBody>
        </p:sp>
        <p:pic>
          <p:nvPicPr>
            <p:cNvPr id="53" name="Picture 89" descr="varian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1215" y="5858455"/>
              <a:ext cx="149039" cy="16829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009683" y="6102240"/>
              <a:ext cx="255339" cy="83610"/>
            </a:xfrm>
            <a:prstGeom prst="rect">
              <a:avLst/>
            </a:prstGeom>
            <a:solidFill>
              <a:srgbClr val="C3CED5"/>
            </a:solidFill>
            <a:ln w="3175" algn="ctr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zh-CN" sz="800" dirty="0">
                <a:solidFill>
                  <a:srgbClr val="FF0000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262632" y="6037384"/>
              <a:ext cx="49244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" b="1" dirty="0" smtClean="0">
                  <a:solidFill>
                    <a:schemeClr val="accent2">
                      <a:lumMod val="50000"/>
                    </a:schemeClr>
                  </a:solidFill>
                  <a:latin typeface="+mn-ea"/>
                </a:rPr>
                <a:t>OD</a:t>
              </a:r>
              <a:r>
                <a:rPr lang="zh-CN" altLang="en-US" sz="800" b="1" dirty="0" smtClean="0">
                  <a:solidFill>
                    <a:schemeClr val="accent2">
                      <a:lumMod val="50000"/>
                    </a:schemeClr>
                  </a:solidFill>
                  <a:latin typeface="+mn-ea"/>
                </a:rPr>
                <a:t>关系</a:t>
              </a:r>
              <a:endParaRPr lang="zh-CN" altLang="en-US" sz="800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236695" y="5439131"/>
              <a:ext cx="54779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900" dirty="0" smtClean="0">
                  <a:solidFill>
                    <a:srgbClr val="FF0000"/>
                  </a:solidFill>
                </a:rPr>
                <a:t>图例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37564992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选项</a:t>
            </a: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层配置概述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98" name="Text Box 3"/>
          <p:cNvSpPr txBox="1">
            <a:spLocks noChangeArrowheads="1"/>
          </p:cNvSpPr>
          <p:nvPr/>
        </p:nvSpPr>
        <p:spPr bwMode="auto">
          <a:xfrm>
            <a:off x="154660" y="895954"/>
            <a:ext cx="8246390" cy="426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zh-CN" b="1" dirty="0" smtClean="0">
              <a:latin typeface="宋体" charset="-122"/>
              <a:ea typeface="宋体" charset="-122"/>
            </a:endParaRPr>
          </a:p>
          <a:p>
            <a:pPr lvl="0"/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zh-CN" b="1" dirty="0" smtClean="0">
                <a:latin typeface="黑体" pitchFamily="49" charset="-122"/>
                <a:ea typeface="黑体" pitchFamily="49" charset="-122"/>
              </a:rPr>
              <a:t>基本节点</a:t>
            </a:r>
            <a:r>
              <a:rPr lang="en-US" altLang="zh-CN" b="1" dirty="0">
                <a:latin typeface="+mj-lt"/>
                <a:ea typeface="黑体" pitchFamily="49" charset="-122"/>
              </a:rPr>
              <a:t>(</a:t>
            </a:r>
            <a:r>
              <a:rPr lang="en-US" altLang="zh-CN" b="1" dirty="0" smtClean="0">
                <a:latin typeface="+mj-lt"/>
                <a:ea typeface="黑体" pitchFamily="49" charset="-122"/>
              </a:rPr>
              <a:t>Basic Node</a:t>
            </a:r>
            <a:r>
              <a:rPr lang="en-US" altLang="zh-CN" b="1" dirty="0">
                <a:latin typeface="+mj-lt"/>
                <a:ea typeface="黑体" pitchFamily="49" charset="-122"/>
              </a:rPr>
              <a:t>)</a:t>
            </a:r>
            <a:endParaRPr lang="zh-CN" altLang="zh-CN" dirty="0">
              <a:latin typeface="+mj-lt"/>
              <a:ea typeface="黑体" pitchFamily="49" charset="-122"/>
            </a:endParaRPr>
          </a:p>
          <a:p>
            <a:pPr indent="-457200">
              <a:lnSpc>
                <a:spcPct val="150000"/>
              </a:lnSpc>
            </a:pP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一个基本节点下将包括多个互斥的选项节点。通过定义选项规则，可以确定基本节点之下的哪个选项节点被选择。</a:t>
            </a:r>
          </a:p>
          <a:p>
            <a:pPr indent="-457200">
              <a:lnSpc>
                <a:spcPct val="150000"/>
              </a:lnSpc>
            </a:pP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例如：</a:t>
            </a:r>
            <a:r>
              <a:rPr lang="zh-CN" altLang="en-US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动臂</a:t>
            </a: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是一个基本节点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+mn-ea"/>
              <a:ea typeface="+mn-ea"/>
            </a:endParaRPr>
          </a:p>
          <a:p>
            <a:endParaRPr lang="zh-CN" altLang="zh-CN" sz="1600" dirty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b="1" dirty="0" smtClean="0"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zh-CN" b="1" dirty="0" smtClean="0">
                <a:latin typeface="黑体" pitchFamily="49" charset="-122"/>
                <a:ea typeface="黑体" pitchFamily="49" charset="-122"/>
              </a:rPr>
              <a:t>选项</a:t>
            </a:r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节点（</a:t>
            </a: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Variant Node</a:t>
            </a:r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）</a:t>
            </a:r>
          </a:p>
          <a:p>
            <a:pPr indent="-457200">
              <a:lnSpc>
                <a:spcPct val="150000"/>
              </a:lnSpc>
            </a:pP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选项节点与基本节点共同构成产品结构的选项配置层，在选项节点上将定义该选项</a:t>
            </a: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的</a:t>
            </a:r>
            <a:r>
              <a:rPr lang="en-US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OD</a:t>
            </a:r>
            <a:r>
              <a:rPr lang="zh-CN" altLang="en-US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关系。</a:t>
            </a:r>
            <a:endParaRPr lang="en-US" altLang="zh-CN" sz="1600" dirty="0">
              <a:solidFill>
                <a:schemeClr val="accent2">
                  <a:lumMod val="50000"/>
                </a:schemeClr>
              </a:solidFill>
              <a:latin typeface="+mn-ea"/>
              <a:ea typeface="+mn-ea"/>
            </a:endParaRPr>
          </a:p>
          <a:p>
            <a:pPr indent="-457200">
              <a:lnSpc>
                <a:spcPct val="150000"/>
              </a:lnSpc>
            </a:pP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例如：基本节点</a:t>
            </a: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“</a:t>
            </a:r>
            <a:r>
              <a:rPr lang="zh-CN" altLang="en-US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动臂</a:t>
            </a: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”</a:t>
            </a: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下定义了两个选项</a:t>
            </a: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“</a:t>
            </a:r>
            <a:r>
              <a:rPr lang="zh-CN" altLang="en-US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普通臂</a:t>
            </a: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”</a:t>
            </a: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和</a:t>
            </a: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“</a:t>
            </a:r>
            <a:r>
              <a:rPr lang="zh-CN" altLang="en-US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加长臂</a:t>
            </a: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”</a:t>
            </a: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。</a:t>
            </a:r>
          </a:p>
          <a:p>
            <a:pPr indent="-457200">
              <a:lnSpc>
                <a:spcPct val="150000"/>
              </a:lnSpc>
            </a:pP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通过选项规则对产品结构进行筛选，可以确定基本节点下的哪个选项节点被选中。</a:t>
            </a:r>
          </a:p>
          <a:p>
            <a:pPr indent="-457200">
              <a:lnSpc>
                <a:spcPct val="150000"/>
              </a:lnSpc>
            </a:pP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选项</a:t>
            </a: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节点之下只能挂接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ETN(</a:t>
            </a: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工程顶层节点</a:t>
            </a:r>
            <a:r>
              <a:rPr lang="en-US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)</a:t>
            </a:r>
            <a:r>
              <a:rPr lang="zh-CN" altLang="zh-CN" sz="1600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，工程顶层节点是底层产品结构的最上层节点</a:t>
            </a:r>
            <a:r>
              <a:rPr lang="zh-CN" altLang="zh-CN" sz="1600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。</a:t>
            </a:r>
            <a:endParaRPr lang="zh-CN" altLang="zh-CN" sz="1600" dirty="0">
              <a:solidFill>
                <a:schemeClr val="accent2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27" name="Picture 87" descr="basicnod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27" y="1384827"/>
            <a:ext cx="209031" cy="2360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9" descr="varia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71" y="3016441"/>
            <a:ext cx="268628" cy="30333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5096881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工程层概述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48" name="Subtitle 3"/>
          <p:cNvSpPr>
            <a:spLocks noGrp="1"/>
          </p:cNvSpPr>
          <p:nvPr>
            <p:ph type="subTitle" idx="15"/>
          </p:nvPr>
        </p:nvSpPr>
        <p:spPr>
          <a:xfrm>
            <a:off x="205862" y="925295"/>
            <a:ext cx="8695944" cy="338328"/>
          </a:xfrm>
        </p:spPr>
        <p:txBody>
          <a:bodyPr/>
          <a:lstStyle/>
          <a:p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工程层定义</a:t>
            </a:r>
            <a:r>
              <a:rPr lang="en-US" altLang="zh-CN" dirty="0" smtClean="0">
                <a:latin typeface="黑体" pitchFamily="49" charset="-122"/>
                <a:ea typeface="黑体" pitchFamily="49" charset="-122"/>
              </a:rPr>
              <a:t>:</a:t>
            </a:r>
            <a:endParaRPr 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9" name="Text Box 3"/>
          <p:cNvSpPr txBox="1">
            <a:spLocks noChangeArrowheads="1"/>
          </p:cNvSpPr>
          <p:nvPr/>
        </p:nvSpPr>
        <p:spPr bwMode="auto">
          <a:xfrm>
            <a:off x="154661" y="1373661"/>
            <a:ext cx="8571049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隶书" pitchFamily="49" charset="-122"/>
              </a:defRPr>
            </a:lvl9pPr>
          </a:lstStyle>
          <a:p>
            <a:pPr lvl="0" eaLnBrk="1" hangingPunct="1">
              <a:lnSpc>
                <a:spcPct val="150000"/>
              </a:lnSpc>
              <a:buClr>
                <a:schemeClr val="tx1"/>
              </a:buClr>
            </a:pP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工程层代表是具体的技术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解决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方案，主要由实体零部件、三维模型、二维图纸、技术文件等一系列的工程要素组成，该层中与选项节点关联的节点为工程顶件</a:t>
            </a: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(ETN)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+mn-ea"/>
                <a:ea typeface="+mn-ea"/>
              </a:rPr>
              <a:t>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zh-CN" b="1" dirty="0" smtClean="0">
              <a:latin typeface="宋体" charset="-122"/>
              <a:ea typeface="宋体" charset="-122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1130997" y="2352653"/>
            <a:ext cx="6122644" cy="4012960"/>
            <a:chOff x="761733" y="1842717"/>
            <a:chExt cx="6122644" cy="4012960"/>
          </a:xfrm>
        </p:grpSpPr>
        <p:sp>
          <p:nvSpPr>
            <p:cNvPr id="147" name="圆角矩形 146"/>
            <p:cNvSpPr/>
            <p:nvPr/>
          </p:nvSpPr>
          <p:spPr bwMode="auto">
            <a:xfrm>
              <a:off x="761733" y="3063614"/>
              <a:ext cx="5858875" cy="2792063"/>
            </a:xfrm>
            <a:prstGeom prst="round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4124373" y="2469259"/>
              <a:ext cx="906732" cy="405104"/>
              <a:chOff x="3850567" y="4299174"/>
              <a:chExt cx="1065905" cy="433362"/>
            </a:xfrm>
          </p:grpSpPr>
          <p:pic>
            <p:nvPicPr>
              <p:cNvPr id="82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" name="TextBox 82"/>
              <p:cNvSpPr txBox="1"/>
              <p:nvPr/>
            </p:nvSpPr>
            <p:spPr>
              <a:xfrm>
                <a:off x="3850567" y="4534989"/>
                <a:ext cx="1065905" cy="197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200" dirty="0" smtClean="0"/>
                  <a:t>普通臂</a:t>
                </a:r>
              </a:p>
            </p:txBody>
          </p:sp>
        </p:grpSp>
        <p:pic>
          <p:nvPicPr>
            <p:cNvPr id="117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2133" y="3530162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Text Box 172"/>
            <p:cNvSpPr txBox="1">
              <a:spLocks noChangeArrowheads="1"/>
            </p:cNvSpPr>
            <p:nvPr/>
          </p:nvSpPr>
          <p:spPr bwMode="auto">
            <a:xfrm>
              <a:off x="4315512" y="3521837"/>
              <a:ext cx="17347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2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普通臂 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6B4.300.202.HST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cxnSp>
          <p:nvCxnSpPr>
            <p:cNvPr id="119" name="AutoShape 176"/>
            <p:cNvCxnSpPr>
              <a:cxnSpLocks noChangeShapeType="1"/>
            </p:cNvCxnSpPr>
            <p:nvPr/>
          </p:nvCxnSpPr>
          <p:spPr bwMode="auto">
            <a:xfrm rot="16200000" flipH="1">
              <a:off x="4227759" y="3756354"/>
              <a:ext cx="277633" cy="289623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AutoShape 177"/>
            <p:cNvCxnSpPr>
              <a:cxnSpLocks noChangeShapeType="1"/>
            </p:cNvCxnSpPr>
            <p:nvPr/>
          </p:nvCxnSpPr>
          <p:spPr bwMode="auto">
            <a:xfrm rot="16200000" flipH="1">
              <a:off x="4063528" y="3927938"/>
              <a:ext cx="623143" cy="293455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1" name="Text Box 178"/>
            <p:cNvSpPr txBox="1">
              <a:spLocks noChangeArrowheads="1"/>
            </p:cNvSpPr>
            <p:nvPr/>
          </p:nvSpPr>
          <p:spPr bwMode="auto">
            <a:xfrm>
              <a:off x="4714146" y="3895941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cxnSp>
          <p:nvCxnSpPr>
            <p:cNvPr id="122" name="AutoShape 181"/>
            <p:cNvCxnSpPr>
              <a:cxnSpLocks noChangeShapeType="1"/>
            </p:cNvCxnSpPr>
            <p:nvPr/>
          </p:nvCxnSpPr>
          <p:spPr bwMode="auto">
            <a:xfrm rot="16200000" flipH="1">
              <a:off x="3892364" y="4084255"/>
              <a:ext cx="946986" cy="282478"/>
            </a:xfrm>
            <a:prstGeom prst="bentConnector3">
              <a:avLst>
                <a:gd name="adj1" fmla="val 98012"/>
              </a:avLst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" name="Text Box 182"/>
            <p:cNvSpPr txBox="1">
              <a:spLocks noChangeArrowheads="1"/>
            </p:cNvSpPr>
            <p:nvPr/>
          </p:nvSpPr>
          <p:spPr bwMode="auto">
            <a:xfrm>
              <a:off x="4725787" y="4562703"/>
              <a:ext cx="305317" cy="255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 dirty="0"/>
                <a:t>…</a:t>
              </a:r>
            </a:p>
          </p:txBody>
        </p:sp>
        <p:cxnSp>
          <p:nvCxnSpPr>
            <p:cNvPr id="124" name="AutoShape 113"/>
            <p:cNvCxnSpPr>
              <a:cxnSpLocks noChangeShapeType="1"/>
              <a:stCxn id="83" idx="2"/>
              <a:endCxn id="117" idx="0"/>
            </p:cNvCxnSpPr>
            <p:nvPr/>
          </p:nvCxnSpPr>
          <p:spPr bwMode="auto">
            <a:xfrm flipH="1">
              <a:off x="4237215" y="2874363"/>
              <a:ext cx="340524" cy="6557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25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7094" y="3918153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826" y="4269770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" name="Text Box 178"/>
            <p:cNvSpPr txBox="1">
              <a:spLocks noChangeArrowheads="1"/>
            </p:cNvSpPr>
            <p:nvPr/>
          </p:nvSpPr>
          <p:spPr bwMode="auto">
            <a:xfrm>
              <a:off x="4720036" y="4256651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pic>
          <p:nvPicPr>
            <p:cNvPr id="128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7717" y="4585013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9" name="Group 371"/>
            <p:cNvGrpSpPr>
              <a:grpSpLocks/>
            </p:cNvGrpSpPr>
            <p:nvPr/>
          </p:nvGrpSpPr>
          <p:grpSpPr bwMode="auto">
            <a:xfrm>
              <a:off x="1456990" y="3602292"/>
              <a:ext cx="1764809" cy="1170661"/>
              <a:chOff x="3004" y="2263"/>
              <a:chExt cx="1170" cy="839"/>
            </a:xfrm>
          </p:grpSpPr>
          <p:sp>
            <p:nvSpPr>
              <p:cNvPr id="130" name="Text Box 196"/>
              <p:cNvSpPr txBox="1">
                <a:spLocks noChangeArrowheads="1"/>
              </p:cNvSpPr>
              <p:nvPr/>
            </p:nvSpPr>
            <p:spPr bwMode="auto">
              <a:xfrm>
                <a:off x="3320" y="2923"/>
                <a:ext cx="16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l"/>
                <a:r>
                  <a:rPr lang="de-DE" sz="1200" b="0"/>
                  <a:t>…</a:t>
                </a:r>
              </a:p>
            </p:txBody>
          </p:sp>
          <p:cxnSp>
            <p:nvCxnSpPr>
              <p:cNvPr id="131" name="AutoShape 197"/>
              <p:cNvCxnSpPr>
                <a:cxnSpLocks noChangeShapeType="1"/>
              </p:cNvCxnSpPr>
              <p:nvPr/>
            </p:nvCxnSpPr>
            <p:spPr bwMode="auto">
              <a:xfrm rot="16200000" flipH="1">
                <a:off x="3081" y="2428"/>
                <a:ext cx="173" cy="160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2" name="AutoShape 198"/>
              <p:cNvCxnSpPr>
                <a:cxnSpLocks noChangeShapeType="1"/>
              </p:cNvCxnSpPr>
              <p:nvPr/>
            </p:nvCxnSpPr>
            <p:spPr bwMode="auto">
              <a:xfrm rot="16200000" flipH="1">
                <a:off x="2972" y="2537"/>
                <a:ext cx="391" cy="160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3" name="Text Box 199"/>
              <p:cNvSpPr txBox="1">
                <a:spLocks noChangeArrowheads="1"/>
              </p:cNvSpPr>
              <p:nvPr/>
            </p:nvSpPr>
            <p:spPr bwMode="auto">
              <a:xfrm>
                <a:off x="3312" y="2490"/>
                <a:ext cx="862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l"/>
                <a:r>
                  <a:rPr lang="de-DE" sz="1000" b="0">
                    <a:solidFill>
                      <a:srgbClr val="0066FF"/>
                    </a:solidFill>
                  </a:rPr>
                  <a:t>6B4_300_212_C.PRT</a:t>
                </a:r>
              </a:p>
            </p:txBody>
          </p:sp>
          <p:sp>
            <p:nvSpPr>
              <p:cNvPr id="134" name="Text Box 200"/>
              <p:cNvSpPr txBox="1">
                <a:spLocks noChangeArrowheads="1"/>
              </p:cNvSpPr>
              <p:nvPr/>
            </p:nvSpPr>
            <p:spPr bwMode="auto">
              <a:xfrm>
                <a:off x="3312" y="2703"/>
                <a:ext cx="857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l"/>
                <a:r>
                  <a:rPr lang="de-DE" sz="1000" b="0" dirty="0">
                    <a:solidFill>
                      <a:srgbClr val="0066FF"/>
                    </a:solidFill>
                  </a:rPr>
                  <a:t>6B4_300_236_E.PRT</a:t>
                </a:r>
              </a:p>
            </p:txBody>
          </p:sp>
          <p:cxnSp>
            <p:nvCxnSpPr>
              <p:cNvPr id="135" name="AutoShape 201"/>
              <p:cNvCxnSpPr>
                <a:cxnSpLocks noChangeShapeType="1"/>
              </p:cNvCxnSpPr>
              <p:nvPr/>
            </p:nvCxnSpPr>
            <p:spPr bwMode="auto">
              <a:xfrm rot="16200000" flipH="1">
                <a:off x="2854" y="2655"/>
                <a:ext cx="627" cy="160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6" name="Rectangle 206"/>
              <p:cNvSpPr>
                <a:spLocks noChangeArrowheads="1"/>
              </p:cNvSpPr>
              <p:nvPr/>
            </p:nvSpPr>
            <p:spPr bwMode="auto">
              <a:xfrm>
                <a:off x="3114" y="2263"/>
                <a:ext cx="794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de-DE" altLang="zh-CN" sz="1000" dirty="0" smtClean="0">
                    <a:solidFill>
                      <a:srgbClr val="0066FF"/>
                    </a:solidFill>
                  </a:rPr>
                  <a:t>6B4.300.202.HST</a:t>
                </a:r>
                <a:endParaRPr lang="de-DE" altLang="zh-CN" sz="1000" dirty="0">
                  <a:solidFill>
                    <a:srgbClr val="0066FF"/>
                  </a:solidFill>
                </a:endParaRPr>
              </a:p>
            </p:txBody>
          </p:sp>
          <p:pic>
            <p:nvPicPr>
              <p:cNvPr id="137" name="Picture 367" descr="Assembly Icon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04" y="2282"/>
                <a:ext cx="145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8" name="Picture 368" descr="prt_image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3" y="2510"/>
                <a:ext cx="13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9" name="Picture 369" descr="prt_image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0" y="2733"/>
                <a:ext cx="13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0" name="Picture 370" descr="prt_image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3" y="2965"/>
                <a:ext cx="13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1" name="Line 138"/>
            <p:cNvSpPr>
              <a:spLocks noChangeShapeType="1"/>
            </p:cNvSpPr>
            <p:nvPr/>
          </p:nvSpPr>
          <p:spPr bwMode="auto">
            <a:xfrm flipV="1">
              <a:off x="4824412" y="2053382"/>
              <a:ext cx="587375" cy="523875"/>
            </a:xfrm>
            <a:prstGeom prst="line">
              <a:avLst/>
            </a:prstGeom>
            <a:noFill/>
            <a:ln w="88900">
              <a:solidFill>
                <a:srgbClr val="666699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5416184" y="1842717"/>
              <a:ext cx="1468193" cy="275777"/>
              <a:chOff x="5416184" y="1842717"/>
              <a:chExt cx="1468193" cy="275777"/>
            </a:xfrm>
          </p:grpSpPr>
          <p:pic>
            <p:nvPicPr>
              <p:cNvPr id="150" name="Picture 9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5416184" y="1842717"/>
                <a:ext cx="272132" cy="275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TextBox 1"/>
              <p:cNvSpPr txBox="1"/>
              <p:nvPr/>
            </p:nvSpPr>
            <p:spPr>
              <a:xfrm>
                <a:off x="5715212" y="1869613"/>
                <a:ext cx="116916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dirty="0" smtClean="0"/>
                  <a:t>设计需求</a:t>
                </a:r>
              </a:p>
            </p:txBody>
          </p:sp>
        </p:grpSp>
        <p:grpSp>
          <p:nvGrpSpPr>
            <p:cNvPr id="156" name="组合 155"/>
            <p:cNvGrpSpPr/>
            <p:nvPr/>
          </p:nvGrpSpPr>
          <p:grpSpPr>
            <a:xfrm>
              <a:off x="3153475" y="5078976"/>
              <a:ext cx="1468193" cy="275777"/>
              <a:chOff x="5416184" y="1842717"/>
              <a:chExt cx="1468193" cy="275777"/>
            </a:xfrm>
          </p:grpSpPr>
          <p:pic>
            <p:nvPicPr>
              <p:cNvPr id="157" name="Picture 9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5416184" y="1842717"/>
                <a:ext cx="272132" cy="275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8" name="TextBox 157"/>
              <p:cNvSpPr txBox="1"/>
              <p:nvPr/>
            </p:nvSpPr>
            <p:spPr>
              <a:xfrm>
                <a:off x="5715212" y="1869613"/>
                <a:ext cx="116916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dirty="0" smtClean="0"/>
                  <a:t>技术条件</a:t>
                </a:r>
              </a:p>
            </p:txBody>
          </p:sp>
        </p:grpSp>
        <p:grpSp>
          <p:nvGrpSpPr>
            <p:cNvPr id="159" name="组合 158"/>
            <p:cNvGrpSpPr/>
            <p:nvPr/>
          </p:nvGrpSpPr>
          <p:grpSpPr>
            <a:xfrm>
              <a:off x="3169749" y="5439408"/>
              <a:ext cx="1468193" cy="275777"/>
              <a:chOff x="5416184" y="1842717"/>
              <a:chExt cx="1468193" cy="275777"/>
            </a:xfrm>
          </p:grpSpPr>
          <p:pic>
            <p:nvPicPr>
              <p:cNvPr id="160" name="Picture 9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 flipV="1">
                <a:off x="5416184" y="1842717"/>
                <a:ext cx="272132" cy="275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1" name="TextBox 160"/>
              <p:cNvSpPr txBox="1"/>
              <p:nvPr/>
            </p:nvSpPr>
            <p:spPr>
              <a:xfrm>
                <a:off x="5715212" y="1869613"/>
                <a:ext cx="116916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dirty="0" smtClean="0"/>
                  <a:t>技术规格</a:t>
                </a:r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1577215" y="4894310"/>
              <a:ext cx="1395553" cy="184666"/>
              <a:chOff x="3273207" y="5765163"/>
              <a:chExt cx="1395553" cy="184666"/>
            </a:xfrm>
          </p:grpSpPr>
          <p:pic>
            <p:nvPicPr>
              <p:cNvPr id="162" name="Picture 33" descr="epmdoc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3207" y="5797429"/>
                <a:ext cx="152400" cy="15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3" name="TextBox 162"/>
              <p:cNvSpPr txBox="1"/>
              <p:nvPr/>
            </p:nvSpPr>
            <p:spPr>
              <a:xfrm>
                <a:off x="3499595" y="5765163"/>
                <a:ext cx="116916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dirty="0" smtClean="0"/>
                  <a:t>二维图</a:t>
                </a:r>
              </a:p>
            </p:txBody>
          </p:sp>
        </p:grpSp>
        <p:sp>
          <p:nvSpPr>
            <p:cNvPr id="179" name="Line 138"/>
            <p:cNvSpPr>
              <a:spLocks noChangeShapeType="1"/>
            </p:cNvSpPr>
            <p:nvPr/>
          </p:nvSpPr>
          <p:spPr bwMode="auto">
            <a:xfrm flipH="1">
              <a:off x="3635732" y="4185951"/>
              <a:ext cx="497492" cy="893025"/>
            </a:xfrm>
            <a:prstGeom prst="line">
              <a:avLst/>
            </a:prstGeom>
            <a:noFill/>
            <a:ln w="88900">
              <a:solidFill>
                <a:srgbClr val="666699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2" name="AutoShape 156"/>
            <p:cNvSpPr>
              <a:spLocks noChangeArrowheads="1"/>
            </p:cNvSpPr>
            <p:nvPr/>
          </p:nvSpPr>
          <p:spPr bwMode="auto">
            <a:xfrm rot="10800000" flipH="1">
              <a:off x="3425606" y="3977667"/>
              <a:ext cx="458871" cy="247826"/>
            </a:xfrm>
            <a:prstGeom prst="rightArrow">
              <a:avLst>
                <a:gd name="adj1" fmla="val 50000"/>
                <a:gd name="adj2" fmla="val 35030"/>
              </a:avLst>
            </a:prstGeom>
            <a:gradFill rotWithShape="1">
              <a:gsLst>
                <a:gs pos="0">
                  <a:schemeClr val="tx1"/>
                </a:gs>
                <a:gs pos="100000">
                  <a:schemeClr val="hlink"/>
                </a:gs>
              </a:gsLst>
              <a:lin ang="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="" xmlns:p14="http://schemas.microsoft.com/office/powerpoint/2010/main" val="78618736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97" name="AutoShape 5"/>
          <p:cNvSpPr>
            <a:spLocks noChangeArrowheads="1"/>
          </p:cNvSpPr>
          <p:nvPr/>
        </p:nvSpPr>
        <p:spPr bwMode="auto">
          <a:xfrm>
            <a:off x="6355122" y="2612856"/>
            <a:ext cx="1731962" cy="269861"/>
          </a:xfrm>
          <a:prstGeom prst="roundRect">
            <a:avLst>
              <a:gd name="adj" fmla="val 6417"/>
            </a:avLst>
          </a:prstGeom>
          <a:solidFill>
            <a:srgbClr val="D2D8DC"/>
          </a:solidFill>
          <a:ln w="31750" algn="ctr">
            <a:noFill/>
            <a:round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endParaRPr lang="zh-CN" altLang="zh-CN" sz="1100">
              <a:latin typeface="+mn-lt"/>
              <a:ea typeface="宋体" pitchFamily="2" charset="-122"/>
            </a:endParaRPr>
          </a:p>
        </p:txBody>
      </p:sp>
      <p:sp>
        <p:nvSpPr>
          <p:cNvPr id="98" name="Rectangle 10"/>
          <p:cNvSpPr>
            <a:spLocks noChangeArrowheads="1"/>
          </p:cNvSpPr>
          <p:nvPr/>
        </p:nvSpPr>
        <p:spPr bwMode="auto">
          <a:xfrm>
            <a:off x="6812322" y="2154115"/>
            <a:ext cx="936625" cy="490485"/>
          </a:xfrm>
          <a:prstGeom prst="rect">
            <a:avLst/>
          </a:prstGeom>
          <a:solidFill>
            <a:schemeClr val="folHlink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>
              <a:lnSpc>
                <a:spcPct val="85000"/>
              </a:lnSpc>
              <a:defRPr/>
            </a:pPr>
            <a:r>
              <a:rPr lang="zh-CN" altLang="en-US" sz="1100" dirty="0" smtClean="0">
                <a:solidFill>
                  <a:srgbClr val="FFFFFF"/>
                </a:solidFill>
                <a:ea typeface="宋体" pitchFamily="2" charset="-122"/>
              </a:rPr>
              <a:t>顶层和选项层产品结构建立</a:t>
            </a:r>
            <a:endParaRPr lang="en-US" sz="1100" dirty="0">
              <a:solidFill>
                <a:srgbClr val="FFFFFF"/>
              </a:solidFill>
              <a:latin typeface="+mn-lt"/>
              <a:ea typeface="宋体" pitchFamily="2" charset="-122"/>
            </a:endParaRPr>
          </a:p>
        </p:txBody>
      </p:sp>
      <p:cxnSp>
        <p:nvCxnSpPr>
          <p:cNvPr id="100" name="AutoShape 22"/>
          <p:cNvCxnSpPr>
            <a:cxnSpLocks noChangeShapeType="1"/>
            <a:stCxn id="98" idx="2"/>
            <a:endCxn id="104" idx="0"/>
          </p:cNvCxnSpPr>
          <p:nvPr/>
        </p:nvCxnSpPr>
        <p:spPr bwMode="auto">
          <a:xfrm flipH="1">
            <a:off x="7280634" y="2644600"/>
            <a:ext cx="1" cy="51364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" name="Text Box 44"/>
          <p:cNvSpPr txBox="1">
            <a:spLocks noChangeArrowheads="1"/>
          </p:cNvSpPr>
          <p:nvPr/>
        </p:nvSpPr>
        <p:spPr bwMode="auto">
          <a:xfrm>
            <a:off x="6354209" y="2319163"/>
            <a:ext cx="301686" cy="2616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sv-SE" altLang="zh-CN" sz="1100" dirty="0">
                <a:ea typeface="宋体" pitchFamily="2" charset="-122"/>
              </a:rPr>
              <a:t>1</a:t>
            </a:r>
            <a:r>
              <a:rPr lang="sv-SE" altLang="zh-CN" sz="1100" dirty="0" smtClean="0">
                <a:latin typeface="+mn-lt"/>
                <a:ea typeface="宋体" pitchFamily="2" charset="-122"/>
              </a:rPr>
              <a:t>.</a:t>
            </a:r>
            <a:endParaRPr lang="en-GB" altLang="zh-CN" sz="1100" dirty="0">
              <a:latin typeface="+mn-lt"/>
              <a:ea typeface="宋体" pitchFamily="2" charset="-122"/>
            </a:endParaRPr>
          </a:p>
        </p:txBody>
      </p:sp>
      <p:sp>
        <p:nvSpPr>
          <p:cNvPr id="103" name="AutoShape 5"/>
          <p:cNvSpPr>
            <a:spLocks noChangeArrowheads="1"/>
          </p:cNvSpPr>
          <p:nvPr/>
        </p:nvSpPr>
        <p:spPr bwMode="auto">
          <a:xfrm>
            <a:off x="6355121" y="3482097"/>
            <a:ext cx="1731962" cy="269861"/>
          </a:xfrm>
          <a:prstGeom prst="roundRect">
            <a:avLst>
              <a:gd name="adj" fmla="val 6417"/>
            </a:avLst>
          </a:prstGeom>
          <a:solidFill>
            <a:srgbClr val="D2D8DC"/>
          </a:solidFill>
          <a:ln w="31750" algn="ctr">
            <a:noFill/>
            <a:round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endParaRPr lang="zh-CN" altLang="zh-CN" sz="1100">
              <a:latin typeface="+mn-lt"/>
              <a:ea typeface="宋体" pitchFamily="2" charset="-122"/>
            </a:endParaRPr>
          </a:p>
        </p:txBody>
      </p:sp>
      <p:sp>
        <p:nvSpPr>
          <p:cNvPr id="104" name="Rectangle 10"/>
          <p:cNvSpPr>
            <a:spLocks noChangeArrowheads="1"/>
          </p:cNvSpPr>
          <p:nvPr/>
        </p:nvSpPr>
        <p:spPr bwMode="auto">
          <a:xfrm>
            <a:off x="6812321" y="3158241"/>
            <a:ext cx="936625" cy="35560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>
              <a:lnSpc>
                <a:spcPct val="85000"/>
              </a:lnSpc>
              <a:defRPr/>
            </a:pPr>
            <a:r>
              <a:rPr lang="zh-CN" altLang="en-US" sz="1100" dirty="0" smtClean="0">
                <a:solidFill>
                  <a:srgbClr val="FFFFFF"/>
                </a:solidFill>
                <a:ea typeface="宋体" pitchFamily="2" charset="-122"/>
              </a:rPr>
              <a:t>定义、</a:t>
            </a:r>
            <a:r>
              <a:rPr lang="zh-CN" altLang="en-US" sz="1100" dirty="0">
                <a:solidFill>
                  <a:srgbClr val="FFFFFF"/>
                </a:solidFill>
                <a:ea typeface="宋体" pitchFamily="2" charset="-122"/>
              </a:rPr>
              <a:t>使用</a:t>
            </a:r>
            <a:r>
              <a:rPr lang="zh-CN" altLang="en-US" sz="1100" dirty="0" smtClean="0">
                <a:solidFill>
                  <a:srgbClr val="FFFFFF"/>
                </a:solidFill>
                <a:ea typeface="宋体" pitchFamily="2" charset="-122"/>
              </a:rPr>
              <a:t>选项信息</a:t>
            </a:r>
            <a:endParaRPr lang="en-US" sz="1100" dirty="0">
              <a:solidFill>
                <a:srgbClr val="FFFFFF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105" name="Text Box 44"/>
          <p:cNvSpPr txBox="1">
            <a:spLocks noChangeArrowheads="1"/>
          </p:cNvSpPr>
          <p:nvPr/>
        </p:nvSpPr>
        <p:spPr bwMode="auto">
          <a:xfrm>
            <a:off x="6359853" y="3182770"/>
            <a:ext cx="301686" cy="2616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sv-SE" altLang="zh-CN" sz="1100" dirty="0" smtClean="0">
                <a:latin typeface="+mn-lt"/>
                <a:ea typeface="宋体" pitchFamily="2" charset="-122"/>
              </a:rPr>
              <a:t>2.</a:t>
            </a:r>
            <a:endParaRPr lang="en-GB" altLang="zh-CN" sz="1100" dirty="0">
              <a:latin typeface="+mn-lt"/>
              <a:ea typeface="宋体" pitchFamily="2" charset="-122"/>
            </a:endParaRPr>
          </a:p>
        </p:txBody>
      </p:sp>
      <p:sp>
        <p:nvSpPr>
          <p:cNvPr id="106" name="AutoShape 5"/>
          <p:cNvSpPr>
            <a:spLocks noChangeArrowheads="1"/>
          </p:cNvSpPr>
          <p:nvPr/>
        </p:nvSpPr>
        <p:spPr bwMode="auto">
          <a:xfrm>
            <a:off x="6377699" y="4407784"/>
            <a:ext cx="1731962" cy="269861"/>
          </a:xfrm>
          <a:prstGeom prst="roundRect">
            <a:avLst>
              <a:gd name="adj" fmla="val 6417"/>
            </a:avLst>
          </a:prstGeom>
          <a:solidFill>
            <a:srgbClr val="D2D8DC"/>
          </a:solidFill>
          <a:ln w="31750" algn="ctr">
            <a:noFill/>
            <a:round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endParaRPr lang="zh-CN" altLang="zh-CN" sz="1100">
              <a:latin typeface="+mn-lt"/>
              <a:ea typeface="宋体" pitchFamily="2" charset="-122"/>
            </a:endParaRPr>
          </a:p>
        </p:txBody>
      </p:sp>
      <p:sp>
        <p:nvSpPr>
          <p:cNvPr id="107" name="Rectangle 10"/>
          <p:cNvSpPr>
            <a:spLocks noChangeArrowheads="1"/>
          </p:cNvSpPr>
          <p:nvPr/>
        </p:nvSpPr>
        <p:spPr bwMode="auto">
          <a:xfrm>
            <a:off x="6834899" y="4083928"/>
            <a:ext cx="936625" cy="35560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>
              <a:lnSpc>
                <a:spcPct val="85000"/>
              </a:lnSpc>
              <a:defRPr/>
            </a:pPr>
            <a:r>
              <a:rPr lang="zh-CN" altLang="en-US" sz="1100" dirty="0" smtClean="0">
                <a:solidFill>
                  <a:srgbClr val="FFFFFF"/>
                </a:solidFill>
                <a:latin typeface="+mn-lt"/>
                <a:ea typeface="宋体" pitchFamily="2" charset="-122"/>
              </a:rPr>
              <a:t>底层产品结构建立</a:t>
            </a:r>
            <a:endParaRPr lang="en-US" sz="1100" dirty="0">
              <a:solidFill>
                <a:srgbClr val="FFFFFF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108" name="Line 40"/>
          <p:cNvSpPr>
            <a:spLocks noChangeShapeType="1"/>
          </p:cNvSpPr>
          <p:nvPr/>
        </p:nvSpPr>
        <p:spPr bwMode="auto">
          <a:xfrm>
            <a:off x="7292628" y="3522133"/>
            <a:ext cx="0" cy="57573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1100">
              <a:latin typeface="+mn-lt"/>
              <a:ea typeface="宋体" pitchFamily="2" charset="-122"/>
            </a:endParaRPr>
          </a:p>
        </p:txBody>
      </p:sp>
      <p:sp>
        <p:nvSpPr>
          <p:cNvPr id="109" name="Text Box 44"/>
          <p:cNvSpPr txBox="1">
            <a:spLocks noChangeArrowheads="1"/>
          </p:cNvSpPr>
          <p:nvPr/>
        </p:nvSpPr>
        <p:spPr bwMode="auto">
          <a:xfrm>
            <a:off x="6371142" y="4108457"/>
            <a:ext cx="301686" cy="2616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sv-SE" altLang="zh-CN" sz="1100" dirty="0" smtClean="0">
                <a:latin typeface="+mn-lt"/>
                <a:ea typeface="宋体" pitchFamily="2" charset="-122"/>
              </a:rPr>
              <a:t>3.</a:t>
            </a:r>
            <a:endParaRPr lang="en-GB" altLang="zh-CN" sz="1100" dirty="0">
              <a:latin typeface="+mn-lt"/>
              <a:ea typeface="宋体" pitchFamily="2" charset="-122"/>
            </a:endParaRPr>
          </a:p>
        </p:txBody>
      </p:sp>
      <p:sp>
        <p:nvSpPr>
          <p:cNvPr id="110" name="AutoShape 5"/>
          <p:cNvSpPr>
            <a:spLocks noChangeArrowheads="1"/>
          </p:cNvSpPr>
          <p:nvPr/>
        </p:nvSpPr>
        <p:spPr bwMode="auto">
          <a:xfrm>
            <a:off x="6377699" y="5356049"/>
            <a:ext cx="1731962" cy="269861"/>
          </a:xfrm>
          <a:prstGeom prst="roundRect">
            <a:avLst>
              <a:gd name="adj" fmla="val 6417"/>
            </a:avLst>
          </a:prstGeom>
          <a:solidFill>
            <a:srgbClr val="D2D8DC"/>
          </a:solidFill>
          <a:ln w="31750" algn="ctr">
            <a:noFill/>
            <a:round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endParaRPr lang="zh-CN" altLang="zh-CN" sz="1100">
              <a:latin typeface="+mn-lt"/>
              <a:ea typeface="宋体" pitchFamily="2" charset="-122"/>
            </a:endParaRPr>
          </a:p>
        </p:txBody>
      </p:sp>
      <p:sp>
        <p:nvSpPr>
          <p:cNvPr id="111" name="Rectangle 10"/>
          <p:cNvSpPr>
            <a:spLocks noChangeArrowheads="1"/>
          </p:cNvSpPr>
          <p:nvPr/>
        </p:nvSpPr>
        <p:spPr bwMode="auto">
          <a:xfrm>
            <a:off x="6843691" y="5032193"/>
            <a:ext cx="936625" cy="35560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>
              <a:lnSpc>
                <a:spcPct val="85000"/>
              </a:lnSpc>
              <a:defRPr/>
            </a:pPr>
            <a:r>
              <a:rPr lang="zh-CN" altLang="en-US" sz="1100" dirty="0" smtClean="0">
                <a:solidFill>
                  <a:srgbClr val="FFFFFF"/>
                </a:solidFill>
                <a:ea typeface="宋体" pitchFamily="2" charset="-122"/>
              </a:rPr>
              <a:t>配置并验证</a:t>
            </a:r>
            <a:endParaRPr lang="en-US" sz="1100" dirty="0">
              <a:solidFill>
                <a:srgbClr val="FFFFFF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112" name="Line 40"/>
          <p:cNvSpPr>
            <a:spLocks noChangeShapeType="1"/>
          </p:cNvSpPr>
          <p:nvPr/>
        </p:nvSpPr>
        <p:spPr bwMode="auto">
          <a:xfrm>
            <a:off x="7303916" y="4447823"/>
            <a:ext cx="11290" cy="60889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1100">
              <a:latin typeface="+mn-lt"/>
              <a:ea typeface="宋体" pitchFamily="2" charset="-122"/>
            </a:endParaRPr>
          </a:p>
        </p:txBody>
      </p:sp>
      <p:sp>
        <p:nvSpPr>
          <p:cNvPr id="113" name="Text Box 44"/>
          <p:cNvSpPr txBox="1">
            <a:spLocks noChangeArrowheads="1"/>
          </p:cNvSpPr>
          <p:nvPr/>
        </p:nvSpPr>
        <p:spPr bwMode="auto">
          <a:xfrm>
            <a:off x="6371142" y="5056722"/>
            <a:ext cx="301686" cy="2616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sv-SE" altLang="zh-CN" sz="1100" dirty="0" smtClean="0">
                <a:latin typeface="+mn-lt"/>
                <a:ea typeface="宋体" pitchFamily="2" charset="-122"/>
              </a:rPr>
              <a:t>4.</a:t>
            </a:r>
            <a:endParaRPr lang="en-GB" altLang="zh-CN" sz="1100" dirty="0">
              <a:latin typeface="+mn-lt"/>
              <a:ea typeface="宋体" pitchFamily="2" charset="-122"/>
            </a:endParaRPr>
          </a:p>
        </p:txBody>
      </p:sp>
      <p:sp>
        <p:nvSpPr>
          <p:cNvPr id="153" name="AutoShape 42"/>
          <p:cNvSpPr>
            <a:spLocks noChangeArrowheads="1"/>
          </p:cNvSpPr>
          <p:nvPr/>
        </p:nvSpPr>
        <p:spPr bwMode="auto">
          <a:xfrm>
            <a:off x="6881113" y="5979053"/>
            <a:ext cx="935037" cy="33972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algn="ctr">
            <a:solidFill>
              <a:schemeClr val="accent1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>
              <a:lnSpc>
                <a:spcPct val="85000"/>
              </a:lnSpc>
              <a:defRPr/>
            </a:pPr>
            <a:r>
              <a:rPr lang="zh-CN" altLang="en-US" sz="1100" dirty="0" smtClean="0">
                <a:ea typeface="宋体" pitchFamily="2" charset="-122"/>
              </a:rPr>
              <a:t>结束</a:t>
            </a:r>
            <a:endParaRPr lang="en-US" sz="1100" dirty="0">
              <a:latin typeface="+mn-lt"/>
              <a:ea typeface="宋体" pitchFamily="2" charset="-122"/>
            </a:endParaRPr>
          </a:p>
        </p:txBody>
      </p:sp>
      <p:sp>
        <p:nvSpPr>
          <p:cNvPr id="154" name="Line 40"/>
          <p:cNvSpPr>
            <a:spLocks noChangeShapeType="1"/>
          </p:cNvSpPr>
          <p:nvPr/>
        </p:nvSpPr>
        <p:spPr bwMode="auto">
          <a:xfrm>
            <a:off x="7326494" y="5384800"/>
            <a:ext cx="1" cy="6321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sz="1100">
              <a:latin typeface="+mn-lt"/>
              <a:ea typeface="宋体" pitchFamily="2" charset="-122"/>
            </a:endParaRPr>
          </a:p>
        </p:txBody>
      </p:sp>
      <p:sp>
        <p:nvSpPr>
          <p:cNvPr id="165" name="AutoShape 42"/>
          <p:cNvSpPr>
            <a:spLocks noChangeArrowheads="1"/>
          </p:cNvSpPr>
          <p:nvPr/>
        </p:nvSpPr>
        <p:spPr bwMode="auto">
          <a:xfrm>
            <a:off x="6813380" y="1512281"/>
            <a:ext cx="935037" cy="33972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algn="ctr">
            <a:solidFill>
              <a:schemeClr val="accent1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>
              <a:lnSpc>
                <a:spcPct val="85000"/>
              </a:lnSpc>
              <a:defRPr/>
            </a:pPr>
            <a:r>
              <a:rPr lang="zh-CN" altLang="en-US" sz="1100" dirty="0" smtClean="0">
                <a:ea typeface="宋体" pitchFamily="2" charset="-122"/>
              </a:rPr>
              <a:t>开始</a:t>
            </a:r>
            <a:endParaRPr lang="en-US" sz="1100" dirty="0">
              <a:latin typeface="+mn-lt"/>
              <a:ea typeface="宋体" pitchFamily="2" charset="-122"/>
            </a:endParaRPr>
          </a:p>
        </p:txBody>
      </p:sp>
      <p:cxnSp>
        <p:nvCxnSpPr>
          <p:cNvPr id="166" name="AutoShape 24"/>
          <p:cNvCxnSpPr>
            <a:cxnSpLocks noChangeShapeType="1"/>
            <a:stCxn id="165" idx="2"/>
            <a:endCxn id="98" idx="0"/>
          </p:cNvCxnSpPr>
          <p:nvPr/>
        </p:nvCxnSpPr>
        <p:spPr bwMode="auto">
          <a:xfrm rot="5400000">
            <a:off x="7129713" y="2002928"/>
            <a:ext cx="302109" cy="264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3" name="内容占位符 128"/>
          <p:cNvSpPr>
            <a:spLocks noGrp="1"/>
          </p:cNvSpPr>
          <p:nvPr>
            <p:ph idx="1"/>
          </p:nvPr>
        </p:nvSpPr>
        <p:spPr>
          <a:xfrm>
            <a:off x="219456" y="1380744"/>
            <a:ext cx="5086322" cy="5029200"/>
          </a:xfrm>
        </p:spPr>
        <p:txBody>
          <a:bodyPr/>
          <a:lstStyle/>
          <a:p>
            <a:r>
              <a:rPr lang="zh-CN" altLang="en-US" dirty="0" smtClean="0"/>
              <a:t>顶层和选项层产品结构建立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创建顶层产品结构、创建选项层结构、定义工程顶件；</a:t>
            </a:r>
            <a:endParaRPr lang="en-US" altLang="zh-CN" dirty="0" smtClean="0"/>
          </a:p>
          <a:p>
            <a:r>
              <a:rPr lang="zh-CN" altLang="en-US" dirty="0" smtClean="0"/>
              <a:t>定义、使用选项信息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创建新选项、为选项添加选项值、定义选项约束、创建选项集、分配选项集、维护</a:t>
            </a:r>
            <a:r>
              <a:rPr lang="en-US" altLang="zh-CN" dirty="0" smtClean="0"/>
              <a:t>OD</a:t>
            </a:r>
            <a:r>
              <a:rPr lang="zh-CN" altLang="en-US" dirty="0" smtClean="0"/>
              <a:t>关系、发放选项集；</a:t>
            </a:r>
            <a:endParaRPr lang="en-US" altLang="zh-CN" dirty="0" smtClean="0"/>
          </a:p>
          <a:p>
            <a:r>
              <a:rPr lang="zh-CN" altLang="en-US" dirty="0" smtClean="0"/>
              <a:t>底层产品结构建立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创建三维模型并关联产品结构、交付项目任务、发放工程数据；</a:t>
            </a:r>
            <a:endParaRPr lang="en-US" altLang="zh-CN" dirty="0" smtClean="0"/>
          </a:p>
          <a:p>
            <a:r>
              <a:rPr lang="zh-CN" altLang="en-US" dirty="0" smtClean="0"/>
              <a:t>配置和验证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配置和验证；</a:t>
            </a:r>
            <a:endParaRPr lang="en-US" altLang="zh-CN" dirty="0" smtClean="0"/>
          </a:p>
        </p:txBody>
      </p:sp>
    </p:spTree>
    <p:extLst>
      <p:ext uri="{BB962C8B-B14F-4D97-AF65-F5344CB8AC3E}">
        <p14:creationId xmlns="" xmlns:p14="http://schemas.microsoft.com/office/powerpoint/2010/main" val="30615880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dirty="0" smtClean="0"/>
              <a:t>1.</a:t>
            </a:r>
            <a:r>
              <a:rPr lang="zh-CN" altLang="en-US" dirty="0" smtClean="0"/>
              <a:t>顶层和选项</a:t>
            </a:r>
            <a:r>
              <a:rPr lang="zh-CN" altLang="en-US" dirty="0"/>
              <a:t>层产品</a:t>
            </a:r>
            <a:r>
              <a:rPr lang="zh-CN" altLang="en-US" dirty="0" smtClean="0"/>
              <a:t>结构建立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3109913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创建选项层结构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0" name="AutoShape 17"/>
          <p:cNvSpPr>
            <a:spLocks noChangeArrowheads="1"/>
          </p:cNvSpPr>
          <p:nvPr/>
        </p:nvSpPr>
        <p:spPr bwMode="auto">
          <a:xfrm>
            <a:off x="382058" y="5023166"/>
            <a:ext cx="1379538" cy="28257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31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 smtClean="0">
                <a:solidFill>
                  <a:srgbClr val="FFFFFF"/>
                </a:solidFill>
                <a:latin typeface="Arial Narrow" pitchFamily="34" charset="0"/>
              </a:rPr>
              <a:t>创建产品顶层结构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4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56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0816" y="1454726"/>
            <a:ext cx="3640974" cy="371610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53" name="AutoShape 47"/>
          <p:cNvSpPr>
            <a:spLocks noChangeArrowheads="1"/>
          </p:cNvSpPr>
          <p:nvPr/>
        </p:nvSpPr>
        <p:spPr bwMode="auto">
          <a:xfrm>
            <a:off x="4836276" y="1213192"/>
            <a:ext cx="1352550" cy="400752"/>
          </a:xfrm>
          <a:prstGeom prst="wedgeRectCallout">
            <a:avLst>
              <a:gd name="adj1" fmla="val -68896"/>
              <a:gd name="adj2" fmla="val 45711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lIns="0" tIns="46038" rIns="0" bIns="46038" anchor="ctr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使用通用产品模版</a:t>
            </a:r>
            <a:endParaRPr lang="en-US" altLang="zh-CN" sz="1000" kern="0" dirty="0" smtClean="0">
              <a:solidFill>
                <a:sysClr val="windowText" lastClr="000000"/>
              </a:solidFill>
              <a:cs typeface="Times New Roman" pitchFamily="18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快速创建</a:t>
            </a:r>
            <a:endParaRPr kumimoji="0" lang="en-US" sz="100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Times New Roman" pitchFamily="18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43217" y="1915132"/>
            <a:ext cx="1362075" cy="7334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61" name="AutoShape 47"/>
          <p:cNvSpPr>
            <a:spLocks noChangeArrowheads="1"/>
          </p:cNvSpPr>
          <p:nvPr/>
        </p:nvSpPr>
        <p:spPr bwMode="auto">
          <a:xfrm>
            <a:off x="7601296" y="1504776"/>
            <a:ext cx="904875" cy="400752"/>
          </a:xfrm>
          <a:prstGeom prst="wedgeRectCallout">
            <a:avLst>
              <a:gd name="adj1" fmla="val -51405"/>
              <a:gd name="adj2" fmla="val 123750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lIns="0" tIns="46038" rIns="0" bIns="46038" anchor="ctr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latin typeface="+mn-ea"/>
                <a:cs typeface="Times New Roman" pitchFamily="18" charset="0"/>
              </a:rPr>
              <a:t>使用“另存为”</a:t>
            </a:r>
            <a:endParaRPr lang="en-US" altLang="zh-CN" sz="1000" kern="0" dirty="0" smtClean="0">
              <a:solidFill>
                <a:sysClr val="windowText" lastClr="000000"/>
              </a:solidFill>
              <a:latin typeface="+mn-ea"/>
              <a:cs typeface="Times New Roman" pitchFamily="18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功能</a:t>
            </a:r>
            <a:endParaRPr kumimoji="0" lang="en-US" sz="100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0400" y="3121842"/>
            <a:ext cx="5343958" cy="348007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63" name="矩形 62"/>
          <p:cNvSpPr/>
          <p:nvPr/>
        </p:nvSpPr>
        <p:spPr bwMode="auto">
          <a:xfrm>
            <a:off x="4314305" y="3832167"/>
            <a:ext cx="822960" cy="157942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4" name="AutoShape 47"/>
          <p:cNvSpPr>
            <a:spLocks noChangeArrowheads="1"/>
          </p:cNvSpPr>
          <p:nvPr/>
        </p:nvSpPr>
        <p:spPr bwMode="auto">
          <a:xfrm>
            <a:off x="5171209" y="3288895"/>
            <a:ext cx="952500" cy="254000"/>
          </a:xfrm>
          <a:prstGeom prst="wedgeRectCallout">
            <a:avLst>
              <a:gd name="adj1" fmla="val -53954"/>
              <a:gd name="adj2" fmla="val 195000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wrap="square" lIns="0" tIns="46038" rIns="0" bIns="46038" anchor="ctr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latin typeface="+mn-ea"/>
                <a:cs typeface="Times New Roman" pitchFamily="18" charset="0"/>
              </a:rPr>
              <a:t>重命名</a:t>
            </a:r>
            <a:endParaRPr lang="en-US" altLang="en-US" sz="1000" kern="0" dirty="0">
              <a:solidFill>
                <a:sysClr val="windowText" lastClr="000000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65" name="矩形 64"/>
          <p:cNvSpPr/>
          <p:nvPr/>
        </p:nvSpPr>
        <p:spPr bwMode="auto">
          <a:xfrm>
            <a:off x="3261359" y="4682835"/>
            <a:ext cx="2324794" cy="628997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6" name="AutoShape 47"/>
          <p:cNvSpPr>
            <a:spLocks noChangeArrowheads="1"/>
          </p:cNvSpPr>
          <p:nvPr/>
        </p:nvSpPr>
        <p:spPr bwMode="auto">
          <a:xfrm>
            <a:off x="5622867" y="4380633"/>
            <a:ext cx="952500" cy="254000"/>
          </a:xfrm>
          <a:prstGeom prst="wedgeRectCallout">
            <a:avLst>
              <a:gd name="adj1" fmla="val -53954"/>
              <a:gd name="adj2" fmla="val 195000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wrap="square" lIns="0" tIns="46038" rIns="0" bIns="46038" anchor="ctr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latin typeface="+mn-ea"/>
                <a:cs typeface="Times New Roman" pitchFamily="18" charset="0"/>
              </a:rPr>
              <a:t>重用</a:t>
            </a:r>
            <a:endParaRPr lang="en-US" altLang="en-US" sz="1000" kern="0" dirty="0">
              <a:solidFill>
                <a:sysClr val="windowText" lastClr="000000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67" name="矩形 66"/>
          <p:cNvSpPr/>
          <p:nvPr/>
        </p:nvSpPr>
        <p:spPr bwMode="auto">
          <a:xfrm>
            <a:off x="3247504" y="6010101"/>
            <a:ext cx="2355274" cy="243839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8" name="AutoShape 47"/>
          <p:cNvSpPr>
            <a:spLocks noChangeArrowheads="1"/>
          </p:cNvSpPr>
          <p:nvPr/>
        </p:nvSpPr>
        <p:spPr bwMode="auto">
          <a:xfrm>
            <a:off x="5633950" y="5552902"/>
            <a:ext cx="952500" cy="246863"/>
          </a:xfrm>
          <a:prstGeom prst="wedgeRectCallout">
            <a:avLst>
              <a:gd name="adj1" fmla="val -53954"/>
              <a:gd name="adj2" fmla="val 195000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wrap="square" lIns="0" tIns="46038" rIns="0" bIns="46038" anchor="ctr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latin typeface="+mn-ea"/>
                <a:cs typeface="Times New Roman" pitchFamily="18" charset="0"/>
              </a:rPr>
              <a:t>不使用</a:t>
            </a:r>
            <a:endParaRPr lang="en-US" altLang="en-US" sz="1000" kern="0" dirty="0">
              <a:solidFill>
                <a:sysClr val="windowText" lastClr="000000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38" name="Rectangle 12"/>
          <p:cNvSpPr>
            <a:spLocks noChangeArrowheads="1"/>
          </p:cNvSpPr>
          <p:nvPr/>
        </p:nvSpPr>
        <p:spPr bwMode="auto">
          <a:xfrm>
            <a:off x="380994" y="4395806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定义工程顶件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39" name="AutoShape 13"/>
          <p:cNvCxnSpPr>
            <a:cxnSpLocks noChangeShapeType="1"/>
            <a:stCxn id="38" idx="2"/>
          </p:cNvCxnSpPr>
          <p:nvPr/>
        </p:nvCxnSpPr>
        <p:spPr bwMode="auto">
          <a:xfrm>
            <a:off x="1046157" y="4800618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40" name="Group 18"/>
          <p:cNvGrpSpPr>
            <a:grpSpLocks/>
          </p:cNvGrpSpPr>
          <p:nvPr/>
        </p:nvGrpSpPr>
        <p:grpSpPr bwMode="auto">
          <a:xfrm>
            <a:off x="176207" y="4283093"/>
            <a:ext cx="231775" cy="231775"/>
            <a:chOff x="2452" y="1263"/>
            <a:chExt cx="146" cy="146"/>
          </a:xfrm>
        </p:grpSpPr>
        <p:sp>
          <p:nvSpPr>
            <p:cNvPr id="41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3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641479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dirty="0" smtClean="0"/>
              <a:t>1.</a:t>
            </a:r>
            <a:r>
              <a:rPr lang="zh-CN" altLang="en-US" dirty="0" smtClean="0"/>
              <a:t>顶层和选项</a:t>
            </a:r>
            <a:r>
              <a:rPr lang="zh-CN" altLang="en-US" dirty="0"/>
              <a:t>层产品</a:t>
            </a:r>
            <a:r>
              <a:rPr lang="zh-CN" altLang="en-US" dirty="0" smtClean="0"/>
              <a:t>结构建立</a:t>
            </a:r>
            <a:endParaRPr lang="en-US" dirty="0"/>
          </a:p>
        </p:txBody>
      </p:sp>
      <p:grpSp>
        <p:nvGrpSpPr>
          <p:cNvPr id="56" name="组合 55"/>
          <p:cNvGrpSpPr/>
          <p:nvPr/>
        </p:nvGrpSpPr>
        <p:grpSpPr>
          <a:xfrm>
            <a:off x="492101" y="1317558"/>
            <a:ext cx="1128713" cy="1023728"/>
            <a:chOff x="6393367" y="894225"/>
            <a:chExt cx="1128713" cy="1023728"/>
          </a:xfrm>
        </p:grpSpPr>
        <p:sp>
          <p:nvSpPr>
            <p:cNvPr id="55" name="椭圆 54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4" name="Picture 138" descr="j02919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3702" y="1504604"/>
            <a:ext cx="6133064" cy="4289685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95" name="Rounded Rectangle 78"/>
          <p:cNvSpPr/>
          <p:nvPr/>
        </p:nvSpPr>
        <p:spPr bwMode="auto">
          <a:xfrm>
            <a:off x="2474566" y="2376516"/>
            <a:ext cx="3221037" cy="3565525"/>
          </a:xfrm>
          <a:prstGeom prst="roundRect">
            <a:avLst>
              <a:gd name="adj" fmla="val 7568"/>
            </a:avLst>
          </a:pr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6" name="AutoShape 47"/>
          <p:cNvSpPr>
            <a:spLocks noChangeArrowheads="1"/>
          </p:cNvSpPr>
          <p:nvPr/>
        </p:nvSpPr>
        <p:spPr bwMode="auto">
          <a:xfrm>
            <a:off x="5375534" y="1271626"/>
            <a:ext cx="2163965" cy="400752"/>
          </a:xfrm>
          <a:prstGeom prst="wedgeRectCallout">
            <a:avLst>
              <a:gd name="adj1" fmla="val -40492"/>
              <a:gd name="adj2" fmla="val 244718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专业负责人维护各自专业产品结构，创建基本节点和选项节点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04036" y="2518757"/>
            <a:ext cx="2836043" cy="2097665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98" name="矩形 97"/>
          <p:cNvSpPr/>
          <p:nvPr/>
        </p:nvSpPr>
        <p:spPr bwMode="auto">
          <a:xfrm>
            <a:off x="6118167" y="3125584"/>
            <a:ext cx="1587731" cy="324197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99" name="AutoShape 47"/>
          <p:cNvSpPr>
            <a:spLocks noChangeArrowheads="1"/>
          </p:cNvSpPr>
          <p:nvPr/>
        </p:nvSpPr>
        <p:spPr bwMode="auto">
          <a:xfrm>
            <a:off x="6833032" y="1914476"/>
            <a:ext cx="2163965" cy="708528"/>
          </a:xfrm>
          <a:prstGeom prst="wedgeRectCallout">
            <a:avLst>
              <a:gd name="adj1" fmla="val -45102"/>
              <a:gd name="adj2" fmla="val 116835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对于基本节点，创建部件时类型选择“模块部件”，如果基本节点下可能存在多配置选项节点，“可配置”属性选择“是”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00486" y="4705002"/>
            <a:ext cx="2852321" cy="1983355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00" name="矩形 99"/>
          <p:cNvSpPr/>
          <p:nvPr/>
        </p:nvSpPr>
        <p:spPr bwMode="auto">
          <a:xfrm>
            <a:off x="6179127" y="5303520"/>
            <a:ext cx="1587731" cy="202276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101" name="AutoShape 47"/>
          <p:cNvSpPr>
            <a:spLocks noChangeArrowheads="1"/>
          </p:cNvSpPr>
          <p:nvPr/>
        </p:nvSpPr>
        <p:spPr bwMode="auto">
          <a:xfrm>
            <a:off x="6708342" y="5838084"/>
            <a:ext cx="2163965" cy="400752"/>
          </a:xfrm>
          <a:prstGeom prst="wedgeRectCallout">
            <a:avLst>
              <a:gd name="adj1" fmla="val -49192"/>
              <a:gd name="adj2" fmla="val -128856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对于选项节点，创建部件时类型选择“选项部件”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35" name="AutoShape 5"/>
          <p:cNvSpPr>
            <a:spLocks noChangeArrowheads="1"/>
          </p:cNvSpPr>
          <p:nvPr/>
        </p:nvSpPr>
        <p:spPr bwMode="auto">
          <a:xfrm>
            <a:off x="341313" y="3736471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6" name="AutoShape 11"/>
          <p:cNvCxnSpPr>
            <a:cxnSpLocks noChangeShapeType="1"/>
            <a:stCxn id="43" idx="2"/>
            <a:endCxn id="37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创建选项层结构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38" name="AutoShape 13"/>
          <p:cNvCxnSpPr>
            <a:cxnSpLocks noChangeShapeType="1"/>
            <a:stCxn id="37" idx="2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9" name="AutoShape 17"/>
          <p:cNvSpPr>
            <a:spLocks noChangeArrowheads="1"/>
          </p:cNvSpPr>
          <p:nvPr/>
        </p:nvSpPr>
        <p:spPr bwMode="auto">
          <a:xfrm>
            <a:off x="382058" y="5023166"/>
            <a:ext cx="1379538" cy="28257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40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41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 smtClean="0">
                <a:solidFill>
                  <a:srgbClr val="FFFFFF"/>
                </a:solidFill>
                <a:latin typeface="Arial Narrow" pitchFamily="34" charset="0"/>
              </a:rPr>
              <a:t>创建产品顶层结构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44" name="AutoShape 10"/>
          <p:cNvCxnSpPr>
            <a:cxnSpLocks noChangeShapeType="1"/>
            <a:stCxn id="45" idx="2"/>
            <a:endCxn id="43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5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46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7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380994" y="4395806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定义工程顶件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50" name="AutoShape 13"/>
          <p:cNvCxnSpPr>
            <a:cxnSpLocks noChangeShapeType="1"/>
            <a:stCxn id="49" idx="2"/>
          </p:cNvCxnSpPr>
          <p:nvPr/>
        </p:nvCxnSpPr>
        <p:spPr bwMode="auto">
          <a:xfrm>
            <a:off x="1046157" y="4800618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51" name="Group 18"/>
          <p:cNvGrpSpPr>
            <a:grpSpLocks/>
          </p:cNvGrpSpPr>
          <p:nvPr/>
        </p:nvGrpSpPr>
        <p:grpSpPr bwMode="auto">
          <a:xfrm>
            <a:off x="176207" y="4283093"/>
            <a:ext cx="231775" cy="231775"/>
            <a:chOff x="2452" y="1263"/>
            <a:chExt cx="146" cy="146"/>
          </a:xfrm>
        </p:grpSpPr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3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641479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dirty="0" smtClean="0"/>
              <a:t>1.</a:t>
            </a:r>
            <a:r>
              <a:rPr lang="zh-CN" altLang="en-US" dirty="0" smtClean="0"/>
              <a:t>顶层和选项</a:t>
            </a:r>
            <a:r>
              <a:rPr lang="zh-CN" altLang="en-US" dirty="0"/>
              <a:t>层产品</a:t>
            </a:r>
            <a:r>
              <a:rPr lang="zh-CN" altLang="en-US" dirty="0" smtClean="0"/>
              <a:t>结构建立</a:t>
            </a:r>
            <a:endParaRPr lang="en-US" dirty="0"/>
          </a:p>
        </p:txBody>
      </p:sp>
      <p:grpSp>
        <p:nvGrpSpPr>
          <p:cNvPr id="2" name="组合 55"/>
          <p:cNvGrpSpPr/>
          <p:nvPr/>
        </p:nvGrpSpPr>
        <p:grpSpPr>
          <a:xfrm>
            <a:off x="492101" y="1317558"/>
            <a:ext cx="1128713" cy="1023728"/>
            <a:chOff x="6393367" y="894225"/>
            <a:chExt cx="1128713" cy="1023728"/>
          </a:xfrm>
        </p:grpSpPr>
        <p:sp>
          <p:nvSpPr>
            <p:cNvPr id="55" name="椭圆 54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4" name="Picture 138" descr="j02919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AutoShape 5"/>
          <p:cNvSpPr>
            <a:spLocks noChangeArrowheads="1"/>
          </p:cNvSpPr>
          <p:nvPr/>
        </p:nvSpPr>
        <p:spPr bwMode="auto">
          <a:xfrm>
            <a:off x="341313" y="434609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6" name="AutoShape 11"/>
          <p:cNvCxnSpPr>
            <a:cxnSpLocks noChangeShapeType="1"/>
            <a:stCxn id="43" idx="2"/>
            <a:endCxn id="37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创建选项层结构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38" name="AutoShape 13"/>
          <p:cNvCxnSpPr>
            <a:cxnSpLocks noChangeShapeType="1"/>
            <a:stCxn id="37" idx="2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9" name="AutoShape 17"/>
          <p:cNvSpPr>
            <a:spLocks noChangeArrowheads="1"/>
          </p:cNvSpPr>
          <p:nvPr/>
        </p:nvSpPr>
        <p:spPr bwMode="auto">
          <a:xfrm>
            <a:off x="382058" y="5023166"/>
            <a:ext cx="1379538" cy="28257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41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 smtClean="0">
                <a:solidFill>
                  <a:srgbClr val="FFFFFF"/>
                </a:solidFill>
                <a:latin typeface="Arial Narrow" pitchFamily="34" charset="0"/>
              </a:rPr>
              <a:t>创建产品顶层结构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44" name="AutoShape 10"/>
          <p:cNvCxnSpPr>
            <a:cxnSpLocks noChangeShapeType="1"/>
            <a:stCxn id="45" idx="2"/>
            <a:endCxn id="43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5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7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380994" y="4395806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定义工程顶件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50" name="AutoShape 13"/>
          <p:cNvCxnSpPr>
            <a:cxnSpLocks noChangeShapeType="1"/>
            <a:stCxn id="49" idx="2"/>
          </p:cNvCxnSpPr>
          <p:nvPr/>
        </p:nvCxnSpPr>
        <p:spPr bwMode="auto">
          <a:xfrm>
            <a:off x="1046157" y="4800618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176207" y="4283093"/>
            <a:ext cx="231775" cy="231775"/>
            <a:chOff x="2452" y="1263"/>
            <a:chExt cx="146" cy="146"/>
          </a:xfrm>
        </p:grpSpPr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3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28334" y="1521629"/>
            <a:ext cx="4631266" cy="29974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74" name="Rounded Rectangle 78"/>
          <p:cNvSpPr/>
          <p:nvPr/>
        </p:nvSpPr>
        <p:spPr bwMode="auto">
          <a:xfrm>
            <a:off x="2582333" y="3098801"/>
            <a:ext cx="1109134" cy="345574"/>
          </a:xfrm>
          <a:prstGeom prst="roundRect">
            <a:avLst>
              <a:gd name="adj" fmla="val 7568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5" name="AutoShape 47"/>
          <p:cNvSpPr>
            <a:spLocks noChangeArrowheads="1"/>
          </p:cNvSpPr>
          <p:nvPr/>
        </p:nvSpPr>
        <p:spPr bwMode="auto">
          <a:xfrm>
            <a:off x="3174201" y="1906645"/>
            <a:ext cx="1524799" cy="400752"/>
          </a:xfrm>
          <a:prstGeom prst="wedgeRectCallout">
            <a:avLst>
              <a:gd name="adj1" fmla="val -40492"/>
              <a:gd name="adj2" fmla="val 244718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为选项节点添加工程顶件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76" name="Rounded Rectangle 78"/>
          <p:cNvSpPr/>
          <p:nvPr/>
        </p:nvSpPr>
        <p:spPr bwMode="auto">
          <a:xfrm>
            <a:off x="5283200" y="2523065"/>
            <a:ext cx="905933" cy="260909"/>
          </a:xfrm>
          <a:prstGeom prst="roundRect">
            <a:avLst>
              <a:gd name="adj" fmla="val 7568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7" name="AutoShape 47"/>
          <p:cNvSpPr>
            <a:spLocks noChangeArrowheads="1"/>
          </p:cNvSpPr>
          <p:nvPr/>
        </p:nvSpPr>
        <p:spPr bwMode="auto">
          <a:xfrm>
            <a:off x="5536401" y="1989666"/>
            <a:ext cx="1524799" cy="246863"/>
          </a:xfrm>
          <a:prstGeom prst="wedgeRectCallout">
            <a:avLst>
              <a:gd name="adj1" fmla="val -40492"/>
              <a:gd name="adj2" fmla="val 160210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插入或新建工程顶件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97400" y="2951631"/>
            <a:ext cx="3651780" cy="2752785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79" name="Rounded Rectangle 78"/>
          <p:cNvSpPr/>
          <p:nvPr/>
        </p:nvSpPr>
        <p:spPr bwMode="auto">
          <a:xfrm>
            <a:off x="5147734" y="3987800"/>
            <a:ext cx="905933" cy="150841"/>
          </a:xfrm>
          <a:prstGeom prst="roundRect">
            <a:avLst>
              <a:gd name="adj" fmla="val 7568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AutoShape 47"/>
          <p:cNvSpPr>
            <a:spLocks noChangeArrowheads="1"/>
          </p:cNvSpPr>
          <p:nvPr/>
        </p:nvSpPr>
        <p:spPr bwMode="auto">
          <a:xfrm>
            <a:off x="6222201" y="3378199"/>
            <a:ext cx="1854999" cy="400752"/>
          </a:xfrm>
          <a:prstGeom prst="wedgeRectCallout">
            <a:avLst>
              <a:gd name="adj1" fmla="val -59371"/>
              <a:gd name="adj2" fmla="val 105335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新建工程层的部件时“类型”需要指定为</a:t>
            </a:r>
            <a:r>
              <a:rPr lang="en-US" altLang="zh-CN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”</a:t>
            </a: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部件</a:t>
            </a:r>
            <a:r>
              <a:rPr lang="en-US" altLang="zh-CN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”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641479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dirty="0" smtClean="0"/>
              <a:t>1.</a:t>
            </a:r>
            <a:r>
              <a:rPr lang="zh-CN" altLang="en-US" dirty="0" smtClean="0"/>
              <a:t>顶层和选项</a:t>
            </a:r>
            <a:r>
              <a:rPr lang="zh-CN" altLang="en-US" dirty="0"/>
              <a:t>层产品</a:t>
            </a:r>
            <a:r>
              <a:rPr lang="zh-CN" altLang="en-US" dirty="0" smtClean="0"/>
              <a:t>结构建立</a:t>
            </a:r>
            <a:endParaRPr lang="en-US" dirty="0"/>
          </a:p>
        </p:txBody>
      </p:sp>
      <p:grpSp>
        <p:nvGrpSpPr>
          <p:cNvPr id="2" name="组合 55"/>
          <p:cNvGrpSpPr/>
          <p:nvPr/>
        </p:nvGrpSpPr>
        <p:grpSpPr>
          <a:xfrm>
            <a:off x="492101" y="1317558"/>
            <a:ext cx="1128713" cy="1023728"/>
            <a:chOff x="6393367" y="894225"/>
            <a:chExt cx="1128713" cy="1023728"/>
          </a:xfrm>
        </p:grpSpPr>
        <p:sp>
          <p:nvSpPr>
            <p:cNvPr id="55" name="椭圆 54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4" name="Picture 138" descr="j02919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AutoShape 5"/>
          <p:cNvSpPr>
            <a:spLocks noChangeArrowheads="1"/>
          </p:cNvSpPr>
          <p:nvPr/>
        </p:nvSpPr>
        <p:spPr bwMode="auto">
          <a:xfrm>
            <a:off x="341313" y="434609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6" name="AutoShape 11"/>
          <p:cNvCxnSpPr>
            <a:cxnSpLocks noChangeShapeType="1"/>
            <a:stCxn id="43" idx="2"/>
            <a:endCxn id="37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创建选项层结构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38" name="AutoShape 13"/>
          <p:cNvCxnSpPr>
            <a:cxnSpLocks noChangeShapeType="1"/>
            <a:stCxn id="37" idx="2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9" name="AutoShape 17"/>
          <p:cNvSpPr>
            <a:spLocks noChangeArrowheads="1"/>
          </p:cNvSpPr>
          <p:nvPr/>
        </p:nvSpPr>
        <p:spPr bwMode="auto">
          <a:xfrm>
            <a:off x="382058" y="5023166"/>
            <a:ext cx="1379538" cy="28257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41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 smtClean="0">
                <a:solidFill>
                  <a:srgbClr val="FFFFFF"/>
                </a:solidFill>
                <a:latin typeface="Arial Narrow" pitchFamily="34" charset="0"/>
              </a:rPr>
              <a:t>创建产品顶层结构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44" name="AutoShape 10"/>
          <p:cNvCxnSpPr>
            <a:cxnSpLocks noChangeShapeType="1"/>
            <a:stCxn id="45" idx="2"/>
            <a:endCxn id="43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5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7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380994" y="4395806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定义工程顶件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cxnSp>
        <p:nvCxnSpPr>
          <p:cNvPr id="50" name="AutoShape 13"/>
          <p:cNvCxnSpPr>
            <a:cxnSpLocks noChangeShapeType="1"/>
            <a:stCxn id="49" idx="2"/>
          </p:cNvCxnSpPr>
          <p:nvPr/>
        </p:nvCxnSpPr>
        <p:spPr bwMode="auto">
          <a:xfrm>
            <a:off x="1046157" y="4800618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176207" y="4283093"/>
            <a:ext cx="231775" cy="231775"/>
            <a:chOff x="2452" y="1263"/>
            <a:chExt cx="146" cy="146"/>
          </a:xfrm>
        </p:grpSpPr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3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3067" y="1688845"/>
            <a:ext cx="5850467" cy="4410740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46" name="Rounded Rectangle 78"/>
          <p:cNvSpPr/>
          <p:nvPr/>
        </p:nvSpPr>
        <p:spPr bwMode="auto">
          <a:xfrm>
            <a:off x="2506134" y="3767667"/>
            <a:ext cx="2692399" cy="795866"/>
          </a:xfrm>
          <a:prstGeom prst="roundRect">
            <a:avLst>
              <a:gd name="adj" fmla="val 7568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" name="AutoShape 47"/>
          <p:cNvSpPr>
            <a:spLocks noChangeArrowheads="1"/>
          </p:cNvSpPr>
          <p:nvPr/>
        </p:nvSpPr>
        <p:spPr bwMode="auto">
          <a:xfrm>
            <a:off x="4537335" y="3369733"/>
            <a:ext cx="1854999" cy="246863"/>
          </a:xfrm>
          <a:prstGeom prst="wedgeRectCallout">
            <a:avLst>
              <a:gd name="adj1" fmla="val -59371"/>
              <a:gd name="adj2" fmla="val 105335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为选项节点完成工程顶件定义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641479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3109913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87" y="1487646"/>
            <a:ext cx="2754967" cy="3295306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0" name="右箭头 59"/>
          <p:cNvSpPr/>
          <p:nvPr/>
        </p:nvSpPr>
        <p:spPr bwMode="auto">
          <a:xfrm rot="1628597">
            <a:off x="3192531" y="2583285"/>
            <a:ext cx="364874" cy="62179"/>
          </a:xfrm>
          <a:prstGeom prst="rightArrow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32094" y="2700534"/>
            <a:ext cx="5298141" cy="3893747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2" name="矩形 61"/>
          <p:cNvSpPr/>
          <p:nvPr/>
        </p:nvSpPr>
        <p:spPr bwMode="auto">
          <a:xfrm>
            <a:off x="5513294" y="3810000"/>
            <a:ext cx="555812" cy="519953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3" name="AutoShape 47"/>
          <p:cNvSpPr>
            <a:spLocks noChangeArrowheads="1"/>
          </p:cNvSpPr>
          <p:nvPr/>
        </p:nvSpPr>
        <p:spPr bwMode="auto">
          <a:xfrm>
            <a:off x="5814804" y="2607367"/>
            <a:ext cx="2163965" cy="400752"/>
          </a:xfrm>
          <a:prstGeom prst="wedgeRectCallout">
            <a:avLst>
              <a:gd name="adj1" fmla="val -40492"/>
              <a:gd name="adj2" fmla="val 244718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选项默认包含设计选项和销售选项两种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3109913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7341" y="1541929"/>
            <a:ext cx="6065325" cy="3661522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54" name="AutoShape 47"/>
          <p:cNvSpPr>
            <a:spLocks noChangeArrowheads="1"/>
          </p:cNvSpPr>
          <p:nvPr/>
        </p:nvSpPr>
        <p:spPr bwMode="auto">
          <a:xfrm>
            <a:off x="5375534" y="2060521"/>
            <a:ext cx="863902" cy="246863"/>
          </a:xfrm>
          <a:prstGeom prst="wedgeRectCallout">
            <a:avLst>
              <a:gd name="adj1" fmla="val -61206"/>
              <a:gd name="adj2" fmla="val 173135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新建选项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6584" y="3803904"/>
            <a:ext cx="2880360" cy="2640902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5" name="矩形 64"/>
          <p:cNvSpPr/>
          <p:nvPr/>
        </p:nvSpPr>
        <p:spPr bwMode="auto">
          <a:xfrm>
            <a:off x="2359152" y="3785616"/>
            <a:ext cx="1060704" cy="2670048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1318" y="3554995"/>
            <a:ext cx="4500282" cy="270797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6" name="右箭头 65"/>
          <p:cNvSpPr/>
          <p:nvPr/>
        </p:nvSpPr>
        <p:spPr bwMode="auto">
          <a:xfrm rot="19993785">
            <a:off x="3386941" y="4684962"/>
            <a:ext cx="1170168" cy="133110"/>
          </a:xfrm>
          <a:prstGeom prst="rightArrow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7" name="AutoShape 47"/>
          <p:cNvSpPr>
            <a:spLocks noChangeArrowheads="1"/>
          </p:cNvSpPr>
          <p:nvPr/>
        </p:nvSpPr>
        <p:spPr bwMode="auto">
          <a:xfrm>
            <a:off x="5895486" y="3889321"/>
            <a:ext cx="1697619" cy="400752"/>
          </a:xfrm>
          <a:prstGeom prst="wedgeRectCallout">
            <a:avLst>
              <a:gd name="adj1" fmla="val -61206"/>
              <a:gd name="adj2" fmla="val 173135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填写选项名称和说明等信息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3737463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8069" y="1366853"/>
            <a:ext cx="4951693" cy="403214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6584" y="3803904"/>
            <a:ext cx="2880360" cy="2640902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93" y="3325905"/>
            <a:ext cx="4218735" cy="2614893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0" name="矩形 59"/>
          <p:cNvSpPr/>
          <p:nvPr/>
        </p:nvSpPr>
        <p:spPr bwMode="auto">
          <a:xfrm>
            <a:off x="3388659" y="3971365"/>
            <a:ext cx="636494" cy="519953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1" name="右箭头 60"/>
          <p:cNvSpPr/>
          <p:nvPr/>
        </p:nvSpPr>
        <p:spPr bwMode="auto">
          <a:xfrm rot="759655">
            <a:off x="4053895" y="4229706"/>
            <a:ext cx="690577" cy="106544"/>
          </a:xfrm>
          <a:prstGeom prst="rightArrow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2" name="AutoShape 47"/>
          <p:cNvSpPr>
            <a:spLocks noChangeArrowheads="1"/>
          </p:cNvSpPr>
          <p:nvPr/>
        </p:nvSpPr>
        <p:spPr bwMode="auto">
          <a:xfrm>
            <a:off x="5787910" y="1997768"/>
            <a:ext cx="863902" cy="246863"/>
          </a:xfrm>
          <a:prstGeom prst="wedgeRectCallout">
            <a:avLst>
              <a:gd name="adj1" fmla="val -99601"/>
              <a:gd name="adj2" fmla="val 154979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新建选项值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63" name="AutoShape 47"/>
          <p:cNvSpPr>
            <a:spLocks noChangeArrowheads="1"/>
          </p:cNvSpPr>
          <p:nvPr/>
        </p:nvSpPr>
        <p:spPr bwMode="auto">
          <a:xfrm>
            <a:off x="5859627" y="3503838"/>
            <a:ext cx="1697619" cy="400752"/>
          </a:xfrm>
          <a:prstGeom prst="wedgeRectCallout">
            <a:avLst>
              <a:gd name="adj1" fmla="val -61206"/>
              <a:gd name="adj2" fmla="val 173135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填写选项值名称和说明等信息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4320188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" name="Rectangle 58"/>
          <p:cNvSpPr/>
          <p:nvPr/>
        </p:nvSpPr>
        <p:spPr bwMode="auto">
          <a:xfrm>
            <a:off x="2616447" y="1853135"/>
            <a:ext cx="1167669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ea"/>
              </a:rPr>
              <a:t>三联阀属具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8" name="Rounded Rectangle 65"/>
          <p:cNvSpPr/>
          <p:nvPr/>
        </p:nvSpPr>
        <p:spPr bwMode="auto">
          <a:xfrm>
            <a:off x="3469361" y="2327617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除雪铲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53" name="Rounded Rectangle 66"/>
          <p:cNvSpPr/>
          <p:nvPr/>
        </p:nvSpPr>
        <p:spPr bwMode="auto">
          <a:xfrm>
            <a:off x="3469361" y="2677725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抱叉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54" name="Elbow Connector 12"/>
          <p:cNvCxnSpPr>
            <a:stCxn id="42" idx="2"/>
            <a:endCxn id="48" idx="1"/>
          </p:cNvCxnSpPr>
          <p:nvPr/>
        </p:nvCxnSpPr>
        <p:spPr bwMode="auto">
          <a:xfrm rot="16200000" flipH="1">
            <a:off x="3177272" y="2165274"/>
            <a:ext cx="315098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Elbow Connector 12"/>
          <p:cNvCxnSpPr>
            <a:stCxn id="42" idx="2"/>
            <a:endCxn id="53" idx="1"/>
          </p:cNvCxnSpPr>
          <p:nvPr/>
        </p:nvCxnSpPr>
        <p:spPr bwMode="auto">
          <a:xfrm rot="16200000" flipH="1">
            <a:off x="3002218" y="2340328"/>
            <a:ext cx="665206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Rounded Rectangle 69"/>
          <p:cNvSpPr/>
          <p:nvPr/>
        </p:nvSpPr>
        <p:spPr bwMode="auto">
          <a:xfrm>
            <a:off x="3469361" y="3027834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侧卸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61" name="Elbow Connector 12"/>
          <p:cNvCxnSpPr>
            <a:stCxn id="42" idx="2"/>
            <a:endCxn id="60" idx="1"/>
          </p:cNvCxnSpPr>
          <p:nvPr/>
        </p:nvCxnSpPr>
        <p:spPr bwMode="auto">
          <a:xfrm rot="16200000" flipH="1">
            <a:off x="2827164" y="2515382"/>
            <a:ext cx="1015315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Curved Connector 39"/>
          <p:cNvCxnSpPr>
            <a:stCxn id="48" idx="3"/>
            <a:endCxn id="66" idx="3"/>
          </p:cNvCxnSpPr>
          <p:nvPr/>
        </p:nvCxnSpPr>
        <p:spPr bwMode="auto">
          <a:xfrm flipH="1">
            <a:off x="3975418" y="2457363"/>
            <a:ext cx="321846" cy="2412572"/>
          </a:xfrm>
          <a:prstGeom prst="curvedConnector3">
            <a:avLst>
              <a:gd name="adj1" fmla="val -71028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cxnSp>
        <p:nvCxnSpPr>
          <p:cNvPr id="63" name="Curved Connector 39"/>
          <p:cNvCxnSpPr>
            <a:stCxn id="53" idx="3"/>
            <a:endCxn id="67" idx="3"/>
          </p:cNvCxnSpPr>
          <p:nvPr/>
        </p:nvCxnSpPr>
        <p:spPr bwMode="auto">
          <a:xfrm flipH="1">
            <a:off x="3862241" y="2807471"/>
            <a:ext cx="435023" cy="2412572"/>
          </a:xfrm>
          <a:prstGeom prst="curvedConnector3">
            <a:avLst>
              <a:gd name="adj1" fmla="val -52549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3797145" y="3875038"/>
            <a:ext cx="492443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</a:rPr>
              <a:t>包含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65" name="Rectangle 58"/>
          <p:cNvSpPr/>
          <p:nvPr/>
        </p:nvSpPr>
        <p:spPr bwMode="auto">
          <a:xfrm>
            <a:off x="2181424" y="4265707"/>
            <a:ext cx="1266866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ea"/>
              </a:rPr>
              <a:t>三联阀属</a:t>
            </a:r>
            <a:r>
              <a:rPr lang="zh-CN" altLang="en-US" sz="1200" dirty="0" smtClean="0">
                <a:latin typeface="+mn-ea"/>
              </a:rPr>
              <a:t>具管路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6" name="Rounded Rectangle 65"/>
          <p:cNvSpPr/>
          <p:nvPr/>
        </p:nvSpPr>
        <p:spPr bwMode="auto">
          <a:xfrm>
            <a:off x="3034338" y="4740189"/>
            <a:ext cx="941080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除雪</a:t>
            </a: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铲管路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7" name="Rounded Rectangle 66"/>
          <p:cNvSpPr/>
          <p:nvPr/>
        </p:nvSpPr>
        <p:spPr bwMode="auto">
          <a:xfrm>
            <a:off x="3034338" y="5090297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抱叉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管路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68" name="Elbow Connector 12"/>
          <p:cNvCxnSpPr>
            <a:stCxn id="65" idx="2"/>
            <a:endCxn id="66" idx="1"/>
          </p:cNvCxnSpPr>
          <p:nvPr/>
        </p:nvCxnSpPr>
        <p:spPr bwMode="auto">
          <a:xfrm rot="16200000" flipH="1">
            <a:off x="2767048" y="4602645"/>
            <a:ext cx="315098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Elbow Connector 12"/>
          <p:cNvCxnSpPr>
            <a:stCxn id="65" idx="2"/>
            <a:endCxn id="67" idx="1"/>
          </p:cNvCxnSpPr>
          <p:nvPr/>
        </p:nvCxnSpPr>
        <p:spPr bwMode="auto">
          <a:xfrm rot="16200000" flipH="1">
            <a:off x="2591994" y="4777699"/>
            <a:ext cx="665206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Rounded Rectangle 69"/>
          <p:cNvSpPr/>
          <p:nvPr/>
        </p:nvSpPr>
        <p:spPr bwMode="auto">
          <a:xfrm>
            <a:off x="3034338" y="5440406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侧卸管路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71" name="Elbow Connector 12"/>
          <p:cNvCxnSpPr>
            <a:stCxn id="65" idx="2"/>
            <a:endCxn id="70" idx="1"/>
          </p:cNvCxnSpPr>
          <p:nvPr/>
        </p:nvCxnSpPr>
        <p:spPr bwMode="auto">
          <a:xfrm rot="16200000" flipH="1">
            <a:off x="2416940" y="4952753"/>
            <a:ext cx="1015315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Curved Connector 39"/>
          <p:cNvCxnSpPr>
            <a:stCxn id="60" idx="3"/>
            <a:endCxn id="70" idx="3"/>
          </p:cNvCxnSpPr>
          <p:nvPr/>
        </p:nvCxnSpPr>
        <p:spPr bwMode="auto">
          <a:xfrm flipH="1">
            <a:off x="3862241" y="3157580"/>
            <a:ext cx="435023" cy="2412572"/>
          </a:xfrm>
          <a:prstGeom prst="curvedConnector3">
            <a:avLst>
              <a:gd name="adj1" fmla="val -52549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8720" y="1295400"/>
            <a:ext cx="2897979" cy="424444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73" name="矩形 72"/>
          <p:cNvSpPr/>
          <p:nvPr/>
        </p:nvSpPr>
        <p:spPr bwMode="auto">
          <a:xfrm>
            <a:off x="5141258" y="4191499"/>
            <a:ext cx="1691341" cy="1371101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75" name="AutoShape 47"/>
          <p:cNvSpPr>
            <a:spLocks noChangeArrowheads="1"/>
          </p:cNvSpPr>
          <p:nvPr/>
        </p:nvSpPr>
        <p:spPr bwMode="auto">
          <a:xfrm>
            <a:off x="6871643" y="5723101"/>
            <a:ext cx="1341024" cy="400752"/>
          </a:xfrm>
          <a:prstGeom prst="wedgeRectCallout">
            <a:avLst>
              <a:gd name="adj1" fmla="val -93636"/>
              <a:gd name="adj2" fmla="val -132540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在选项值上添加包含规则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85267" y="1161365"/>
            <a:ext cx="4037014" cy="29880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4320188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2" name="Rectangle 58"/>
          <p:cNvSpPr/>
          <p:nvPr/>
        </p:nvSpPr>
        <p:spPr bwMode="auto">
          <a:xfrm>
            <a:off x="2616447" y="1853135"/>
            <a:ext cx="1167669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ea"/>
              </a:rPr>
              <a:t>三联阀属具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8" name="Rounded Rectangle 65"/>
          <p:cNvSpPr/>
          <p:nvPr/>
        </p:nvSpPr>
        <p:spPr bwMode="auto">
          <a:xfrm>
            <a:off x="3469361" y="2327617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除雪铲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53" name="Rounded Rectangle 66"/>
          <p:cNvSpPr/>
          <p:nvPr/>
        </p:nvSpPr>
        <p:spPr bwMode="auto">
          <a:xfrm>
            <a:off x="3469361" y="2677725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抱叉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54" name="Elbow Connector 12"/>
          <p:cNvCxnSpPr>
            <a:stCxn id="42" idx="2"/>
            <a:endCxn id="48" idx="1"/>
          </p:cNvCxnSpPr>
          <p:nvPr/>
        </p:nvCxnSpPr>
        <p:spPr bwMode="auto">
          <a:xfrm rot="16200000" flipH="1">
            <a:off x="3177272" y="2165274"/>
            <a:ext cx="315098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Elbow Connector 12"/>
          <p:cNvCxnSpPr>
            <a:stCxn id="42" idx="2"/>
            <a:endCxn id="53" idx="1"/>
          </p:cNvCxnSpPr>
          <p:nvPr/>
        </p:nvCxnSpPr>
        <p:spPr bwMode="auto">
          <a:xfrm rot="16200000" flipH="1">
            <a:off x="3002218" y="2340328"/>
            <a:ext cx="665206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Rounded Rectangle 69"/>
          <p:cNvSpPr/>
          <p:nvPr/>
        </p:nvSpPr>
        <p:spPr bwMode="auto">
          <a:xfrm>
            <a:off x="3469361" y="3027834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侧卸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61" name="Elbow Connector 12"/>
          <p:cNvCxnSpPr>
            <a:stCxn id="42" idx="2"/>
            <a:endCxn id="60" idx="1"/>
          </p:cNvCxnSpPr>
          <p:nvPr/>
        </p:nvCxnSpPr>
        <p:spPr bwMode="auto">
          <a:xfrm rot="16200000" flipH="1">
            <a:off x="2827164" y="2515382"/>
            <a:ext cx="1015315" cy="26907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Curved Connector 39"/>
          <p:cNvCxnSpPr>
            <a:stCxn id="48" idx="3"/>
            <a:endCxn id="66" idx="3"/>
          </p:cNvCxnSpPr>
          <p:nvPr/>
        </p:nvCxnSpPr>
        <p:spPr bwMode="auto">
          <a:xfrm flipH="1">
            <a:off x="3975418" y="2457363"/>
            <a:ext cx="321846" cy="2412572"/>
          </a:xfrm>
          <a:prstGeom prst="curvedConnector3">
            <a:avLst>
              <a:gd name="adj1" fmla="val -71028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cxnSp>
        <p:nvCxnSpPr>
          <p:cNvPr id="63" name="Curved Connector 39"/>
          <p:cNvCxnSpPr>
            <a:stCxn id="53" idx="3"/>
            <a:endCxn id="67" idx="3"/>
          </p:cNvCxnSpPr>
          <p:nvPr/>
        </p:nvCxnSpPr>
        <p:spPr bwMode="auto">
          <a:xfrm flipH="1">
            <a:off x="3862241" y="2807471"/>
            <a:ext cx="435023" cy="2412572"/>
          </a:xfrm>
          <a:prstGeom prst="curvedConnector3">
            <a:avLst>
              <a:gd name="adj1" fmla="val -52549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3797145" y="3875038"/>
            <a:ext cx="492443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</a:rPr>
              <a:t>包含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65" name="Rectangle 58"/>
          <p:cNvSpPr/>
          <p:nvPr/>
        </p:nvSpPr>
        <p:spPr bwMode="auto">
          <a:xfrm>
            <a:off x="2181424" y="4265707"/>
            <a:ext cx="1266866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ea"/>
              </a:rPr>
              <a:t>三联阀属</a:t>
            </a:r>
            <a:r>
              <a:rPr lang="zh-CN" altLang="en-US" sz="1200" dirty="0" smtClean="0">
                <a:latin typeface="+mn-ea"/>
              </a:rPr>
              <a:t>具管路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6" name="Rounded Rectangle 65"/>
          <p:cNvSpPr/>
          <p:nvPr/>
        </p:nvSpPr>
        <p:spPr bwMode="auto">
          <a:xfrm>
            <a:off x="3034338" y="4740189"/>
            <a:ext cx="941080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除雪</a:t>
            </a: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铲管路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7" name="Rounded Rectangle 66"/>
          <p:cNvSpPr/>
          <p:nvPr/>
        </p:nvSpPr>
        <p:spPr bwMode="auto">
          <a:xfrm>
            <a:off x="3034338" y="5090297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抱叉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管路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68" name="Elbow Connector 12"/>
          <p:cNvCxnSpPr>
            <a:stCxn id="65" idx="2"/>
            <a:endCxn id="66" idx="1"/>
          </p:cNvCxnSpPr>
          <p:nvPr/>
        </p:nvCxnSpPr>
        <p:spPr bwMode="auto">
          <a:xfrm rot="16200000" flipH="1">
            <a:off x="2767048" y="4602645"/>
            <a:ext cx="315098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Elbow Connector 12"/>
          <p:cNvCxnSpPr>
            <a:stCxn id="65" idx="2"/>
            <a:endCxn id="67" idx="1"/>
          </p:cNvCxnSpPr>
          <p:nvPr/>
        </p:nvCxnSpPr>
        <p:spPr bwMode="auto">
          <a:xfrm rot="16200000" flipH="1">
            <a:off x="2591994" y="4777699"/>
            <a:ext cx="665206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Rounded Rectangle 69"/>
          <p:cNvSpPr/>
          <p:nvPr/>
        </p:nvSpPr>
        <p:spPr bwMode="auto">
          <a:xfrm>
            <a:off x="3034338" y="5440406"/>
            <a:ext cx="827903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侧卸管路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71" name="Elbow Connector 12"/>
          <p:cNvCxnSpPr>
            <a:stCxn id="65" idx="2"/>
            <a:endCxn id="70" idx="1"/>
          </p:cNvCxnSpPr>
          <p:nvPr/>
        </p:nvCxnSpPr>
        <p:spPr bwMode="auto">
          <a:xfrm rot="16200000" flipH="1">
            <a:off x="2416940" y="4952753"/>
            <a:ext cx="1015315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Curved Connector 39"/>
          <p:cNvCxnSpPr>
            <a:stCxn id="60" idx="3"/>
            <a:endCxn id="70" idx="3"/>
          </p:cNvCxnSpPr>
          <p:nvPr/>
        </p:nvCxnSpPr>
        <p:spPr bwMode="auto">
          <a:xfrm flipH="1">
            <a:off x="3862241" y="3157580"/>
            <a:ext cx="435023" cy="2412572"/>
          </a:xfrm>
          <a:prstGeom prst="curvedConnector3">
            <a:avLst>
              <a:gd name="adj1" fmla="val -52549"/>
            </a:avLst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sp>
        <p:nvSpPr>
          <p:cNvPr id="73" name="矩形 72"/>
          <p:cNvSpPr/>
          <p:nvPr/>
        </p:nvSpPr>
        <p:spPr bwMode="auto">
          <a:xfrm>
            <a:off x="5503333" y="2844800"/>
            <a:ext cx="423334" cy="170045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75" name="AutoShape 47"/>
          <p:cNvSpPr>
            <a:spLocks noChangeArrowheads="1"/>
          </p:cNvSpPr>
          <p:nvPr/>
        </p:nvSpPr>
        <p:spPr bwMode="auto">
          <a:xfrm>
            <a:off x="6516043" y="3233901"/>
            <a:ext cx="1341024" cy="246863"/>
          </a:xfrm>
          <a:prstGeom prst="wedgeRectCallout">
            <a:avLst>
              <a:gd name="adj1" fmla="val -93636"/>
              <a:gd name="adj2" fmla="val -132540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选择被包含的选项值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399" y="4597400"/>
            <a:ext cx="4301067" cy="110754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4320188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1" y="1710574"/>
            <a:ext cx="6553199" cy="39282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60" name="矩形 59"/>
          <p:cNvSpPr/>
          <p:nvPr/>
        </p:nvSpPr>
        <p:spPr bwMode="auto">
          <a:xfrm>
            <a:off x="4817534" y="3208866"/>
            <a:ext cx="4080933" cy="1041400"/>
          </a:xfrm>
          <a:prstGeom prst="rect">
            <a:avLst/>
          </a:prstGeom>
          <a:solidFill>
            <a:schemeClr val="bg1"/>
          </a:solidFill>
          <a:ln w="25400">
            <a:noFill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17998" y="3425308"/>
            <a:ext cx="3884613" cy="280721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8" name="矩形 47"/>
          <p:cNvSpPr/>
          <p:nvPr/>
        </p:nvSpPr>
        <p:spPr bwMode="auto">
          <a:xfrm>
            <a:off x="4944533" y="2836333"/>
            <a:ext cx="254000" cy="262467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4320188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3" name="Rectangle 78"/>
          <p:cNvSpPr/>
          <p:nvPr/>
        </p:nvSpPr>
        <p:spPr bwMode="auto">
          <a:xfrm>
            <a:off x="2175147" y="4222120"/>
            <a:ext cx="1006738" cy="336481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dirty="0" smtClean="0">
                <a:latin typeface="+mn-ea"/>
              </a:rPr>
              <a:t>动臂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4" name="Rounded Rectangle 79"/>
          <p:cNvSpPr/>
          <p:nvPr/>
        </p:nvSpPr>
        <p:spPr bwMode="auto">
          <a:xfrm>
            <a:off x="2885660" y="4743953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加长臂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sp>
        <p:nvSpPr>
          <p:cNvPr id="75" name="Rounded Rectangle 80"/>
          <p:cNvSpPr/>
          <p:nvPr/>
        </p:nvSpPr>
        <p:spPr bwMode="auto">
          <a:xfrm>
            <a:off x="2885660" y="5094061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普通臂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76" name="Elbow Connector 12"/>
          <p:cNvCxnSpPr>
            <a:stCxn id="73" idx="2"/>
            <a:endCxn id="74" idx="1"/>
          </p:cNvCxnSpPr>
          <p:nvPr/>
        </p:nvCxnSpPr>
        <p:spPr bwMode="auto">
          <a:xfrm rot="16200000" flipH="1">
            <a:off x="2622257" y="4614860"/>
            <a:ext cx="319663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Elbow Connector 12"/>
          <p:cNvCxnSpPr>
            <a:stCxn id="73" idx="2"/>
            <a:endCxn id="75" idx="1"/>
          </p:cNvCxnSpPr>
          <p:nvPr/>
        </p:nvCxnSpPr>
        <p:spPr bwMode="auto">
          <a:xfrm rot="16200000" flipH="1">
            <a:off x="2447203" y="4789914"/>
            <a:ext cx="669771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8" name="Rounded Rectangle 83"/>
          <p:cNvSpPr/>
          <p:nvPr/>
        </p:nvSpPr>
        <p:spPr bwMode="auto">
          <a:xfrm>
            <a:off x="2885660" y="5444170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无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79" name="Elbow Connector 12"/>
          <p:cNvCxnSpPr>
            <a:stCxn id="73" idx="2"/>
            <a:endCxn id="78" idx="1"/>
          </p:cNvCxnSpPr>
          <p:nvPr/>
        </p:nvCxnSpPr>
        <p:spPr bwMode="auto">
          <a:xfrm rot="16200000" flipH="1">
            <a:off x="2272148" y="4964969"/>
            <a:ext cx="1019880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Curved Connector 92"/>
          <p:cNvCxnSpPr>
            <a:stCxn id="84" idx="3"/>
            <a:endCxn id="74" idx="3"/>
          </p:cNvCxnSpPr>
          <p:nvPr/>
        </p:nvCxnSpPr>
        <p:spPr bwMode="auto">
          <a:xfrm flipH="1">
            <a:off x="3802789" y="2869406"/>
            <a:ext cx="913555" cy="2008858"/>
          </a:xfrm>
          <a:prstGeom prst="curvedConnector3">
            <a:avLst>
              <a:gd name="adj1" fmla="val -25023"/>
            </a:avLst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arrow" w="lg" len="lg"/>
            <a:tailEnd type="arrow" w="lg" len="lg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4309298" y="3874515"/>
            <a:ext cx="492443" cy="27699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排除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2" name="Rectangle 58"/>
          <p:cNvSpPr/>
          <p:nvPr/>
        </p:nvSpPr>
        <p:spPr bwMode="auto">
          <a:xfrm>
            <a:off x="2252228" y="1915070"/>
            <a:ext cx="1266866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 smtClean="0">
                <a:latin typeface="+mn-ea"/>
              </a:rPr>
              <a:t>液压系统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3" name="Rounded Rectangle 65"/>
          <p:cNvSpPr/>
          <p:nvPr/>
        </p:nvSpPr>
        <p:spPr bwMode="auto">
          <a:xfrm>
            <a:off x="3105141" y="2389552"/>
            <a:ext cx="1247217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两联阀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I(</a:t>
            </a: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正常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)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4" name="Rounded Rectangle 66"/>
          <p:cNvSpPr/>
          <p:nvPr/>
        </p:nvSpPr>
        <p:spPr bwMode="auto">
          <a:xfrm>
            <a:off x="3105142" y="2739660"/>
            <a:ext cx="1611202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两联阀</a:t>
            </a:r>
            <a:r>
              <a:rPr lang="en-US" altLang="zh-CN" sz="1100" dirty="0" smtClean="0">
                <a:latin typeface="Arial" charset="0"/>
                <a:ea typeface="MS PGothic" pitchFamily="34" charset="-128"/>
              </a:rPr>
              <a:t>II(</a:t>
            </a: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无工作装置</a:t>
            </a:r>
            <a:r>
              <a:rPr lang="en-US" altLang="zh-CN" sz="1100" dirty="0" smtClean="0">
                <a:latin typeface="Arial" charset="0"/>
                <a:ea typeface="MS PGothic" pitchFamily="34" charset="-128"/>
              </a:rPr>
              <a:t>)</a:t>
            </a:r>
            <a:endParaRPr lang="en-US" altLang="zh-CN" sz="1100" dirty="0">
              <a:latin typeface="Arial" charset="0"/>
              <a:ea typeface="MS PGothic" pitchFamily="34" charset="-128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85" name="Elbow Connector 12"/>
          <p:cNvCxnSpPr>
            <a:stCxn id="82" idx="2"/>
            <a:endCxn id="83" idx="1"/>
          </p:cNvCxnSpPr>
          <p:nvPr/>
        </p:nvCxnSpPr>
        <p:spPr bwMode="auto">
          <a:xfrm rot="16200000" flipH="1">
            <a:off x="2837852" y="2252009"/>
            <a:ext cx="315098" cy="21948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Elbow Connector 12"/>
          <p:cNvCxnSpPr>
            <a:stCxn id="82" idx="2"/>
            <a:endCxn id="84" idx="1"/>
          </p:cNvCxnSpPr>
          <p:nvPr/>
        </p:nvCxnSpPr>
        <p:spPr bwMode="auto">
          <a:xfrm rot="16200000" flipH="1">
            <a:off x="2662798" y="2427062"/>
            <a:ext cx="665206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7" name="Rounded Rectangle 69"/>
          <p:cNvSpPr/>
          <p:nvPr/>
        </p:nvSpPr>
        <p:spPr bwMode="auto">
          <a:xfrm>
            <a:off x="3105142" y="3089769"/>
            <a:ext cx="1247216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三联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阀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I(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正常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)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88" name="Elbow Connector 12"/>
          <p:cNvCxnSpPr>
            <a:stCxn id="82" idx="2"/>
            <a:endCxn id="87" idx="1"/>
          </p:cNvCxnSpPr>
          <p:nvPr/>
        </p:nvCxnSpPr>
        <p:spPr bwMode="auto">
          <a:xfrm rot="16200000" flipH="1">
            <a:off x="2487744" y="2602116"/>
            <a:ext cx="1015315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Rounded Rectangle 69"/>
          <p:cNvSpPr/>
          <p:nvPr/>
        </p:nvSpPr>
        <p:spPr bwMode="auto">
          <a:xfrm>
            <a:off x="3115494" y="3464119"/>
            <a:ext cx="1600850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三联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阀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II(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无工作装置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)</a:t>
            </a:r>
          </a:p>
        </p:txBody>
      </p:sp>
      <p:cxnSp>
        <p:nvCxnSpPr>
          <p:cNvPr id="90" name="Elbow Connector 12"/>
          <p:cNvCxnSpPr>
            <a:stCxn id="82" idx="2"/>
            <a:endCxn id="89" idx="1"/>
          </p:cNvCxnSpPr>
          <p:nvPr/>
        </p:nvCxnSpPr>
        <p:spPr bwMode="auto">
          <a:xfrm rot="16200000" flipH="1">
            <a:off x="2305745" y="2784115"/>
            <a:ext cx="1389665" cy="22983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Curved Connector 92"/>
          <p:cNvCxnSpPr>
            <a:stCxn id="89" idx="3"/>
            <a:endCxn id="74" idx="3"/>
          </p:cNvCxnSpPr>
          <p:nvPr/>
        </p:nvCxnSpPr>
        <p:spPr bwMode="auto">
          <a:xfrm flipH="1">
            <a:off x="3802789" y="3593865"/>
            <a:ext cx="913555" cy="1284399"/>
          </a:xfrm>
          <a:prstGeom prst="curvedConnector3">
            <a:avLst>
              <a:gd name="adj1" fmla="val -25023"/>
            </a:avLst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arrow" w="lg" len="lg"/>
            <a:tailEnd type="arrow" w="lg" len="lg"/>
          </a:ln>
          <a:effectLst/>
        </p:spPr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3" y="1155012"/>
            <a:ext cx="3480857" cy="2572966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0120" y="3877732"/>
            <a:ext cx="3528414" cy="2726267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1" name="矩形 60"/>
          <p:cNvSpPr/>
          <p:nvPr/>
        </p:nvSpPr>
        <p:spPr bwMode="auto">
          <a:xfrm>
            <a:off x="5503333" y="2463800"/>
            <a:ext cx="2108200" cy="1168400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2" name="AutoShape 47"/>
          <p:cNvSpPr>
            <a:spLocks noChangeArrowheads="1"/>
          </p:cNvSpPr>
          <p:nvPr/>
        </p:nvSpPr>
        <p:spPr bwMode="auto">
          <a:xfrm>
            <a:off x="7134110" y="1574434"/>
            <a:ext cx="1341024" cy="400752"/>
          </a:xfrm>
          <a:prstGeom prst="wedgeRectCallout">
            <a:avLst>
              <a:gd name="adj1" fmla="val -65856"/>
              <a:gd name="adj2" fmla="val 169576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选择需要添加排除约束的选项值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63" name="矩形 62"/>
          <p:cNvSpPr/>
          <p:nvPr/>
        </p:nvSpPr>
        <p:spPr bwMode="auto">
          <a:xfrm>
            <a:off x="5537200" y="4885265"/>
            <a:ext cx="2099733" cy="1303867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64" name="AutoShape 47"/>
          <p:cNvSpPr>
            <a:spLocks noChangeArrowheads="1"/>
          </p:cNvSpPr>
          <p:nvPr/>
        </p:nvSpPr>
        <p:spPr bwMode="auto">
          <a:xfrm>
            <a:off x="7371177" y="4334567"/>
            <a:ext cx="1341024" cy="246863"/>
          </a:xfrm>
          <a:prstGeom prst="wedgeRectCallout">
            <a:avLst>
              <a:gd name="adj1" fmla="val -65856"/>
              <a:gd name="adj2" fmla="val 169576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选择不兼容的选项值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4320188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3" name="Rectangle 78"/>
          <p:cNvSpPr/>
          <p:nvPr/>
        </p:nvSpPr>
        <p:spPr bwMode="auto">
          <a:xfrm>
            <a:off x="6095213" y="1445034"/>
            <a:ext cx="1006738" cy="336481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dirty="0" smtClean="0">
                <a:latin typeface="+mn-ea"/>
              </a:rPr>
              <a:t>动臂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4" name="Rounded Rectangle 79"/>
          <p:cNvSpPr/>
          <p:nvPr/>
        </p:nvSpPr>
        <p:spPr bwMode="auto">
          <a:xfrm>
            <a:off x="6805726" y="1966867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加长臂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sp>
        <p:nvSpPr>
          <p:cNvPr id="75" name="Rounded Rectangle 80"/>
          <p:cNvSpPr/>
          <p:nvPr/>
        </p:nvSpPr>
        <p:spPr bwMode="auto">
          <a:xfrm>
            <a:off x="6805726" y="2316975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普通臂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76" name="Elbow Connector 12"/>
          <p:cNvCxnSpPr>
            <a:stCxn id="73" idx="2"/>
            <a:endCxn id="74" idx="1"/>
          </p:cNvCxnSpPr>
          <p:nvPr/>
        </p:nvCxnSpPr>
        <p:spPr bwMode="auto">
          <a:xfrm rot="16200000" flipH="1">
            <a:off x="6542323" y="1837774"/>
            <a:ext cx="319663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Elbow Connector 12"/>
          <p:cNvCxnSpPr>
            <a:stCxn id="73" idx="2"/>
            <a:endCxn id="75" idx="1"/>
          </p:cNvCxnSpPr>
          <p:nvPr/>
        </p:nvCxnSpPr>
        <p:spPr bwMode="auto">
          <a:xfrm rot="16200000" flipH="1">
            <a:off x="6367269" y="2012828"/>
            <a:ext cx="669771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8" name="Rounded Rectangle 83"/>
          <p:cNvSpPr/>
          <p:nvPr/>
        </p:nvSpPr>
        <p:spPr bwMode="auto">
          <a:xfrm>
            <a:off x="6805726" y="2667084"/>
            <a:ext cx="917129" cy="26862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无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79" name="Elbow Connector 12"/>
          <p:cNvCxnSpPr>
            <a:stCxn id="73" idx="2"/>
            <a:endCxn id="78" idx="1"/>
          </p:cNvCxnSpPr>
          <p:nvPr/>
        </p:nvCxnSpPr>
        <p:spPr bwMode="auto">
          <a:xfrm rot="16200000" flipH="1">
            <a:off x="6192214" y="2187883"/>
            <a:ext cx="1019880" cy="20714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Curved Connector 92"/>
          <p:cNvCxnSpPr>
            <a:stCxn id="84" idx="3"/>
            <a:endCxn id="74" idx="1"/>
          </p:cNvCxnSpPr>
          <p:nvPr/>
        </p:nvCxnSpPr>
        <p:spPr bwMode="auto">
          <a:xfrm flipV="1">
            <a:off x="4716344" y="2101178"/>
            <a:ext cx="2089382" cy="268675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arrow" w="lg" len="lg"/>
            <a:tailEnd type="arrow" w="lg" len="lg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5409964" y="2426696"/>
            <a:ext cx="492443" cy="27699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排除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2" name="Rectangle 58"/>
          <p:cNvSpPr/>
          <p:nvPr/>
        </p:nvSpPr>
        <p:spPr bwMode="auto">
          <a:xfrm>
            <a:off x="2252228" y="1415517"/>
            <a:ext cx="1266866" cy="289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 smtClean="0">
                <a:latin typeface="+mn-ea"/>
              </a:rPr>
              <a:t>液压系统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3" name="Rounded Rectangle 65"/>
          <p:cNvSpPr/>
          <p:nvPr/>
        </p:nvSpPr>
        <p:spPr bwMode="auto">
          <a:xfrm>
            <a:off x="3105141" y="1889999"/>
            <a:ext cx="1247217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两联阀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I(</a:t>
            </a: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正常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)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4" name="Rounded Rectangle 66"/>
          <p:cNvSpPr/>
          <p:nvPr/>
        </p:nvSpPr>
        <p:spPr bwMode="auto">
          <a:xfrm>
            <a:off x="3105142" y="2240107"/>
            <a:ext cx="1611202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Arial" charset="0"/>
                <a:ea typeface="MS PGothic" pitchFamily="34" charset="-128"/>
              </a:rPr>
              <a:t>两联阀</a:t>
            </a:r>
            <a:r>
              <a:rPr lang="en-US" altLang="zh-CN" sz="1100" dirty="0" smtClean="0">
                <a:latin typeface="Arial" charset="0"/>
                <a:ea typeface="MS PGothic" pitchFamily="34" charset="-128"/>
              </a:rPr>
              <a:t>II(</a:t>
            </a: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无工作装置</a:t>
            </a:r>
            <a:r>
              <a:rPr lang="en-US" altLang="zh-CN" sz="1100" dirty="0" smtClean="0">
                <a:latin typeface="Arial" charset="0"/>
                <a:ea typeface="MS PGothic" pitchFamily="34" charset="-128"/>
              </a:rPr>
              <a:t>)</a:t>
            </a:r>
            <a:endParaRPr lang="en-US" altLang="zh-CN" sz="1100" dirty="0">
              <a:latin typeface="Arial" charset="0"/>
              <a:ea typeface="MS PGothic" pitchFamily="34" charset="-128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85" name="Elbow Connector 12"/>
          <p:cNvCxnSpPr>
            <a:stCxn id="82" idx="2"/>
            <a:endCxn id="83" idx="1"/>
          </p:cNvCxnSpPr>
          <p:nvPr/>
        </p:nvCxnSpPr>
        <p:spPr bwMode="auto">
          <a:xfrm rot="16200000" flipH="1">
            <a:off x="2837852" y="1752456"/>
            <a:ext cx="315098" cy="21948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Elbow Connector 12"/>
          <p:cNvCxnSpPr>
            <a:stCxn id="82" idx="2"/>
            <a:endCxn id="84" idx="1"/>
          </p:cNvCxnSpPr>
          <p:nvPr/>
        </p:nvCxnSpPr>
        <p:spPr bwMode="auto">
          <a:xfrm rot="16200000" flipH="1">
            <a:off x="2662798" y="1927509"/>
            <a:ext cx="665206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7" name="Rounded Rectangle 69"/>
          <p:cNvSpPr/>
          <p:nvPr/>
        </p:nvSpPr>
        <p:spPr bwMode="auto">
          <a:xfrm>
            <a:off x="3105142" y="2590216"/>
            <a:ext cx="1247216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三联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阀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I(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正常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)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</a:rPr>
              <a:t> </a:t>
            </a:r>
          </a:p>
        </p:txBody>
      </p:sp>
      <p:cxnSp>
        <p:nvCxnSpPr>
          <p:cNvPr id="88" name="Elbow Connector 12"/>
          <p:cNvCxnSpPr>
            <a:stCxn id="82" idx="2"/>
            <a:endCxn id="87" idx="1"/>
          </p:cNvCxnSpPr>
          <p:nvPr/>
        </p:nvCxnSpPr>
        <p:spPr bwMode="auto">
          <a:xfrm rot="16200000" flipH="1">
            <a:off x="2487744" y="2102563"/>
            <a:ext cx="1015315" cy="21948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Rounded Rectangle 69"/>
          <p:cNvSpPr/>
          <p:nvPr/>
        </p:nvSpPr>
        <p:spPr bwMode="auto">
          <a:xfrm>
            <a:off x="3115494" y="2964566"/>
            <a:ext cx="1600850" cy="25949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Arial" charset="0"/>
                <a:ea typeface="MS PGothic" pitchFamily="34" charset="-128"/>
              </a:rPr>
              <a:t>三联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阀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II(</a:t>
            </a:r>
            <a:r>
              <a:rPr lang="zh-CN" altLang="en-US" sz="1100" dirty="0">
                <a:latin typeface="Arial" charset="0"/>
                <a:ea typeface="MS PGothic" pitchFamily="34" charset="-128"/>
              </a:rPr>
              <a:t>无工作装置</a:t>
            </a:r>
            <a:r>
              <a:rPr lang="en-US" altLang="zh-CN" sz="1100" dirty="0">
                <a:latin typeface="Arial" charset="0"/>
                <a:ea typeface="MS PGothic" pitchFamily="34" charset="-128"/>
              </a:rPr>
              <a:t>)</a:t>
            </a:r>
          </a:p>
        </p:txBody>
      </p:sp>
      <p:cxnSp>
        <p:nvCxnSpPr>
          <p:cNvPr id="90" name="Elbow Connector 12"/>
          <p:cNvCxnSpPr>
            <a:stCxn id="82" idx="2"/>
            <a:endCxn id="89" idx="1"/>
          </p:cNvCxnSpPr>
          <p:nvPr/>
        </p:nvCxnSpPr>
        <p:spPr bwMode="auto">
          <a:xfrm rot="16200000" flipH="1">
            <a:off x="2305745" y="2284562"/>
            <a:ext cx="1389665" cy="22983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Curved Connector 92"/>
          <p:cNvCxnSpPr>
            <a:stCxn id="89" idx="3"/>
          </p:cNvCxnSpPr>
          <p:nvPr/>
        </p:nvCxnSpPr>
        <p:spPr bwMode="auto">
          <a:xfrm flipV="1">
            <a:off x="4716344" y="2770045"/>
            <a:ext cx="2015911" cy="324267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arrow" w="lg" len="lg"/>
            <a:tailEnd type="arrow" w="lg" len="lg"/>
          </a:ln>
          <a:effectLst/>
        </p:spPr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75469" y="3733800"/>
            <a:ext cx="5616562" cy="2345267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4929808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6196" y="1278336"/>
            <a:ext cx="3964145" cy="2970935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42" name="矩形 41"/>
          <p:cNvSpPr/>
          <p:nvPr/>
        </p:nvSpPr>
        <p:spPr bwMode="auto">
          <a:xfrm>
            <a:off x="2635624" y="2411507"/>
            <a:ext cx="277906" cy="251012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48" name="AutoShape 47"/>
          <p:cNvSpPr>
            <a:spLocks noChangeArrowheads="1"/>
          </p:cNvSpPr>
          <p:nvPr/>
        </p:nvSpPr>
        <p:spPr bwMode="auto">
          <a:xfrm>
            <a:off x="3322616" y="1961910"/>
            <a:ext cx="863902" cy="246863"/>
          </a:xfrm>
          <a:prstGeom prst="wedgeRectCallout">
            <a:avLst>
              <a:gd name="adj1" fmla="val -99601"/>
              <a:gd name="adj2" fmla="val 154979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新建选项集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72010" y="1407459"/>
            <a:ext cx="4037519" cy="2994212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96353" y="3427130"/>
            <a:ext cx="4287464" cy="3169493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54" name="矩形 53"/>
          <p:cNvSpPr/>
          <p:nvPr/>
        </p:nvSpPr>
        <p:spPr bwMode="auto">
          <a:xfrm>
            <a:off x="2788024" y="4267199"/>
            <a:ext cx="224117" cy="197226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56" name="AutoShape 47"/>
          <p:cNvSpPr>
            <a:spLocks noChangeArrowheads="1"/>
          </p:cNvSpPr>
          <p:nvPr/>
        </p:nvSpPr>
        <p:spPr bwMode="auto">
          <a:xfrm>
            <a:off x="3125392" y="5072663"/>
            <a:ext cx="1347996" cy="400752"/>
          </a:xfrm>
          <a:prstGeom prst="wedgeRectCallout">
            <a:avLst>
              <a:gd name="adj1" fmla="val -60942"/>
              <a:gd name="adj2" fmla="val -200525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添加或管理选项和选项值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54043" y="3513838"/>
            <a:ext cx="4036172" cy="3155905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5566323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  <a:endCxn id="26" idx="0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381000" y="3786188"/>
            <a:ext cx="1328738" cy="4048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为选项添加选项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值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27" name="AutoShape 13"/>
          <p:cNvCxnSpPr>
            <a:cxnSpLocks noChangeShapeType="1"/>
            <a:stCxn id="26" idx="2"/>
            <a:endCxn id="29" idx="0"/>
          </p:cNvCxnSpPr>
          <p:nvPr/>
        </p:nvCxnSpPr>
        <p:spPr bwMode="auto">
          <a:xfrm>
            <a:off x="1046163" y="4191000"/>
            <a:ext cx="3175" cy="2143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  <a:endCxn id="37" idx="0"/>
          </p:cNvCxnSpPr>
          <p:nvPr/>
        </p:nvCxnSpPr>
        <p:spPr bwMode="auto">
          <a:xfrm>
            <a:off x="1049338" y="4759325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4405313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定义选项约束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6213" y="3673475"/>
            <a:ext cx="231775" cy="231775"/>
            <a:chOff x="2452" y="1263"/>
            <a:chExt cx="146" cy="146"/>
          </a:xfrm>
        </p:grpSpPr>
        <p:sp>
          <p:nvSpPr>
            <p:cNvPr id="32" name="Oval 19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2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4310063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3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392113" y="4984750"/>
            <a:ext cx="1317625" cy="41910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创建选项集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182563" y="4889500"/>
            <a:ext cx="231775" cy="231775"/>
            <a:chOff x="2452" y="1263"/>
            <a:chExt cx="146" cy="146"/>
          </a:xfrm>
        </p:grpSpPr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4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Rectangle 28"/>
          <p:cNvSpPr>
            <a:spLocks noChangeArrowheads="1"/>
          </p:cNvSpPr>
          <p:nvPr/>
        </p:nvSpPr>
        <p:spPr bwMode="auto">
          <a:xfrm>
            <a:off x="395288" y="5634038"/>
            <a:ext cx="1317625" cy="361950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分配选项集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85738" y="5538788"/>
            <a:ext cx="231775" cy="231775"/>
            <a:chOff x="2452" y="1263"/>
            <a:chExt cx="146" cy="146"/>
          </a:xfrm>
        </p:grpSpPr>
        <p:sp>
          <p:nvSpPr>
            <p:cNvPr id="43" name="Oval 30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31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5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>
                <a:solidFill>
                  <a:srgbClr val="FFFFFF"/>
                </a:solidFill>
                <a:latin typeface="Arial Narrow" pitchFamily="34" charset="0"/>
              </a:rPr>
              <a:t>创建新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6400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1" name="AutoShape 14"/>
          <p:cNvCxnSpPr>
            <a:cxnSpLocks noChangeShapeType="1"/>
            <a:stCxn id="37" idx="2"/>
            <a:endCxn id="41" idx="0"/>
          </p:cNvCxnSpPr>
          <p:nvPr/>
        </p:nvCxnSpPr>
        <p:spPr bwMode="auto">
          <a:xfrm>
            <a:off x="1050925" y="5403850"/>
            <a:ext cx="3175" cy="230188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52" name="AutoShape 14"/>
          <p:cNvCxnSpPr>
            <a:cxnSpLocks noChangeShapeType="1"/>
            <a:stCxn id="41" idx="2"/>
          </p:cNvCxnSpPr>
          <p:nvPr/>
        </p:nvCxnSpPr>
        <p:spPr bwMode="auto">
          <a:xfrm>
            <a:off x="1054100" y="5995988"/>
            <a:ext cx="1588" cy="2381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9" name="组合 53"/>
          <p:cNvGrpSpPr/>
          <p:nvPr/>
        </p:nvGrpSpPr>
        <p:grpSpPr>
          <a:xfrm>
            <a:off x="491331" y="1376363"/>
            <a:ext cx="1128713" cy="1073605"/>
            <a:chOff x="491331" y="1376363"/>
            <a:chExt cx="1128713" cy="1073605"/>
          </a:xfrm>
        </p:grpSpPr>
        <p:sp>
          <p:nvSpPr>
            <p:cNvPr id="55" name="椭圆 54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7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61617" y="1497106"/>
            <a:ext cx="4877582" cy="3001776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53" name="矩形 52"/>
          <p:cNvSpPr/>
          <p:nvPr/>
        </p:nvSpPr>
        <p:spPr bwMode="auto">
          <a:xfrm>
            <a:off x="2250141" y="3720353"/>
            <a:ext cx="304800" cy="242047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60332" y="3494543"/>
            <a:ext cx="5122303" cy="2955283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48" name="AutoShape 47"/>
          <p:cNvSpPr>
            <a:spLocks noChangeArrowheads="1"/>
          </p:cNvSpPr>
          <p:nvPr/>
        </p:nvSpPr>
        <p:spPr bwMode="auto">
          <a:xfrm>
            <a:off x="2964028" y="2912169"/>
            <a:ext cx="1025265" cy="400752"/>
          </a:xfrm>
          <a:prstGeom prst="wedgeRectCallout">
            <a:avLst>
              <a:gd name="adj1" fmla="val -99601"/>
              <a:gd name="adj2" fmla="val 154979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为产品家族分配选项集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54" name="AutoShape 47"/>
          <p:cNvSpPr>
            <a:spLocks noChangeArrowheads="1"/>
          </p:cNvSpPr>
          <p:nvPr/>
        </p:nvSpPr>
        <p:spPr bwMode="auto">
          <a:xfrm>
            <a:off x="7186404" y="3064569"/>
            <a:ext cx="1563149" cy="400752"/>
          </a:xfrm>
          <a:prstGeom prst="wedgeRectCallout">
            <a:avLst>
              <a:gd name="adj1" fmla="val -89278"/>
              <a:gd name="adj2" fmla="val 152742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选择要分配的选项集并发布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56" name="矩形 55"/>
          <p:cNvSpPr/>
          <p:nvPr/>
        </p:nvSpPr>
        <p:spPr bwMode="auto">
          <a:xfrm>
            <a:off x="3962399" y="3890683"/>
            <a:ext cx="2832848" cy="466164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</p:spTree>
    <p:extLst>
      <p:ext uri="{BB962C8B-B14F-4D97-AF65-F5344CB8AC3E}">
        <p14:creationId xmlns="" xmlns:p14="http://schemas.microsoft.com/office/powerpoint/2010/main" val="105893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3109913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维护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OD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关系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48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6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3" name="AutoShape 20"/>
          <p:cNvSpPr>
            <a:spLocks noChangeArrowheads="1"/>
          </p:cNvSpPr>
          <p:nvPr/>
        </p:nvSpPr>
        <p:spPr bwMode="auto">
          <a:xfrm>
            <a:off x="362978" y="4449578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282" y="1479109"/>
            <a:ext cx="6571130" cy="391005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21" name="矩形 20"/>
          <p:cNvSpPr/>
          <p:nvPr/>
        </p:nvSpPr>
        <p:spPr bwMode="auto">
          <a:xfrm>
            <a:off x="2294965" y="3460376"/>
            <a:ext cx="1541929" cy="268942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22" name="AutoShape 47"/>
          <p:cNvSpPr>
            <a:spLocks noChangeArrowheads="1"/>
          </p:cNvSpPr>
          <p:nvPr/>
        </p:nvSpPr>
        <p:spPr bwMode="auto">
          <a:xfrm>
            <a:off x="3636380" y="2535649"/>
            <a:ext cx="1231455" cy="400752"/>
          </a:xfrm>
          <a:prstGeom prst="wedgeRectCallout">
            <a:avLst>
              <a:gd name="adj1" fmla="val -69754"/>
              <a:gd name="adj2" fmla="val 175112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在产品结构上添加</a:t>
            </a:r>
            <a:r>
              <a:rPr lang="en-US" altLang="zh-CN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OD</a:t>
            </a: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关系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5907742" y="2841812"/>
            <a:ext cx="179294" cy="143435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grpSp>
        <p:nvGrpSpPr>
          <p:cNvPr id="27" name="组合 26"/>
          <p:cNvGrpSpPr/>
          <p:nvPr/>
        </p:nvGrpSpPr>
        <p:grpSpPr>
          <a:xfrm>
            <a:off x="492101" y="1452033"/>
            <a:ext cx="1128713" cy="1023728"/>
            <a:chOff x="6393367" y="894225"/>
            <a:chExt cx="1128713" cy="1023728"/>
          </a:xfrm>
        </p:grpSpPr>
        <p:sp>
          <p:nvSpPr>
            <p:cNvPr id="28" name="椭圆 27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29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31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32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30" name="Picture 138" descr="j029198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14047" y="3739945"/>
            <a:ext cx="4247128" cy="2911859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33" name="AutoShape 47"/>
          <p:cNvSpPr>
            <a:spLocks noChangeArrowheads="1"/>
          </p:cNvSpPr>
          <p:nvPr/>
        </p:nvSpPr>
        <p:spPr bwMode="auto">
          <a:xfrm>
            <a:off x="6325793" y="2329461"/>
            <a:ext cx="1231455" cy="246863"/>
          </a:xfrm>
          <a:prstGeom prst="wedgeRectCallout">
            <a:avLst>
              <a:gd name="adj1" fmla="val -69754"/>
              <a:gd name="adj2" fmla="val 175112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分配选项值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34" name="矩形 33"/>
          <p:cNvSpPr/>
          <p:nvPr/>
        </p:nvSpPr>
        <p:spPr bwMode="auto">
          <a:xfrm flipV="1">
            <a:off x="5262263" y="4598901"/>
            <a:ext cx="412377" cy="304800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35" name="AutoShape 47"/>
          <p:cNvSpPr>
            <a:spLocks noChangeArrowheads="1"/>
          </p:cNvSpPr>
          <p:nvPr/>
        </p:nvSpPr>
        <p:spPr bwMode="auto">
          <a:xfrm>
            <a:off x="5994098" y="3763803"/>
            <a:ext cx="1231455" cy="400752"/>
          </a:xfrm>
          <a:prstGeom prst="wedgeRectCallout">
            <a:avLst>
              <a:gd name="adj1" fmla="val -76306"/>
              <a:gd name="adj2" fmla="val 156955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为选项节点指定选项值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382583" y="378293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发放顶层和选项层结构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37" name="AutoShape 11"/>
          <p:cNvCxnSpPr>
            <a:cxnSpLocks noChangeShapeType="1"/>
          </p:cNvCxnSpPr>
          <p:nvPr/>
        </p:nvCxnSpPr>
        <p:spPr bwMode="auto">
          <a:xfrm>
            <a:off x="1042983" y="4233693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38" name="Group 22"/>
          <p:cNvGrpSpPr>
            <a:grpSpLocks/>
          </p:cNvGrpSpPr>
          <p:nvPr/>
        </p:nvGrpSpPr>
        <p:grpSpPr bwMode="auto">
          <a:xfrm>
            <a:off x="189468" y="3666020"/>
            <a:ext cx="231775" cy="231775"/>
            <a:chOff x="2452" y="1263"/>
            <a:chExt cx="146" cy="146"/>
          </a:xfrm>
        </p:grpSpPr>
        <p:sp>
          <p:nvSpPr>
            <p:cNvPr id="3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7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0588352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341313" y="3109913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5" name="AutoShape 11"/>
          <p:cNvCxnSpPr>
            <a:cxnSpLocks noChangeShapeType="1"/>
            <a:stCxn id="45" idx="2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维护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OD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关系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endCxn id="45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6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3" name="AutoShape 20"/>
          <p:cNvSpPr>
            <a:spLocks noChangeArrowheads="1"/>
          </p:cNvSpPr>
          <p:nvPr/>
        </p:nvSpPr>
        <p:spPr bwMode="auto">
          <a:xfrm>
            <a:off x="362978" y="4449578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4" name="组合 26"/>
          <p:cNvGrpSpPr/>
          <p:nvPr/>
        </p:nvGrpSpPr>
        <p:grpSpPr>
          <a:xfrm>
            <a:off x="492101" y="1452033"/>
            <a:ext cx="1128713" cy="1023728"/>
            <a:chOff x="6393367" y="894225"/>
            <a:chExt cx="1128713" cy="1023728"/>
          </a:xfrm>
        </p:grpSpPr>
        <p:sp>
          <p:nvSpPr>
            <p:cNvPr id="28" name="椭圆 27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31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32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30" name="Picture 138" descr="j02919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382583" y="378293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发放顶层和选项层结构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37" name="AutoShape 11"/>
          <p:cNvCxnSpPr>
            <a:cxnSpLocks noChangeShapeType="1"/>
          </p:cNvCxnSpPr>
          <p:nvPr/>
        </p:nvCxnSpPr>
        <p:spPr bwMode="auto">
          <a:xfrm>
            <a:off x="1042983" y="4233693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6350" y="1517904"/>
            <a:ext cx="6741462" cy="4656328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39" name="矩形 38"/>
          <p:cNvSpPr/>
          <p:nvPr/>
        </p:nvSpPr>
        <p:spPr bwMode="auto">
          <a:xfrm>
            <a:off x="7620000" y="3182471"/>
            <a:ext cx="1272988" cy="779929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40" name="AutoShape 47"/>
          <p:cNvSpPr>
            <a:spLocks noChangeArrowheads="1"/>
          </p:cNvSpPr>
          <p:nvPr/>
        </p:nvSpPr>
        <p:spPr bwMode="auto">
          <a:xfrm>
            <a:off x="6845745" y="4391332"/>
            <a:ext cx="1231455" cy="400752"/>
          </a:xfrm>
          <a:prstGeom prst="wedgeRectCallout">
            <a:avLst>
              <a:gd name="adj1" fmla="val 52547"/>
              <a:gd name="adj2" fmla="val -156221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查看已完成的</a:t>
            </a:r>
            <a:r>
              <a:rPr lang="en-US" altLang="zh-CN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OD</a:t>
            </a: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关系信息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grpSp>
        <p:nvGrpSpPr>
          <p:cNvPr id="41" name="Group 22"/>
          <p:cNvGrpSpPr>
            <a:grpSpLocks/>
          </p:cNvGrpSpPr>
          <p:nvPr/>
        </p:nvGrpSpPr>
        <p:grpSpPr bwMode="auto">
          <a:xfrm>
            <a:off x="189468" y="3666020"/>
            <a:ext cx="231775" cy="231775"/>
            <a:chOff x="2452" y="1263"/>
            <a:chExt cx="146" cy="146"/>
          </a:xfrm>
        </p:grpSpPr>
        <p:sp>
          <p:nvSpPr>
            <p:cNvPr id="42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7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0588352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定义、</a:t>
            </a:r>
            <a:r>
              <a:rPr lang="zh-CN" altLang="en-US" dirty="0"/>
              <a:t>使用</a:t>
            </a:r>
            <a:r>
              <a:rPr lang="zh-CN" altLang="en-US" dirty="0" smtClean="0"/>
              <a:t>选项</a:t>
            </a:r>
            <a:r>
              <a:rPr lang="zh-CN" altLang="en-US" dirty="0"/>
              <a:t>信息</a:t>
            </a:r>
            <a:endParaRPr lang="en-US" dirty="0"/>
          </a:p>
        </p:txBody>
      </p:sp>
      <p:grpSp>
        <p:nvGrpSpPr>
          <p:cNvPr id="33" name="组合 53"/>
          <p:cNvGrpSpPr/>
          <p:nvPr/>
        </p:nvGrpSpPr>
        <p:grpSpPr>
          <a:xfrm>
            <a:off x="491331" y="1474978"/>
            <a:ext cx="1128713" cy="1073605"/>
            <a:chOff x="491331" y="1376363"/>
            <a:chExt cx="1128713" cy="1073605"/>
          </a:xfrm>
        </p:grpSpPr>
        <p:sp>
          <p:nvSpPr>
            <p:cNvPr id="34" name="椭圆 33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35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42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43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总体人员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41" name="Picture 158" descr="j029202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2" name="TextBox 161"/>
          <p:cNvSpPr txBox="1"/>
          <p:nvPr/>
        </p:nvSpPr>
        <p:spPr>
          <a:xfrm>
            <a:off x="2291975" y="1424392"/>
            <a:ext cx="61862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/>
              <a:t>总体人员在选项和约束关系成熟后，提交签审，签审通过后自动发送到</a:t>
            </a:r>
            <a:r>
              <a:rPr lang="en-US" altLang="zh-CN" sz="1400" dirty="0" smtClean="0"/>
              <a:t>SAP</a:t>
            </a:r>
            <a:r>
              <a:rPr lang="zh-CN" altLang="en-US" sz="1400" dirty="0" smtClean="0"/>
              <a:t>中。</a:t>
            </a:r>
          </a:p>
        </p:txBody>
      </p:sp>
      <p:sp>
        <p:nvSpPr>
          <p:cNvPr id="115" name="AutoShape 5"/>
          <p:cNvSpPr>
            <a:spLocks noChangeArrowheads="1"/>
          </p:cNvSpPr>
          <p:nvPr/>
        </p:nvSpPr>
        <p:spPr bwMode="auto">
          <a:xfrm>
            <a:off x="341313" y="3749129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30" name="AutoShape 11"/>
          <p:cNvCxnSpPr>
            <a:cxnSpLocks noChangeShapeType="1"/>
            <a:stCxn id="131" idx="2"/>
          </p:cNvCxnSpPr>
          <p:nvPr/>
        </p:nvCxnSpPr>
        <p:spPr bwMode="auto">
          <a:xfrm>
            <a:off x="1042988" y="35702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31" name="Rectangle 9"/>
          <p:cNvSpPr>
            <a:spLocks noChangeArrowheads="1"/>
          </p:cNvSpPr>
          <p:nvPr/>
        </p:nvSpPr>
        <p:spPr bwMode="auto">
          <a:xfrm>
            <a:off x="382588" y="31464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维护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OD</a:t>
            </a: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关系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132" name="AutoShape 10"/>
          <p:cNvCxnSpPr>
            <a:cxnSpLocks noChangeShapeType="1"/>
            <a:endCxn id="131" idx="0"/>
          </p:cNvCxnSpPr>
          <p:nvPr/>
        </p:nvCxnSpPr>
        <p:spPr bwMode="auto">
          <a:xfrm>
            <a:off x="1041400" y="29162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133" name="Group 22"/>
          <p:cNvGrpSpPr>
            <a:grpSpLocks/>
          </p:cNvGrpSpPr>
          <p:nvPr/>
        </p:nvGrpSpPr>
        <p:grpSpPr bwMode="auto">
          <a:xfrm>
            <a:off x="198438" y="3038475"/>
            <a:ext cx="231775" cy="231775"/>
            <a:chOff x="2452" y="1263"/>
            <a:chExt cx="146" cy="146"/>
          </a:xfrm>
        </p:grpSpPr>
        <p:sp>
          <p:nvSpPr>
            <p:cNvPr id="134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6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6" name="AutoShape 20"/>
          <p:cNvSpPr>
            <a:spLocks noChangeArrowheads="1"/>
          </p:cNvSpPr>
          <p:nvPr/>
        </p:nvSpPr>
        <p:spPr bwMode="auto">
          <a:xfrm>
            <a:off x="362978" y="4449578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sp>
        <p:nvSpPr>
          <p:cNvPr id="137" name="Rectangle 9"/>
          <p:cNvSpPr>
            <a:spLocks noChangeArrowheads="1"/>
          </p:cNvSpPr>
          <p:nvPr/>
        </p:nvSpPr>
        <p:spPr bwMode="auto">
          <a:xfrm>
            <a:off x="382583" y="378293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选项集签审发放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138" name="AutoShape 11"/>
          <p:cNvCxnSpPr>
            <a:cxnSpLocks noChangeShapeType="1"/>
          </p:cNvCxnSpPr>
          <p:nvPr/>
        </p:nvCxnSpPr>
        <p:spPr bwMode="auto">
          <a:xfrm>
            <a:off x="1042983" y="4233693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grpSp>
        <p:nvGrpSpPr>
          <p:cNvPr id="139" name="Group 22"/>
          <p:cNvGrpSpPr>
            <a:grpSpLocks/>
          </p:cNvGrpSpPr>
          <p:nvPr/>
        </p:nvGrpSpPr>
        <p:grpSpPr bwMode="auto">
          <a:xfrm>
            <a:off x="189468" y="3666020"/>
            <a:ext cx="231775" cy="231775"/>
            <a:chOff x="2452" y="1263"/>
            <a:chExt cx="146" cy="146"/>
          </a:xfrm>
        </p:grpSpPr>
        <p:sp>
          <p:nvSpPr>
            <p:cNvPr id="140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7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2354527" y="2198796"/>
            <a:ext cx="869591" cy="598545"/>
            <a:chOff x="949313" y="2243554"/>
            <a:chExt cx="755484" cy="491214"/>
          </a:xfrm>
        </p:grpSpPr>
        <p:pic>
          <p:nvPicPr>
            <p:cNvPr id="144" name="Picture 22" descr="user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总体人员</a:t>
              </a:r>
              <a:endParaRPr lang="en-US" altLang="zh-CN" sz="1100" dirty="0"/>
            </a:p>
          </p:txBody>
        </p:sp>
      </p:grpSp>
      <p:cxnSp>
        <p:nvCxnSpPr>
          <p:cNvPr id="168" name="AutoShape 244"/>
          <p:cNvCxnSpPr>
            <a:cxnSpLocks noChangeShapeType="1"/>
          </p:cNvCxnSpPr>
          <p:nvPr/>
        </p:nvCxnSpPr>
        <p:spPr bwMode="auto">
          <a:xfrm>
            <a:off x="3085290" y="2516035"/>
            <a:ext cx="1839923" cy="316"/>
          </a:xfrm>
          <a:prstGeom prst="curved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69" name="TextBox 193"/>
          <p:cNvSpPr txBox="1">
            <a:spLocks noChangeArrowheads="1"/>
          </p:cNvSpPr>
          <p:nvPr/>
        </p:nvSpPr>
        <p:spPr bwMode="auto">
          <a:xfrm>
            <a:off x="3245438" y="2139526"/>
            <a:ext cx="1415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+mn-ea"/>
                <a:ea typeface="+mn-ea"/>
              </a:rPr>
              <a:t>提交选项集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170" name="组合 169"/>
          <p:cNvGrpSpPr/>
          <p:nvPr/>
        </p:nvGrpSpPr>
        <p:grpSpPr>
          <a:xfrm>
            <a:off x="4876046" y="2198797"/>
            <a:ext cx="878613" cy="769298"/>
            <a:chOff x="949313" y="2243554"/>
            <a:chExt cx="755484" cy="660493"/>
          </a:xfrm>
        </p:grpSpPr>
        <p:pic>
          <p:nvPicPr>
            <p:cNvPr id="171" name="Picture 22" descr="user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2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批准者</a:t>
              </a:r>
              <a:r>
                <a:rPr lang="en-US" altLang="zh-CN" sz="1100" dirty="0" smtClean="0"/>
                <a:t>(</a:t>
              </a:r>
              <a:r>
                <a:rPr lang="zh-CN" altLang="en-US" sz="1100" dirty="0" smtClean="0"/>
                <a:t>所长</a:t>
              </a:r>
              <a:r>
                <a:rPr lang="en-US" altLang="zh-CN" sz="1100" dirty="0" smtClean="0"/>
                <a:t>)</a:t>
              </a:r>
              <a:endParaRPr lang="en-US" altLang="zh-CN" sz="1100" dirty="0"/>
            </a:p>
          </p:txBody>
        </p:sp>
      </p:grpSp>
      <p:cxnSp>
        <p:nvCxnSpPr>
          <p:cNvPr id="173" name="AutoShape 244"/>
          <p:cNvCxnSpPr>
            <a:cxnSpLocks noChangeShapeType="1"/>
          </p:cNvCxnSpPr>
          <p:nvPr/>
        </p:nvCxnSpPr>
        <p:spPr bwMode="auto">
          <a:xfrm>
            <a:off x="5687924" y="2553503"/>
            <a:ext cx="1839923" cy="316"/>
          </a:xfrm>
          <a:prstGeom prst="curved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74" name="TextBox 193"/>
          <p:cNvSpPr txBox="1">
            <a:spLocks noChangeArrowheads="1"/>
          </p:cNvSpPr>
          <p:nvPr/>
        </p:nvSpPr>
        <p:spPr bwMode="auto">
          <a:xfrm>
            <a:off x="5968014" y="2200752"/>
            <a:ext cx="1165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+mn-ea"/>
                <a:ea typeface="+mn-ea"/>
              </a:rPr>
              <a:t>批准通过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75" name="圆角矩形 174"/>
          <p:cNvSpPr/>
          <p:nvPr/>
        </p:nvSpPr>
        <p:spPr bwMode="auto">
          <a:xfrm>
            <a:off x="7610085" y="2270615"/>
            <a:ext cx="1242874" cy="590390"/>
          </a:xfrm>
          <a:prstGeom prst="roundRect">
            <a:avLst/>
          </a:prstGeom>
          <a:ln>
            <a:headEnd/>
            <a:tailEnd/>
          </a:ln>
          <a:ex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2000" b="1" dirty="0" smtClean="0"/>
              <a:t>SAP</a:t>
            </a:r>
            <a:endParaRPr lang="zh-CN" altLang="en-US" sz="2000" b="1" dirty="0"/>
          </a:p>
        </p:txBody>
      </p:sp>
      <p:sp>
        <p:nvSpPr>
          <p:cNvPr id="2" name="梯形 1"/>
          <p:cNvSpPr/>
          <p:nvPr/>
        </p:nvSpPr>
        <p:spPr bwMode="auto">
          <a:xfrm>
            <a:off x="4660776" y="2909957"/>
            <a:ext cx="1427308" cy="390773"/>
          </a:xfrm>
          <a:prstGeom prst="trapezoid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sz="1200" b="1" dirty="0" smtClean="0"/>
              <a:t>签署内容</a:t>
            </a:r>
            <a:endParaRPr lang="zh-CN" altLang="en-US" sz="12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826" y="3327364"/>
            <a:ext cx="4808108" cy="3262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0588352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AutoShape 5"/>
          <p:cNvSpPr>
            <a:spLocks noChangeArrowheads="1"/>
          </p:cNvSpPr>
          <p:nvPr/>
        </p:nvSpPr>
        <p:spPr bwMode="auto">
          <a:xfrm>
            <a:off x="350191" y="318981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底层产品结构建立</a:t>
            </a:r>
            <a:endParaRPr lang="en-US" dirty="0"/>
          </a:p>
        </p:txBody>
      </p:sp>
      <p:cxnSp>
        <p:nvCxnSpPr>
          <p:cNvPr id="25" name="AutoShape 11"/>
          <p:cNvCxnSpPr>
            <a:cxnSpLocks noChangeShapeType="1"/>
            <a:stCxn id="45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</p:cNvCxnSpPr>
          <p:nvPr/>
        </p:nvCxnSpPr>
        <p:spPr bwMode="auto">
          <a:xfrm>
            <a:off x="1049338" y="4276703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3922691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发放工程数据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3827441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2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创建三维模型并关联产品结构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1331" y="1352550"/>
            <a:ext cx="1128713" cy="1173618"/>
            <a:chOff x="491331" y="1276350"/>
            <a:chExt cx="1128713" cy="1173618"/>
          </a:xfrm>
        </p:grpSpPr>
        <p:sp>
          <p:nvSpPr>
            <p:cNvPr id="55" name="椭圆 54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设计师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60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Group 371"/>
          <p:cNvGrpSpPr>
            <a:grpSpLocks/>
          </p:cNvGrpSpPr>
          <p:nvPr/>
        </p:nvGrpSpPr>
        <p:grpSpPr bwMode="auto">
          <a:xfrm>
            <a:off x="2350039" y="2174307"/>
            <a:ext cx="1764809" cy="1170661"/>
            <a:chOff x="3004" y="2263"/>
            <a:chExt cx="1170" cy="839"/>
          </a:xfrm>
        </p:grpSpPr>
        <p:sp>
          <p:nvSpPr>
            <p:cNvPr id="62" name="Text Box 196"/>
            <p:cNvSpPr txBox="1">
              <a:spLocks noChangeArrowheads="1"/>
            </p:cNvSpPr>
            <p:nvPr/>
          </p:nvSpPr>
          <p:spPr bwMode="auto">
            <a:xfrm>
              <a:off x="3320" y="2923"/>
              <a:ext cx="168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/>
                <a:t>…</a:t>
              </a:r>
            </a:p>
          </p:txBody>
        </p:sp>
        <p:cxnSp>
          <p:nvCxnSpPr>
            <p:cNvPr id="63" name="AutoShape 197"/>
            <p:cNvCxnSpPr>
              <a:cxnSpLocks noChangeShapeType="1"/>
            </p:cNvCxnSpPr>
            <p:nvPr/>
          </p:nvCxnSpPr>
          <p:spPr bwMode="auto">
            <a:xfrm rot="16200000" flipH="1">
              <a:off x="3081" y="2428"/>
              <a:ext cx="173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198"/>
            <p:cNvCxnSpPr>
              <a:cxnSpLocks noChangeShapeType="1"/>
            </p:cNvCxnSpPr>
            <p:nvPr/>
          </p:nvCxnSpPr>
          <p:spPr bwMode="auto">
            <a:xfrm rot="16200000" flipH="1">
              <a:off x="2972" y="2537"/>
              <a:ext cx="391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5" name="Text Box 199"/>
            <p:cNvSpPr txBox="1">
              <a:spLocks noChangeArrowheads="1"/>
            </p:cNvSpPr>
            <p:nvPr/>
          </p:nvSpPr>
          <p:spPr bwMode="auto">
            <a:xfrm>
              <a:off x="3312" y="2490"/>
              <a:ext cx="86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6B4_300_212_C.PRT</a:t>
              </a:r>
            </a:p>
          </p:txBody>
        </p:sp>
        <p:sp>
          <p:nvSpPr>
            <p:cNvPr id="66" name="Text Box 200"/>
            <p:cNvSpPr txBox="1">
              <a:spLocks noChangeArrowheads="1"/>
            </p:cNvSpPr>
            <p:nvPr/>
          </p:nvSpPr>
          <p:spPr bwMode="auto">
            <a:xfrm>
              <a:off x="3312" y="2703"/>
              <a:ext cx="8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6B4_300_236_E.PRT</a:t>
              </a:r>
            </a:p>
          </p:txBody>
        </p:sp>
        <p:cxnSp>
          <p:nvCxnSpPr>
            <p:cNvPr id="67" name="AutoShape 201"/>
            <p:cNvCxnSpPr>
              <a:cxnSpLocks noChangeShapeType="1"/>
            </p:cNvCxnSpPr>
            <p:nvPr/>
          </p:nvCxnSpPr>
          <p:spPr bwMode="auto">
            <a:xfrm rot="16200000" flipH="1">
              <a:off x="2854" y="2655"/>
              <a:ext cx="627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" name="Rectangle 206"/>
            <p:cNvSpPr>
              <a:spLocks noChangeArrowheads="1"/>
            </p:cNvSpPr>
            <p:nvPr/>
          </p:nvSpPr>
          <p:spPr bwMode="auto">
            <a:xfrm>
              <a:off x="3114" y="2263"/>
              <a:ext cx="1001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de-DE" altLang="zh-CN" sz="1000" dirty="0" smtClean="0">
                  <a:solidFill>
                    <a:schemeClr val="accent2">
                      <a:lumMod val="50000"/>
                    </a:schemeClr>
                  </a:solidFill>
                </a:rPr>
                <a:t>6B4.300.202.HST</a:t>
              </a:r>
              <a:r>
                <a:rPr lang="de-DE" sz="1000" b="0" dirty="0" smtClean="0">
                  <a:solidFill>
                    <a:schemeClr val="accent2">
                      <a:lumMod val="50000"/>
                    </a:schemeClr>
                  </a:solidFill>
                </a:rPr>
                <a:t>.ASM</a:t>
              </a:r>
              <a:endParaRPr lang="en-US" altLang="zh-CN" sz="1000" b="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pic>
          <p:nvPicPr>
            <p:cNvPr id="69" name="Picture 367" descr="Assembly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4" y="2282"/>
              <a:ext cx="145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" name="Picture 368" descr="prt_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3" y="2510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" name="Picture 369" descr="prt_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0" y="2733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Picture 370" descr="prt_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3" y="2965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4" name="Picture 170" descr="par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201" y="2148827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Text Box 172"/>
          <p:cNvSpPr txBox="1">
            <a:spLocks noChangeArrowheads="1"/>
          </p:cNvSpPr>
          <p:nvPr/>
        </p:nvSpPr>
        <p:spPr bwMode="auto">
          <a:xfrm>
            <a:off x="7210580" y="2140502"/>
            <a:ext cx="1495265" cy="23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zh-CN" altLang="en-US" sz="1000" b="0" dirty="0" smtClean="0">
                <a:solidFill>
                  <a:srgbClr val="0066FF"/>
                </a:solidFill>
                <a:latin typeface="+mn-ea"/>
                <a:ea typeface="+mn-ea"/>
              </a:rPr>
              <a:t>普通臂 </a:t>
            </a:r>
            <a:r>
              <a:rPr lang="de-DE" sz="1000" b="0" dirty="0" smtClean="0">
                <a:solidFill>
                  <a:srgbClr val="0066FF"/>
                </a:solidFill>
              </a:rPr>
              <a:t>6B4.300.202.HST</a:t>
            </a:r>
            <a:endParaRPr lang="de-DE" sz="1000" b="0" dirty="0">
              <a:solidFill>
                <a:srgbClr val="0066FF"/>
              </a:solidFill>
            </a:endParaRPr>
          </a:p>
        </p:txBody>
      </p:sp>
      <p:cxnSp>
        <p:nvCxnSpPr>
          <p:cNvPr id="76" name="AutoShape 177"/>
          <p:cNvCxnSpPr>
            <a:cxnSpLocks noChangeShapeType="1"/>
          </p:cNvCxnSpPr>
          <p:nvPr/>
        </p:nvCxnSpPr>
        <p:spPr bwMode="auto">
          <a:xfrm rot="16200000" flipH="1">
            <a:off x="6958596" y="2546603"/>
            <a:ext cx="623143" cy="293455"/>
          </a:xfrm>
          <a:prstGeom prst="bentConnector2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7" name="Text Box 178"/>
          <p:cNvSpPr txBox="1">
            <a:spLocks noChangeArrowheads="1"/>
          </p:cNvSpPr>
          <p:nvPr/>
        </p:nvSpPr>
        <p:spPr bwMode="auto">
          <a:xfrm>
            <a:off x="7609214" y="2514606"/>
            <a:ext cx="938657" cy="23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000" b="0" dirty="0">
                <a:solidFill>
                  <a:srgbClr val="0066FF"/>
                </a:solidFill>
              </a:rPr>
              <a:t>6B4.300.212.C</a:t>
            </a:r>
          </a:p>
        </p:txBody>
      </p:sp>
      <p:cxnSp>
        <p:nvCxnSpPr>
          <p:cNvPr id="78" name="AutoShape 181"/>
          <p:cNvCxnSpPr>
            <a:cxnSpLocks noChangeShapeType="1"/>
          </p:cNvCxnSpPr>
          <p:nvPr/>
        </p:nvCxnSpPr>
        <p:spPr bwMode="auto">
          <a:xfrm rot="16200000" flipH="1">
            <a:off x="6787432" y="2702920"/>
            <a:ext cx="946986" cy="282478"/>
          </a:xfrm>
          <a:prstGeom prst="bentConnector3">
            <a:avLst>
              <a:gd name="adj1" fmla="val 98012"/>
            </a:avLst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9" name="Text Box 182"/>
          <p:cNvSpPr txBox="1">
            <a:spLocks noChangeArrowheads="1"/>
          </p:cNvSpPr>
          <p:nvPr/>
        </p:nvSpPr>
        <p:spPr bwMode="auto">
          <a:xfrm>
            <a:off x="7620855" y="3181368"/>
            <a:ext cx="305317" cy="255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200" b="0" dirty="0"/>
              <a:t>…</a:t>
            </a:r>
          </a:p>
        </p:txBody>
      </p:sp>
      <p:pic>
        <p:nvPicPr>
          <p:cNvPr id="80" name="Picture 170" descr="par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162" y="2536818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Picture 170" descr="par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94" y="2888435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 Box 178"/>
          <p:cNvSpPr txBox="1">
            <a:spLocks noChangeArrowheads="1"/>
          </p:cNvSpPr>
          <p:nvPr/>
        </p:nvSpPr>
        <p:spPr bwMode="auto">
          <a:xfrm>
            <a:off x="7615104" y="2875316"/>
            <a:ext cx="938657" cy="23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000" b="0" dirty="0">
                <a:solidFill>
                  <a:srgbClr val="0066FF"/>
                </a:solidFill>
              </a:rPr>
              <a:t>6B4.300.212.C</a:t>
            </a:r>
          </a:p>
        </p:txBody>
      </p:sp>
      <p:pic>
        <p:nvPicPr>
          <p:cNvPr id="83" name="Picture 170" descr="par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785" y="3203678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4" name="AutoShape 181"/>
          <p:cNvCxnSpPr>
            <a:cxnSpLocks noChangeShapeType="1"/>
          </p:cNvCxnSpPr>
          <p:nvPr/>
        </p:nvCxnSpPr>
        <p:spPr bwMode="auto">
          <a:xfrm rot="16200000" flipH="1">
            <a:off x="7119259" y="2357833"/>
            <a:ext cx="271524" cy="269879"/>
          </a:xfrm>
          <a:prstGeom prst="bentConnector2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85" name="Group 371"/>
          <p:cNvGrpSpPr>
            <a:grpSpLocks/>
          </p:cNvGrpSpPr>
          <p:nvPr/>
        </p:nvGrpSpPr>
        <p:grpSpPr bwMode="auto">
          <a:xfrm>
            <a:off x="2290822" y="3962860"/>
            <a:ext cx="1894530" cy="1170661"/>
            <a:chOff x="3004" y="2263"/>
            <a:chExt cx="1256" cy="839"/>
          </a:xfrm>
        </p:grpSpPr>
        <p:sp>
          <p:nvSpPr>
            <p:cNvPr id="86" name="Text Box 196"/>
            <p:cNvSpPr txBox="1">
              <a:spLocks noChangeArrowheads="1"/>
            </p:cNvSpPr>
            <p:nvPr/>
          </p:nvSpPr>
          <p:spPr bwMode="auto">
            <a:xfrm>
              <a:off x="3320" y="2923"/>
              <a:ext cx="168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/>
                <a:t>…</a:t>
              </a:r>
            </a:p>
          </p:txBody>
        </p:sp>
        <p:cxnSp>
          <p:nvCxnSpPr>
            <p:cNvPr id="87" name="AutoShape 197"/>
            <p:cNvCxnSpPr>
              <a:cxnSpLocks noChangeShapeType="1"/>
            </p:cNvCxnSpPr>
            <p:nvPr/>
          </p:nvCxnSpPr>
          <p:spPr bwMode="auto">
            <a:xfrm rot="16200000" flipH="1">
              <a:off x="3081" y="2428"/>
              <a:ext cx="173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AutoShape 198"/>
            <p:cNvCxnSpPr>
              <a:cxnSpLocks noChangeShapeType="1"/>
            </p:cNvCxnSpPr>
            <p:nvPr/>
          </p:nvCxnSpPr>
          <p:spPr bwMode="auto">
            <a:xfrm rot="16200000" flipH="1">
              <a:off x="2972" y="2537"/>
              <a:ext cx="391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9" name="Text Box 199"/>
            <p:cNvSpPr txBox="1">
              <a:spLocks noChangeArrowheads="1"/>
            </p:cNvSpPr>
            <p:nvPr/>
          </p:nvSpPr>
          <p:spPr bwMode="auto">
            <a:xfrm>
              <a:off x="3312" y="2490"/>
              <a:ext cx="948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en-US" altLang="zh-CN" sz="1000" b="0" dirty="0">
                  <a:solidFill>
                    <a:srgbClr val="0066FF"/>
                  </a:solidFill>
                </a:rPr>
                <a:t>7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B4_300_212_C.PRT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sp>
          <p:nvSpPr>
            <p:cNvPr id="90" name="Text Box 200"/>
            <p:cNvSpPr txBox="1">
              <a:spLocks noChangeArrowheads="1"/>
            </p:cNvSpPr>
            <p:nvPr/>
          </p:nvSpPr>
          <p:spPr bwMode="auto">
            <a:xfrm>
              <a:off x="3312" y="2703"/>
              <a:ext cx="8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6B4_300_236_E.PRT</a:t>
              </a:r>
            </a:p>
          </p:txBody>
        </p:sp>
        <p:cxnSp>
          <p:nvCxnSpPr>
            <p:cNvPr id="91" name="AutoShape 201"/>
            <p:cNvCxnSpPr>
              <a:cxnSpLocks noChangeShapeType="1"/>
            </p:cNvCxnSpPr>
            <p:nvPr/>
          </p:nvCxnSpPr>
          <p:spPr bwMode="auto">
            <a:xfrm rot="16200000" flipH="1">
              <a:off x="2854" y="2655"/>
              <a:ext cx="627" cy="160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" name="Rectangle 206"/>
            <p:cNvSpPr>
              <a:spLocks noChangeArrowheads="1"/>
            </p:cNvSpPr>
            <p:nvPr/>
          </p:nvSpPr>
          <p:spPr bwMode="auto">
            <a:xfrm>
              <a:off x="3114" y="2263"/>
              <a:ext cx="1001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50000"/>
                    </a:schemeClr>
                  </a:solidFill>
                </a:rPr>
                <a:t>7</a:t>
              </a:r>
              <a:r>
                <a:rPr lang="de-DE" altLang="zh-CN" sz="1000" dirty="0">
                  <a:solidFill>
                    <a:schemeClr val="accent2">
                      <a:lumMod val="50000"/>
                    </a:schemeClr>
                  </a:solidFill>
                </a:rPr>
                <a:t>B4.300.20</a:t>
              </a:r>
              <a:r>
                <a:rPr lang="en-US" altLang="zh-CN" sz="1000" dirty="0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r>
                <a:rPr lang="de-DE" altLang="zh-CN" sz="1000" dirty="0" smtClean="0">
                  <a:solidFill>
                    <a:schemeClr val="accent2">
                      <a:lumMod val="50000"/>
                    </a:schemeClr>
                  </a:solidFill>
                </a:rPr>
                <a:t>.HST</a:t>
              </a:r>
              <a:r>
                <a:rPr lang="de-DE" sz="1000" b="0" dirty="0" smtClean="0">
                  <a:solidFill>
                    <a:schemeClr val="accent2">
                      <a:lumMod val="50000"/>
                    </a:schemeClr>
                  </a:solidFill>
                </a:rPr>
                <a:t>.ASM</a:t>
              </a:r>
              <a:endParaRPr lang="en-US" altLang="zh-CN" sz="1000" b="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pic>
          <p:nvPicPr>
            <p:cNvPr id="93" name="Picture 367" descr="Assembly 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4" y="2282"/>
              <a:ext cx="145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4" name="Picture 368" descr="prt_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3" y="2510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369" descr="prt_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0" y="2733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" name="Picture 370" descr="prt_imag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3" y="2965"/>
              <a:ext cx="13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6" name="组合 115"/>
          <p:cNvGrpSpPr/>
          <p:nvPr/>
        </p:nvGrpSpPr>
        <p:grpSpPr>
          <a:xfrm>
            <a:off x="7024255" y="3962920"/>
            <a:ext cx="1848381" cy="246221"/>
            <a:chOff x="7024255" y="3962920"/>
            <a:chExt cx="1848381" cy="246221"/>
          </a:xfrm>
        </p:grpSpPr>
        <p:pic>
          <p:nvPicPr>
            <p:cNvPr id="97" name="Picture 170" descr="par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4255" y="3971245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" name="Text Box 172"/>
            <p:cNvSpPr txBox="1">
              <a:spLocks noChangeArrowheads="1"/>
            </p:cNvSpPr>
            <p:nvPr/>
          </p:nvSpPr>
          <p:spPr bwMode="auto">
            <a:xfrm>
              <a:off x="7227634" y="3962920"/>
              <a:ext cx="164500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000" b="0" dirty="0">
                  <a:solidFill>
                    <a:srgbClr val="0066FF"/>
                  </a:solidFill>
                  <a:latin typeface="+mn-ea"/>
                  <a:ea typeface="+mn-ea"/>
                </a:rPr>
                <a:t>加长</a:t>
              </a:r>
              <a:r>
                <a:rPr lang="zh-CN" altLang="en-US" sz="10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臂 </a:t>
              </a:r>
              <a:r>
                <a:rPr lang="en-US" altLang="zh-CN" sz="1000" b="0" dirty="0">
                  <a:solidFill>
                    <a:srgbClr val="0066FF"/>
                  </a:solidFill>
                </a:rPr>
                <a:t>7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B4.300.20</a:t>
              </a:r>
              <a:r>
                <a:rPr lang="en-US" altLang="zh-CN" sz="1000" b="0" dirty="0" smtClean="0">
                  <a:solidFill>
                    <a:srgbClr val="0066FF"/>
                  </a:solidFill>
                </a:rPr>
                <a:t>1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</p:grpSp>
      <p:cxnSp>
        <p:nvCxnSpPr>
          <p:cNvPr id="99" name="AutoShape 177"/>
          <p:cNvCxnSpPr>
            <a:cxnSpLocks noChangeShapeType="1"/>
          </p:cNvCxnSpPr>
          <p:nvPr/>
        </p:nvCxnSpPr>
        <p:spPr bwMode="auto">
          <a:xfrm rot="16200000" flipH="1">
            <a:off x="6975650" y="4369021"/>
            <a:ext cx="623143" cy="293455"/>
          </a:xfrm>
          <a:prstGeom prst="bentConnector2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00" name="Text Box 178"/>
          <p:cNvSpPr txBox="1">
            <a:spLocks noChangeArrowheads="1"/>
          </p:cNvSpPr>
          <p:nvPr/>
        </p:nvSpPr>
        <p:spPr bwMode="auto">
          <a:xfrm>
            <a:off x="7626268" y="4337024"/>
            <a:ext cx="103265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en-US" altLang="zh-CN" sz="1000" b="0" dirty="0">
                <a:solidFill>
                  <a:srgbClr val="0066FF"/>
                </a:solidFill>
              </a:rPr>
              <a:t>7</a:t>
            </a:r>
            <a:r>
              <a:rPr lang="de-DE" sz="1000" b="0" dirty="0" smtClean="0">
                <a:solidFill>
                  <a:srgbClr val="0066FF"/>
                </a:solidFill>
              </a:rPr>
              <a:t>B4.300.212.C</a:t>
            </a:r>
            <a:endParaRPr lang="de-DE" sz="1000" b="0" dirty="0">
              <a:solidFill>
                <a:srgbClr val="0066FF"/>
              </a:solidFill>
            </a:endParaRPr>
          </a:p>
        </p:txBody>
      </p:sp>
      <p:cxnSp>
        <p:nvCxnSpPr>
          <p:cNvPr id="101" name="AutoShape 181"/>
          <p:cNvCxnSpPr>
            <a:cxnSpLocks noChangeShapeType="1"/>
          </p:cNvCxnSpPr>
          <p:nvPr/>
        </p:nvCxnSpPr>
        <p:spPr bwMode="auto">
          <a:xfrm rot="16200000" flipH="1">
            <a:off x="6804486" y="4525338"/>
            <a:ext cx="946986" cy="282478"/>
          </a:xfrm>
          <a:prstGeom prst="bentConnector3">
            <a:avLst>
              <a:gd name="adj1" fmla="val 98012"/>
            </a:avLst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02" name="Text Box 182"/>
          <p:cNvSpPr txBox="1">
            <a:spLocks noChangeArrowheads="1"/>
          </p:cNvSpPr>
          <p:nvPr/>
        </p:nvSpPr>
        <p:spPr bwMode="auto">
          <a:xfrm>
            <a:off x="7637909" y="5003786"/>
            <a:ext cx="305317" cy="255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200" b="0" dirty="0"/>
              <a:t>…</a:t>
            </a:r>
          </a:p>
        </p:txBody>
      </p:sp>
      <p:pic>
        <p:nvPicPr>
          <p:cNvPr id="103" name="Picture 170" descr="par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216" y="4359236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170" descr="par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948" y="4710853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" name="Text Box 178"/>
          <p:cNvSpPr txBox="1">
            <a:spLocks noChangeArrowheads="1"/>
          </p:cNvSpPr>
          <p:nvPr/>
        </p:nvSpPr>
        <p:spPr bwMode="auto">
          <a:xfrm>
            <a:off x="7632158" y="4697734"/>
            <a:ext cx="938657" cy="23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000" b="0" dirty="0">
                <a:solidFill>
                  <a:srgbClr val="0066FF"/>
                </a:solidFill>
              </a:rPr>
              <a:t>6B4.300.212.C</a:t>
            </a:r>
          </a:p>
        </p:txBody>
      </p:sp>
      <p:pic>
        <p:nvPicPr>
          <p:cNvPr id="106" name="Picture 170" descr="par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839" y="5026096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7" name="AutoShape 181"/>
          <p:cNvCxnSpPr>
            <a:cxnSpLocks noChangeShapeType="1"/>
          </p:cNvCxnSpPr>
          <p:nvPr/>
        </p:nvCxnSpPr>
        <p:spPr bwMode="auto">
          <a:xfrm rot="16200000" flipH="1">
            <a:off x="7139636" y="4205001"/>
            <a:ext cx="271524" cy="269879"/>
          </a:xfrm>
          <a:prstGeom prst="bentConnector2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08" name="AutoShape 20"/>
          <p:cNvSpPr>
            <a:spLocks noChangeArrowheads="1"/>
          </p:cNvSpPr>
          <p:nvPr/>
        </p:nvSpPr>
        <p:spPr bwMode="auto">
          <a:xfrm>
            <a:off x="362978" y="4521094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sp>
        <p:nvSpPr>
          <p:cNvPr id="15" name="右箭头 14"/>
          <p:cNvSpPr/>
          <p:nvPr/>
        </p:nvSpPr>
        <p:spPr bwMode="auto">
          <a:xfrm>
            <a:off x="6081892" y="2687401"/>
            <a:ext cx="925309" cy="297200"/>
          </a:xfrm>
          <a:prstGeom prst="rightArrow">
            <a:avLst/>
          </a:prstGeom>
          <a:ln>
            <a:headEnd/>
            <a:tailEnd/>
          </a:ln>
          <a:ex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109" name="右箭头 108"/>
          <p:cNvSpPr/>
          <p:nvPr/>
        </p:nvSpPr>
        <p:spPr bwMode="auto">
          <a:xfrm>
            <a:off x="6098946" y="4425404"/>
            <a:ext cx="925309" cy="297200"/>
          </a:xfrm>
          <a:prstGeom prst="rightArrow">
            <a:avLst/>
          </a:prstGeom>
          <a:ln>
            <a:headEnd/>
            <a:tailEnd/>
          </a:ln>
          <a:ex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081944" y="2526657"/>
            <a:ext cx="76757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400" dirty="0"/>
              <a:t>驱动</a:t>
            </a:r>
            <a:endParaRPr lang="zh-CN" altLang="en-US" sz="1400" dirty="0" smtClean="0"/>
          </a:p>
        </p:txBody>
      </p:sp>
      <p:sp>
        <p:nvSpPr>
          <p:cNvPr id="110" name="TextBox 109"/>
          <p:cNvSpPr txBox="1"/>
          <p:nvPr/>
        </p:nvSpPr>
        <p:spPr>
          <a:xfrm>
            <a:off x="6098946" y="4274032"/>
            <a:ext cx="76757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400" dirty="0"/>
              <a:t>驱动</a:t>
            </a:r>
            <a:endParaRPr lang="zh-CN" altLang="en-US" sz="1400" dirty="0" smtClean="0"/>
          </a:p>
        </p:txBody>
      </p:sp>
      <p:grpSp>
        <p:nvGrpSpPr>
          <p:cNvPr id="115" name="组合 114"/>
          <p:cNvGrpSpPr/>
          <p:nvPr/>
        </p:nvGrpSpPr>
        <p:grpSpPr>
          <a:xfrm>
            <a:off x="4441694" y="2148963"/>
            <a:ext cx="1698644" cy="241259"/>
            <a:chOff x="4086080" y="2148963"/>
            <a:chExt cx="1698644" cy="241259"/>
          </a:xfrm>
        </p:grpSpPr>
        <p:pic>
          <p:nvPicPr>
            <p:cNvPr id="113" name="Picture 170" descr="par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6080" y="2157288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4" name="Text Box 172"/>
            <p:cNvSpPr txBox="1">
              <a:spLocks noChangeArrowheads="1"/>
            </p:cNvSpPr>
            <p:nvPr/>
          </p:nvSpPr>
          <p:spPr bwMode="auto">
            <a:xfrm>
              <a:off x="4289459" y="2148963"/>
              <a:ext cx="1495265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0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普通臂 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6B4.300.202.HST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4433347" y="3962914"/>
            <a:ext cx="1848381" cy="246221"/>
            <a:chOff x="7024255" y="3962920"/>
            <a:chExt cx="1848381" cy="246221"/>
          </a:xfrm>
        </p:grpSpPr>
        <p:pic>
          <p:nvPicPr>
            <p:cNvPr id="118" name="Picture 170" descr="part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4255" y="3971245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Text Box 172"/>
            <p:cNvSpPr txBox="1">
              <a:spLocks noChangeArrowheads="1"/>
            </p:cNvSpPr>
            <p:nvPr/>
          </p:nvSpPr>
          <p:spPr bwMode="auto">
            <a:xfrm>
              <a:off x="7227634" y="3962920"/>
              <a:ext cx="164500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000" b="0" dirty="0">
                  <a:solidFill>
                    <a:srgbClr val="0066FF"/>
                  </a:solidFill>
                  <a:latin typeface="+mn-ea"/>
                  <a:ea typeface="+mn-ea"/>
                </a:rPr>
                <a:t>加长</a:t>
              </a:r>
              <a:r>
                <a:rPr lang="zh-CN" altLang="en-US" sz="10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臂 </a:t>
              </a:r>
              <a:r>
                <a:rPr lang="en-US" altLang="zh-CN" sz="1000" b="0" dirty="0">
                  <a:solidFill>
                    <a:srgbClr val="0066FF"/>
                  </a:solidFill>
                </a:rPr>
                <a:t>7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B4.300.20</a:t>
              </a:r>
              <a:r>
                <a:rPr lang="en-US" altLang="zh-CN" sz="1000" b="0" dirty="0" smtClean="0">
                  <a:solidFill>
                    <a:srgbClr val="0066FF"/>
                  </a:solidFill>
                </a:rPr>
                <a:t>1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</p:grpSp>
      <p:cxnSp>
        <p:nvCxnSpPr>
          <p:cNvPr id="121" name="曲线连接符 120"/>
          <p:cNvCxnSpPr>
            <a:stCxn id="69" idx="0"/>
            <a:endCxn id="113" idx="0"/>
          </p:cNvCxnSpPr>
          <p:nvPr/>
        </p:nvCxnSpPr>
        <p:spPr>
          <a:xfrm rot="5400000" flipH="1" flipV="1">
            <a:off x="3491321" y="1125364"/>
            <a:ext cx="43530" cy="2107379"/>
          </a:xfrm>
          <a:prstGeom prst="curvedConnector3">
            <a:avLst>
              <a:gd name="adj1" fmla="val 566798"/>
            </a:avLst>
          </a:prstGeom>
          <a:ln>
            <a:solidFill>
              <a:srgbClr val="FF0000"/>
            </a:solidFill>
            <a:headEnd type="none" w="med" len="sm"/>
            <a:tailEnd type="stealt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8" name="曲线连接符 127"/>
          <p:cNvCxnSpPr/>
          <p:nvPr/>
        </p:nvCxnSpPr>
        <p:spPr>
          <a:xfrm rot="5400000" flipH="1" flipV="1">
            <a:off x="3448988" y="2928764"/>
            <a:ext cx="43530" cy="2107379"/>
          </a:xfrm>
          <a:prstGeom prst="curvedConnector3">
            <a:avLst>
              <a:gd name="adj1" fmla="val 566798"/>
            </a:avLst>
          </a:prstGeom>
          <a:ln>
            <a:solidFill>
              <a:srgbClr val="FF0000"/>
            </a:solidFill>
            <a:headEnd type="none" w="med" len="sm"/>
            <a:tailEnd type="stealt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923384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底层产品结构建立</a:t>
            </a:r>
            <a:endParaRPr 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491331" y="1352550"/>
            <a:ext cx="1128713" cy="1173618"/>
            <a:chOff x="491331" y="1276350"/>
            <a:chExt cx="1128713" cy="1173618"/>
          </a:xfrm>
        </p:grpSpPr>
        <p:sp>
          <p:nvSpPr>
            <p:cNvPr id="55" name="椭圆 54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设计师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60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1" name="组合 100"/>
          <p:cNvGrpSpPr/>
          <p:nvPr/>
        </p:nvGrpSpPr>
        <p:grpSpPr>
          <a:xfrm>
            <a:off x="2496155" y="1943027"/>
            <a:ext cx="3022228" cy="3166884"/>
            <a:chOff x="2233678" y="2290174"/>
            <a:chExt cx="3022228" cy="3166884"/>
          </a:xfrm>
        </p:grpSpPr>
        <p:grpSp>
          <p:nvGrpSpPr>
            <p:cNvPr id="102" name="组合 101"/>
            <p:cNvGrpSpPr/>
            <p:nvPr/>
          </p:nvGrpSpPr>
          <p:grpSpPr>
            <a:xfrm>
              <a:off x="2847187" y="2817871"/>
              <a:ext cx="2408719" cy="2639187"/>
              <a:chOff x="3006180" y="3807378"/>
              <a:chExt cx="2408719" cy="2639187"/>
            </a:xfrm>
          </p:grpSpPr>
          <p:grpSp>
            <p:nvGrpSpPr>
              <p:cNvPr id="107" name="组合 106"/>
              <p:cNvGrpSpPr/>
              <p:nvPr/>
            </p:nvGrpSpPr>
            <p:grpSpPr>
              <a:xfrm>
                <a:off x="3428173" y="4213352"/>
                <a:ext cx="1675814" cy="246969"/>
                <a:chOff x="2824191" y="2216642"/>
                <a:chExt cx="1675814" cy="246969"/>
              </a:xfrm>
            </p:grpSpPr>
            <p:sp>
              <p:nvSpPr>
                <p:cNvPr id="195" name="Rectangle 206"/>
                <p:cNvSpPr>
                  <a:spLocks noChangeArrowheads="1"/>
                </p:cNvSpPr>
                <p:nvPr/>
              </p:nvSpPr>
              <p:spPr bwMode="auto">
                <a:xfrm>
                  <a:off x="2990113" y="2216642"/>
                  <a:ext cx="1509892" cy="2469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/>
                <a:p>
                  <a:r>
                    <a:rPr lang="de-DE" altLang="zh-CN" sz="1000" dirty="0" smtClean="0">
                      <a:solidFill>
                        <a:schemeClr val="accent2">
                          <a:lumMod val="50000"/>
                        </a:schemeClr>
                      </a:solidFill>
                    </a:rPr>
                    <a:t>6B4.300.202.HST</a:t>
                  </a:r>
                  <a:r>
                    <a:rPr lang="de-DE" sz="1000" b="0" dirty="0" smtClean="0">
                      <a:solidFill>
                        <a:schemeClr val="accent2">
                          <a:lumMod val="50000"/>
                        </a:schemeClr>
                      </a:solidFill>
                    </a:rPr>
                    <a:t>.ASM</a:t>
                  </a:r>
                  <a:endParaRPr lang="en-US" altLang="zh-CN" sz="1000" b="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pic>
              <p:nvPicPr>
                <p:cNvPr id="196" name="Picture 367" descr="Assembly Icon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=""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24191" y="2243153"/>
                  <a:ext cx="218716" cy="202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09" name="组合 108"/>
              <p:cNvGrpSpPr/>
              <p:nvPr/>
            </p:nvGrpSpPr>
            <p:grpSpPr>
              <a:xfrm>
                <a:off x="3006180" y="3807378"/>
                <a:ext cx="1698644" cy="241259"/>
                <a:chOff x="3006180" y="3807378"/>
                <a:chExt cx="1698644" cy="241259"/>
              </a:xfrm>
            </p:grpSpPr>
            <p:pic>
              <p:nvPicPr>
                <p:cNvPr id="193" name="Picture 170" descr="part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=""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06180" y="3815703"/>
                  <a:ext cx="250163" cy="2329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4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3209559" y="3807378"/>
                  <a:ext cx="1495265" cy="230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pPr algn="l"/>
                  <a:r>
                    <a:rPr lang="zh-CN" altLang="en-US" sz="1000" b="0" dirty="0" smtClean="0">
                      <a:solidFill>
                        <a:srgbClr val="0066FF"/>
                      </a:solidFill>
                      <a:latin typeface="+mn-ea"/>
                      <a:ea typeface="+mn-ea"/>
                    </a:rPr>
                    <a:t>普通臂 </a:t>
                  </a:r>
                  <a:r>
                    <a:rPr lang="de-DE" sz="1000" b="0" dirty="0" smtClean="0">
                      <a:solidFill>
                        <a:srgbClr val="0066FF"/>
                      </a:solidFill>
                    </a:rPr>
                    <a:t>6B4.300.202.HST</a:t>
                  </a:r>
                  <a:endParaRPr lang="de-DE" sz="1000" b="0" dirty="0">
                    <a:solidFill>
                      <a:srgbClr val="0066FF"/>
                    </a:solidFill>
                  </a:endParaRPr>
                </a:p>
              </p:txBody>
            </p:sp>
          </p:grpSp>
          <p:grpSp>
            <p:nvGrpSpPr>
              <p:cNvPr id="110" name="组合 109"/>
              <p:cNvGrpSpPr/>
              <p:nvPr/>
            </p:nvGrpSpPr>
            <p:grpSpPr>
              <a:xfrm>
                <a:off x="3428173" y="4604700"/>
                <a:ext cx="1862945" cy="606224"/>
                <a:chOff x="3428173" y="4604700"/>
                <a:chExt cx="1862945" cy="606224"/>
              </a:xfrm>
            </p:grpSpPr>
            <p:cxnSp>
              <p:nvCxnSpPr>
                <p:cNvPr id="186" name="AutoShape 197"/>
                <p:cNvCxnSpPr>
                  <a:cxnSpLocks noChangeShapeType="1"/>
                  <a:stCxn id="190" idx="2"/>
                  <a:endCxn id="192" idx="1"/>
                </p:cNvCxnSpPr>
                <p:nvPr/>
              </p:nvCxnSpPr>
              <p:spPr bwMode="auto">
                <a:xfrm rot="16200000" flipH="1">
                  <a:off x="3582781" y="4830320"/>
                  <a:ext cx="244338" cy="303390"/>
                </a:xfrm>
                <a:prstGeom prst="bentConnector2">
                  <a:avLst/>
                </a:prstGeom>
                <a:noFill/>
                <a:ln w="19050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187" name="组合 186"/>
                <p:cNvGrpSpPr/>
                <p:nvPr/>
              </p:nvGrpSpPr>
              <p:grpSpPr>
                <a:xfrm>
                  <a:off x="3856645" y="4980699"/>
                  <a:ext cx="1434473" cy="230225"/>
                  <a:chOff x="3154527" y="2533376"/>
                  <a:chExt cx="1434473" cy="230225"/>
                </a:xfrm>
              </p:grpSpPr>
              <p:sp>
                <p:nvSpPr>
                  <p:cNvPr id="191" name="Text Box 1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8773" y="2533376"/>
                    <a:ext cx="1300227" cy="2302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pPr algn="l"/>
                    <a:r>
                      <a:rPr lang="de-DE" sz="1000" b="0" dirty="0">
                        <a:solidFill>
                          <a:srgbClr val="0066FF"/>
                        </a:solidFill>
                      </a:rPr>
                      <a:t>6B4_300_212_C.PRT</a:t>
                    </a:r>
                  </a:p>
                </p:txBody>
              </p:sp>
              <p:pic>
                <p:nvPicPr>
                  <p:cNvPr id="192" name="Picture 368" descr="prt_imag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154527" y="2561282"/>
                    <a:ext cx="203632" cy="1911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88" name="组合 187"/>
                <p:cNvGrpSpPr/>
                <p:nvPr/>
              </p:nvGrpSpPr>
              <p:grpSpPr>
                <a:xfrm>
                  <a:off x="3428173" y="4604700"/>
                  <a:ext cx="1145709" cy="255146"/>
                  <a:chOff x="7103953" y="2453442"/>
                  <a:chExt cx="1145709" cy="255146"/>
                </a:xfrm>
              </p:grpSpPr>
              <p:sp>
                <p:nvSpPr>
                  <p:cNvPr id="189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11005" y="2453442"/>
                    <a:ext cx="938657" cy="230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pPr algn="l"/>
                    <a:r>
                      <a:rPr lang="de-DE" sz="1000" b="0" dirty="0">
                        <a:solidFill>
                          <a:srgbClr val="0066FF"/>
                        </a:solidFill>
                      </a:rPr>
                      <a:t>6B4.300.212.C</a:t>
                    </a:r>
                  </a:p>
                </p:txBody>
              </p:sp>
              <p:pic>
                <p:nvPicPr>
                  <p:cNvPr id="190" name="Picture 170" descr="part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103953" y="2475654"/>
                    <a:ext cx="250163" cy="232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122" name="AutoShape 181"/>
              <p:cNvCxnSpPr>
                <a:cxnSpLocks noChangeShapeType="1"/>
                <a:stCxn id="193" idx="2"/>
                <a:endCxn id="190" idx="1"/>
              </p:cNvCxnSpPr>
              <p:nvPr/>
            </p:nvCxnSpPr>
            <p:spPr bwMode="auto">
              <a:xfrm rot="16200000" flipH="1">
                <a:off x="2932346" y="4247552"/>
                <a:ext cx="694742" cy="296911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7" name="AutoShape 181"/>
              <p:cNvCxnSpPr>
                <a:cxnSpLocks noChangeShapeType="1"/>
                <a:stCxn id="193" idx="2"/>
                <a:endCxn id="196" idx="1"/>
              </p:cNvCxnSpPr>
              <p:nvPr/>
            </p:nvCxnSpPr>
            <p:spPr bwMode="auto">
              <a:xfrm rot="16200000" flipH="1">
                <a:off x="3133524" y="4046374"/>
                <a:ext cx="292386" cy="296911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68" name="组合 167"/>
              <p:cNvGrpSpPr/>
              <p:nvPr/>
            </p:nvGrpSpPr>
            <p:grpSpPr>
              <a:xfrm>
                <a:off x="3429997" y="5219295"/>
                <a:ext cx="1984902" cy="622220"/>
                <a:chOff x="3428173" y="4604700"/>
                <a:chExt cx="1984902" cy="622220"/>
              </a:xfrm>
            </p:grpSpPr>
            <p:cxnSp>
              <p:nvCxnSpPr>
                <p:cNvPr id="179" name="AutoShape 197"/>
                <p:cNvCxnSpPr>
                  <a:cxnSpLocks noChangeShapeType="1"/>
                  <a:stCxn id="183" idx="2"/>
                  <a:endCxn id="185" idx="1"/>
                </p:cNvCxnSpPr>
                <p:nvPr/>
              </p:nvCxnSpPr>
              <p:spPr bwMode="auto">
                <a:xfrm rot="16200000" flipH="1">
                  <a:off x="3582781" y="4830320"/>
                  <a:ext cx="244338" cy="303390"/>
                </a:xfrm>
                <a:prstGeom prst="bentConnector2">
                  <a:avLst/>
                </a:prstGeom>
                <a:noFill/>
                <a:ln w="19050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180" name="组合 179"/>
                <p:cNvGrpSpPr/>
                <p:nvPr/>
              </p:nvGrpSpPr>
              <p:grpSpPr>
                <a:xfrm>
                  <a:off x="3856645" y="4980699"/>
                  <a:ext cx="1556430" cy="246221"/>
                  <a:chOff x="3154527" y="2533376"/>
                  <a:chExt cx="1556430" cy="246221"/>
                </a:xfrm>
              </p:grpSpPr>
              <p:sp>
                <p:nvSpPr>
                  <p:cNvPr id="184" name="Text Box 1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8773" y="2533376"/>
                    <a:ext cx="142218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de-DE" altLang="zh-CN" sz="1000" b="0" dirty="0">
                        <a:solidFill>
                          <a:srgbClr val="0066FF"/>
                        </a:solidFill>
                      </a:rPr>
                      <a:t>6B4_300_236_E.PRT</a:t>
                    </a:r>
                  </a:p>
                </p:txBody>
              </p:sp>
              <p:pic>
                <p:nvPicPr>
                  <p:cNvPr id="185" name="Picture 368" descr="prt_imag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154527" y="2561282"/>
                    <a:ext cx="203632" cy="1911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81" name="组合 180"/>
                <p:cNvGrpSpPr/>
                <p:nvPr/>
              </p:nvGrpSpPr>
              <p:grpSpPr>
                <a:xfrm>
                  <a:off x="3428173" y="4604700"/>
                  <a:ext cx="1372756" cy="255146"/>
                  <a:chOff x="7103953" y="2453442"/>
                  <a:chExt cx="1372756" cy="255146"/>
                </a:xfrm>
              </p:grpSpPr>
              <p:sp>
                <p:nvSpPr>
                  <p:cNvPr id="182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11005" y="2453442"/>
                    <a:ext cx="116570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de-DE" altLang="zh-CN" sz="1000" b="0" dirty="0" smtClean="0">
                        <a:solidFill>
                          <a:srgbClr val="0066FF"/>
                        </a:solidFill>
                      </a:rPr>
                      <a:t>6B4_300_236_E</a:t>
                    </a:r>
                    <a:endParaRPr lang="de-DE" altLang="zh-CN" sz="1000" b="0" dirty="0">
                      <a:solidFill>
                        <a:srgbClr val="0066FF"/>
                      </a:solidFill>
                    </a:endParaRPr>
                  </a:p>
                </p:txBody>
              </p:sp>
              <p:pic>
                <p:nvPicPr>
                  <p:cNvPr id="183" name="Picture 170" descr="part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103953" y="2475654"/>
                    <a:ext cx="250163" cy="232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169" name="AutoShape 181"/>
              <p:cNvCxnSpPr>
                <a:cxnSpLocks noChangeShapeType="1"/>
                <a:stCxn id="193" idx="2"/>
                <a:endCxn id="183" idx="1"/>
              </p:cNvCxnSpPr>
              <p:nvPr/>
            </p:nvCxnSpPr>
            <p:spPr bwMode="auto">
              <a:xfrm rot="16200000" flipH="1">
                <a:off x="2625961" y="4553937"/>
                <a:ext cx="1309337" cy="298735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70" name="组合 169"/>
              <p:cNvGrpSpPr/>
              <p:nvPr/>
            </p:nvGrpSpPr>
            <p:grpSpPr>
              <a:xfrm>
                <a:off x="3419443" y="5824345"/>
                <a:ext cx="958980" cy="622220"/>
                <a:chOff x="3428173" y="4604700"/>
                <a:chExt cx="958980" cy="622220"/>
              </a:xfrm>
            </p:grpSpPr>
            <p:cxnSp>
              <p:nvCxnSpPr>
                <p:cNvPr id="172" name="AutoShape 197"/>
                <p:cNvCxnSpPr>
                  <a:cxnSpLocks noChangeShapeType="1"/>
                  <a:stCxn id="176" idx="2"/>
                  <a:endCxn id="178" idx="1"/>
                </p:cNvCxnSpPr>
                <p:nvPr/>
              </p:nvCxnSpPr>
              <p:spPr bwMode="auto">
                <a:xfrm rot="16200000" flipH="1">
                  <a:off x="3582781" y="4830320"/>
                  <a:ext cx="244338" cy="303390"/>
                </a:xfrm>
                <a:prstGeom prst="bentConnector2">
                  <a:avLst/>
                </a:prstGeom>
                <a:noFill/>
                <a:ln w="19050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173" name="组合 172"/>
                <p:cNvGrpSpPr/>
                <p:nvPr/>
              </p:nvGrpSpPr>
              <p:grpSpPr>
                <a:xfrm>
                  <a:off x="3856645" y="4980699"/>
                  <a:ext cx="530508" cy="246221"/>
                  <a:chOff x="3154527" y="2533376"/>
                  <a:chExt cx="530508" cy="246221"/>
                </a:xfrm>
              </p:grpSpPr>
              <p:sp>
                <p:nvSpPr>
                  <p:cNvPr id="177" name="Text Box 1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8773" y="2533376"/>
                    <a:ext cx="396262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de-DE" altLang="zh-CN" sz="1000" b="0" dirty="0" smtClean="0">
                        <a:solidFill>
                          <a:srgbClr val="0066FF"/>
                        </a:solidFill>
                      </a:rPr>
                      <a:t>......</a:t>
                    </a:r>
                    <a:endParaRPr lang="de-DE" altLang="zh-CN" sz="1000" b="0" dirty="0">
                      <a:solidFill>
                        <a:srgbClr val="0066FF"/>
                      </a:solidFill>
                    </a:endParaRPr>
                  </a:p>
                </p:txBody>
              </p:sp>
              <p:pic>
                <p:nvPicPr>
                  <p:cNvPr id="178" name="Picture 368" descr="prt_imag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154527" y="2561282"/>
                    <a:ext cx="203632" cy="1911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74" name="组合 173"/>
                <p:cNvGrpSpPr/>
                <p:nvPr/>
              </p:nvGrpSpPr>
              <p:grpSpPr>
                <a:xfrm>
                  <a:off x="3428173" y="4604700"/>
                  <a:ext cx="590490" cy="255146"/>
                  <a:chOff x="7103953" y="2453442"/>
                  <a:chExt cx="590490" cy="255146"/>
                </a:xfrm>
              </p:grpSpPr>
              <p:sp>
                <p:nvSpPr>
                  <p:cNvPr id="175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11005" y="2453442"/>
                    <a:ext cx="383438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en-US" altLang="zh-CN" sz="1000" b="0" dirty="0" smtClean="0">
                        <a:solidFill>
                          <a:srgbClr val="0066FF"/>
                        </a:solidFill>
                      </a:rPr>
                      <a:t>…..</a:t>
                    </a:r>
                    <a:endParaRPr lang="de-DE" altLang="zh-CN" sz="1000" b="0" dirty="0">
                      <a:solidFill>
                        <a:srgbClr val="0066FF"/>
                      </a:solidFill>
                    </a:endParaRPr>
                  </a:p>
                </p:txBody>
              </p:sp>
              <p:pic>
                <p:nvPicPr>
                  <p:cNvPr id="176" name="Picture 170" descr="part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103953" y="2475654"/>
                    <a:ext cx="250163" cy="232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171" name="AutoShape 181"/>
              <p:cNvCxnSpPr>
                <a:cxnSpLocks noChangeShapeType="1"/>
                <a:stCxn id="193" idx="2"/>
                <a:endCxn id="176" idx="1"/>
              </p:cNvCxnSpPr>
              <p:nvPr/>
            </p:nvCxnSpPr>
            <p:spPr bwMode="auto">
              <a:xfrm rot="16200000" flipH="1">
                <a:off x="2318159" y="4861739"/>
                <a:ext cx="1914387" cy="288181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3" name="组合 102"/>
            <p:cNvGrpSpPr/>
            <p:nvPr/>
          </p:nvGrpSpPr>
          <p:grpSpPr>
            <a:xfrm>
              <a:off x="2233678" y="2290174"/>
              <a:ext cx="968881" cy="364292"/>
              <a:chOff x="3850567" y="4299174"/>
              <a:chExt cx="1065905" cy="389703"/>
            </a:xfrm>
          </p:grpSpPr>
          <p:pic>
            <p:nvPicPr>
              <p:cNvPr id="105" name="Picture 111" descr="variant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TextBox 105"/>
              <p:cNvSpPr txBox="1"/>
              <p:nvPr/>
            </p:nvSpPr>
            <p:spPr>
              <a:xfrm>
                <a:off x="3850567" y="4534989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 smtClean="0"/>
                  <a:t>普通臂</a:t>
                </a:r>
              </a:p>
            </p:txBody>
          </p:sp>
        </p:grpSp>
        <p:cxnSp>
          <p:nvCxnSpPr>
            <p:cNvPr id="104" name="AutoShape 181"/>
            <p:cNvCxnSpPr>
              <a:cxnSpLocks noChangeShapeType="1"/>
              <a:stCxn id="106" idx="2"/>
              <a:endCxn id="193" idx="1"/>
            </p:cNvCxnSpPr>
            <p:nvPr/>
          </p:nvCxnSpPr>
          <p:spPr bwMode="auto">
            <a:xfrm rot="16200000" flipH="1">
              <a:off x="2638555" y="2734030"/>
              <a:ext cx="288197" cy="129068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97" name="组合 196"/>
          <p:cNvGrpSpPr/>
          <p:nvPr/>
        </p:nvGrpSpPr>
        <p:grpSpPr>
          <a:xfrm>
            <a:off x="5303077" y="1944500"/>
            <a:ext cx="3065500" cy="3172963"/>
            <a:chOff x="5040600" y="2291647"/>
            <a:chExt cx="3065500" cy="3172963"/>
          </a:xfrm>
        </p:grpSpPr>
        <p:grpSp>
          <p:nvGrpSpPr>
            <p:cNvPr id="198" name="组合 197"/>
            <p:cNvGrpSpPr/>
            <p:nvPr/>
          </p:nvGrpSpPr>
          <p:grpSpPr>
            <a:xfrm>
              <a:off x="5697381" y="2825423"/>
              <a:ext cx="2408719" cy="2639187"/>
              <a:chOff x="3006180" y="3807378"/>
              <a:chExt cx="2408719" cy="2639187"/>
            </a:xfrm>
          </p:grpSpPr>
          <p:grpSp>
            <p:nvGrpSpPr>
              <p:cNvPr id="203" name="组合 202"/>
              <p:cNvGrpSpPr/>
              <p:nvPr/>
            </p:nvGrpSpPr>
            <p:grpSpPr>
              <a:xfrm>
                <a:off x="3428173" y="4213352"/>
                <a:ext cx="1675951" cy="246863"/>
                <a:chOff x="2824191" y="2216642"/>
                <a:chExt cx="1675951" cy="246863"/>
              </a:xfrm>
            </p:grpSpPr>
            <p:sp>
              <p:nvSpPr>
                <p:cNvPr id="235" name="Rectangle 206"/>
                <p:cNvSpPr>
                  <a:spLocks noChangeArrowheads="1"/>
                </p:cNvSpPr>
                <p:nvPr/>
              </p:nvSpPr>
              <p:spPr bwMode="auto">
                <a:xfrm>
                  <a:off x="2990113" y="2216642"/>
                  <a:ext cx="1510029" cy="2468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/>
                <a:p>
                  <a:r>
                    <a:rPr lang="en-US" altLang="zh-CN" sz="1000" dirty="0">
                      <a:solidFill>
                        <a:srgbClr val="0066FF"/>
                      </a:solidFill>
                    </a:rPr>
                    <a:t>7</a:t>
                  </a:r>
                  <a:r>
                    <a:rPr lang="de-DE" altLang="zh-CN" sz="1000" dirty="0">
                      <a:solidFill>
                        <a:srgbClr val="0066FF"/>
                      </a:solidFill>
                    </a:rPr>
                    <a:t>B4.300.20</a:t>
                  </a:r>
                  <a:r>
                    <a:rPr lang="en-US" altLang="zh-CN" sz="1000" dirty="0">
                      <a:solidFill>
                        <a:srgbClr val="0066FF"/>
                      </a:solidFill>
                    </a:rPr>
                    <a:t>1</a:t>
                  </a:r>
                  <a:r>
                    <a:rPr lang="de-DE" altLang="zh-CN" sz="1000" dirty="0" smtClean="0">
                      <a:solidFill>
                        <a:srgbClr val="0066FF"/>
                      </a:solidFill>
                    </a:rPr>
                    <a:t>.HST</a:t>
                  </a:r>
                  <a:r>
                    <a:rPr lang="de-DE" sz="1000" b="0" dirty="0" smtClean="0">
                      <a:solidFill>
                        <a:schemeClr val="accent2">
                          <a:lumMod val="50000"/>
                        </a:schemeClr>
                      </a:solidFill>
                    </a:rPr>
                    <a:t>.ASM</a:t>
                  </a:r>
                  <a:endParaRPr lang="en-US" altLang="zh-CN" sz="1000" b="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pic>
              <p:nvPicPr>
                <p:cNvPr id="236" name="Picture 367" descr="Assembly Icon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=""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24191" y="2243153"/>
                  <a:ext cx="218716" cy="202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04" name="组合 203"/>
              <p:cNvGrpSpPr/>
              <p:nvPr/>
            </p:nvGrpSpPr>
            <p:grpSpPr>
              <a:xfrm>
                <a:off x="3006180" y="3807378"/>
                <a:ext cx="1912501" cy="246221"/>
                <a:chOff x="3006180" y="3807378"/>
                <a:chExt cx="1912501" cy="246221"/>
              </a:xfrm>
            </p:grpSpPr>
            <p:pic>
              <p:nvPicPr>
                <p:cNvPr id="233" name="Picture 170" descr="part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=""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06180" y="3815703"/>
                  <a:ext cx="250163" cy="2329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4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3209559" y="3807378"/>
                  <a:ext cx="1709122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r>
                    <a:rPr lang="zh-CN" altLang="en-US" sz="1000" b="0" dirty="0" smtClean="0">
                      <a:solidFill>
                        <a:srgbClr val="0066FF"/>
                      </a:solidFill>
                      <a:latin typeface="+mn-ea"/>
                      <a:ea typeface="+mn-ea"/>
                    </a:rPr>
                    <a:t>加长臂 </a:t>
                  </a:r>
                  <a:r>
                    <a:rPr lang="en-US" altLang="zh-CN" sz="1000" b="0" dirty="0">
                      <a:solidFill>
                        <a:srgbClr val="0066FF"/>
                      </a:solidFill>
                    </a:rPr>
                    <a:t>7</a:t>
                  </a:r>
                  <a:r>
                    <a:rPr lang="de-DE" altLang="zh-CN" sz="1000" b="0" dirty="0">
                      <a:solidFill>
                        <a:srgbClr val="0066FF"/>
                      </a:solidFill>
                    </a:rPr>
                    <a:t>B4.300.20</a:t>
                  </a:r>
                  <a:r>
                    <a:rPr lang="en-US" altLang="zh-CN" sz="1000" b="0" dirty="0">
                      <a:solidFill>
                        <a:srgbClr val="0066FF"/>
                      </a:solidFill>
                    </a:rPr>
                    <a:t>1</a:t>
                  </a:r>
                  <a:r>
                    <a:rPr lang="de-DE" altLang="zh-CN" sz="1000" b="0" dirty="0">
                      <a:solidFill>
                        <a:srgbClr val="0066FF"/>
                      </a:solidFill>
                    </a:rPr>
                    <a:t>.HST</a:t>
                  </a:r>
                </a:p>
              </p:txBody>
            </p:sp>
          </p:grpSp>
          <p:grpSp>
            <p:nvGrpSpPr>
              <p:cNvPr id="205" name="组合 204"/>
              <p:cNvGrpSpPr/>
              <p:nvPr/>
            </p:nvGrpSpPr>
            <p:grpSpPr>
              <a:xfrm>
                <a:off x="3428173" y="4604700"/>
                <a:ext cx="1887120" cy="622220"/>
                <a:chOff x="3428173" y="4604700"/>
                <a:chExt cx="1887120" cy="622220"/>
              </a:xfrm>
            </p:grpSpPr>
            <p:cxnSp>
              <p:nvCxnSpPr>
                <p:cNvPr id="226" name="AutoShape 197"/>
                <p:cNvCxnSpPr>
                  <a:cxnSpLocks noChangeShapeType="1"/>
                  <a:stCxn id="230" idx="2"/>
                  <a:endCxn id="232" idx="1"/>
                </p:cNvCxnSpPr>
                <p:nvPr/>
              </p:nvCxnSpPr>
              <p:spPr bwMode="auto">
                <a:xfrm rot="16200000" flipH="1">
                  <a:off x="3582781" y="4830320"/>
                  <a:ext cx="244338" cy="303390"/>
                </a:xfrm>
                <a:prstGeom prst="bentConnector2">
                  <a:avLst/>
                </a:prstGeom>
                <a:noFill/>
                <a:ln w="19050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227" name="组合 226"/>
                <p:cNvGrpSpPr/>
                <p:nvPr/>
              </p:nvGrpSpPr>
              <p:grpSpPr>
                <a:xfrm>
                  <a:off x="3856645" y="4980699"/>
                  <a:ext cx="1458648" cy="246221"/>
                  <a:chOff x="3154527" y="2533376"/>
                  <a:chExt cx="1458648" cy="246221"/>
                </a:xfrm>
              </p:grpSpPr>
              <p:sp>
                <p:nvSpPr>
                  <p:cNvPr id="231" name="Text Box 1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8773" y="2533376"/>
                    <a:ext cx="1324402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en-US" altLang="zh-CN" sz="1000" b="0" dirty="0">
                        <a:solidFill>
                          <a:srgbClr val="0066FF"/>
                        </a:solidFill>
                      </a:rPr>
                      <a:t>7</a:t>
                    </a:r>
                    <a:r>
                      <a:rPr lang="de-DE" altLang="zh-CN" sz="1000" b="0" dirty="0" smtClean="0">
                        <a:solidFill>
                          <a:srgbClr val="0066FF"/>
                        </a:solidFill>
                      </a:rPr>
                      <a:t>B4.300.212.C</a:t>
                    </a:r>
                    <a:r>
                      <a:rPr lang="de-DE" sz="1000" b="0" dirty="0" smtClean="0">
                        <a:solidFill>
                          <a:srgbClr val="0066FF"/>
                        </a:solidFill>
                      </a:rPr>
                      <a:t>.PRT</a:t>
                    </a:r>
                    <a:endParaRPr lang="de-DE" sz="1000" b="0" dirty="0">
                      <a:solidFill>
                        <a:srgbClr val="0066FF"/>
                      </a:solidFill>
                    </a:endParaRPr>
                  </a:p>
                </p:txBody>
              </p:sp>
              <p:pic>
                <p:nvPicPr>
                  <p:cNvPr id="232" name="Picture 368" descr="prt_imag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154527" y="2561282"/>
                    <a:ext cx="203632" cy="1911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228" name="组合 227"/>
                <p:cNvGrpSpPr/>
                <p:nvPr/>
              </p:nvGrpSpPr>
              <p:grpSpPr>
                <a:xfrm>
                  <a:off x="3428173" y="4604700"/>
                  <a:ext cx="1239707" cy="255146"/>
                  <a:chOff x="7103953" y="2453442"/>
                  <a:chExt cx="1239707" cy="255146"/>
                </a:xfrm>
              </p:grpSpPr>
              <p:sp>
                <p:nvSpPr>
                  <p:cNvPr id="229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11005" y="2453442"/>
                    <a:ext cx="1032655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en-US" altLang="zh-CN" sz="1000" b="0" dirty="0">
                        <a:solidFill>
                          <a:srgbClr val="0066FF"/>
                        </a:solidFill>
                      </a:rPr>
                      <a:t>7</a:t>
                    </a:r>
                    <a:r>
                      <a:rPr lang="de-DE" altLang="zh-CN" sz="1000" b="0" dirty="0">
                        <a:solidFill>
                          <a:srgbClr val="0066FF"/>
                        </a:solidFill>
                      </a:rPr>
                      <a:t>B4.300.212.C</a:t>
                    </a:r>
                  </a:p>
                </p:txBody>
              </p:sp>
              <p:pic>
                <p:nvPicPr>
                  <p:cNvPr id="230" name="Picture 170" descr="part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103953" y="2475654"/>
                    <a:ext cx="250163" cy="232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206" name="AutoShape 181"/>
              <p:cNvCxnSpPr>
                <a:cxnSpLocks noChangeShapeType="1"/>
                <a:stCxn id="233" idx="2"/>
                <a:endCxn id="230" idx="1"/>
              </p:cNvCxnSpPr>
              <p:nvPr/>
            </p:nvCxnSpPr>
            <p:spPr bwMode="auto">
              <a:xfrm rot="16200000" flipH="1">
                <a:off x="2932346" y="4247552"/>
                <a:ext cx="694742" cy="296911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7" name="AutoShape 181"/>
              <p:cNvCxnSpPr>
                <a:cxnSpLocks noChangeShapeType="1"/>
                <a:stCxn id="233" idx="2"/>
                <a:endCxn id="236" idx="1"/>
              </p:cNvCxnSpPr>
              <p:nvPr/>
            </p:nvCxnSpPr>
            <p:spPr bwMode="auto">
              <a:xfrm rot="16200000" flipH="1">
                <a:off x="3133524" y="4046374"/>
                <a:ext cx="292386" cy="296911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08" name="组合 207"/>
              <p:cNvGrpSpPr/>
              <p:nvPr/>
            </p:nvGrpSpPr>
            <p:grpSpPr>
              <a:xfrm>
                <a:off x="3429997" y="5219295"/>
                <a:ext cx="1984902" cy="622220"/>
                <a:chOff x="3428173" y="4604700"/>
                <a:chExt cx="1984902" cy="622220"/>
              </a:xfrm>
            </p:grpSpPr>
            <p:cxnSp>
              <p:nvCxnSpPr>
                <p:cNvPr id="219" name="AutoShape 197"/>
                <p:cNvCxnSpPr>
                  <a:cxnSpLocks noChangeShapeType="1"/>
                  <a:stCxn id="223" idx="2"/>
                  <a:endCxn id="225" idx="1"/>
                </p:cNvCxnSpPr>
                <p:nvPr/>
              </p:nvCxnSpPr>
              <p:spPr bwMode="auto">
                <a:xfrm rot="16200000" flipH="1">
                  <a:off x="3582781" y="4830320"/>
                  <a:ext cx="244338" cy="303390"/>
                </a:xfrm>
                <a:prstGeom prst="bentConnector2">
                  <a:avLst/>
                </a:prstGeom>
                <a:noFill/>
                <a:ln w="19050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220" name="组合 219"/>
                <p:cNvGrpSpPr/>
                <p:nvPr/>
              </p:nvGrpSpPr>
              <p:grpSpPr>
                <a:xfrm>
                  <a:off x="3856645" y="4980699"/>
                  <a:ext cx="1556430" cy="246221"/>
                  <a:chOff x="3154527" y="2533376"/>
                  <a:chExt cx="1556430" cy="246221"/>
                </a:xfrm>
              </p:grpSpPr>
              <p:sp>
                <p:nvSpPr>
                  <p:cNvPr id="224" name="Text Box 1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8773" y="2533376"/>
                    <a:ext cx="142218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de-DE" altLang="zh-CN" sz="1000" b="0" dirty="0">
                        <a:solidFill>
                          <a:srgbClr val="0066FF"/>
                        </a:solidFill>
                      </a:rPr>
                      <a:t>6B4_300_236_E.PRT</a:t>
                    </a:r>
                  </a:p>
                </p:txBody>
              </p:sp>
              <p:pic>
                <p:nvPicPr>
                  <p:cNvPr id="225" name="Picture 368" descr="prt_imag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154527" y="2561282"/>
                    <a:ext cx="203632" cy="1911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221" name="组合 220"/>
                <p:cNvGrpSpPr/>
                <p:nvPr/>
              </p:nvGrpSpPr>
              <p:grpSpPr>
                <a:xfrm>
                  <a:off x="3428173" y="4604700"/>
                  <a:ext cx="1372756" cy="255146"/>
                  <a:chOff x="7103953" y="2453442"/>
                  <a:chExt cx="1372756" cy="255146"/>
                </a:xfrm>
              </p:grpSpPr>
              <p:sp>
                <p:nvSpPr>
                  <p:cNvPr id="222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11005" y="2453442"/>
                    <a:ext cx="1165704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de-DE" altLang="zh-CN" sz="1000" b="0" dirty="0" smtClean="0">
                        <a:solidFill>
                          <a:srgbClr val="0066FF"/>
                        </a:solidFill>
                      </a:rPr>
                      <a:t>6B4_300_236_E</a:t>
                    </a:r>
                    <a:endParaRPr lang="de-DE" altLang="zh-CN" sz="1000" b="0" dirty="0">
                      <a:solidFill>
                        <a:srgbClr val="0066FF"/>
                      </a:solidFill>
                    </a:endParaRPr>
                  </a:p>
                </p:txBody>
              </p:sp>
              <p:pic>
                <p:nvPicPr>
                  <p:cNvPr id="223" name="Picture 170" descr="part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103953" y="2475654"/>
                    <a:ext cx="250163" cy="232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209" name="AutoShape 181"/>
              <p:cNvCxnSpPr>
                <a:cxnSpLocks noChangeShapeType="1"/>
                <a:stCxn id="233" idx="2"/>
                <a:endCxn id="223" idx="1"/>
              </p:cNvCxnSpPr>
              <p:nvPr/>
            </p:nvCxnSpPr>
            <p:spPr bwMode="auto">
              <a:xfrm rot="16200000" flipH="1">
                <a:off x="2625961" y="4553937"/>
                <a:ext cx="1309337" cy="298735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0" name="组合 209"/>
              <p:cNvGrpSpPr/>
              <p:nvPr/>
            </p:nvGrpSpPr>
            <p:grpSpPr>
              <a:xfrm>
                <a:off x="3419443" y="5824345"/>
                <a:ext cx="958980" cy="622220"/>
                <a:chOff x="3428173" y="4604700"/>
                <a:chExt cx="958980" cy="622220"/>
              </a:xfrm>
            </p:grpSpPr>
            <p:cxnSp>
              <p:nvCxnSpPr>
                <p:cNvPr id="212" name="AutoShape 197"/>
                <p:cNvCxnSpPr>
                  <a:cxnSpLocks noChangeShapeType="1"/>
                  <a:stCxn id="216" idx="2"/>
                  <a:endCxn id="218" idx="1"/>
                </p:cNvCxnSpPr>
                <p:nvPr/>
              </p:nvCxnSpPr>
              <p:spPr bwMode="auto">
                <a:xfrm rot="16200000" flipH="1">
                  <a:off x="3582781" y="4830320"/>
                  <a:ext cx="244338" cy="303390"/>
                </a:xfrm>
                <a:prstGeom prst="bentConnector2">
                  <a:avLst/>
                </a:prstGeom>
                <a:noFill/>
                <a:ln w="19050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213" name="组合 212"/>
                <p:cNvGrpSpPr/>
                <p:nvPr/>
              </p:nvGrpSpPr>
              <p:grpSpPr>
                <a:xfrm>
                  <a:off x="3856645" y="4980699"/>
                  <a:ext cx="530508" cy="246221"/>
                  <a:chOff x="3154527" y="2533376"/>
                  <a:chExt cx="530508" cy="246221"/>
                </a:xfrm>
              </p:grpSpPr>
              <p:sp>
                <p:nvSpPr>
                  <p:cNvPr id="217" name="Text Box 1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88773" y="2533376"/>
                    <a:ext cx="396262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de-DE" altLang="zh-CN" sz="1000" b="0" dirty="0" smtClean="0">
                        <a:solidFill>
                          <a:srgbClr val="0066FF"/>
                        </a:solidFill>
                      </a:rPr>
                      <a:t>......</a:t>
                    </a:r>
                    <a:endParaRPr lang="de-DE" altLang="zh-CN" sz="1000" b="0" dirty="0">
                      <a:solidFill>
                        <a:srgbClr val="0066FF"/>
                      </a:solidFill>
                    </a:endParaRPr>
                  </a:p>
                </p:txBody>
              </p:sp>
              <p:pic>
                <p:nvPicPr>
                  <p:cNvPr id="218" name="Picture 368" descr="prt_image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154527" y="2561282"/>
                    <a:ext cx="203632" cy="1911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214" name="组合 213"/>
                <p:cNvGrpSpPr/>
                <p:nvPr/>
              </p:nvGrpSpPr>
              <p:grpSpPr>
                <a:xfrm>
                  <a:off x="3428173" y="4604700"/>
                  <a:ext cx="590490" cy="255146"/>
                  <a:chOff x="7103953" y="2453442"/>
                  <a:chExt cx="590490" cy="255146"/>
                </a:xfrm>
              </p:grpSpPr>
              <p:sp>
                <p:nvSpPr>
                  <p:cNvPr id="215" name="Text Box 1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311005" y="2453442"/>
                    <a:ext cx="383438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1pPr>
                    <a:lvl2pPr marL="742950" indent="-28575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2pPr>
                    <a:lvl3pPr marL="11430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3pPr>
                    <a:lvl4pPr marL="16002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4pPr>
                    <a:lvl5pPr marL="2057400" indent="-228600"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Arial" pitchFamily="34" charset="0"/>
                        <a:ea typeface="MS PGothic" pitchFamily="34" charset="-128"/>
                      </a:defRPr>
                    </a:lvl9pPr>
                  </a:lstStyle>
                  <a:p>
                    <a:r>
                      <a:rPr lang="en-US" altLang="zh-CN" sz="1000" b="0" dirty="0" smtClean="0">
                        <a:solidFill>
                          <a:srgbClr val="0066FF"/>
                        </a:solidFill>
                      </a:rPr>
                      <a:t>…..</a:t>
                    </a:r>
                    <a:endParaRPr lang="de-DE" altLang="zh-CN" sz="1000" b="0" dirty="0">
                      <a:solidFill>
                        <a:srgbClr val="0066FF"/>
                      </a:solidFill>
                    </a:endParaRPr>
                  </a:p>
                </p:txBody>
              </p:sp>
              <p:pic>
                <p:nvPicPr>
                  <p:cNvPr id="216" name="Picture 170" descr="part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=""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103953" y="2475654"/>
                    <a:ext cx="250163" cy="232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211" name="AutoShape 181"/>
              <p:cNvCxnSpPr>
                <a:cxnSpLocks noChangeShapeType="1"/>
                <a:stCxn id="233" idx="2"/>
                <a:endCxn id="216" idx="1"/>
              </p:cNvCxnSpPr>
              <p:nvPr/>
            </p:nvCxnSpPr>
            <p:spPr bwMode="auto">
              <a:xfrm rot="16200000" flipH="1">
                <a:off x="2318159" y="4861739"/>
                <a:ext cx="1914387" cy="288181"/>
              </a:xfrm>
              <a:prstGeom prst="bentConnector2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9" name="组合 198"/>
            <p:cNvGrpSpPr/>
            <p:nvPr/>
          </p:nvGrpSpPr>
          <p:grpSpPr>
            <a:xfrm>
              <a:off x="5040600" y="2291647"/>
              <a:ext cx="968881" cy="374326"/>
              <a:chOff x="3850567" y="4299174"/>
              <a:chExt cx="1065905" cy="400437"/>
            </a:xfrm>
          </p:grpSpPr>
          <p:pic>
            <p:nvPicPr>
              <p:cNvPr id="201" name="Picture 111" descr="variant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2" name="TextBox 201"/>
              <p:cNvSpPr txBox="1"/>
              <p:nvPr/>
            </p:nvSpPr>
            <p:spPr>
              <a:xfrm>
                <a:off x="3850567" y="4534989"/>
                <a:ext cx="1065905" cy="1646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/>
                  <a:t>加长</a:t>
                </a:r>
                <a:r>
                  <a:rPr lang="zh-CN" altLang="en-US" sz="1000" dirty="0" smtClean="0"/>
                  <a:t>臂</a:t>
                </a:r>
              </a:p>
            </p:txBody>
          </p:sp>
        </p:grpSp>
        <p:cxnSp>
          <p:nvCxnSpPr>
            <p:cNvPr id="200" name="AutoShape 181"/>
            <p:cNvCxnSpPr>
              <a:cxnSpLocks noChangeShapeType="1"/>
            </p:cNvCxnSpPr>
            <p:nvPr/>
          </p:nvCxnSpPr>
          <p:spPr bwMode="auto">
            <a:xfrm rot="16200000" flipH="1">
              <a:off x="5488749" y="2724321"/>
              <a:ext cx="288197" cy="129068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37" name="组合 236"/>
          <p:cNvGrpSpPr/>
          <p:nvPr/>
        </p:nvGrpSpPr>
        <p:grpSpPr>
          <a:xfrm>
            <a:off x="2467794" y="1846263"/>
            <a:ext cx="6192959" cy="3461666"/>
            <a:chOff x="2205318" y="2375647"/>
            <a:chExt cx="6732494" cy="3137647"/>
          </a:xfrm>
          <a:solidFill>
            <a:srgbClr val="FFFF99">
              <a:alpha val="35000"/>
            </a:srgbClr>
          </a:solidFill>
        </p:grpSpPr>
        <p:sp>
          <p:nvSpPr>
            <p:cNvPr id="238" name="矩形 237"/>
            <p:cNvSpPr/>
            <p:nvPr/>
          </p:nvSpPr>
          <p:spPr bwMode="auto">
            <a:xfrm>
              <a:off x="2205318" y="2375647"/>
              <a:ext cx="6732494" cy="3137647"/>
            </a:xfrm>
            <a:prstGeom prst="rect">
              <a:avLst/>
            </a:prstGeom>
            <a:grp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4292375" y="3366816"/>
              <a:ext cx="3209365" cy="518121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4000" dirty="0" smtClean="0">
                  <a:solidFill>
                    <a:srgbClr val="FF0000"/>
                  </a:solidFill>
                </a:rPr>
                <a:t>签审发放</a:t>
              </a:r>
            </a:p>
          </p:txBody>
        </p:sp>
      </p:grpSp>
      <p:sp>
        <p:nvSpPr>
          <p:cNvPr id="114" name="AutoShape 5"/>
          <p:cNvSpPr>
            <a:spLocks noChangeArrowheads="1"/>
          </p:cNvSpPr>
          <p:nvPr/>
        </p:nvSpPr>
        <p:spPr bwMode="auto">
          <a:xfrm>
            <a:off x="350191" y="3841774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115" name="AutoShape 11"/>
          <p:cNvCxnSpPr>
            <a:cxnSpLocks noChangeShapeType="1"/>
            <a:stCxn id="121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116" name="AutoShape 14"/>
          <p:cNvCxnSpPr>
            <a:cxnSpLocks noChangeShapeType="1"/>
            <a:stCxn id="117" idx="2"/>
          </p:cNvCxnSpPr>
          <p:nvPr/>
        </p:nvCxnSpPr>
        <p:spPr bwMode="auto">
          <a:xfrm>
            <a:off x="1049338" y="4276703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17" name="Rectangle 15"/>
          <p:cNvSpPr>
            <a:spLocks noChangeArrowheads="1"/>
          </p:cNvSpPr>
          <p:nvPr/>
        </p:nvSpPr>
        <p:spPr bwMode="auto">
          <a:xfrm>
            <a:off x="390525" y="3922691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发放工程数据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(EBOM)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118" name="Group 21"/>
          <p:cNvGrpSpPr>
            <a:grpSpLocks/>
          </p:cNvGrpSpPr>
          <p:nvPr/>
        </p:nvGrpSpPr>
        <p:grpSpPr bwMode="auto">
          <a:xfrm>
            <a:off x="180975" y="3827441"/>
            <a:ext cx="231775" cy="231775"/>
            <a:chOff x="2452" y="1263"/>
            <a:chExt cx="146" cy="146"/>
          </a:xfrm>
        </p:grpSpPr>
        <p:sp>
          <p:nvSpPr>
            <p:cNvPr id="119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2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1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创建三维模型并关联产品结构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123" name="AutoShape 10"/>
          <p:cNvCxnSpPr>
            <a:cxnSpLocks noChangeShapeType="1"/>
            <a:stCxn id="124" idx="2"/>
            <a:endCxn id="121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4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125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126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AutoShape 20"/>
          <p:cNvSpPr>
            <a:spLocks noChangeArrowheads="1"/>
          </p:cNvSpPr>
          <p:nvPr/>
        </p:nvSpPr>
        <p:spPr bwMode="auto">
          <a:xfrm>
            <a:off x="362978" y="4521094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1287848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5"/>
          <p:cNvSpPr>
            <a:spLocks noChangeArrowheads="1"/>
          </p:cNvSpPr>
          <p:nvPr/>
        </p:nvSpPr>
        <p:spPr bwMode="auto">
          <a:xfrm>
            <a:off x="350191" y="3184802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配置并验证</a:t>
            </a:r>
            <a:endParaRPr lang="en-US" dirty="0"/>
          </a:p>
        </p:txBody>
      </p:sp>
      <p:grpSp>
        <p:nvGrpSpPr>
          <p:cNvPr id="2" name="组合 11"/>
          <p:cNvGrpSpPr/>
          <p:nvPr/>
        </p:nvGrpSpPr>
        <p:grpSpPr>
          <a:xfrm>
            <a:off x="736606" y="2040464"/>
            <a:ext cx="635001" cy="541869"/>
            <a:chOff x="491331" y="1276350"/>
            <a:chExt cx="1128713" cy="1173618"/>
          </a:xfrm>
        </p:grpSpPr>
        <p:sp>
          <p:nvSpPr>
            <p:cNvPr id="55" name="椭圆 54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</a:rPr>
                  <a:t>设计师</a:t>
                </a:r>
                <a:endParaRPr lang="en-US" sz="80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60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5" name="AutoShape 11"/>
          <p:cNvCxnSpPr>
            <a:cxnSpLocks noChangeShapeType="1"/>
            <a:stCxn id="121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1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dirty="0" smtClean="0">
                <a:solidFill>
                  <a:srgbClr val="FFFFFF"/>
                </a:solidFill>
                <a:ea typeface="宋体" pitchFamily="2" charset="-122"/>
              </a:rPr>
              <a:t>配置并验证</a:t>
            </a:r>
            <a:endParaRPr lang="en-US" sz="1000" dirty="0" smtClean="0">
              <a:solidFill>
                <a:srgbClr val="FFFFFF"/>
              </a:solidFill>
              <a:ea typeface="宋体" pitchFamily="2" charset="-122"/>
            </a:endParaRPr>
          </a:p>
        </p:txBody>
      </p:sp>
      <p:cxnSp>
        <p:nvCxnSpPr>
          <p:cNvPr id="123" name="AutoShape 10"/>
          <p:cNvCxnSpPr>
            <a:cxnSpLocks noChangeShapeType="1"/>
            <a:stCxn id="124" idx="2"/>
            <a:endCxn id="121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4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243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126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AutoShape 20"/>
          <p:cNvSpPr>
            <a:spLocks noChangeArrowheads="1"/>
          </p:cNvSpPr>
          <p:nvPr/>
        </p:nvSpPr>
        <p:spPr bwMode="auto">
          <a:xfrm>
            <a:off x="362978" y="3886069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109" name="组合 53"/>
          <p:cNvGrpSpPr/>
          <p:nvPr/>
        </p:nvGrpSpPr>
        <p:grpSpPr>
          <a:xfrm>
            <a:off x="1109136" y="1456266"/>
            <a:ext cx="651933" cy="516583"/>
            <a:chOff x="491331" y="1376363"/>
            <a:chExt cx="1128713" cy="1073605"/>
          </a:xfrm>
        </p:grpSpPr>
        <p:sp>
          <p:nvSpPr>
            <p:cNvPr id="110" name="椭圆 109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11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113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118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  <a:latin typeface="+mn-ea"/>
                  </a:rPr>
                  <a:t>总体人员</a:t>
                </a:r>
                <a:endParaRPr lang="en-US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  <p:pic>
          <p:nvPicPr>
            <p:cNvPr id="112" name="Picture 158" descr="j029202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5" name="组合 55"/>
          <p:cNvGrpSpPr/>
          <p:nvPr/>
        </p:nvGrpSpPr>
        <p:grpSpPr>
          <a:xfrm>
            <a:off x="338670" y="1447799"/>
            <a:ext cx="664081" cy="529419"/>
            <a:chOff x="6393367" y="894225"/>
            <a:chExt cx="1128713" cy="1023728"/>
          </a:xfrm>
        </p:grpSpPr>
        <p:sp>
          <p:nvSpPr>
            <p:cNvPr id="129" name="椭圆 128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30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132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133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80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131" name="Picture 138" descr="j029198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组合 7"/>
          <p:cNvGrpSpPr/>
          <p:nvPr/>
        </p:nvGrpSpPr>
        <p:grpSpPr>
          <a:xfrm>
            <a:off x="2281675" y="1624870"/>
            <a:ext cx="6475607" cy="4522398"/>
            <a:chOff x="2281675" y="1624870"/>
            <a:chExt cx="6475607" cy="4522398"/>
          </a:xfrm>
        </p:grpSpPr>
        <p:pic>
          <p:nvPicPr>
            <p:cNvPr id="3073" name="Picture 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1675" y="1624870"/>
              <a:ext cx="6475607" cy="45223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矩形 6"/>
            <p:cNvSpPr/>
            <p:nvPr/>
          </p:nvSpPr>
          <p:spPr bwMode="auto">
            <a:xfrm>
              <a:off x="3444536" y="2854325"/>
              <a:ext cx="346229" cy="3683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/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sp>
          <p:nvSpPr>
            <p:cNvPr id="35" name="AutoShape 47"/>
            <p:cNvSpPr>
              <a:spLocks noChangeArrowheads="1"/>
            </p:cNvSpPr>
            <p:nvPr/>
          </p:nvSpPr>
          <p:spPr bwMode="auto">
            <a:xfrm>
              <a:off x="4288023" y="3325908"/>
              <a:ext cx="1231455" cy="246863"/>
            </a:xfrm>
            <a:prstGeom prst="wedgeRectCallout">
              <a:avLst>
                <a:gd name="adj1" fmla="val -90660"/>
                <a:gd name="adj2" fmla="val -88503"/>
              </a:avLst>
            </a:prstGeom>
            <a:solidFill>
              <a:srgbClr val="FFFF99"/>
            </a:solidFill>
            <a:ln w="9525" algn="ctr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square" lIns="92075" tIns="46038" rIns="92075" bIns="46038" anchor="ctr">
              <a:spAutoFit/>
            </a:bodyPr>
            <a:lstStyle/>
            <a:p>
              <a:pPr marR="0" lvl="0" indent="0" eaLnBrk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sysClr val="windowText" lastClr="000000"/>
                  </a:solidFill>
                  <a:cs typeface="Times New Roman" pitchFamily="18" charset="0"/>
                </a:rPr>
                <a:t>验证选项规则</a:t>
              </a:r>
              <a:endParaRPr lang="en-US" altLang="ja-JP" sz="1000" kern="0" dirty="0">
                <a:solidFill>
                  <a:sysClr val="windowText" lastClr="000000"/>
                </a:solidFill>
                <a:cs typeface="Times New Roman" pitchFamily="18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281675" y="1624870"/>
            <a:ext cx="6475607" cy="4664316"/>
            <a:chOff x="2281675" y="1624870"/>
            <a:chExt cx="6475607" cy="4664316"/>
          </a:xfrm>
        </p:grpSpPr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1675" y="1624870"/>
              <a:ext cx="6475607" cy="46643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" name="矩形 37"/>
            <p:cNvSpPr/>
            <p:nvPr/>
          </p:nvSpPr>
          <p:spPr bwMode="auto">
            <a:xfrm>
              <a:off x="2610035" y="3114675"/>
              <a:ext cx="1953087" cy="8423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/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sp>
          <p:nvSpPr>
            <p:cNvPr id="39" name="AutoShape 47"/>
            <p:cNvSpPr>
              <a:spLocks noChangeArrowheads="1"/>
            </p:cNvSpPr>
            <p:nvPr/>
          </p:nvSpPr>
          <p:spPr bwMode="auto">
            <a:xfrm>
              <a:off x="4903750" y="4214744"/>
              <a:ext cx="1807768" cy="554640"/>
            </a:xfrm>
            <a:prstGeom prst="wedgeRectCallout">
              <a:avLst>
                <a:gd name="adj1" fmla="val -69621"/>
                <a:gd name="adj2" fmla="val -98509"/>
              </a:avLst>
            </a:prstGeom>
            <a:solidFill>
              <a:srgbClr val="FFFF99"/>
            </a:solidFill>
            <a:ln w="9525" algn="ctr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square" lIns="92075" tIns="46038" rIns="92075" bIns="46038" anchor="ctr">
              <a:spAutoFit/>
            </a:bodyPr>
            <a:lstStyle/>
            <a:p>
              <a:pPr marR="0" lvl="0" indent="0" eaLnBrk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sysClr val="windowText" lastClr="000000"/>
                  </a:solidFill>
                  <a:cs typeface="Times New Roman" pitchFamily="18" charset="0"/>
                </a:rPr>
                <a:t>验证包含规则，选中“抱叉”时“抱叉管路”自动被选中</a:t>
              </a:r>
              <a:endParaRPr lang="en-US" altLang="ja-JP" sz="1000" kern="0" dirty="0">
                <a:solidFill>
                  <a:sysClr val="windowText" lastClr="000000"/>
                </a:solidFill>
                <a:cs typeface="Times New Roman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281674" y="1615992"/>
            <a:ext cx="6475607" cy="4684540"/>
            <a:chOff x="2281674" y="1615992"/>
            <a:chExt cx="6475607" cy="468454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1674" y="1615992"/>
              <a:ext cx="6475607" cy="46845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矩形 9"/>
            <p:cNvSpPr/>
            <p:nvPr/>
          </p:nvSpPr>
          <p:spPr bwMode="auto">
            <a:xfrm>
              <a:off x="2494625" y="3958262"/>
              <a:ext cx="5406501" cy="1146398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/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sp>
          <p:nvSpPr>
            <p:cNvPr id="43" name="AutoShape 47"/>
            <p:cNvSpPr>
              <a:spLocks noChangeArrowheads="1"/>
            </p:cNvSpPr>
            <p:nvPr/>
          </p:nvSpPr>
          <p:spPr bwMode="auto">
            <a:xfrm>
              <a:off x="4378328" y="5527674"/>
              <a:ext cx="3726983" cy="400752"/>
            </a:xfrm>
            <a:prstGeom prst="wedgeRectCallout">
              <a:avLst>
                <a:gd name="adj1" fmla="val -5812"/>
                <a:gd name="adj2" fmla="val -154006"/>
              </a:avLst>
            </a:prstGeom>
            <a:solidFill>
              <a:srgbClr val="FFFF99"/>
            </a:solidFill>
            <a:ln w="9525" algn="ctr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square" lIns="92075" tIns="46038" rIns="92075" bIns="46038" anchor="ctr">
              <a:spAutoFit/>
            </a:bodyPr>
            <a:lstStyle/>
            <a:p>
              <a:pPr marR="0" lvl="0" indent="0" eaLnBrk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sysClr val="windowText" lastClr="000000"/>
                  </a:solidFill>
                  <a:cs typeface="Times New Roman" pitchFamily="18" charset="0"/>
                </a:rPr>
                <a:t>验证排除规则，选中“加长臂”，“三联阀</a:t>
              </a:r>
              <a:r>
                <a:rPr lang="en-US" altLang="zh-CN" sz="1000" kern="0" dirty="0" smtClean="0">
                  <a:solidFill>
                    <a:sysClr val="windowText" lastClr="000000"/>
                  </a:solidFill>
                  <a:cs typeface="Times New Roman" pitchFamily="18" charset="0"/>
                </a:rPr>
                <a:t>II</a:t>
              </a:r>
              <a:r>
                <a:rPr lang="zh-CN" altLang="en-US" sz="1000" kern="0" dirty="0" smtClean="0">
                  <a:solidFill>
                    <a:sysClr val="windowText" lastClr="000000"/>
                  </a:solidFill>
                  <a:cs typeface="Times New Roman" pitchFamily="18" charset="0"/>
                </a:rPr>
                <a:t>（无工作装置）”和“</a:t>
              </a:r>
              <a:r>
                <a:rPr lang="zh-CN" altLang="en-US" sz="1000" kern="0" dirty="0">
                  <a:solidFill>
                    <a:sysClr val="windowText" lastClr="000000"/>
                  </a:solidFill>
                  <a:cs typeface="Times New Roman" pitchFamily="18" charset="0"/>
                </a:rPr>
                <a:t>三联阀</a:t>
              </a:r>
              <a:r>
                <a:rPr lang="en-US" altLang="zh-CN" sz="1000" kern="0" dirty="0">
                  <a:solidFill>
                    <a:sysClr val="windowText" lastClr="000000"/>
                  </a:solidFill>
                  <a:cs typeface="Times New Roman" pitchFamily="18" charset="0"/>
                </a:rPr>
                <a:t>II</a:t>
              </a:r>
              <a:r>
                <a:rPr lang="zh-CN" altLang="en-US" sz="1000" kern="0" dirty="0">
                  <a:solidFill>
                    <a:sysClr val="windowText" lastClr="000000"/>
                  </a:solidFill>
                  <a:cs typeface="Times New Roman" pitchFamily="18" charset="0"/>
                </a:rPr>
                <a:t>（无工作装置）</a:t>
              </a:r>
              <a:r>
                <a:rPr lang="zh-CN" altLang="en-US" sz="1000" kern="0" dirty="0" smtClean="0">
                  <a:solidFill>
                    <a:sysClr val="windowText" lastClr="000000"/>
                  </a:solidFill>
                  <a:cs typeface="Times New Roman" pitchFamily="18" charset="0"/>
                </a:rPr>
                <a:t>”选择变灰</a:t>
              </a:r>
              <a:endParaRPr lang="en-US" altLang="ja-JP" sz="1000" kern="0" dirty="0">
                <a:solidFill>
                  <a:sysClr val="windowText" lastClr="000000"/>
                </a:solidFill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31287848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5"/>
          <p:cNvSpPr>
            <a:spLocks noChangeArrowheads="1"/>
          </p:cNvSpPr>
          <p:nvPr/>
        </p:nvSpPr>
        <p:spPr bwMode="auto">
          <a:xfrm>
            <a:off x="350191" y="3184802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配置并验证</a:t>
            </a:r>
            <a:endParaRPr lang="en-US" dirty="0"/>
          </a:p>
        </p:txBody>
      </p:sp>
      <p:grpSp>
        <p:nvGrpSpPr>
          <p:cNvPr id="2" name="组合 11"/>
          <p:cNvGrpSpPr/>
          <p:nvPr/>
        </p:nvGrpSpPr>
        <p:grpSpPr>
          <a:xfrm>
            <a:off x="736606" y="2040464"/>
            <a:ext cx="635001" cy="541869"/>
            <a:chOff x="491331" y="1276350"/>
            <a:chExt cx="1128713" cy="1173618"/>
          </a:xfrm>
        </p:grpSpPr>
        <p:sp>
          <p:nvSpPr>
            <p:cNvPr id="55" name="椭圆 54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</a:rPr>
                  <a:t>设计师</a:t>
                </a:r>
                <a:endParaRPr lang="en-US" sz="80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60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5" name="AutoShape 11"/>
          <p:cNvCxnSpPr>
            <a:cxnSpLocks noChangeShapeType="1"/>
            <a:stCxn id="121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1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dirty="0" smtClean="0">
                <a:solidFill>
                  <a:srgbClr val="FFFFFF"/>
                </a:solidFill>
                <a:ea typeface="宋体" pitchFamily="2" charset="-122"/>
              </a:rPr>
              <a:t>配置并验证</a:t>
            </a:r>
            <a:endParaRPr lang="en-US" sz="1000" dirty="0" smtClean="0">
              <a:solidFill>
                <a:srgbClr val="FFFFFF"/>
              </a:solidFill>
              <a:ea typeface="宋体" pitchFamily="2" charset="-122"/>
            </a:endParaRPr>
          </a:p>
        </p:txBody>
      </p:sp>
      <p:cxnSp>
        <p:nvCxnSpPr>
          <p:cNvPr id="123" name="AutoShape 10"/>
          <p:cNvCxnSpPr>
            <a:cxnSpLocks noChangeShapeType="1"/>
            <a:stCxn id="124" idx="2"/>
            <a:endCxn id="121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4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243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126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AutoShape 20"/>
          <p:cNvSpPr>
            <a:spLocks noChangeArrowheads="1"/>
          </p:cNvSpPr>
          <p:nvPr/>
        </p:nvSpPr>
        <p:spPr bwMode="auto">
          <a:xfrm>
            <a:off x="362978" y="3886069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109" name="组合 53"/>
          <p:cNvGrpSpPr/>
          <p:nvPr/>
        </p:nvGrpSpPr>
        <p:grpSpPr>
          <a:xfrm>
            <a:off x="1109136" y="1456266"/>
            <a:ext cx="651933" cy="516583"/>
            <a:chOff x="491331" y="1376363"/>
            <a:chExt cx="1128713" cy="1073605"/>
          </a:xfrm>
        </p:grpSpPr>
        <p:sp>
          <p:nvSpPr>
            <p:cNvPr id="110" name="椭圆 109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11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113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118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  <a:latin typeface="+mn-ea"/>
                  </a:rPr>
                  <a:t>总体人员</a:t>
                </a:r>
                <a:endParaRPr lang="en-US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  <p:pic>
          <p:nvPicPr>
            <p:cNvPr id="112" name="Picture 158" descr="j029202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5" name="组合 55"/>
          <p:cNvGrpSpPr/>
          <p:nvPr/>
        </p:nvGrpSpPr>
        <p:grpSpPr>
          <a:xfrm>
            <a:off x="338670" y="1447799"/>
            <a:ext cx="664081" cy="529419"/>
            <a:chOff x="6393367" y="894225"/>
            <a:chExt cx="1128713" cy="1023728"/>
          </a:xfrm>
        </p:grpSpPr>
        <p:sp>
          <p:nvSpPr>
            <p:cNvPr id="129" name="椭圆 128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30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132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133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80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131" name="Picture 138" descr="j029198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28333" y="1515533"/>
            <a:ext cx="6553200" cy="47164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44633" y="1490133"/>
            <a:ext cx="6519967" cy="493606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353733" y="1502714"/>
            <a:ext cx="6493933" cy="4898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3922267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5"/>
          <p:cNvSpPr>
            <a:spLocks noChangeArrowheads="1"/>
          </p:cNvSpPr>
          <p:nvPr/>
        </p:nvSpPr>
        <p:spPr bwMode="auto">
          <a:xfrm>
            <a:off x="350191" y="3184802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配置并验证</a:t>
            </a:r>
            <a:endParaRPr lang="en-US" dirty="0"/>
          </a:p>
        </p:txBody>
      </p:sp>
      <p:grpSp>
        <p:nvGrpSpPr>
          <p:cNvPr id="2" name="组合 11"/>
          <p:cNvGrpSpPr/>
          <p:nvPr/>
        </p:nvGrpSpPr>
        <p:grpSpPr>
          <a:xfrm>
            <a:off x="736606" y="2040464"/>
            <a:ext cx="635001" cy="541869"/>
            <a:chOff x="491331" y="1276350"/>
            <a:chExt cx="1128713" cy="1173618"/>
          </a:xfrm>
        </p:grpSpPr>
        <p:sp>
          <p:nvSpPr>
            <p:cNvPr id="55" name="椭圆 54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</a:rPr>
                  <a:t>设计师</a:t>
                </a:r>
                <a:endParaRPr lang="en-US" sz="80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60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5" name="AutoShape 11"/>
          <p:cNvCxnSpPr>
            <a:cxnSpLocks noChangeShapeType="1"/>
            <a:stCxn id="121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1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dirty="0" smtClean="0">
                <a:solidFill>
                  <a:srgbClr val="FFFFFF"/>
                </a:solidFill>
                <a:ea typeface="宋体" pitchFamily="2" charset="-122"/>
              </a:rPr>
              <a:t>配置并验证</a:t>
            </a:r>
            <a:endParaRPr lang="en-US" sz="1000" dirty="0" smtClean="0">
              <a:solidFill>
                <a:srgbClr val="FFFFFF"/>
              </a:solidFill>
              <a:ea typeface="宋体" pitchFamily="2" charset="-122"/>
            </a:endParaRPr>
          </a:p>
        </p:txBody>
      </p:sp>
      <p:cxnSp>
        <p:nvCxnSpPr>
          <p:cNvPr id="123" name="AutoShape 10"/>
          <p:cNvCxnSpPr>
            <a:cxnSpLocks noChangeShapeType="1"/>
            <a:stCxn id="124" idx="2"/>
            <a:endCxn id="121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4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126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AutoShape 20"/>
          <p:cNvSpPr>
            <a:spLocks noChangeArrowheads="1"/>
          </p:cNvSpPr>
          <p:nvPr/>
        </p:nvSpPr>
        <p:spPr bwMode="auto">
          <a:xfrm>
            <a:off x="362978" y="3886069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7" name="组合 53"/>
          <p:cNvGrpSpPr/>
          <p:nvPr/>
        </p:nvGrpSpPr>
        <p:grpSpPr>
          <a:xfrm>
            <a:off x="1109136" y="1456266"/>
            <a:ext cx="651933" cy="516583"/>
            <a:chOff x="491331" y="1376363"/>
            <a:chExt cx="1128713" cy="1073605"/>
          </a:xfrm>
        </p:grpSpPr>
        <p:sp>
          <p:nvSpPr>
            <p:cNvPr id="110" name="椭圆 109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113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118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  <a:latin typeface="+mn-ea"/>
                  </a:rPr>
                  <a:t>总体人员</a:t>
                </a:r>
                <a:endParaRPr lang="en-US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  <p:pic>
          <p:nvPicPr>
            <p:cNvPr id="112" name="Picture 158" descr="j029202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组合 55"/>
          <p:cNvGrpSpPr/>
          <p:nvPr/>
        </p:nvGrpSpPr>
        <p:grpSpPr>
          <a:xfrm>
            <a:off x="338670" y="1447799"/>
            <a:ext cx="664081" cy="529419"/>
            <a:chOff x="6393367" y="894225"/>
            <a:chExt cx="1128713" cy="1023728"/>
          </a:xfrm>
        </p:grpSpPr>
        <p:sp>
          <p:nvSpPr>
            <p:cNvPr id="129" name="椭圆 128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132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133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80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131" name="Picture 138" descr="j029198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AutoShape 47"/>
          <p:cNvSpPr>
            <a:spLocks noChangeArrowheads="1"/>
          </p:cNvSpPr>
          <p:nvPr/>
        </p:nvSpPr>
        <p:spPr bwMode="auto">
          <a:xfrm>
            <a:off x="6456103" y="1066999"/>
            <a:ext cx="1987867" cy="246863"/>
          </a:xfrm>
          <a:prstGeom prst="wedgeRectCallout">
            <a:avLst>
              <a:gd name="adj1" fmla="val -36477"/>
              <a:gd name="adj2" fmla="val 108986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r>
              <a:rPr lang="zh-CN" altLang="en-US" sz="1000" b="1" i="1" dirty="0" smtClean="0">
                <a:solidFill>
                  <a:srgbClr val="000000"/>
                </a:solidFill>
                <a:cs typeface="Times New Roman" pitchFamily="18" charset="0"/>
              </a:rPr>
              <a:t>挑选配置</a:t>
            </a:r>
            <a:endParaRPr lang="en-US" altLang="ja-JP" sz="1000" b="1" i="1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12" name="Group 60"/>
          <p:cNvGrpSpPr/>
          <p:nvPr/>
        </p:nvGrpSpPr>
        <p:grpSpPr>
          <a:xfrm>
            <a:off x="2392217" y="1611091"/>
            <a:ext cx="5927629" cy="4722338"/>
            <a:chOff x="1856958" y="1893124"/>
            <a:chExt cx="5927629" cy="4722338"/>
          </a:xfrm>
        </p:grpSpPr>
        <p:pic>
          <p:nvPicPr>
            <p:cNvPr id="48" name="Picture 41" descr="Filtered.tif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7502" y="1893124"/>
              <a:ext cx="5867085" cy="4680773"/>
            </a:xfrm>
            <a:prstGeom prst="rect">
              <a:avLst/>
            </a:prstGeom>
            <a:solidFill>
              <a:srgbClr val="FFFF99"/>
            </a:solidFill>
            <a:ln w="9525" algn="ctr">
              <a:noFill/>
              <a:miter lim="800000"/>
              <a:headEnd/>
              <a:tailEnd/>
            </a:ln>
          </p:spPr>
        </p:pic>
        <p:sp>
          <p:nvSpPr>
            <p:cNvPr id="49" name="Rounded Rectangle 64"/>
            <p:cNvSpPr>
              <a:spLocks noChangeArrowheads="1"/>
            </p:cNvSpPr>
            <p:nvPr/>
          </p:nvSpPr>
          <p:spPr bwMode="auto">
            <a:xfrm>
              <a:off x="4917010" y="4703277"/>
              <a:ext cx="2507673" cy="810748"/>
            </a:xfrm>
            <a:prstGeom prst="roundRect">
              <a:avLst>
                <a:gd name="adj" fmla="val 6116"/>
              </a:avLst>
            </a:prstGeom>
            <a:noFill/>
            <a:ln w="28575" algn="ctr">
              <a:solidFill>
                <a:srgbClr val="FF6600"/>
              </a:solidFill>
              <a:round/>
              <a:headEnd/>
              <a:tailEnd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Rounded Rectangle 64"/>
            <p:cNvSpPr>
              <a:spLocks noChangeArrowheads="1"/>
            </p:cNvSpPr>
            <p:nvPr/>
          </p:nvSpPr>
          <p:spPr bwMode="auto">
            <a:xfrm>
              <a:off x="6624584" y="2427925"/>
              <a:ext cx="1028700" cy="332509"/>
            </a:xfrm>
            <a:prstGeom prst="roundRect">
              <a:avLst>
                <a:gd name="adj" fmla="val 6116"/>
              </a:avLst>
            </a:prstGeom>
            <a:noFill/>
            <a:ln w="28575" algn="ctr">
              <a:solidFill>
                <a:srgbClr val="FF6600"/>
              </a:solidFill>
              <a:round/>
              <a:headEnd/>
              <a:tailEnd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AutoShape 6"/>
            <p:cNvSpPr>
              <a:spLocks noChangeArrowheads="1"/>
            </p:cNvSpPr>
            <p:nvPr/>
          </p:nvSpPr>
          <p:spPr bwMode="auto">
            <a:xfrm>
              <a:off x="1856958" y="3144898"/>
              <a:ext cx="2699836" cy="3470564"/>
            </a:xfrm>
            <a:prstGeom prst="roundRect">
              <a:avLst>
                <a:gd name="adj" fmla="val 5891"/>
              </a:avLst>
            </a:prstGeom>
            <a:noFill/>
            <a:ln w="28575" algn="ctr">
              <a:solidFill>
                <a:srgbClr val="FF6600"/>
              </a:solidFill>
              <a:round/>
              <a:headEnd/>
              <a:tailEnd/>
            </a:ln>
            <a:effectLst>
              <a:outerShdw dist="38100" dir="2700000" algn="tl" rotWithShape="0">
                <a:srgbClr val="000000">
                  <a:alpha val="39999"/>
                </a:srgbClr>
              </a:outerShdw>
            </a:effectLst>
          </p:spPr>
          <p:txBody>
            <a:bodyPr lIns="9144" tIns="9144" rIns="9144" bIns="9144" anchor="ctr"/>
            <a:lstStyle/>
            <a:p>
              <a:pPr algn="ctr" eaLnBrk="0" hangingPunct="0">
                <a:defRPr/>
              </a:pPr>
              <a:endParaRPr lang="de-DE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AutoShape 7"/>
            <p:cNvSpPr>
              <a:spLocks noChangeAspect="1" noChangeArrowheads="1"/>
            </p:cNvSpPr>
            <p:nvPr/>
          </p:nvSpPr>
          <p:spPr bwMode="auto">
            <a:xfrm>
              <a:off x="2296793" y="2558273"/>
              <a:ext cx="1896318" cy="246863"/>
            </a:xfrm>
            <a:prstGeom prst="wedgeRectCallout">
              <a:avLst>
                <a:gd name="adj1" fmla="val -26797"/>
                <a:gd name="adj2" fmla="val 181905"/>
              </a:avLst>
            </a:prstGeom>
            <a:solidFill>
              <a:srgbClr val="FFFF99"/>
            </a:solidFill>
            <a:ln w="9525" algn="ctr">
              <a:solidFill>
                <a:srgbClr val="FF6600"/>
              </a:solidFill>
              <a:miter lim="800000"/>
              <a:headEnd/>
              <a:tailEnd/>
            </a:ln>
          </p:spPr>
          <p:txBody>
            <a:bodyPr lIns="92075" tIns="46038" rIns="92075" bIns="46038" anchor="ctr">
              <a:spAutoFit/>
            </a:bodyPr>
            <a:lstStyle/>
            <a:p>
              <a:pPr marR="0" lvl="0" indent="0" eaLnBrk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i="1" kern="0" dirty="0" smtClean="0">
                  <a:solidFill>
                    <a:sysClr val="windowText" lastClr="000000"/>
                  </a:solidFill>
                  <a:cs typeface="Times New Roman" pitchFamily="18" charset="0"/>
                </a:rPr>
                <a:t>产品结构按照挑选的配置过滤</a:t>
              </a:r>
              <a:endParaRPr lang="en-US" altLang="ja-JP" sz="1000" b="1" i="1" kern="0" dirty="0">
                <a:solidFill>
                  <a:sysClr val="windowText" lastClr="000000"/>
                </a:solidFill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5392226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5"/>
          <p:cNvSpPr>
            <a:spLocks noChangeArrowheads="1"/>
          </p:cNvSpPr>
          <p:nvPr/>
        </p:nvSpPr>
        <p:spPr bwMode="auto">
          <a:xfrm>
            <a:off x="350191" y="3184802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配置并验证</a:t>
            </a:r>
            <a:endParaRPr lang="en-US" dirty="0"/>
          </a:p>
        </p:txBody>
      </p:sp>
      <p:grpSp>
        <p:nvGrpSpPr>
          <p:cNvPr id="2" name="组合 11"/>
          <p:cNvGrpSpPr/>
          <p:nvPr/>
        </p:nvGrpSpPr>
        <p:grpSpPr>
          <a:xfrm>
            <a:off x="736606" y="2040464"/>
            <a:ext cx="635001" cy="541869"/>
            <a:chOff x="491331" y="1276350"/>
            <a:chExt cx="1128713" cy="1173618"/>
          </a:xfrm>
        </p:grpSpPr>
        <p:sp>
          <p:nvSpPr>
            <p:cNvPr id="55" name="椭圆 54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</a:rPr>
                  <a:t>设计师</a:t>
                </a:r>
                <a:endParaRPr lang="en-US" sz="80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60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5" name="AutoShape 11"/>
          <p:cNvCxnSpPr>
            <a:cxnSpLocks noChangeShapeType="1"/>
            <a:stCxn id="121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1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dirty="0" smtClean="0">
                <a:solidFill>
                  <a:srgbClr val="FFFFFF"/>
                </a:solidFill>
                <a:ea typeface="宋体" pitchFamily="2" charset="-122"/>
              </a:rPr>
              <a:t>配置并验证</a:t>
            </a:r>
            <a:endParaRPr lang="en-US" sz="1000" dirty="0" smtClean="0">
              <a:solidFill>
                <a:srgbClr val="FFFFFF"/>
              </a:solidFill>
              <a:ea typeface="宋体" pitchFamily="2" charset="-122"/>
            </a:endParaRPr>
          </a:p>
        </p:txBody>
      </p:sp>
      <p:cxnSp>
        <p:nvCxnSpPr>
          <p:cNvPr id="123" name="AutoShape 10"/>
          <p:cNvCxnSpPr>
            <a:cxnSpLocks noChangeShapeType="1"/>
            <a:stCxn id="124" idx="2"/>
            <a:endCxn id="121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124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243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126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8" name="AutoShape 20"/>
          <p:cNvSpPr>
            <a:spLocks noChangeArrowheads="1"/>
          </p:cNvSpPr>
          <p:nvPr/>
        </p:nvSpPr>
        <p:spPr bwMode="auto">
          <a:xfrm>
            <a:off x="362978" y="3886069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109" name="组合 53"/>
          <p:cNvGrpSpPr/>
          <p:nvPr/>
        </p:nvGrpSpPr>
        <p:grpSpPr>
          <a:xfrm>
            <a:off x="1109136" y="1456266"/>
            <a:ext cx="651933" cy="516583"/>
            <a:chOff x="491331" y="1376363"/>
            <a:chExt cx="1128713" cy="1073605"/>
          </a:xfrm>
        </p:grpSpPr>
        <p:sp>
          <p:nvSpPr>
            <p:cNvPr id="110" name="椭圆 109"/>
            <p:cNvSpPr/>
            <p:nvPr/>
          </p:nvSpPr>
          <p:spPr bwMode="auto">
            <a:xfrm>
              <a:off x="511334" y="1376363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11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113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118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  <a:latin typeface="+mn-ea"/>
                  </a:rPr>
                  <a:t>总体人员</a:t>
                </a:r>
                <a:endParaRPr lang="en-US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  <p:pic>
          <p:nvPicPr>
            <p:cNvPr id="112" name="Picture 158" descr="j029202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94" y="1376363"/>
              <a:ext cx="865188" cy="82073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5" name="组合 55"/>
          <p:cNvGrpSpPr/>
          <p:nvPr/>
        </p:nvGrpSpPr>
        <p:grpSpPr>
          <a:xfrm>
            <a:off x="338670" y="1447799"/>
            <a:ext cx="664081" cy="529419"/>
            <a:chOff x="6393367" y="894225"/>
            <a:chExt cx="1128713" cy="1023728"/>
          </a:xfrm>
        </p:grpSpPr>
        <p:sp>
          <p:nvSpPr>
            <p:cNvPr id="129" name="椭圆 128"/>
            <p:cNvSpPr/>
            <p:nvPr/>
          </p:nvSpPr>
          <p:spPr bwMode="auto">
            <a:xfrm>
              <a:off x="6413875" y="894225"/>
              <a:ext cx="1087755" cy="85489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30" name="Group 6"/>
            <p:cNvGrpSpPr>
              <a:grpSpLocks/>
            </p:cNvGrpSpPr>
            <p:nvPr/>
          </p:nvGrpSpPr>
          <p:grpSpPr bwMode="auto">
            <a:xfrm>
              <a:off x="6393367" y="1663803"/>
              <a:ext cx="1128713" cy="254150"/>
              <a:chOff x="988" y="1939"/>
              <a:chExt cx="1185" cy="161"/>
            </a:xfrm>
          </p:grpSpPr>
          <p:sp>
            <p:nvSpPr>
              <p:cNvPr id="132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133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800" dirty="0" smtClean="0">
                    <a:solidFill>
                      <a:srgbClr val="FF0000"/>
                    </a:solidFill>
                  </a:rPr>
                  <a:t>专业负责人</a:t>
                </a:r>
                <a:endParaRPr lang="en-US" sz="80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131" name="Picture 138" descr="j029198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182" y="941400"/>
              <a:ext cx="679441" cy="71972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5" name="Picture 51" descr="3100_PSB_Visualizatoin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66546" y="1472195"/>
            <a:ext cx="6422177" cy="48627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17990052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58" name="标题 5"/>
          <p:cNvSpPr>
            <a:spLocks noGrp="1"/>
          </p:cNvSpPr>
          <p:nvPr>
            <p:ph type="title"/>
          </p:nvPr>
        </p:nvSpPr>
        <p:spPr>
          <a:xfrm>
            <a:off x="216100" y="192088"/>
            <a:ext cx="7612056" cy="457200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柳工选装选配业务描述方案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9" name="副标题 6"/>
          <p:cNvSpPr>
            <a:spLocks noGrp="1"/>
          </p:cNvSpPr>
          <p:nvPr>
            <p:ph type="subTitle" idx="15"/>
          </p:nvPr>
        </p:nvSpPr>
        <p:spPr>
          <a:xfrm>
            <a:off x="216100" y="896112"/>
            <a:ext cx="7095744" cy="338806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目录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0" name="AutoShape 3"/>
          <p:cNvSpPr>
            <a:spLocks noChangeArrowheads="1"/>
          </p:cNvSpPr>
          <p:nvPr/>
        </p:nvSpPr>
        <p:spPr bwMode="auto">
          <a:xfrm>
            <a:off x="1312754" y="1815962"/>
            <a:ext cx="5034258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1635017" y="1776275"/>
            <a:ext cx="4935537" cy="466725"/>
          </a:xfrm>
          <a:prstGeom prst="roundRect">
            <a:avLst>
              <a:gd name="adj" fmla="val 16667"/>
            </a:avLst>
          </a:prstGeom>
          <a:noFill/>
          <a:ln w="38100">
            <a:noFill/>
            <a:round/>
            <a:headEnd/>
            <a:tailEnd/>
          </a:ln>
        </p:spPr>
        <p:txBody>
          <a:bodyPr wrap="none" anchor="ctr"/>
          <a:lstStyle/>
          <a:p>
            <a:pPr latinLnBrk="1"/>
            <a:r>
              <a:rPr kumimoji="1" lang="en-US" altLang="zh-CN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EBOM </a:t>
            </a:r>
            <a:r>
              <a:rPr kumimoji="1" lang="en-US" altLang="zh-CN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  <a:sym typeface="Wingdings" pitchFamily="2" charset="2"/>
              </a:rPr>
              <a:t> </a:t>
            </a:r>
            <a:r>
              <a:rPr kumimoji="1" lang="en-US" altLang="zh-CN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MBOM</a:t>
            </a:r>
            <a:r>
              <a:rPr kumimoji="1" lang="zh-CN" altLang="en-US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管理</a:t>
            </a:r>
            <a:endParaRPr kumimoji="1" lang="en-US" altLang="ko-KR" sz="2400" dirty="0">
              <a:solidFill>
                <a:schemeClr val="bg1"/>
              </a:solidFill>
              <a:latin typeface="Verdana" pitchFamily="34" charset="0"/>
              <a:ea typeface="굴림" pitchFamily="34" charset="-127"/>
            </a:endParaRP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344245" y="1484922"/>
            <a:ext cx="1275590" cy="3538899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571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atinLnBrk="1">
              <a:defRPr/>
            </a:pPr>
            <a:r>
              <a:rPr kumimoji="1" lang="en-US" altLang="ko-KR" sz="9600" b="1" dirty="0">
                <a:solidFill>
                  <a:srgbClr val="FFFFFF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5</a:t>
            </a:r>
          </a:p>
        </p:txBody>
      </p:sp>
      <p:sp>
        <p:nvSpPr>
          <p:cNvPr id="63" name="AutoShape 3"/>
          <p:cNvSpPr>
            <a:spLocks noChangeArrowheads="1"/>
          </p:cNvSpPr>
          <p:nvPr/>
        </p:nvSpPr>
        <p:spPr bwMode="auto">
          <a:xfrm>
            <a:off x="2312891" y="2569003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dirty="0" smtClean="0">
                <a:solidFill>
                  <a:schemeClr val="bg1"/>
                </a:solidFill>
                <a:ea typeface="宋体" charset="-122"/>
              </a:rPr>
              <a:t>MBOM</a:t>
            </a:r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管理现状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16" name="Line 3"/>
          <p:cNvSpPr>
            <a:spLocks noChangeShapeType="1"/>
          </p:cNvSpPr>
          <p:nvPr/>
        </p:nvSpPr>
        <p:spPr bwMode="auto">
          <a:xfrm flipV="1">
            <a:off x="1826707" y="2269863"/>
            <a:ext cx="6607288" cy="387"/>
          </a:xfrm>
          <a:prstGeom prst="line">
            <a:avLst/>
          </a:prstGeom>
          <a:noFill/>
          <a:ln w="50800" cmpd="thickThin">
            <a:solidFill>
              <a:schemeClr val="accent6">
                <a:lumMod val="50000"/>
              </a:schemeClr>
            </a:solidFill>
            <a:round/>
            <a:headEnd/>
            <a:tailEnd/>
          </a:ln>
        </p:spPr>
        <p:txBody>
          <a:bodyPr wrap="square" lIns="91407" tIns="45704" rIns="91407" bIns="45704" anchor="ctr">
            <a:spAutoFit/>
          </a:bodyPr>
          <a:lstStyle/>
          <a:p>
            <a:endParaRPr lang="zh-CN" altLang="en-US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18" name="AutoShape 3"/>
          <p:cNvSpPr>
            <a:spLocks noChangeArrowheads="1"/>
          </p:cNvSpPr>
          <p:nvPr/>
        </p:nvSpPr>
        <p:spPr bwMode="auto">
          <a:xfrm>
            <a:off x="2312890" y="3189007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未来</a:t>
            </a:r>
            <a:r>
              <a:rPr lang="en-US" altLang="zh-CN" dirty="0" smtClean="0">
                <a:solidFill>
                  <a:schemeClr val="bg1"/>
                </a:solidFill>
                <a:ea typeface="宋体" charset="-122"/>
              </a:rPr>
              <a:t>MBOM</a:t>
            </a:r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管理方式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2853629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US" altLang="zh-CN" sz="2400" dirty="0" smtClean="0">
                <a:latin typeface="+mn-ea"/>
                <a:ea typeface="+mn-ea"/>
              </a:rPr>
              <a:t>MBOM</a:t>
            </a:r>
            <a:r>
              <a:rPr lang="zh-CN" altLang="en-US" sz="2400" dirty="0" smtClean="0">
                <a:latin typeface="+mn-ea"/>
                <a:ea typeface="+mn-ea"/>
              </a:rPr>
              <a:t>管理现状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85" y="1031919"/>
            <a:ext cx="8832815" cy="5306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67844432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US" altLang="zh-CN" sz="2400" dirty="0">
                <a:latin typeface="+mn-ea"/>
              </a:rPr>
              <a:t>MBOM</a:t>
            </a:r>
            <a:r>
              <a:rPr lang="zh-CN" altLang="en-US" sz="2400" dirty="0">
                <a:latin typeface="+mn-ea"/>
              </a:rPr>
              <a:t>管理现状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7" name="Oval 243"/>
          <p:cNvSpPr>
            <a:spLocks noChangeArrowheads="1"/>
          </p:cNvSpPr>
          <p:nvPr/>
        </p:nvSpPr>
        <p:spPr bwMode="auto">
          <a:xfrm>
            <a:off x="3208656" y="6315259"/>
            <a:ext cx="14287" cy="12700"/>
          </a:xfrm>
          <a:prstGeom prst="ellipse">
            <a:avLst/>
          </a:prstGeom>
          <a:solidFill>
            <a:schemeClr val="bg2"/>
          </a:solidFill>
          <a:ln w="19050" algn="ctr">
            <a:round/>
            <a:headEnd/>
            <a:tailEnd/>
          </a:ln>
          <a:effectLst/>
          <a:scene3d>
            <a:camera prst="legacyPerspectiveFront">
              <a:rot lat="20099999" lon="20099999" rev="0"/>
            </a:camera>
            <a:lightRig rig="legacyFlat2" dir="t"/>
          </a:scene3d>
          <a:sp3d extrusionH="111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flatTx/>
          </a:bodyPr>
          <a:lstStyle/>
          <a:p>
            <a:pPr algn="ctr"/>
            <a:endParaRPr lang="zh-CN" altLang="zh-CN" sz="1200">
              <a:solidFill>
                <a:schemeClr val="bg1"/>
              </a:solidFill>
            </a:endParaRPr>
          </a:p>
        </p:txBody>
      </p:sp>
      <p:sp>
        <p:nvSpPr>
          <p:cNvPr id="79" name="Rectangle 104"/>
          <p:cNvSpPr>
            <a:spLocks noChangeArrowheads="1"/>
          </p:cNvSpPr>
          <p:nvPr/>
        </p:nvSpPr>
        <p:spPr bwMode="auto">
          <a:xfrm>
            <a:off x="595741" y="2572880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r>
              <a:rPr lang="en-US" altLang="zh-CN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1</a:t>
            </a:r>
          </a:p>
        </p:txBody>
      </p:sp>
      <p:sp>
        <p:nvSpPr>
          <p:cNvPr id="80" name="Rectangle 104"/>
          <p:cNvSpPr>
            <a:spLocks noChangeArrowheads="1"/>
          </p:cNvSpPr>
          <p:nvPr/>
        </p:nvSpPr>
        <p:spPr bwMode="auto">
          <a:xfrm>
            <a:off x="1562939" y="2936344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r>
              <a:rPr lang="en-US" altLang="zh-CN" sz="1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2</a:t>
            </a:r>
            <a:endParaRPr lang="en-US" altLang="zh-CN" sz="1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632562" y="3561102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82" name="Rectangle 30"/>
          <p:cNvSpPr>
            <a:spLocks noChangeArrowheads="1"/>
          </p:cNvSpPr>
          <p:nvPr/>
        </p:nvSpPr>
        <p:spPr bwMode="auto">
          <a:xfrm>
            <a:off x="632562" y="3955531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83" name="Rectangle 30"/>
          <p:cNvSpPr>
            <a:spLocks noChangeArrowheads="1"/>
          </p:cNvSpPr>
          <p:nvPr/>
        </p:nvSpPr>
        <p:spPr bwMode="auto">
          <a:xfrm>
            <a:off x="1771739" y="3963083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84" name="Rectangle 30"/>
          <p:cNvSpPr>
            <a:spLocks noChangeArrowheads="1"/>
          </p:cNvSpPr>
          <p:nvPr/>
        </p:nvSpPr>
        <p:spPr bwMode="auto">
          <a:xfrm>
            <a:off x="631061" y="4352362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1770238" y="4359914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86" name="Rectangle 30"/>
          <p:cNvSpPr>
            <a:spLocks noChangeArrowheads="1"/>
          </p:cNvSpPr>
          <p:nvPr/>
        </p:nvSpPr>
        <p:spPr bwMode="auto">
          <a:xfrm>
            <a:off x="629560" y="4722034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87" name="Rectangle 30"/>
          <p:cNvSpPr>
            <a:spLocks noChangeArrowheads="1"/>
          </p:cNvSpPr>
          <p:nvPr/>
        </p:nvSpPr>
        <p:spPr bwMode="auto">
          <a:xfrm>
            <a:off x="1768737" y="4729586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88" name="Rectangle 30"/>
          <p:cNvSpPr>
            <a:spLocks noChangeArrowheads="1"/>
          </p:cNvSpPr>
          <p:nvPr/>
        </p:nvSpPr>
        <p:spPr bwMode="auto">
          <a:xfrm>
            <a:off x="623262" y="5117992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89" name="Rectangle 30"/>
          <p:cNvSpPr>
            <a:spLocks noChangeArrowheads="1"/>
          </p:cNvSpPr>
          <p:nvPr/>
        </p:nvSpPr>
        <p:spPr bwMode="auto">
          <a:xfrm>
            <a:off x="648920" y="5514823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加长臂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90" name="Rectangle 30"/>
          <p:cNvSpPr>
            <a:spLocks noChangeArrowheads="1"/>
          </p:cNvSpPr>
          <p:nvPr/>
        </p:nvSpPr>
        <p:spPr bwMode="auto">
          <a:xfrm>
            <a:off x="1769991" y="5522375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普通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91" name="直接连接符 90"/>
          <p:cNvCxnSpPr/>
          <p:nvPr/>
        </p:nvCxnSpPr>
        <p:spPr>
          <a:xfrm flipH="1">
            <a:off x="3082629" y="1567530"/>
            <a:ext cx="7145" cy="503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82865" y="1136643"/>
            <a:ext cx="1493855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dirty="0">
                <a:latin typeface="+mn-ea"/>
              </a:rPr>
              <a:t>E</a:t>
            </a:r>
            <a:r>
              <a:rPr lang="en-US" altLang="zh-CN" sz="2800" dirty="0" smtClean="0">
                <a:latin typeface="+mn-ea"/>
              </a:rPr>
              <a:t>BOM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080384" y="1108531"/>
            <a:ext cx="1493855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800" dirty="0" smtClean="0">
                <a:latin typeface="+mn-ea"/>
              </a:rPr>
              <a:t>MBOM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620112" y="2083873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Design</a:t>
            </a:r>
            <a:r>
              <a:rPr lang="zh-CN" altLang="en-US" sz="1400" dirty="0" smtClean="0"/>
              <a:t>视图</a:t>
            </a:r>
          </a:p>
        </p:txBody>
      </p:sp>
      <p:sp>
        <p:nvSpPr>
          <p:cNvPr id="95" name="Rectangle 104"/>
          <p:cNvSpPr>
            <a:spLocks noChangeArrowheads="1"/>
          </p:cNvSpPr>
          <p:nvPr/>
        </p:nvSpPr>
        <p:spPr bwMode="auto">
          <a:xfrm>
            <a:off x="3544136" y="2562783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r>
              <a:rPr lang="en-US" altLang="zh-CN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1</a:t>
            </a:r>
          </a:p>
        </p:txBody>
      </p:sp>
      <p:sp>
        <p:nvSpPr>
          <p:cNvPr id="96" name="Rectangle 30"/>
          <p:cNvSpPr>
            <a:spLocks noChangeArrowheads="1"/>
          </p:cNvSpPr>
          <p:nvPr/>
        </p:nvSpPr>
        <p:spPr bwMode="auto">
          <a:xfrm>
            <a:off x="4309072" y="3033687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97" name="Rectangle 30"/>
          <p:cNvSpPr>
            <a:spLocks noChangeArrowheads="1"/>
          </p:cNvSpPr>
          <p:nvPr/>
        </p:nvSpPr>
        <p:spPr bwMode="auto">
          <a:xfrm>
            <a:off x="6845246" y="2953785"/>
            <a:ext cx="971192" cy="1815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98" name="Rectangle 30"/>
          <p:cNvSpPr>
            <a:spLocks noChangeArrowheads="1"/>
          </p:cNvSpPr>
          <p:nvPr/>
        </p:nvSpPr>
        <p:spPr bwMode="auto">
          <a:xfrm>
            <a:off x="4315393" y="3519852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加长臂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01" name="Rectangle 30"/>
          <p:cNvSpPr>
            <a:spLocks noChangeArrowheads="1"/>
          </p:cNvSpPr>
          <p:nvPr/>
        </p:nvSpPr>
        <p:spPr bwMode="auto">
          <a:xfrm>
            <a:off x="632562" y="5937643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。。。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05" name="右箭头 104"/>
          <p:cNvSpPr/>
          <p:nvPr/>
        </p:nvSpPr>
        <p:spPr>
          <a:xfrm>
            <a:off x="2717589" y="1222366"/>
            <a:ext cx="2218395" cy="3386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smtClean="0">
              <a:solidFill>
                <a:schemeClr val="bg1"/>
              </a:solidFill>
            </a:endParaRPr>
          </a:p>
        </p:txBody>
      </p:sp>
      <p:cxnSp>
        <p:nvCxnSpPr>
          <p:cNvPr id="108" name="形状 61"/>
          <p:cNvCxnSpPr>
            <a:stCxn id="96" idx="1"/>
            <a:endCxn id="95" idx="2"/>
          </p:cNvCxnSpPr>
          <p:nvPr/>
        </p:nvCxnSpPr>
        <p:spPr>
          <a:xfrm rot="10800000">
            <a:off x="3998352" y="2816967"/>
            <a:ext cx="310721" cy="35193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形状 61"/>
          <p:cNvCxnSpPr>
            <a:stCxn id="98" idx="1"/>
            <a:endCxn id="95" idx="2"/>
          </p:cNvCxnSpPr>
          <p:nvPr/>
        </p:nvCxnSpPr>
        <p:spPr>
          <a:xfrm rot="10800000">
            <a:off x="3998351" y="2816966"/>
            <a:ext cx="317042" cy="83809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30"/>
          <p:cNvSpPr>
            <a:spLocks noChangeArrowheads="1"/>
          </p:cNvSpPr>
          <p:nvPr/>
        </p:nvSpPr>
        <p:spPr bwMode="auto">
          <a:xfrm>
            <a:off x="4309072" y="3995916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。。。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15" name="形状 61"/>
          <p:cNvCxnSpPr>
            <a:stCxn id="114" idx="1"/>
            <a:endCxn id="95" idx="2"/>
          </p:cNvCxnSpPr>
          <p:nvPr/>
        </p:nvCxnSpPr>
        <p:spPr>
          <a:xfrm rot="10800000">
            <a:off x="3998352" y="2816966"/>
            <a:ext cx="310721" cy="1314160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3558972" y="2083873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1210</a:t>
            </a:r>
            <a:r>
              <a:rPr lang="zh-CN" altLang="en-US" sz="1400" dirty="0" smtClean="0"/>
              <a:t>工厂视图</a:t>
            </a:r>
          </a:p>
        </p:txBody>
      </p:sp>
      <p:sp>
        <p:nvSpPr>
          <p:cNvPr id="119" name="Rectangle 30"/>
          <p:cNvSpPr>
            <a:spLocks noChangeArrowheads="1"/>
          </p:cNvSpPr>
          <p:nvPr/>
        </p:nvSpPr>
        <p:spPr bwMode="auto">
          <a:xfrm>
            <a:off x="5855248" y="2538825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20" name="Rectangle 30"/>
          <p:cNvSpPr>
            <a:spLocks noChangeArrowheads="1"/>
          </p:cNvSpPr>
          <p:nvPr/>
        </p:nvSpPr>
        <p:spPr bwMode="auto">
          <a:xfrm>
            <a:off x="6838775" y="3290665"/>
            <a:ext cx="971192" cy="1918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21" name="Rectangle 30"/>
          <p:cNvSpPr>
            <a:spLocks noChangeArrowheads="1"/>
          </p:cNvSpPr>
          <p:nvPr/>
        </p:nvSpPr>
        <p:spPr bwMode="auto">
          <a:xfrm>
            <a:off x="6845246" y="3628429"/>
            <a:ext cx="971192" cy="1618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22" name="Rectangle 104"/>
          <p:cNvSpPr>
            <a:spLocks noChangeArrowheads="1"/>
          </p:cNvSpPr>
          <p:nvPr/>
        </p:nvSpPr>
        <p:spPr bwMode="auto">
          <a:xfrm>
            <a:off x="3537815" y="4499811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r>
              <a:rPr lang="en-US" altLang="zh-CN" sz="1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2</a:t>
            </a:r>
            <a:endParaRPr lang="en-US" altLang="zh-CN" sz="1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23" name="Rectangle 30"/>
          <p:cNvSpPr>
            <a:spLocks noChangeArrowheads="1"/>
          </p:cNvSpPr>
          <p:nvPr/>
        </p:nvSpPr>
        <p:spPr bwMode="auto">
          <a:xfrm>
            <a:off x="4302751" y="4970715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24" name="Rectangle 30"/>
          <p:cNvSpPr>
            <a:spLocks noChangeArrowheads="1"/>
          </p:cNvSpPr>
          <p:nvPr/>
        </p:nvSpPr>
        <p:spPr bwMode="auto">
          <a:xfrm>
            <a:off x="4309072" y="5456880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普通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25" name="形状 61"/>
          <p:cNvCxnSpPr>
            <a:stCxn id="123" idx="1"/>
            <a:endCxn id="122" idx="2"/>
          </p:cNvCxnSpPr>
          <p:nvPr/>
        </p:nvCxnSpPr>
        <p:spPr>
          <a:xfrm rot="10800000">
            <a:off x="3992031" y="4753995"/>
            <a:ext cx="310721" cy="35193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形状 61"/>
          <p:cNvCxnSpPr>
            <a:stCxn id="124" idx="1"/>
            <a:endCxn id="122" idx="2"/>
          </p:cNvCxnSpPr>
          <p:nvPr/>
        </p:nvCxnSpPr>
        <p:spPr>
          <a:xfrm rot="10800000">
            <a:off x="3992030" y="4753994"/>
            <a:ext cx="317042" cy="83809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30"/>
          <p:cNvSpPr>
            <a:spLocks noChangeArrowheads="1"/>
          </p:cNvSpPr>
          <p:nvPr/>
        </p:nvSpPr>
        <p:spPr bwMode="auto">
          <a:xfrm>
            <a:off x="4302751" y="5932944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。。。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28" name="形状 61"/>
          <p:cNvCxnSpPr>
            <a:stCxn id="127" idx="1"/>
            <a:endCxn id="122" idx="2"/>
          </p:cNvCxnSpPr>
          <p:nvPr/>
        </p:nvCxnSpPr>
        <p:spPr>
          <a:xfrm rot="10800000">
            <a:off x="3992031" y="4753994"/>
            <a:ext cx="310721" cy="1314160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形状 61"/>
          <p:cNvCxnSpPr>
            <a:stCxn id="97" idx="1"/>
            <a:endCxn id="119" idx="2"/>
          </p:cNvCxnSpPr>
          <p:nvPr/>
        </p:nvCxnSpPr>
        <p:spPr>
          <a:xfrm rot="10800000">
            <a:off x="6340844" y="2809245"/>
            <a:ext cx="504402" cy="23530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形状 61"/>
          <p:cNvCxnSpPr>
            <a:stCxn id="120" idx="1"/>
          </p:cNvCxnSpPr>
          <p:nvPr/>
        </p:nvCxnSpPr>
        <p:spPr>
          <a:xfrm rot="10800000">
            <a:off x="6340847" y="2827001"/>
            <a:ext cx="497929" cy="559614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30"/>
          <p:cNvSpPr>
            <a:spLocks noChangeArrowheads="1"/>
          </p:cNvSpPr>
          <p:nvPr/>
        </p:nvSpPr>
        <p:spPr bwMode="auto">
          <a:xfrm>
            <a:off x="6845246" y="3931892"/>
            <a:ext cx="971192" cy="174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37" name="形状 61"/>
          <p:cNvCxnSpPr>
            <a:stCxn id="121" idx="1"/>
            <a:endCxn id="119" idx="2"/>
          </p:cNvCxnSpPr>
          <p:nvPr/>
        </p:nvCxnSpPr>
        <p:spPr>
          <a:xfrm rot="10800000">
            <a:off x="6340844" y="2809245"/>
            <a:ext cx="504402" cy="90010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形状 61"/>
          <p:cNvCxnSpPr>
            <a:stCxn id="136" idx="1"/>
            <a:endCxn id="119" idx="2"/>
          </p:cNvCxnSpPr>
          <p:nvPr/>
        </p:nvCxnSpPr>
        <p:spPr>
          <a:xfrm rot="10800000">
            <a:off x="6340844" y="2809246"/>
            <a:ext cx="504402" cy="120996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30"/>
          <p:cNvSpPr>
            <a:spLocks noChangeArrowheads="1"/>
          </p:cNvSpPr>
          <p:nvPr/>
        </p:nvSpPr>
        <p:spPr bwMode="auto">
          <a:xfrm>
            <a:off x="6845246" y="4265446"/>
            <a:ext cx="971192" cy="1518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44" name="形状 61"/>
          <p:cNvCxnSpPr>
            <a:stCxn id="143" idx="1"/>
            <a:endCxn id="119" idx="2"/>
          </p:cNvCxnSpPr>
          <p:nvPr/>
        </p:nvCxnSpPr>
        <p:spPr>
          <a:xfrm rot="10800000">
            <a:off x="6340844" y="2809246"/>
            <a:ext cx="504402" cy="15321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30"/>
          <p:cNvSpPr>
            <a:spLocks noChangeArrowheads="1"/>
          </p:cNvSpPr>
          <p:nvPr/>
        </p:nvSpPr>
        <p:spPr bwMode="auto">
          <a:xfrm>
            <a:off x="6846720" y="5014955"/>
            <a:ext cx="971192" cy="1815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67" name="Rectangle 30"/>
          <p:cNvSpPr>
            <a:spLocks noChangeArrowheads="1"/>
          </p:cNvSpPr>
          <p:nvPr/>
        </p:nvSpPr>
        <p:spPr bwMode="auto">
          <a:xfrm>
            <a:off x="5856722" y="4599995"/>
            <a:ext cx="971192" cy="2704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68" name="Rectangle 30"/>
          <p:cNvSpPr>
            <a:spLocks noChangeArrowheads="1"/>
          </p:cNvSpPr>
          <p:nvPr/>
        </p:nvSpPr>
        <p:spPr bwMode="auto">
          <a:xfrm>
            <a:off x="6840249" y="5351835"/>
            <a:ext cx="971192" cy="1918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69" name="Rectangle 30"/>
          <p:cNvSpPr>
            <a:spLocks noChangeArrowheads="1"/>
          </p:cNvSpPr>
          <p:nvPr/>
        </p:nvSpPr>
        <p:spPr bwMode="auto">
          <a:xfrm>
            <a:off x="6846720" y="5689599"/>
            <a:ext cx="971192" cy="1618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70" name="形状 61"/>
          <p:cNvCxnSpPr>
            <a:stCxn id="166" idx="1"/>
            <a:endCxn id="167" idx="2"/>
          </p:cNvCxnSpPr>
          <p:nvPr/>
        </p:nvCxnSpPr>
        <p:spPr>
          <a:xfrm rot="10800000">
            <a:off x="6342318" y="4870415"/>
            <a:ext cx="504402" cy="23530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形状 61"/>
          <p:cNvCxnSpPr>
            <a:stCxn id="168" idx="1"/>
          </p:cNvCxnSpPr>
          <p:nvPr/>
        </p:nvCxnSpPr>
        <p:spPr>
          <a:xfrm rot="10800000">
            <a:off x="6342321" y="4888171"/>
            <a:ext cx="497929" cy="559614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30"/>
          <p:cNvSpPr>
            <a:spLocks noChangeArrowheads="1"/>
          </p:cNvSpPr>
          <p:nvPr/>
        </p:nvSpPr>
        <p:spPr bwMode="auto">
          <a:xfrm>
            <a:off x="6846720" y="5993062"/>
            <a:ext cx="971192" cy="174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73" name="形状 61"/>
          <p:cNvCxnSpPr>
            <a:stCxn id="169" idx="1"/>
            <a:endCxn id="167" idx="2"/>
          </p:cNvCxnSpPr>
          <p:nvPr/>
        </p:nvCxnSpPr>
        <p:spPr>
          <a:xfrm rot="10800000">
            <a:off x="6342318" y="4870415"/>
            <a:ext cx="504402" cy="90010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形状 61"/>
          <p:cNvCxnSpPr>
            <a:stCxn id="172" idx="1"/>
            <a:endCxn id="167" idx="2"/>
          </p:cNvCxnSpPr>
          <p:nvPr/>
        </p:nvCxnSpPr>
        <p:spPr>
          <a:xfrm rot="10800000">
            <a:off x="6342318" y="4870416"/>
            <a:ext cx="504402" cy="120996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30"/>
          <p:cNvSpPr>
            <a:spLocks noChangeArrowheads="1"/>
          </p:cNvSpPr>
          <p:nvPr/>
        </p:nvSpPr>
        <p:spPr bwMode="auto">
          <a:xfrm>
            <a:off x="6846720" y="6326616"/>
            <a:ext cx="971192" cy="1518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76" name="形状 61"/>
          <p:cNvCxnSpPr>
            <a:stCxn id="175" idx="1"/>
            <a:endCxn id="167" idx="2"/>
          </p:cNvCxnSpPr>
          <p:nvPr/>
        </p:nvCxnSpPr>
        <p:spPr>
          <a:xfrm rot="10800000">
            <a:off x="6342318" y="4870416"/>
            <a:ext cx="504402" cy="15321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5806580" y="2085347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1310</a:t>
            </a:r>
            <a:r>
              <a:rPr lang="zh-CN" altLang="en-US" sz="1400" dirty="0" smtClean="0"/>
              <a:t>工厂视图</a:t>
            </a:r>
          </a:p>
        </p:txBody>
      </p:sp>
      <p:sp>
        <p:nvSpPr>
          <p:cNvPr id="178" name="Rectangle 30"/>
          <p:cNvSpPr>
            <a:spLocks noChangeArrowheads="1"/>
          </p:cNvSpPr>
          <p:nvPr/>
        </p:nvSpPr>
        <p:spPr bwMode="auto">
          <a:xfrm>
            <a:off x="8029860" y="3289194"/>
            <a:ext cx="971192" cy="191899"/>
          </a:xfrm>
          <a:prstGeom prst="rect">
            <a:avLst/>
          </a:prstGeom>
          <a:solidFill>
            <a:srgbClr val="FFFF0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护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盖毛胚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79" name="形状 61"/>
          <p:cNvCxnSpPr>
            <a:stCxn id="178" idx="1"/>
            <a:endCxn id="120" idx="3"/>
          </p:cNvCxnSpPr>
          <p:nvPr/>
        </p:nvCxnSpPr>
        <p:spPr>
          <a:xfrm rot="10800000" flipV="1">
            <a:off x="7809968" y="3385143"/>
            <a:ext cx="219893" cy="1471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ctangle 30"/>
          <p:cNvSpPr>
            <a:spLocks noChangeArrowheads="1"/>
          </p:cNvSpPr>
          <p:nvPr/>
        </p:nvSpPr>
        <p:spPr bwMode="auto">
          <a:xfrm>
            <a:off x="8003226" y="5349979"/>
            <a:ext cx="971192" cy="191899"/>
          </a:xfrm>
          <a:prstGeom prst="rect">
            <a:avLst/>
          </a:prstGeom>
          <a:solidFill>
            <a:srgbClr val="FFFF0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护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盖毛胚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83" name="形状 61"/>
          <p:cNvCxnSpPr>
            <a:stCxn id="182" idx="1"/>
            <a:endCxn id="168" idx="3"/>
          </p:cNvCxnSpPr>
          <p:nvPr/>
        </p:nvCxnSpPr>
        <p:spPr>
          <a:xfrm rot="10800000" flipV="1">
            <a:off x="7811442" y="5445929"/>
            <a:ext cx="191785" cy="1856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矩形 1046"/>
          <p:cNvSpPr/>
          <p:nvPr/>
        </p:nvSpPr>
        <p:spPr bwMode="auto">
          <a:xfrm>
            <a:off x="3249225" y="1908699"/>
            <a:ext cx="2379215" cy="4696287"/>
          </a:xfrm>
          <a:prstGeom prst="rect">
            <a:avLst/>
          </a:prstGeom>
          <a:solidFill>
            <a:srgbClr val="FFFF99">
              <a:alpha val="23000"/>
            </a:srgbClr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188" name="矩形 187"/>
          <p:cNvSpPr/>
          <p:nvPr/>
        </p:nvSpPr>
        <p:spPr bwMode="auto">
          <a:xfrm>
            <a:off x="5726098" y="1908699"/>
            <a:ext cx="3346882" cy="4696287"/>
          </a:xfrm>
          <a:prstGeom prst="rect">
            <a:avLst/>
          </a:prstGeom>
          <a:solidFill>
            <a:srgbClr val="FFFF99">
              <a:alpha val="23000"/>
            </a:srgbClr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</p:spTree>
    <p:extLst>
      <p:ext uri="{BB962C8B-B14F-4D97-AF65-F5344CB8AC3E}">
        <p14:creationId xmlns="" xmlns:p14="http://schemas.microsoft.com/office/powerpoint/2010/main" val="311204876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未来</a:t>
            </a:r>
            <a:r>
              <a:rPr lang="en-US" altLang="zh-CN" sz="2400" dirty="0" smtClean="0">
                <a:latin typeface="+mn-ea"/>
                <a:ea typeface="+mn-ea"/>
              </a:rPr>
              <a:t>MBOM</a:t>
            </a:r>
            <a:r>
              <a:rPr lang="zh-CN" altLang="en-US" sz="2400" dirty="0" smtClean="0">
                <a:latin typeface="+mn-ea"/>
                <a:ea typeface="+mn-ea"/>
              </a:rPr>
              <a:t>管理方式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13" y="977771"/>
            <a:ext cx="8847032" cy="5459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7918098" y="1859996"/>
            <a:ext cx="1124323" cy="679010"/>
            <a:chOff x="7731660" y="2064190"/>
            <a:chExt cx="1124323" cy="679010"/>
          </a:xfrm>
        </p:grpSpPr>
        <p:sp>
          <p:nvSpPr>
            <p:cNvPr id="4" name="矩形 3"/>
            <p:cNvSpPr/>
            <p:nvPr/>
          </p:nvSpPr>
          <p:spPr bwMode="auto">
            <a:xfrm>
              <a:off x="7731660" y="2064190"/>
              <a:ext cx="1068309" cy="67901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7804089" y="2267917"/>
              <a:ext cx="597528" cy="135802"/>
            </a:xfrm>
            <a:prstGeom prst="rect">
              <a:avLst/>
            </a:prstGeom>
            <a:solidFill>
              <a:srgbClr val="00B05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07790" y="2064190"/>
              <a:ext cx="51604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图例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338462" y="2258874"/>
              <a:ext cx="51604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新增</a:t>
              </a:r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7805563" y="2482463"/>
              <a:ext cx="597528" cy="13580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8339936" y="2473420"/>
              <a:ext cx="51604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变化</a:t>
              </a:r>
              <a:endParaRPr lang="zh-CN" altLang="en-US" sz="1000" dirty="0" smtClean="0"/>
            </a:p>
          </p:txBody>
        </p:sp>
      </p:grpSp>
    </p:spTree>
    <p:extLst>
      <p:ext uri="{BB962C8B-B14F-4D97-AF65-F5344CB8AC3E}">
        <p14:creationId xmlns="" xmlns:p14="http://schemas.microsoft.com/office/powerpoint/2010/main" val="245142299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 176"/>
          <p:cNvSpPr/>
          <p:nvPr/>
        </p:nvSpPr>
        <p:spPr bwMode="auto">
          <a:xfrm>
            <a:off x="5993487" y="4212517"/>
            <a:ext cx="2422544" cy="1396490"/>
          </a:xfrm>
          <a:prstGeom prst="rect">
            <a:avLst/>
          </a:prstGeom>
          <a:solidFill>
            <a:schemeClr val="accent4">
              <a:lumMod val="75000"/>
              <a:alpha val="89000"/>
            </a:schemeClr>
          </a:solidFill>
          <a:ln w="25400">
            <a:noFill/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>
                <a:latin typeface="+mn-ea"/>
              </a:rPr>
              <a:t>未来</a:t>
            </a:r>
            <a:r>
              <a:rPr lang="en-US" altLang="zh-CN" sz="2400" dirty="0">
                <a:latin typeface="+mn-ea"/>
              </a:rPr>
              <a:t>MBOM</a:t>
            </a:r>
            <a:r>
              <a:rPr lang="zh-CN" altLang="en-US" sz="2400" dirty="0">
                <a:latin typeface="+mn-ea"/>
              </a:rPr>
              <a:t>管理方式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2" name="Rectangle 104"/>
          <p:cNvSpPr>
            <a:spLocks noChangeArrowheads="1"/>
          </p:cNvSpPr>
          <p:nvPr/>
        </p:nvSpPr>
        <p:spPr bwMode="auto">
          <a:xfrm>
            <a:off x="455310" y="2080448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endParaRPr lang="en-US" altLang="zh-CN" sz="1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1214280" y="2452084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2082248" y="3084831"/>
            <a:ext cx="971192" cy="1998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2082248" y="3390173"/>
            <a:ext cx="971192" cy="2150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7" name="Rectangle 30"/>
          <p:cNvSpPr>
            <a:spLocks noChangeArrowheads="1"/>
          </p:cNvSpPr>
          <p:nvPr/>
        </p:nvSpPr>
        <p:spPr bwMode="auto">
          <a:xfrm>
            <a:off x="2082248" y="4005339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4316626" y="1530352"/>
            <a:ext cx="7145" cy="503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8921" y="1136643"/>
            <a:ext cx="1827800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 smtClean="0">
                <a:latin typeface="+mn-ea"/>
              </a:rPr>
              <a:t>超级</a:t>
            </a:r>
            <a:r>
              <a:rPr lang="en-US" altLang="zh-CN" sz="2800" dirty="0" smtClean="0">
                <a:latin typeface="+mn-ea"/>
              </a:rPr>
              <a:t>EBOM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43892" y="1108531"/>
            <a:ext cx="1861954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 smtClean="0">
                <a:latin typeface="+mn-ea"/>
              </a:rPr>
              <a:t>超级</a:t>
            </a:r>
            <a:r>
              <a:rPr lang="en-US" altLang="zh-CN" sz="2800" dirty="0" smtClean="0">
                <a:latin typeface="+mn-ea"/>
              </a:rPr>
              <a:t>MBOM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68696" y="1879679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Design</a:t>
            </a:r>
            <a:r>
              <a:rPr lang="zh-CN" altLang="en-US" sz="1400" dirty="0" smtClean="0"/>
              <a:t>视图</a:t>
            </a:r>
          </a:p>
        </p:txBody>
      </p:sp>
      <p:sp>
        <p:nvSpPr>
          <p:cNvPr id="53" name="右箭头 52"/>
          <p:cNvSpPr/>
          <p:nvPr/>
        </p:nvSpPr>
        <p:spPr>
          <a:xfrm>
            <a:off x="3223635" y="1222366"/>
            <a:ext cx="2218395" cy="3386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smtClean="0">
              <a:solidFill>
                <a:schemeClr val="bg1"/>
              </a:solidFill>
            </a:endParaRPr>
          </a:p>
        </p:txBody>
      </p:sp>
      <p:sp>
        <p:nvSpPr>
          <p:cNvPr id="120" name="Rectangle 30"/>
          <p:cNvSpPr>
            <a:spLocks noChangeArrowheads="1"/>
          </p:cNvSpPr>
          <p:nvPr/>
        </p:nvSpPr>
        <p:spPr bwMode="auto">
          <a:xfrm>
            <a:off x="1214280" y="2778322"/>
            <a:ext cx="971192" cy="204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21" name="形状 93"/>
          <p:cNvCxnSpPr>
            <a:stCxn id="34" idx="1"/>
            <a:endCxn id="32" idx="2"/>
          </p:cNvCxnSpPr>
          <p:nvPr/>
        </p:nvCxnSpPr>
        <p:spPr>
          <a:xfrm rot="10800000">
            <a:off x="909526" y="2334631"/>
            <a:ext cx="304755" cy="221208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形状 93"/>
          <p:cNvCxnSpPr>
            <a:stCxn id="120" idx="1"/>
          </p:cNvCxnSpPr>
          <p:nvPr/>
        </p:nvCxnSpPr>
        <p:spPr>
          <a:xfrm rot="10800000">
            <a:off x="909528" y="2343509"/>
            <a:ext cx="304753" cy="53709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形状 93"/>
          <p:cNvCxnSpPr>
            <a:stCxn id="35" idx="1"/>
            <a:endCxn id="120" idx="2"/>
          </p:cNvCxnSpPr>
          <p:nvPr/>
        </p:nvCxnSpPr>
        <p:spPr>
          <a:xfrm rot="10800000">
            <a:off x="1699876" y="2982888"/>
            <a:ext cx="382372" cy="20189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形状 93"/>
          <p:cNvCxnSpPr>
            <a:stCxn id="36" idx="1"/>
            <a:endCxn id="120" idx="2"/>
          </p:cNvCxnSpPr>
          <p:nvPr/>
        </p:nvCxnSpPr>
        <p:spPr>
          <a:xfrm rot="10800000">
            <a:off x="1699876" y="2982887"/>
            <a:ext cx="382372" cy="514790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30"/>
          <p:cNvSpPr>
            <a:spLocks noChangeArrowheads="1"/>
          </p:cNvSpPr>
          <p:nvPr/>
        </p:nvSpPr>
        <p:spPr bwMode="auto">
          <a:xfrm>
            <a:off x="1214282" y="3683270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50" name="形状 93"/>
          <p:cNvCxnSpPr>
            <a:stCxn id="49" idx="1"/>
            <a:endCxn id="32" idx="2"/>
          </p:cNvCxnSpPr>
          <p:nvPr/>
        </p:nvCxnSpPr>
        <p:spPr>
          <a:xfrm rot="10800000">
            <a:off x="909526" y="2334631"/>
            <a:ext cx="304757" cy="1451204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30"/>
          <p:cNvSpPr>
            <a:spLocks noChangeArrowheads="1"/>
          </p:cNvSpPr>
          <p:nvPr/>
        </p:nvSpPr>
        <p:spPr bwMode="auto">
          <a:xfrm>
            <a:off x="2082248" y="4293515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56" name="形状 93"/>
          <p:cNvCxnSpPr>
            <a:stCxn id="37" idx="1"/>
            <a:endCxn id="49" idx="2"/>
          </p:cNvCxnSpPr>
          <p:nvPr/>
        </p:nvCxnSpPr>
        <p:spPr>
          <a:xfrm rot="10800000">
            <a:off x="1699878" y="3888400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形状 93"/>
          <p:cNvCxnSpPr>
            <a:stCxn id="55" idx="1"/>
            <a:endCxn id="49" idx="2"/>
          </p:cNvCxnSpPr>
          <p:nvPr/>
        </p:nvCxnSpPr>
        <p:spPr>
          <a:xfrm rot="10800000">
            <a:off x="1699878" y="3888400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30"/>
          <p:cNvSpPr>
            <a:spLocks noChangeArrowheads="1"/>
          </p:cNvSpPr>
          <p:nvPr/>
        </p:nvSpPr>
        <p:spPr bwMode="auto">
          <a:xfrm>
            <a:off x="2082250" y="4927692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65" name="Rectangle 30"/>
          <p:cNvSpPr>
            <a:spLocks noChangeArrowheads="1"/>
          </p:cNvSpPr>
          <p:nvPr/>
        </p:nvSpPr>
        <p:spPr bwMode="auto">
          <a:xfrm>
            <a:off x="1214284" y="4605623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66" name="Rectangle 30"/>
          <p:cNvSpPr>
            <a:spLocks noChangeArrowheads="1"/>
          </p:cNvSpPr>
          <p:nvPr/>
        </p:nvSpPr>
        <p:spPr bwMode="auto">
          <a:xfrm>
            <a:off x="2082250" y="5215868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67" name="形状 93"/>
          <p:cNvCxnSpPr>
            <a:stCxn id="64" idx="1"/>
            <a:endCxn id="65" idx="2"/>
          </p:cNvCxnSpPr>
          <p:nvPr/>
        </p:nvCxnSpPr>
        <p:spPr>
          <a:xfrm rot="10800000">
            <a:off x="1699880" y="4810753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形状 93"/>
          <p:cNvCxnSpPr>
            <a:stCxn id="66" idx="1"/>
            <a:endCxn id="65" idx="2"/>
          </p:cNvCxnSpPr>
          <p:nvPr/>
        </p:nvCxnSpPr>
        <p:spPr>
          <a:xfrm rot="10800000">
            <a:off x="1699880" y="4810753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形状 93"/>
          <p:cNvCxnSpPr>
            <a:stCxn id="65" idx="1"/>
          </p:cNvCxnSpPr>
          <p:nvPr/>
        </p:nvCxnSpPr>
        <p:spPr>
          <a:xfrm rot="10800000">
            <a:off x="909528" y="2334632"/>
            <a:ext cx="304756" cy="237355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30"/>
          <p:cNvSpPr>
            <a:spLocks noChangeArrowheads="1"/>
          </p:cNvSpPr>
          <p:nvPr/>
        </p:nvSpPr>
        <p:spPr bwMode="auto">
          <a:xfrm>
            <a:off x="2076683" y="5828510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加长臂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3" name="Rectangle 30"/>
          <p:cNvSpPr>
            <a:spLocks noChangeArrowheads="1"/>
          </p:cNvSpPr>
          <p:nvPr/>
        </p:nvSpPr>
        <p:spPr bwMode="auto">
          <a:xfrm>
            <a:off x="1208717" y="5506441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动臂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4" name="Rectangle 30"/>
          <p:cNvSpPr>
            <a:spLocks noChangeArrowheads="1"/>
          </p:cNvSpPr>
          <p:nvPr/>
        </p:nvSpPr>
        <p:spPr bwMode="auto">
          <a:xfrm>
            <a:off x="2076683" y="6116686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普通臂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75" name="形状 93"/>
          <p:cNvCxnSpPr>
            <a:stCxn id="72" idx="1"/>
            <a:endCxn id="73" idx="2"/>
          </p:cNvCxnSpPr>
          <p:nvPr/>
        </p:nvCxnSpPr>
        <p:spPr>
          <a:xfrm rot="10800000">
            <a:off x="1694313" y="5711571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93"/>
          <p:cNvCxnSpPr>
            <a:stCxn id="74" idx="1"/>
            <a:endCxn id="73" idx="2"/>
          </p:cNvCxnSpPr>
          <p:nvPr/>
        </p:nvCxnSpPr>
        <p:spPr>
          <a:xfrm rot="10800000">
            <a:off x="1694313" y="5711571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形状 93"/>
          <p:cNvCxnSpPr>
            <a:stCxn id="73" idx="1"/>
            <a:endCxn id="32" idx="2"/>
          </p:cNvCxnSpPr>
          <p:nvPr/>
        </p:nvCxnSpPr>
        <p:spPr>
          <a:xfrm rot="10800000">
            <a:off x="909525" y="2334632"/>
            <a:ext cx="299192" cy="327437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形状 93"/>
          <p:cNvCxnSpPr>
            <a:endCxn id="32" idx="2"/>
          </p:cNvCxnSpPr>
          <p:nvPr/>
        </p:nvCxnSpPr>
        <p:spPr>
          <a:xfrm rot="5400000" flipH="1" flipV="1">
            <a:off x="-1247849" y="4492005"/>
            <a:ext cx="4314747" cy="1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30"/>
          <p:cNvSpPr>
            <a:spLocks noChangeArrowheads="1"/>
          </p:cNvSpPr>
          <p:nvPr/>
        </p:nvSpPr>
        <p:spPr bwMode="auto">
          <a:xfrm>
            <a:off x="1208717" y="6375322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84" name="形状 93"/>
          <p:cNvCxnSpPr>
            <a:stCxn id="83" idx="1"/>
            <a:endCxn id="32" idx="2"/>
          </p:cNvCxnSpPr>
          <p:nvPr/>
        </p:nvCxnSpPr>
        <p:spPr>
          <a:xfrm rot="10800000">
            <a:off x="909525" y="2334631"/>
            <a:ext cx="299192" cy="414325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243"/>
          <p:cNvSpPr>
            <a:spLocks noChangeArrowheads="1"/>
          </p:cNvSpPr>
          <p:nvPr/>
        </p:nvSpPr>
        <p:spPr bwMode="auto">
          <a:xfrm>
            <a:off x="4495921" y="6222473"/>
            <a:ext cx="14287" cy="12700"/>
          </a:xfrm>
          <a:prstGeom prst="ellipse">
            <a:avLst/>
          </a:prstGeom>
          <a:solidFill>
            <a:schemeClr val="bg2"/>
          </a:solidFill>
          <a:ln w="19050" algn="ctr">
            <a:round/>
            <a:headEnd/>
            <a:tailEnd/>
          </a:ln>
          <a:effectLst/>
          <a:scene3d>
            <a:camera prst="legacyPerspectiveFront">
              <a:rot lat="20099999" lon="20099999" rev="0"/>
            </a:camera>
            <a:lightRig rig="legacyFlat2" dir="t"/>
          </a:scene3d>
          <a:sp3d extrusionH="111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flatTx/>
          </a:bodyPr>
          <a:lstStyle/>
          <a:p>
            <a:pPr algn="ctr"/>
            <a:endParaRPr lang="zh-CN" altLang="zh-CN" sz="1200">
              <a:solidFill>
                <a:schemeClr val="bg1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414082" y="2448437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1210</a:t>
            </a:r>
            <a:r>
              <a:rPr lang="zh-CN" altLang="en-US" sz="1400" dirty="0" smtClean="0"/>
              <a:t>工厂视图</a:t>
            </a:r>
          </a:p>
        </p:txBody>
      </p:sp>
      <p:sp>
        <p:nvSpPr>
          <p:cNvPr id="134" name="圆角矩形 133"/>
          <p:cNvSpPr/>
          <p:nvPr/>
        </p:nvSpPr>
        <p:spPr bwMode="auto">
          <a:xfrm>
            <a:off x="3053442" y="2320553"/>
            <a:ext cx="817222" cy="339040"/>
          </a:xfrm>
          <a:prstGeom prst="roundRect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sz="1200" b="1" dirty="0" smtClean="0"/>
              <a:t>选项集</a:t>
            </a:r>
            <a:endParaRPr lang="zh-CN" altLang="en-US" sz="1200" b="1" dirty="0"/>
          </a:p>
        </p:txBody>
      </p:sp>
      <p:cxnSp>
        <p:nvCxnSpPr>
          <p:cNvPr id="136" name="曲线连接符 135"/>
          <p:cNvCxnSpPr>
            <a:stCxn id="134" idx="1"/>
            <a:endCxn id="32" idx="3"/>
          </p:cNvCxnSpPr>
          <p:nvPr/>
        </p:nvCxnSpPr>
        <p:spPr>
          <a:xfrm rot="10800000">
            <a:off x="1363740" y="2207541"/>
            <a:ext cx="1689702" cy="282533"/>
          </a:xfrm>
          <a:prstGeom prst="curvedConnector3">
            <a:avLst/>
          </a:prstGeom>
          <a:ln>
            <a:prstDash val="sys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04"/>
          <p:cNvSpPr>
            <a:spLocks noChangeArrowheads="1"/>
          </p:cNvSpPr>
          <p:nvPr/>
        </p:nvSpPr>
        <p:spPr bwMode="auto">
          <a:xfrm>
            <a:off x="5389677" y="2740219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endParaRPr lang="en-US" altLang="zh-CN" sz="1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39" name="Rectangle 30"/>
          <p:cNvSpPr>
            <a:spLocks noChangeArrowheads="1"/>
          </p:cNvSpPr>
          <p:nvPr/>
        </p:nvSpPr>
        <p:spPr bwMode="auto">
          <a:xfrm>
            <a:off x="6148647" y="3174001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42" name="Rectangle 30"/>
          <p:cNvSpPr>
            <a:spLocks noChangeArrowheads="1"/>
          </p:cNvSpPr>
          <p:nvPr/>
        </p:nvSpPr>
        <p:spPr bwMode="auto">
          <a:xfrm>
            <a:off x="6984368" y="3622978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44" name="形状 93"/>
          <p:cNvCxnSpPr>
            <a:stCxn id="139" idx="1"/>
          </p:cNvCxnSpPr>
          <p:nvPr/>
        </p:nvCxnSpPr>
        <p:spPr>
          <a:xfrm rot="10800000">
            <a:off x="5843893" y="3056548"/>
            <a:ext cx="304755" cy="221208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30"/>
          <p:cNvSpPr>
            <a:spLocks noChangeArrowheads="1"/>
          </p:cNvSpPr>
          <p:nvPr/>
        </p:nvSpPr>
        <p:spPr bwMode="auto">
          <a:xfrm>
            <a:off x="6984368" y="3911154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51" name="形状 93"/>
          <p:cNvCxnSpPr>
            <a:stCxn id="142" idx="1"/>
            <a:endCxn id="139" idx="2"/>
          </p:cNvCxnSpPr>
          <p:nvPr/>
        </p:nvCxnSpPr>
        <p:spPr>
          <a:xfrm rot="10800000">
            <a:off x="6634244" y="3381511"/>
            <a:ext cx="350125" cy="34253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形状 93"/>
          <p:cNvCxnSpPr>
            <a:stCxn id="150" idx="1"/>
            <a:endCxn id="139" idx="2"/>
          </p:cNvCxnSpPr>
          <p:nvPr/>
        </p:nvCxnSpPr>
        <p:spPr>
          <a:xfrm rot="10800000">
            <a:off x="6634244" y="3381511"/>
            <a:ext cx="350125" cy="630713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30"/>
          <p:cNvSpPr>
            <a:spLocks noChangeArrowheads="1"/>
          </p:cNvSpPr>
          <p:nvPr/>
        </p:nvSpPr>
        <p:spPr bwMode="auto">
          <a:xfrm>
            <a:off x="7011050" y="4659413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加长臂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60" name="Rectangle 30"/>
          <p:cNvSpPr>
            <a:spLocks noChangeArrowheads="1"/>
          </p:cNvSpPr>
          <p:nvPr/>
        </p:nvSpPr>
        <p:spPr bwMode="auto">
          <a:xfrm>
            <a:off x="6143084" y="4337344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动臂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61" name="Rectangle 30"/>
          <p:cNvSpPr>
            <a:spLocks noChangeArrowheads="1"/>
          </p:cNvSpPr>
          <p:nvPr/>
        </p:nvSpPr>
        <p:spPr bwMode="auto">
          <a:xfrm>
            <a:off x="7011050" y="4947589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普通臂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62" name="形状 93"/>
          <p:cNvCxnSpPr>
            <a:stCxn id="159" idx="1"/>
            <a:endCxn id="160" idx="2"/>
          </p:cNvCxnSpPr>
          <p:nvPr/>
        </p:nvCxnSpPr>
        <p:spPr>
          <a:xfrm rot="10800000">
            <a:off x="6628680" y="4542474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形状 93"/>
          <p:cNvCxnSpPr>
            <a:stCxn id="161" idx="1"/>
            <a:endCxn id="160" idx="2"/>
          </p:cNvCxnSpPr>
          <p:nvPr/>
        </p:nvCxnSpPr>
        <p:spPr>
          <a:xfrm rot="10800000">
            <a:off x="6628680" y="4542474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形状 93"/>
          <p:cNvCxnSpPr>
            <a:stCxn id="160" idx="1"/>
            <a:endCxn id="138" idx="2"/>
          </p:cNvCxnSpPr>
          <p:nvPr/>
        </p:nvCxnSpPr>
        <p:spPr>
          <a:xfrm rot="10800000">
            <a:off x="5843892" y="2994403"/>
            <a:ext cx="299192" cy="144550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形状 93"/>
          <p:cNvCxnSpPr>
            <a:endCxn id="138" idx="2"/>
          </p:cNvCxnSpPr>
          <p:nvPr/>
        </p:nvCxnSpPr>
        <p:spPr>
          <a:xfrm rot="5400000" flipH="1" flipV="1">
            <a:off x="4485307" y="4352986"/>
            <a:ext cx="2717168" cy="1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曲线连接符 172"/>
          <p:cNvCxnSpPr>
            <a:stCxn id="134" idx="3"/>
            <a:endCxn id="138" idx="1"/>
          </p:cNvCxnSpPr>
          <p:nvPr/>
        </p:nvCxnSpPr>
        <p:spPr>
          <a:xfrm>
            <a:off x="3870664" y="2490073"/>
            <a:ext cx="1519013" cy="377238"/>
          </a:xfrm>
          <a:prstGeom prst="curvedConnector3">
            <a:avLst/>
          </a:prstGeom>
          <a:ln>
            <a:prstDash val="sys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曲线连接符 174"/>
          <p:cNvCxnSpPr>
            <a:stCxn id="73" idx="3"/>
          </p:cNvCxnSpPr>
          <p:nvPr/>
        </p:nvCxnSpPr>
        <p:spPr>
          <a:xfrm flipV="1">
            <a:off x="2179909" y="4495653"/>
            <a:ext cx="3963175" cy="1113353"/>
          </a:xfrm>
          <a:prstGeom prst="curvedConnector3">
            <a:avLst/>
          </a:prstGeom>
          <a:ln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6160835" y="5149727"/>
            <a:ext cx="216641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</a:rPr>
              <a:t>直接复制</a:t>
            </a:r>
            <a:r>
              <a:rPr lang="en-US" altLang="zh-CN" sz="1400" dirty="0" smtClean="0">
                <a:solidFill>
                  <a:srgbClr val="FF0000"/>
                </a:solidFill>
              </a:rPr>
              <a:t>EBOM</a:t>
            </a:r>
            <a:r>
              <a:rPr lang="zh-CN" altLang="en-US" sz="1400" dirty="0" smtClean="0">
                <a:solidFill>
                  <a:srgbClr val="FF0000"/>
                </a:solidFill>
              </a:rPr>
              <a:t>的产品结构和选项零部件关系</a:t>
            </a:r>
          </a:p>
        </p:txBody>
      </p:sp>
    </p:spTree>
    <p:extLst>
      <p:ext uri="{BB962C8B-B14F-4D97-AF65-F5344CB8AC3E}">
        <p14:creationId xmlns="" xmlns:p14="http://schemas.microsoft.com/office/powerpoint/2010/main" val="301877166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 176"/>
          <p:cNvSpPr/>
          <p:nvPr/>
        </p:nvSpPr>
        <p:spPr bwMode="auto">
          <a:xfrm>
            <a:off x="6032771" y="3043419"/>
            <a:ext cx="2422544" cy="1664770"/>
          </a:xfrm>
          <a:prstGeom prst="rect">
            <a:avLst/>
          </a:prstGeom>
          <a:solidFill>
            <a:schemeClr val="accent4">
              <a:lumMod val="75000"/>
              <a:alpha val="89000"/>
            </a:schemeClr>
          </a:solidFill>
          <a:ln w="25400">
            <a:noFill/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>
                <a:latin typeface="+mn-ea"/>
              </a:rPr>
              <a:t>未来</a:t>
            </a:r>
            <a:r>
              <a:rPr lang="en-US" altLang="zh-CN" sz="2400" dirty="0">
                <a:latin typeface="+mn-ea"/>
              </a:rPr>
              <a:t>MBOM</a:t>
            </a:r>
            <a:r>
              <a:rPr lang="zh-CN" altLang="en-US" sz="2400" dirty="0">
                <a:latin typeface="+mn-ea"/>
              </a:rPr>
              <a:t>管理方式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2" name="Rectangle 104"/>
          <p:cNvSpPr>
            <a:spLocks noChangeArrowheads="1"/>
          </p:cNvSpPr>
          <p:nvPr/>
        </p:nvSpPr>
        <p:spPr bwMode="auto">
          <a:xfrm>
            <a:off x="455310" y="2080448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endParaRPr lang="en-US" altLang="zh-CN" sz="1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1214280" y="2452084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2082248" y="3084831"/>
            <a:ext cx="971192" cy="1998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2082248" y="3390173"/>
            <a:ext cx="971192" cy="2150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7" name="Rectangle 30"/>
          <p:cNvSpPr>
            <a:spLocks noChangeArrowheads="1"/>
          </p:cNvSpPr>
          <p:nvPr/>
        </p:nvSpPr>
        <p:spPr bwMode="auto">
          <a:xfrm>
            <a:off x="2082248" y="4005339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4316626" y="1530352"/>
            <a:ext cx="7145" cy="503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8921" y="1136643"/>
            <a:ext cx="1827800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 smtClean="0">
                <a:latin typeface="+mn-ea"/>
              </a:rPr>
              <a:t>超级</a:t>
            </a:r>
            <a:r>
              <a:rPr lang="en-US" altLang="zh-CN" sz="2800" dirty="0" smtClean="0">
                <a:latin typeface="+mn-ea"/>
              </a:rPr>
              <a:t>EBOM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43892" y="1108531"/>
            <a:ext cx="1861954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 smtClean="0">
                <a:latin typeface="+mn-ea"/>
              </a:rPr>
              <a:t>超级</a:t>
            </a:r>
            <a:r>
              <a:rPr lang="en-US" altLang="zh-CN" sz="2800" dirty="0" smtClean="0">
                <a:latin typeface="+mn-ea"/>
              </a:rPr>
              <a:t>MBOM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68696" y="1879679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Design</a:t>
            </a:r>
            <a:r>
              <a:rPr lang="zh-CN" altLang="en-US" sz="1400" dirty="0" smtClean="0"/>
              <a:t>视图</a:t>
            </a:r>
          </a:p>
        </p:txBody>
      </p:sp>
      <p:sp>
        <p:nvSpPr>
          <p:cNvPr id="53" name="右箭头 52"/>
          <p:cNvSpPr/>
          <p:nvPr/>
        </p:nvSpPr>
        <p:spPr>
          <a:xfrm>
            <a:off x="3223635" y="1222366"/>
            <a:ext cx="2218395" cy="3386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smtClean="0">
              <a:solidFill>
                <a:schemeClr val="bg1"/>
              </a:solidFill>
            </a:endParaRPr>
          </a:p>
        </p:txBody>
      </p:sp>
      <p:sp>
        <p:nvSpPr>
          <p:cNvPr id="120" name="Rectangle 30"/>
          <p:cNvSpPr>
            <a:spLocks noChangeArrowheads="1"/>
          </p:cNvSpPr>
          <p:nvPr/>
        </p:nvSpPr>
        <p:spPr bwMode="auto">
          <a:xfrm>
            <a:off x="1214280" y="2778322"/>
            <a:ext cx="971192" cy="204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21" name="形状 93"/>
          <p:cNvCxnSpPr>
            <a:stCxn id="34" idx="1"/>
            <a:endCxn id="32" idx="2"/>
          </p:cNvCxnSpPr>
          <p:nvPr/>
        </p:nvCxnSpPr>
        <p:spPr>
          <a:xfrm rot="10800000">
            <a:off x="909526" y="2334631"/>
            <a:ext cx="304755" cy="221208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形状 93"/>
          <p:cNvCxnSpPr>
            <a:stCxn id="120" idx="1"/>
          </p:cNvCxnSpPr>
          <p:nvPr/>
        </p:nvCxnSpPr>
        <p:spPr>
          <a:xfrm rot="10800000">
            <a:off x="909528" y="2343509"/>
            <a:ext cx="304753" cy="53709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形状 93"/>
          <p:cNvCxnSpPr>
            <a:stCxn id="35" idx="1"/>
            <a:endCxn id="120" idx="2"/>
          </p:cNvCxnSpPr>
          <p:nvPr/>
        </p:nvCxnSpPr>
        <p:spPr>
          <a:xfrm rot="10800000">
            <a:off x="1699876" y="2982888"/>
            <a:ext cx="382372" cy="20189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形状 93"/>
          <p:cNvCxnSpPr>
            <a:stCxn id="36" idx="1"/>
            <a:endCxn id="120" idx="2"/>
          </p:cNvCxnSpPr>
          <p:nvPr/>
        </p:nvCxnSpPr>
        <p:spPr>
          <a:xfrm rot="10800000">
            <a:off x="1699876" y="2982887"/>
            <a:ext cx="382372" cy="514790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30"/>
          <p:cNvSpPr>
            <a:spLocks noChangeArrowheads="1"/>
          </p:cNvSpPr>
          <p:nvPr/>
        </p:nvSpPr>
        <p:spPr bwMode="auto">
          <a:xfrm>
            <a:off x="1214282" y="3683270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50" name="形状 93"/>
          <p:cNvCxnSpPr>
            <a:stCxn id="49" idx="1"/>
            <a:endCxn id="32" idx="2"/>
          </p:cNvCxnSpPr>
          <p:nvPr/>
        </p:nvCxnSpPr>
        <p:spPr>
          <a:xfrm rot="10800000">
            <a:off x="909526" y="2334631"/>
            <a:ext cx="304757" cy="1451204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30"/>
          <p:cNvSpPr>
            <a:spLocks noChangeArrowheads="1"/>
          </p:cNvSpPr>
          <p:nvPr/>
        </p:nvSpPr>
        <p:spPr bwMode="auto">
          <a:xfrm>
            <a:off x="2082248" y="4293515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56" name="形状 93"/>
          <p:cNvCxnSpPr>
            <a:stCxn id="37" idx="1"/>
            <a:endCxn id="49" idx="2"/>
          </p:cNvCxnSpPr>
          <p:nvPr/>
        </p:nvCxnSpPr>
        <p:spPr>
          <a:xfrm rot="10800000">
            <a:off x="1699878" y="3888400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形状 93"/>
          <p:cNvCxnSpPr>
            <a:stCxn id="55" idx="1"/>
            <a:endCxn id="49" idx="2"/>
          </p:cNvCxnSpPr>
          <p:nvPr/>
        </p:nvCxnSpPr>
        <p:spPr>
          <a:xfrm rot="10800000">
            <a:off x="1699878" y="3888400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30"/>
          <p:cNvSpPr>
            <a:spLocks noChangeArrowheads="1"/>
          </p:cNvSpPr>
          <p:nvPr/>
        </p:nvSpPr>
        <p:spPr bwMode="auto">
          <a:xfrm>
            <a:off x="2082250" y="4927692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65" name="Rectangle 30"/>
          <p:cNvSpPr>
            <a:spLocks noChangeArrowheads="1"/>
          </p:cNvSpPr>
          <p:nvPr/>
        </p:nvSpPr>
        <p:spPr bwMode="auto">
          <a:xfrm>
            <a:off x="1214284" y="4605623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66" name="Rectangle 30"/>
          <p:cNvSpPr>
            <a:spLocks noChangeArrowheads="1"/>
          </p:cNvSpPr>
          <p:nvPr/>
        </p:nvSpPr>
        <p:spPr bwMode="auto">
          <a:xfrm>
            <a:off x="2082250" y="5215868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67" name="形状 93"/>
          <p:cNvCxnSpPr>
            <a:stCxn id="64" idx="1"/>
            <a:endCxn id="65" idx="2"/>
          </p:cNvCxnSpPr>
          <p:nvPr/>
        </p:nvCxnSpPr>
        <p:spPr>
          <a:xfrm rot="10800000">
            <a:off x="1699880" y="4810753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形状 93"/>
          <p:cNvCxnSpPr>
            <a:stCxn id="66" idx="1"/>
            <a:endCxn id="65" idx="2"/>
          </p:cNvCxnSpPr>
          <p:nvPr/>
        </p:nvCxnSpPr>
        <p:spPr>
          <a:xfrm rot="10800000">
            <a:off x="1699880" y="4810753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形状 93"/>
          <p:cNvCxnSpPr>
            <a:stCxn id="65" idx="1"/>
          </p:cNvCxnSpPr>
          <p:nvPr/>
        </p:nvCxnSpPr>
        <p:spPr>
          <a:xfrm rot="10800000">
            <a:off x="909528" y="2334632"/>
            <a:ext cx="304756" cy="237355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30"/>
          <p:cNvSpPr>
            <a:spLocks noChangeArrowheads="1"/>
          </p:cNvSpPr>
          <p:nvPr/>
        </p:nvSpPr>
        <p:spPr bwMode="auto">
          <a:xfrm>
            <a:off x="2076683" y="5828510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加长臂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3" name="Rectangle 30"/>
          <p:cNvSpPr>
            <a:spLocks noChangeArrowheads="1"/>
          </p:cNvSpPr>
          <p:nvPr/>
        </p:nvSpPr>
        <p:spPr bwMode="auto">
          <a:xfrm>
            <a:off x="1208717" y="5506441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动臂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4" name="Rectangle 30"/>
          <p:cNvSpPr>
            <a:spLocks noChangeArrowheads="1"/>
          </p:cNvSpPr>
          <p:nvPr/>
        </p:nvSpPr>
        <p:spPr bwMode="auto">
          <a:xfrm>
            <a:off x="2076683" y="6116686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普通臂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75" name="形状 93"/>
          <p:cNvCxnSpPr>
            <a:stCxn id="72" idx="1"/>
            <a:endCxn id="73" idx="2"/>
          </p:cNvCxnSpPr>
          <p:nvPr/>
        </p:nvCxnSpPr>
        <p:spPr>
          <a:xfrm rot="10800000">
            <a:off x="1694313" y="5711571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93"/>
          <p:cNvCxnSpPr>
            <a:stCxn id="74" idx="1"/>
            <a:endCxn id="73" idx="2"/>
          </p:cNvCxnSpPr>
          <p:nvPr/>
        </p:nvCxnSpPr>
        <p:spPr>
          <a:xfrm rot="10800000">
            <a:off x="1694313" y="5711571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形状 93"/>
          <p:cNvCxnSpPr>
            <a:stCxn id="73" idx="1"/>
            <a:endCxn id="32" idx="2"/>
          </p:cNvCxnSpPr>
          <p:nvPr/>
        </p:nvCxnSpPr>
        <p:spPr>
          <a:xfrm rot="10800000">
            <a:off x="909525" y="2334632"/>
            <a:ext cx="299192" cy="327437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形状 93"/>
          <p:cNvCxnSpPr>
            <a:endCxn id="32" idx="2"/>
          </p:cNvCxnSpPr>
          <p:nvPr/>
        </p:nvCxnSpPr>
        <p:spPr>
          <a:xfrm rot="5400000" flipH="1" flipV="1">
            <a:off x="-1247849" y="4492005"/>
            <a:ext cx="4314747" cy="1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30"/>
          <p:cNvSpPr>
            <a:spLocks noChangeArrowheads="1"/>
          </p:cNvSpPr>
          <p:nvPr/>
        </p:nvSpPr>
        <p:spPr bwMode="auto">
          <a:xfrm>
            <a:off x="1208717" y="6375322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84" name="形状 93"/>
          <p:cNvCxnSpPr>
            <a:stCxn id="83" idx="1"/>
            <a:endCxn id="32" idx="2"/>
          </p:cNvCxnSpPr>
          <p:nvPr/>
        </p:nvCxnSpPr>
        <p:spPr>
          <a:xfrm rot="10800000">
            <a:off x="909525" y="2334631"/>
            <a:ext cx="299192" cy="414325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243"/>
          <p:cNvSpPr>
            <a:spLocks noChangeArrowheads="1"/>
          </p:cNvSpPr>
          <p:nvPr/>
        </p:nvSpPr>
        <p:spPr bwMode="auto">
          <a:xfrm>
            <a:off x="4495921" y="6222473"/>
            <a:ext cx="14287" cy="12700"/>
          </a:xfrm>
          <a:prstGeom prst="ellipse">
            <a:avLst/>
          </a:prstGeom>
          <a:solidFill>
            <a:schemeClr val="bg2"/>
          </a:solidFill>
          <a:ln w="19050" algn="ctr">
            <a:round/>
            <a:headEnd/>
            <a:tailEnd/>
          </a:ln>
          <a:effectLst/>
          <a:scene3d>
            <a:camera prst="legacyPerspectiveFront">
              <a:rot lat="20099999" lon="20099999" rev="0"/>
            </a:camera>
            <a:lightRig rig="legacyFlat2" dir="t"/>
          </a:scene3d>
          <a:sp3d extrusionH="111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flatTx/>
          </a:bodyPr>
          <a:lstStyle/>
          <a:p>
            <a:pPr algn="ctr"/>
            <a:endParaRPr lang="zh-CN" altLang="zh-CN" sz="1200">
              <a:solidFill>
                <a:schemeClr val="bg1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414082" y="2448437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1210</a:t>
            </a:r>
            <a:r>
              <a:rPr lang="zh-CN" altLang="en-US" sz="1400" dirty="0" smtClean="0"/>
              <a:t>工厂视图</a:t>
            </a:r>
          </a:p>
        </p:txBody>
      </p:sp>
      <p:sp>
        <p:nvSpPr>
          <p:cNvPr id="134" name="圆角矩形 133"/>
          <p:cNvSpPr/>
          <p:nvPr/>
        </p:nvSpPr>
        <p:spPr bwMode="auto">
          <a:xfrm>
            <a:off x="3053442" y="2320553"/>
            <a:ext cx="817222" cy="339040"/>
          </a:xfrm>
          <a:prstGeom prst="roundRect">
            <a:avLst/>
          </a:prstGeom>
          <a:solidFill>
            <a:srgbClr val="FFFF99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sz="1200" b="1" dirty="0" smtClean="0"/>
              <a:t>选项集</a:t>
            </a:r>
            <a:endParaRPr lang="zh-CN" altLang="en-US" sz="1200" b="1" dirty="0"/>
          </a:p>
        </p:txBody>
      </p:sp>
      <p:cxnSp>
        <p:nvCxnSpPr>
          <p:cNvPr id="136" name="曲线连接符 135"/>
          <p:cNvCxnSpPr>
            <a:stCxn id="134" idx="1"/>
            <a:endCxn id="32" idx="3"/>
          </p:cNvCxnSpPr>
          <p:nvPr/>
        </p:nvCxnSpPr>
        <p:spPr>
          <a:xfrm rot="10800000">
            <a:off x="1363740" y="2207541"/>
            <a:ext cx="1689702" cy="282533"/>
          </a:xfrm>
          <a:prstGeom prst="curvedConnector3">
            <a:avLst/>
          </a:prstGeom>
          <a:ln>
            <a:prstDash val="sys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04"/>
          <p:cNvSpPr>
            <a:spLocks noChangeArrowheads="1"/>
          </p:cNvSpPr>
          <p:nvPr/>
        </p:nvSpPr>
        <p:spPr bwMode="auto">
          <a:xfrm>
            <a:off x="5389677" y="2740219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endParaRPr lang="en-US" altLang="zh-CN" sz="1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39" name="Rectangle 30"/>
          <p:cNvSpPr>
            <a:spLocks noChangeArrowheads="1"/>
          </p:cNvSpPr>
          <p:nvPr/>
        </p:nvSpPr>
        <p:spPr bwMode="auto">
          <a:xfrm>
            <a:off x="6148647" y="3174001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42" name="Rectangle 30"/>
          <p:cNvSpPr>
            <a:spLocks noChangeArrowheads="1"/>
          </p:cNvSpPr>
          <p:nvPr/>
        </p:nvSpPr>
        <p:spPr bwMode="auto">
          <a:xfrm>
            <a:off x="6984368" y="3622978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44" name="形状 93"/>
          <p:cNvCxnSpPr>
            <a:stCxn id="139" idx="1"/>
          </p:cNvCxnSpPr>
          <p:nvPr/>
        </p:nvCxnSpPr>
        <p:spPr>
          <a:xfrm rot="10800000">
            <a:off x="5843893" y="3056548"/>
            <a:ext cx="304755" cy="221208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30"/>
          <p:cNvSpPr>
            <a:spLocks noChangeArrowheads="1"/>
          </p:cNvSpPr>
          <p:nvPr/>
        </p:nvSpPr>
        <p:spPr bwMode="auto">
          <a:xfrm>
            <a:off x="6984368" y="3911154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51" name="形状 93"/>
          <p:cNvCxnSpPr>
            <a:stCxn id="142" idx="1"/>
            <a:endCxn id="139" idx="2"/>
          </p:cNvCxnSpPr>
          <p:nvPr/>
        </p:nvCxnSpPr>
        <p:spPr>
          <a:xfrm rot="10800000">
            <a:off x="6634244" y="3381511"/>
            <a:ext cx="350125" cy="34253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形状 93"/>
          <p:cNvCxnSpPr>
            <a:stCxn id="150" idx="1"/>
            <a:endCxn id="139" idx="2"/>
          </p:cNvCxnSpPr>
          <p:nvPr/>
        </p:nvCxnSpPr>
        <p:spPr>
          <a:xfrm rot="10800000">
            <a:off x="6634244" y="3381511"/>
            <a:ext cx="350125" cy="630713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30"/>
          <p:cNvSpPr>
            <a:spLocks noChangeArrowheads="1"/>
          </p:cNvSpPr>
          <p:nvPr/>
        </p:nvSpPr>
        <p:spPr bwMode="auto">
          <a:xfrm>
            <a:off x="7011050" y="5156581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加长臂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60" name="Rectangle 30"/>
          <p:cNvSpPr>
            <a:spLocks noChangeArrowheads="1"/>
          </p:cNvSpPr>
          <p:nvPr/>
        </p:nvSpPr>
        <p:spPr bwMode="auto">
          <a:xfrm>
            <a:off x="6143084" y="4834512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动臂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61" name="Rectangle 30"/>
          <p:cNvSpPr>
            <a:spLocks noChangeArrowheads="1"/>
          </p:cNvSpPr>
          <p:nvPr/>
        </p:nvSpPr>
        <p:spPr bwMode="auto">
          <a:xfrm>
            <a:off x="7011050" y="5444757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普通臂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62" name="形状 93"/>
          <p:cNvCxnSpPr>
            <a:stCxn id="159" idx="1"/>
            <a:endCxn id="160" idx="2"/>
          </p:cNvCxnSpPr>
          <p:nvPr/>
        </p:nvCxnSpPr>
        <p:spPr>
          <a:xfrm rot="10800000">
            <a:off x="6628680" y="5039642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形状 93"/>
          <p:cNvCxnSpPr>
            <a:stCxn id="161" idx="1"/>
            <a:endCxn id="160" idx="2"/>
          </p:cNvCxnSpPr>
          <p:nvPr/>
        </p:nvCxnSpPr>
        <p:spPr>
          <a:xfrm rot="10800000">
            <a:off x="6628680" y="5039642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形状 93"/>
          <p:cNvCxnSpPr>
            <a:stCxn id="160" idx="1"/>
            <a:endCxn id="138" idx="2"/>
          </p:cNvCxnSpPr>
          <p:nvPr/>
        </p:nvCxnSpPr>
        <p:spPr>
          <a:xfrm rot="10800000">
            <a:off x="5843892" y="2994403"/>
            <a:ext cx="299192" cy="194267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形状 93"/>
          <p:cNvCxnSpPr>
            <a:endCxn id="138" idx="2"/>
          </p:cNvCxnSpPr>
          <p:nvPr/>
        </p:nvCxnSpPr>
        <p:spPr>
          <a:xfrm rot="5400000" flipH="1" flipV="1">
            <a:off x="4485307" y="4352986"/>
            <a:ext cx="2717168" cy="1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曲线连接符 172"/>
          <p:cNvCxnSpPr>
            <a:stCxn id="134" idx="3"/>
            <a:endCxn id="138" idx="1"/>
          </p:cNvCxnSpPr>
          <p:nvPr/>
        </p:nvCxnSpPr>
        <p:spPr>
          <a:xfrm>
            <a:off x="3870664" y="2490073"/>
            <a:ext cx="1519013" cy="377238"/>
          </a:xfrm>
          <a:prstGeom prst="curvedConnector3">
            <a:avLst/>
          </a:prstGeom>
          <a:ln>
            <a:prstDash val="sys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414082" y="4141492"/>
            <a:ext cx="196643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</a:rPr>
              <a:t>手工创建零部件和选项之间的关系</a:t>
            </a:r>
          </a:p>
        </p:txBody>
      </p:sp>
    </p:spTree>
    <p:extLst>
      <p:ext uri="{BB962C8B-B14F-4D97-AF65-F5344CB8AC3E}">
        <p14:creationId xmlns="" xmlns:p14="http://schemas.microsoft.com/office/powerpoint/2010/main" val="143743054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>
                <a:latin typeface="+mn-ea"/>
              </a:rPr>
              <a:t>未来</a:t>
            </a:r>
            <a:r>
              <a:rPr lang="en-US" altLang="zh-CN" sz="2400" dirty="0">
                <a:latin typeface="+mn-ea"/>
              </a:rPr>
              <a:t>MBOM</a:t>
            </a:r>
            <a:r>
              <a:rPr lang="zh-CN" altLang="en-US" sz="2400" dirty="0">
                <a:latin typeface="+mn-ea"/>
              </a:rPr>
              <a:t>管理方式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2" name="Rectangle 104"/>
          <p:cNvSpPr>
            <a:spLocks noChangeArrowheads="1"/>
          </p:cNvSpPr>
          <p:nvPr/>
        </p:nvSpPr>
        <p:spPr bwMode="auto">
          <a:xfrm>
            <a:off x="455310" y="2080448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endParaRPr lang="en-US" altLang="zh-CN" sz="1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1214280" y="2452084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2082248" y="3084831"/>
            <a:ext cx="971192" cy="1998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2082248" y="3390173"/>
            <a:ext cx="971192" cy="2150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37" name="Rectangle 30"/>
          <p:cNvSpPr>
            <a:spLocks noChangeArrowheads="1"/>
          </p:cNvSpPr>
          <p:nvPr/>
        </p:nvSpPr>
        <p:spPr bwMode="auto">
          <a:xfrm>
            <a:off x="2082248" y="4005339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4316626" y="1530352"/>
            <a:ext cx="7145" cy="503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8921" y="1136643"/>
            <a:ext cx="1827800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 smtClean="0">
                <a:latin typeface="+mn-ea"/>
              </a:rPr>
              <a:t>超级</a:t>
            </a:r>
            <a:r>
              <a:rPr lang="en-US" altLang="zh-CN" sz="2800" dirty="0" smtClean="0">
                <a:latin typeface="+mn-ea"/>
              </a:rPr>
              <a:t>EBOM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43892" y="1108531"/>
            <a:ext cx="1861954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 smtClean="0">
                <a:latin typeface="+mn-ea"/>
              </a:rPr>
              <a:t>实例</a:t>
            </a:r>
            <a:r>
              <a:rPr lang="en-US" altLang="zh-CN" sz="2800" dirty="0" smtClean="0">
                <a:latin typeface="+mn-ea"/>
              </a:rPr>
              <a:t>MBOM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68696" y="1879679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Design</a:t>
            </a:r>
            <a:r>
              <a:rPr lang="zh-CN" altLang="en-US" sz="1400" dirty="0" smtClean="0"/>
              <a:t>视图</a:t>
            </a:r>
          </a:p>
        </p:txBody>
      </p:sp>
      <p:sp>
        <p:nvSpPr>
          <p:cNvPr id="53" name="右箭头 52"/>
          <p:cNvSpPr/>
          <p:nvPr/>
        </p:nvSpPr>
        <p:spPr>
          <a:xfrm>
            <a:off x="3223635" y="1222366"/>
            <a:ext cx="2218395" cy="33866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smtClean="0">
              <a:solidFill>
                <a:schemeClr val="bg1"/>
              </a:solidFill>
            </a:endParaRPr>
          </a:p>
        </p:txBody>
      </p:sp>
      <p:sp>
        <p:nvSpPr>
          <p:cNvPr id="120" name="Rectangle 30"/>
          <p:cNvSpPr>
            <a:spLocks noChangeArrowheads="1"/>
          </p:cNvSpPr>
          <p:nvPr/>
        </p:nvSpPr>
        <p:spPr bwMode="auto">
          <a:xfrm>
            <a:off x="1214280" y="2778322"/>
            <a:ext cx="971192" cy="204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21" name="形状 93"/>
          <p:cNvCxnSpPr>
            <a:stCxn id="34" idx="1"/>
            <a:endCxn id="32" idx="2"/>
          </p:cNvCxnSpPr>
          <p:nvPr/>
        </p:nvCxnSpPr>
        <p:spPr>
          <a:xfrm rot="10800000">
            <a:off x="909526" y="2334631"/>
            <a:ext cx="304755" cy="221208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形状 93"/>
          <p:cNvCxnSpPr>
            <a:stCxn id="120" idx="1"/>
          </p:cNvCxnSpPr>
          <p:nvPr/>
        </p:nvCxnSpPr>
        <p:spPr>
          <a:xfrm rot="10800000">
            <a:off x="909528" y="2343509"/>
            <a:ext cx="304753" cy="53709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形状 93"/>
          <p:cNvCxnSpPr>
            <a:stCxn id="35" idx="1"/>
            <a:endCxn id="120" idx="2"/>
          </p:cNvCxnSpPr>
          <p:nvPr/>
        </p:nvCxnSpPr>
        <p:spPr>
          <a:xfrm rot="10800000">
            <a:off x="1699876" y="2982888"/>
            <a:ext cx="382372" cy="20189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形状 93"/>
          <p:cNvCxnSpPr>
            <a:stCxn id="36" idx="1"/>
            <a:endCxn id="120" idx="2"/>
          </p:cNvCxnSpPr>
          <p:nvPr/>
        </p:nvCxnSpPr>
        <p:spPr>
          <a:xfrm rot="10800000">
            <a:off x="1699876" y="2982887"/>
            <a:ext cx="382372" cy="514790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30"/>
          <p:cNvSpPr>
            <a:spLocks noChangeArrowheads="1"/>
          </p:cNvSpPr>
          <p:nvPr/>
        </p:nvSpPr>
        <p:spPr bwMode="auto">
          <a:xfrm>
            <a:off x="1214282" y="3683270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50" name="形状 93"/>
          <p:cNvCxnSpPr>
            <a:stCxn id="49" idx="1"/>
            <a:endCxn id="32" idx="2"/>
          </p:cNvCxnSpPr>
          <p:nvPr/>
        </p:nvCxnSpPr>
        <p:spPr>
          <a:xfrm rot="10800000">
            <a:off x="909526" y="2334631"/>
            <a:ext cx="304757" cy="1451204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30"/>
          <p:cNvSpPr>
            <a:spLocks noChangeArrowheads="1"/>
          </p:cNvSpPr>
          <p:nvPr/>
        </p:nvSpPr>
        <p:spPr bwMode="auto">
          <a:xfrm>
            <a:off x="2082248" y="4293515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56" name="形状 93"/>
          <p:cNvCxnSpPr>
            <a:stCxn id="37" idx="1"/>
            <a:endCxn id="49" idx="2"/>
          </p:cNvCxnSpPr>
          <p:nvPr/>
        </p:nvCxnSpPr>
        <p:spPr>
          <a:xfrm rot="10800000">
            <a:off x="1699878" y="3888400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形状 93"/>
          <p:cNvCxnSpPr>
            <a:stCxn id="55" idx="1"/>
            <a:endCxn id="49" idx="2"/>
          </p:cNvCxnSpPr>
          <p:nvPr/>
        </p:nvCxnSpPr>
        <p:spPr>
          <a:xfrm rot="10800000">
            <a:off x="1699878" y="3888400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30"/>
          <p:cNvSpPr>
            <a:spLocks noChangeArrowheads="1"/>
          </p:cNvSpPr>
          <p:nvPr/>
        </p:nvSpPr>
        <p:spPr bwMode="auto">
          <a:xfrm>
            <a:off x="2082250" y="4927692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65" name="Rectangle 30"/>
          <p:cNvSpPr>
            <a:spLocks noChangeArrowheads="1"/>
          </p:cNvSpPr>
          <p:nvPr/>
        </p:nvSpPr>
        <p:spPr bwMode="auto">
          <a:xfrm>
            <a:off x="1214284" y="4605623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66" name="Rectangle 30"/>
          <p:cNvSpPr>
            <a:spLocks noChangeArrowheads="1"/>
          </p:cNvSpPr>
          <p:nvPr/>
        </p:nvSpPr>
        <p:spPr bwMode="auto">
          <a:xfrm>
            <a:off x="2082250" y="5215868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67" name="形状 93"/>
          <p:cNvCxnSpPr>
            <a:stCxn id="64" idx="1"/>
            <a:endCxn id="65" idx="2"/>
          </p:cNvCxnSpPr>
          <p:nvPr/>
        </p:nvCxnSpPr>
        <p:spPr>
          <a:xfrm rot="10800000">
            <a:off x="1699880" y="4810753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形状 93"/>
          <p:cNvCxnSpPr>
            <a:stCxn id="66" idx="1"/>
            <a:endCxn id="65" idx="2"/>
          </p:cNvCxnSpPr>
          <p:nvPr/>
        </p:nvCxnSpPr>
        <p:spPr>
          <a:xfrm rot="10800000">
            <a:off x="1699880" y="4810753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形状 93"/>
          <p:cNvCxnSpPr>
            <a:stCxn id="65" idx="1"/>
          </p:cNvCxnSpPr>
          <p:nvPr/>
        </p:nvCxnSpPr>
        <p:spPr>
          <a:xfrm rot="10800000">
            <a:off x="909528" y="2334632"/>
            <a:ext cx="304756" cy="237355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30"/>
          <p:cNvSpPr>
            <a:spLocks noChangeArrowheads="1"/>
          </p:cNvSpPr>
          <p:nvPr/>
        </p:nvSpPr>
        <p:spPr bwMode="auto">
          <a:xfrm>
            <a:off x="2076683" y="5828510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加长臂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3" name="Rectangle 30"/>
          <p:cNvSpPr>
            <a:spLocks noChangeArrowheads="1"/>
          </p:cNvSpPr>
          <p:nvPr/>
        </p:nvSpPr>
        <p:spPr bwMode="auto">
          <a:xfrm>
            <a:off x="1208717" y="5506441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动臂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4" name="Rectangle 30"/>
          <p:cNvSpPr>
            <a:spLocks noChangeArrowheads="1"/>
          </p:cNvSpPr>
          <p:nvPr/>
        </p:nvSpPr>
        <p:spPr bwMode="auto">
          <a:xfrm>
            <a:off x="2076683" y="6116686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普通臂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75" name="形状 93"/>
          <p:cNvCxnSpPr>
            <a:stCxn id="72" idx="1"/>
            <a:endCxn id="73" idx="2"/>
          </p:cNvCxnSpPr>
          <p:nvPr/>
        </p:nvCxnSpPr>
        <p:spPr>
          <a:xfrm rot="10800000">
            <a:off x="1694313" y="5711571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形状 93"/>
          <p:cNvCxnSpPr>
            <a:stCxn id="74" idx="1"/>
            <a:endCxn id="73" idx="2"/>
          </p:cNvCxnSpPr>
          <p:nvPr/>
        </p:nvCxnSpPr>
        <p:spPr>
          <a:xfrm rot="10800000">
            <a:off x="1694313" y="5711571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形状 93"/>
          <p:cNvCxnSpPr>
            <a:stCxn id="73" idx="1"/>
            <a:endCxn id="32" idx="2"/>
          </p:cNvCxnSpPr>
          <p:nvPr/>
        </p:nvCxnSpPr>
        <p:spPr>
          <a:xfrm rot="10800000">
            <a:off x="909525" y="2334632"/>
            <a:ext cx="299192" cy="327437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形状 93"/>
          <p:cNvCxnSpPr>
            <a:endCxn id="32" idx="2"/>
          </p:cNvCxnSpPr>
          <p:nvPr/>
        </p:nvCxnSpPr>
        <p:spPr>
          <a:xfrm rot="5400000" flipH="1" flipV="1">
            <a:off x="-1247849" y="4492005"/>
            <a:ext cx="4314747" cy="1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30"/>
          <p:cNvSpPr>
            <a:spLocks noChangeArrowheads="1"/>
          </p:cNvSpPr>
          <p:nvPr/>
        </p:nvSpPr>
        <p:spPr bwMode="auto">
          <a:xfrm>
            <a:off x="1208717" y="6375322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84" name="形状 93"/>
          <p:cNvCxnSpPr>
            <a:stCxn id="83" idx="1"/>
            <a:endCxn id="32" idx="2"/>
          </p:cNvCxnSpPr>
          <p:nvPr/>
        </p:nvCxnSpPr>
        <p:spPr>
          <a:xfrm rot="10800000">
            <a:off x="909525" y="2334631"/>
            <a:ext cx="299192" cy="414325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243"/>
          <p:cNvSpPr>
            <a:spLocks noChangeArrowheads="1"/>
          </p:cNvSpPr>
          <p:nvPr/>
        </p:nvSpPr>
        <p:spPr bwMode="auto">
          <a:xfrm>
            <a:off x="4495921" y="6222473"/>
            <a:ext cx="14287" cy="12700"/>
          </a:xfrm>
          <a:prstGeom prst="ellipse">
            <a:avLst/>
          </a:prstGeom>
          <a:solidFill>
            <a:schemeClr val="bg2"/>
          </a:solidFill>
          <a:ln w="19050" algn="ctr">
            <a:round/>
            <a:headEnd/>
            <a:tailEnd/>
          </a:ln>
          <a:effectLst/>
          <a:scene3d>
            <a:camera prst="legacyPerspectiveFront">
              <a:rot lat="20099999" lon="20099999" rev="0"/>
            </a:camera>
            <a:lightRig rig="legacyFlat2" dir="t"/>
          </a:scene3d>
          <a:sp3d extrusionH="111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flatTx/>
          </a:bodyPr>
          <a:lstStyle/>
          <a:p>
            <a:pPr algn="ctr"/>
            <a:endParaRPr lang="zh-CN" altLang="zh-CN" sz="1200">
              <a:solidFill>
                <a:schemeClr val="bg1"/>
              </a:solidFill>
            </a:endParaRPr>
          </a:p>
        </p:txBody>
      </p:sp>
      <p:sp>
        <p:nvSpPr>
          <p:cNvPr id="60" name="Rectangle 30"/>
          <p:cNvSpPr>
            <a:spLocks noChangeArrowheads="1"/>
          </p:cNvSpPr>
          <p:nvPr/>
        </p:nvSpPr>
        <p:spPr bwMode="auto">
          <a:xfrm>
            <a:off x="4704684" y="2012234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62" name="Rectangle 30"/>
          <p:cNvSpPr>
            <a:spLocks noChangeArrowheads="1"/>
          </p:cNvSpPr>
          <p:nvPr/>
        </p:nvSpPr>
        <p:spPr bwMode="auto">
          <a:xfrm>
            <a:off x="5509222" y="2769377"/>
            <a:ext cx="971192" cy="1998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63" name="Rectangle 30"/>
          <p:cNvSpPr>
            <a:spLocks noChangeArrowheads="1"/>
          </p:cNvSpPr>
          <p:nvPr/>
        </p:nvSpPr>
        <p:spPr bwMode="auto">
          <a:xfrm>
            <a:off x="5509222" y="2445235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0" name="Rectangle 30"/>
          <p:cNvSpPr>
            <a:spLocks noChangeArrowheads="1"/>
          </p:cNvSpPr>
          <p:nvPr/>
        </p:nvSpPr>
        <p:spPr bwMode="auto">
          <a:xfrm>
            <a:off x="5509222" y="3084831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1" name="Rectangle 30"/>
          <p:cNvSpPr>
            <a:spLocks noChangeArrowheads="1"/>
          </p:cNvSpPr>
          <p:nvPr/>
        </p:nvSpPr>
        <p:spPr bwMode="auto">
          <a:xfrm>
            <a:off x="5517951" y="3420341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8" name="Rectangle 30"/>
          <p:cNvSpPr>
            <a:spLocks noChangeArrowheads="1"/>
          </p:cNvSpPr>
          <p:nvPr/>
        </p:nvSpPr>
        <p:spPr bwMode="auto">
          <a:xfrm>
            <a:off x="5527328" y="3758454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329838" y="1904512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1310</a:t>
            </a:r>
            <a:r>
              <a:rPr lang="zh-CN" altLang="en-US" sz="1400" dirty="0" smtClean="0"/>
              <a:t>工厂视图</a:t>
            </a:r>
          </a:p>
        </p:txBody>
      </p:sp>
      <p:cxnSp>
        <p:nvCxnSpPr>
          <p:cNvPr id="81" name="形状 93"/>
          <p:cNvCxnSpPr>
            <a:stCxn id="63" idx="1"/>
            <a:endCxn id="60" idx="2"/>
          </p:cNvCxnSpPr>
          <p:nvPr/>
        </p:nvCxnSpPr>
        <p:spPr>
          <a:xfrm rot="10800000">
            <a:off x="5190280" y="2219744"/>
            <a:ext cx="318942" cy="32924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形状 93"/>
          <p:cNvCxnSpPr>
            <a:stCxn id="62" idx="1"/>
            <a:endCxn id="60" idx="2"/>
          </p:cNvCxnSpPr>
          <p:nvPr/>
        </p:nvCxnSpPr>
        <p:spPr>
          <a:xfrm rot="10800000">
            <a:off x="5190280" y="2219744"/>
            <a:ext cx="318942" cy="64958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形状 93"/>
          <p:cNvCxnSpPr>
            <a:stCxn id="70" idx="1"/>
            <a:endCxn id="60" idx="2"/>
          </p:cNvCxnSpPr>
          <p:nvPr/>
        </p:nvCxnSpPr>
        <p:spPr>
          <a:xfrm rot="10800000">
            <a:off x="5190280" y="2219744"/>
            <a:ext cx="318942" cy="96615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形状 93"/>
          <p:cNvCxnSpPr>
            <a:stCxn id="71" idx="1"/>
            <a:endCxn id="60" idx="2"/>
          </p:cNvCxnSpPr>
          <p:nvPr/>
        </p:nvCxnSpPr>
        <p:spPr>
          <a:xfrm rot="10800000">
            <a:off x="5190281" y="2219744"/>
            <a:ext cx="327671" cy="130166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30"/>
          <p:cNvSpPr>
            <a:spLocks noChangeArrowheads="1"/>
          </p:cNvSpPr>
          <p:nvPr/>
        </p:nvSpPr>
        <p:spPr bwMode="auto">
          <a:xfrm>
            <a:off x="6774869" y="3086867"/>
            <a:ext cx="971192" cy="202138"/>
          </a:xfrm>
          <a:prstGeom prst="rect">
            <a:avLst/>
          </a:prstGeom>
          <a:solidFill>
            <a:srgbClr val="FFFF0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护盖毛胚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89" name="形状 93"/>
          <p:cNvCxnSpPr>
            <a:stCxn id="88" idx="1"/>
            <a:endCxn id="70" idx="3"/>
          </p:cNvCxnSpPr>
          <p:nvPr/>
        </p:nvCxnSpPr>
        <p:spPr>
          <a:xfrm rot="10800000">
            <a:off x="6480415" y="3185900"/>
            <a:ext cx="294455" cy="2036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形状 93"/>
          <p:cNvCxnSpPr>
            <a:stCxn id="78" idx="1"/>
            <a:endCxn id="60" idx="2"/>
          </p:cNvCxnSpPr>
          <p:nvPr/>
        </p:nvCxnSpPr>
        <p:spPr>
          <a:xfrm rot="10800000">
            <a:off x="5190280" y="2219743"/>
            <a:ext cx="337048" cy="164127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30"/>
          <p:cNvSpPr>
            <a:spLocks noChangeArrowheads="1"/>
          </p:cNvSpPr>
          <p:nvPr/>
        </p:nvSpPr>
        <p:spPr bwMode="auto">
          <a:xfrm>
            <a:off x="4686757" y="4408597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07" name="Rectangle 30"/>
          <p:cNvSpPr>
            <a:spLocks noChangeArrowheads="1"/>
          </p:cNvSpPr>
          <p:nvPr/>
        </p:nvSpPr>
        <p:spPr bwMode="auto">
          <a:xfrm>
            <a:off x="5491295" y="5165740"/>
            <a:ext cx="971192" cy="1998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08" name="Rectangle 30"/>
          <p:cNvSpPr>
            <a:spLocks noChangeArrowheads="1"/>
          </p:cNvSpPr>
          <p:nvPr/>
        </p:nvSpPr>
        <p:spPr bwMode="auto">
          <a:xfrm>
            <a:off x="5491295" y="4841598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09" name="Rectangle 30"/>
          <p:cNvSpPr>
            <a:spLocks noChangeArrowheads="1"/>
          </p:cNvSpPr>
          <p:nvPr/>
        </p:nvSpPr>
        <p:spPr bwMode="auto">
          <a:xfrm>
            <a:off x="5491295" y="5481194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10" name="Rectangle 30"/>
          <p:cNvSpPr>
            <a:spLocks noChangeArrowheads="1"/>
          </p:cNvSpPr>
          <p:nvPr/>
        </p:nvSpPr>
        <p:spPr bwMode="auto">
          <a:xfrm>
            <a:off x="5500024" y="5816704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11" name="Rectangle 30"/>
          <p:cNvSpPr>
            <a:spLocks noChangeArrowheads="1"/>
          </p:cNvSpPr>
          <p:nvPr/>
        </p:nvSpPr>
        <p:spPr bwMode="auto">
          <a:xfrm>
            <a:off x="5509401" y="6154817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13" name="形状 93"/>
          <p:cNvCxnSpPr>
            <a:stCxn id="108" idx="1"/>
            <a:endCxn id="106" idx="2"/>
          </p:cNvCxnSpPr>
          <p:nvPr/>
        </p:nvCxnSpPr>
        <p:spPr>
          <a:xfrm rot="10800000">
            <a:off x="5172353" y="4616107"/>
            <a:ext cx="318942" cy="32924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形状 93"/>
          <p:cNvCxnSpPr>
            <a:stCxn id="107" idx="1"/>
            <a:endCxn id="106" idx="2"/>
          </p:cNvCxnSpPr>
          <p:nvPr/>
        </p:nvCxnSpPr>
        <p:spPr>
          <a:xfrm rot="10800000">
            <a:off x="5172353" y="4616107"/>
            <a:ext cx="318942" cy="64958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形状 93"/>
          <p:cNvCxnSpPr>
            <a:stCxn id="109" idx="1"/>
            <a:endCxn id="106" idx="2"/>
          </p:cNvCxnSpPr>
          <p:nvPr/>
        </p:nvCxnSpPr>
        <p:spPr>
          <a:xfrm rot="10800000">
            <a:off x="5172353" y="4616107"/>
            <a:ext cx="318942" cy="96615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形状 93"/>
          <p:cNvCxnSpPr>
            <a:stCxn id="110" idx="1"/>
            <a:endCxn id="106" idx="2"/>
          </p:cNvCxnSpPr>
          <p:nvPr/>
        </p:nvCxnSpPr>
        <p:spPr>
          <a:xfrm rot="10800000">
            <a:off x="5172354" y="4616107"/>
            <a:ext cx="327671" cy="130166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30"/>
          <p:cNvSpPr>
            <a:spLocks noChangeArrowheads="1"/>
          </p:cNvSpPr>
          <p:nvPr/>
        </p:nvSpPr>
        <p:spPr bwMode="auto">
          <a:xfrm>
            <a:off x="6756942" y="5483230"/>
            <a:ext cx="971192" cy="202138"/>
          </a:xfrm>
          <a:prstGeom prst="rect">
            <a:avLst/>
          </a:prstGeom>
          <a:solidFill>
            <a:srgbClr val="FFFF0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护盖毛胚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18" name="形状 93"/>
          <p:cNvCxnSpPr>
            <a:stCxn id="117" idx="1"/>
            <a:endCxn id="109" idx="3"/>
          </p:cNvCxnSpPr>
          <p:nvPr/>
        </p:nvCxnSpPr>
        <p:spPr>
          <a:xfrm rot="10800000">
            <a:off x="6462488" y="5582263"/>
            <a:ext cx="294455" cy="2036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形状 93"/>
          <p:cNvCxnSpPr>
            <a:stCxn id="111" idx="1"/>
            <a:endCxn id="106" idx="2"/>
          </p:cNvCxnSpPr>
          <p:nvPr/>
        </p:nvCxnSpPr>
        <p:spPr>
          <a:xfrm rot="10800000">
            <a:off x="5172353" y="4616106"/>
            <a:ext cx="337048" cy="164127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2179909" y="2548990"/>
            <a:ext cx="3347419" cy="3928897"/>
            <a:chOff x="2179909" y="2548990"/>
            <a:chExt cx="3347419" cy="3928897"/>
          </a:xfrm>
        </p:grpSpPr>
        <p:cxnSp>
          <p:nvCxnSpPr>
            <p:cNvPr id="121" name="曲线连接符 120"/>
            <p:cNvCxnSpPr>
              <a:endCxn id="62" idx="1"/>
            </p:cNvCxnSpPr>
            <p:nvPr/>
          </p:nvCxnSpPr>
          <p:spPr>
            <a:xfrm flipV="1">
              <a:off x="3047875" y="2869324"/>
              <a:ext cx="2461347" cy="342437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曲线连接符 121"/>
            <p:cNvCxnSpPr>
              <a:stCxn id="34" idx="3"/>
              <a:endCxn id="63" idx="1"/>
            </p:cNvCxnSpPr>
            <p:nvPr/>
          </p:nvCxnSpPr>
          <p:spPr>
            <a:xfrm flipV="1">
              <a:off x="2185472" y="2548990"/>
              <a:ext cx="3323750" cy="6849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曲线连接符 122"/>
            <p:cNvCxnSpPr>
              <a:stCxn id="55" idx="3"/>
              <a:endCxn id="70" idx="1"/>
            </p:cNvCxnSpPr>
            <p:nvPr/>
          </p:nvCxnSpPr>
          <p:spPr>
            <a:xfrm flipV="1">
              <a:off x="3053440" y="3185900"/>
              <a:ext cx="2455782" cy="1208684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曲线连接符 123"/>
            <p:cNvCxnSpPr>
              <a:endCxn id="71" idx="1"/>
            </p:cNvCxnSpPr>
            <p:nvPr/>
          </p:nvCxnSpPr>
          <p:spPr>
            <a:xfrm flipV="1">
              <a:off x="3053442" y="3521410"/>
              <a:ext cx="2464509" cy="1507352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曲线连接符 126"/>
            <p:cNvCxnSpPr>
              <a:stCxn id="83" idx="3"/>
              <a:endCxn id="78" idx="1"/>
            </p:cNvCxnSpPr>
            <p:nvPr/>
          </p:nvCxnSpPr>
          <p:spPr>
            <a:xfrm flipV="1">
              <a:off x="2179909" y="3861019"/>
              <a:ext cx="3347419" cy="2616868"/>
            </a:xfrm>
            <a:prstGeom prst="curvedConnector3">
              <a:avLst>
                <a:gd name="adj1" fmla="val 58222"/>
              </a:avLst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2185472" y="2555839"/>
            <a:ext cx="3323929" cy="3922048"/>
            <a:chOff x="2185472" y="2555839"/>
            <a:chExt cx="3323929" cy="3922048"/>
          </a:xfrm>
        </p:grpSpPr>
        <p:cxnSp>
          <p:nvCxnSpPr>
            <p:cNvPr id="132" name="曲线连接符 131"/>
            <p:cNvCxnSpPr>
              <a:stCxn id="34" idx="3"/>
              <a:endCxn id="108" idx="1"/>
            </p:cNvCxnSpPr>
            <p:nvPr/>
          </p:nvCxnSpPr>
          <p:spPr>
            <a:xfrm>
              <a:off x="2185472" y="2555839"/>
              <a:ext cx="3305823" cy="2389514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曲线连接符 134"/>
            <p:cNvCxnSpPr>
              <a:stCxn id="36" idx="3"/>
              <a:endCxn id="107" idx="1"/>
            </p:cNvCxnSpPr>
            <p:nvPr/>
          </p:nvCxnSpPr>
          <p:spPr>
            <a:xfrm>
              <a:off x="3053440" y="3497677"/>
              <a:ext cx="2437855" cy="1768010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曲线连接符 139"/>
            <p:cNvCxnSpPr>
              <a:stCxn id="37" idx="3"/>
              <a:endCxn id="109" idx="1"/>
            </p:cNvCxnSpPr>
            <p:nvPr/>
          </p:nvCxnSpPr>
          <p:spPr>
            <a:xfrm>
              <a:off x="3053440" y="4106408"/>
              <a:ext cx="2437855" cy="1475855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曲线连接符 140"/>
            <p:cNvCxnSpPr>
              <a:stCxn id="66" idx="3"/>
              <a:endCxn id="110" idx="1"/>
            </p:cNvCxnSpPr>
            <p:nvPr/>
          </p:nvCxnSpPr>
          <p:spPr>
            <a:xfrm>
              <a:off x="3053442" y="5316937"/>
              <a:ext cx="2446582" cy="600836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曲线连接符 144"/>
            <p:cNvCxnSpPr>
              <a:endCxn id="111" idx="1"/>
            </p:cNvCxnSpPr>
            <p:nvPr/>
          </p:nvCxnSpPr>
          <p:spPr>
            <a:xfrm flipV="1">
              <a:off x="2185476" y="6257382"/>
              <a:ext cx="3323925" cy="220505"/>
            </a:xfrm>
            <a:prstGeom prst="curvedConnector3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5306299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AutoShape 5"/>
          <p:cNvSpPr>
            <a:spLocks noChangeArrowheads="1"/>
          </p:cNvSpPr>
          <p:nvPr/>
        </p:nvSpPr>
        <p:spPr bwMode="auto">
          <a:xfrm>
            <a:off x="350191" y="318981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zh-CN" altLang="en-US" dirty="0" smtClean="0"/>
              <a:t>超级</a:t>
            </a:r>
            <a:r>
              <a:rPr lang="en-US" altLang="zh-CN" dirty="0" smtClean="0"/>
              <a:t>MBOM</a:t>
            </a:r>
            <a:r>
              <a:rPr lang="zh-CN" altLang="en-US" dirty="0" smtClean="0"/>
              <a:t>的搭建</a:t>
            </a:r>
            <a:endParaRPr lang="en-US" dirty="0"/>
          </a:p>
        </p:txBody>
      </p:sp>
      <p:cxnSp>
        <p:nvCxnSpPr>
          <p:cNvPr id="25" name="AutoShape 11"/>
          <p:cNvCxnSpPr>
            <a:cxnSpLocks noChangeShapeType="1"/>
            <a:stCxn id="45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</p:cNvCxnSpPr>
          <p:nvPr/>
        </p:nvCxnSpPr>
        <p:spPr bwMode="auto">
          <a:xfrm>
            <a:off x="1049338" y="4276703"/>
            <a:ext cx="1587" cy="225425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3922691"/>
            <a:ext cx="1317625" cy="354012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发放工程数据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3827441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2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转换工厂视图，搭建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MBOM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1331" y="1352550"/>
            <a:ext cx="1128713" cy="1173618"/>
            <a:chOff x="491331" y="1276350"/>
            <a:chExt cx="1128713" cy="1173618"/>
          </a:xfrm>
        </p:grpSpPr>
        <p:sp>
          <p:nvSpPr>
            <p:cNvPr id="55" name="椭圆 54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制造工程师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60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8" name="AutoShape 20"/>
          <p:cNvSpPr>
            <a:spLocks noChangeArrowheads="1"/>
          </p:cNvSpPr>
          <p:nvPr/>
        </p:nvSpPr>
        <p:spPr bwMode="auto">
          <a:xfrm>
            <a:off x="362978" y="4521094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351276" y="1798735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1210</a:t>
            </a:r>
            <a:r>
              <a:rPr lang="zh-CN" altLang="en-US" sz="1400" dirty="0" smtClean="0"/>
              <a:t>工厂视图</a:t>
            </a:r>
          </a:p>
        </p:txBody>
      </p:sp>
      <p:sp>
        <p:nvSpPr>
          <p:cNvPr id="122" name="Rectangle 104"/>
          <p:cNvSpPr>
            <a:spLocks noChangeArrowheads="1"/>
          </p:cNvSpPr>
          <p:nvPr/>
        </p:nvSpPr>
        <p:spPr bwMode="auto">
          <a:xfrm>
            <a:off x="2326871" y="2090517"/>
            <a:ext cx="908430" cy="254183"/>
          </a:xfrm>
          <a:prstGeom prst="rect">
            <a:avLst/>
          </a:prstGeom>
          <a:solidFill>
            <a:srgbClr val="00B0F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整机</a:t>
            </a:r>
            <a:endParaRPr lang="en-US" altLang="zh-CN" sz="1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123" name="Rectangle 30"/>
          <p:cNvSpPr>
            <a:spLocks noChangeArrowheads="1"/>
          </p:cNvSpPr>
          <p:nvPr/>
        </p:nvSpPr>
        <p:spPr bwMode="auto">
          <a:xfrm>
            <a:off x="3085841" y="2524299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24" name="Rectangle 30"/>
          <p:cNvSpPr>
            <a:spLocks noChangeArrowheads="1"/>
          </p:cNvSpPr>
          <p:nvPr/>
        </p:nvSpPr>
        <p:spPr bwMode="auto">
          <a:xfrm>
            <a:off x="3921562" y="2973276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25" name="形状 93"/>
          <p:cNvCxnSpPr>
            <a:stCxn id="123" idx="1"/>
          </p:cNvCxnSpPr>
          <p:nvPr/>
        </p:nvCxnSpPr>
        <p:spPr>
          <a:xfrm rot="10800000">
            <a:off x="2781087" y="2406846"/>
            <a:ext cx="304755" cy="221208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30"/>
          <p:cNvSpPr>
            <a:spLocks noChangeArrowheads="1"/>
          </p:cNvSpPr>
          <p:nvPr/>
        </p:nvSpPr>
        <p:spPr bwMode="auto">
          <a:xfrm>
            <a:off x="3921562" y="3261452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27" name="形状 93"/>
          <p:cNvCxnSpPr>
            <a:stCxn id="124" idx="1"/>
            <a:endCxn id="123" idx="2"/>
          </p:cNvCxnSpPr>
          <p:nvPr/>
        </p:nvCxnSpPr>
        <p:spPr>
          <a:xfrm rot="10800000">
            <a:off x="3571438" y="2731809"/>
            <a:ext cx="350125" cy="34253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形状 93"/>
          <p:cNvCxnSpPr>
            <a:stCxn id="126" idx="1"/>
            <a:endCxn id="123" idx="2"/>
          </p:cNvCxnSpPr>
          <p:nvPr/>
        </p:nvCxnSpPr>
        <p:spPr>
          <a:xfrm rot="10800000">
            <a:off x="3571438" y="2731809"/>
            <a:ext cx="350125" cy="630713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30"/>
          <p:cNvSpPr>
            <a:spLocks noChangeArrowheads="1"/>
          </p:cNvSpPr>
          <p:nvPr/>
        </p:nvSpPr>
        <p:spPr bwMode="auto">
          <a:xfrm>
            <a:off x="3948244" y="4009711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加长臂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31" name="Rectangle 30"/>
          <p:cNvSpPr>
            <a:spLocks noChangeArrowheads="1"/>
          </p:cNvSpPr>
          <p:nvPr/>
        </p:nvSpPr>
        <p:spPr bwMode="auto">
          <a:xfrm>
            <a:off x="3080278" y="3687642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动臂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32" name="Rectangle 30"/>
          <p:cNvSpPr>
            <a:spLocks noChangeArrowheads="1"/>
          </p:cNvSpPr>
          <p:nvPr/>
        </p:nvSpPr>
        <p:spPr bwMode="auto">
          <a:xfrm>
            <a:off x="3948244" y="4297887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普通臂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33" name="形状 93"/>
          <p:cNvCxnSpPr>
            <a:stCxn id="130" idx="1"/>
            <a:endCxn id="131" idx="2"/>
          </p:cNvCxnSpPr>
          <p:nvPr/>
        </p:nvCxnSpPr>
        <p:spPr>
          <a:xfrm rot="10800000">
            <a:off x="3565874" y="3892772"/>
            <a:ext cx="382370" cy="218009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形状 93"/>
          <p:cNvCxnSpPr>
            <a:stCxn id="132" idx="1"/>
            <a:endCxn id="131" idx="2"/>
          </p:cNvCxnSpPr>
          <p:nvPr/>
        </p:nvCxnSpPr>
        <p:spPr>
          <a:xfrm rot="10800000">
            <a:off x="3565874" y="3892772"/>
            <a:ext cx="382370" cy="506185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形状 93"/>
          <p:cNvCxnSpPr>
            <a:stCxn id="131" idx="1"/>
            <a:endCxn id="122" idx="2"/>
          </p:cNvCxnSpPr>
          <p:nvPr/>
        </p:nvCxnSpPr>
        <p:spPr>
          <a:xfrm rot="10800000">
            <a:off x="2781086" y="2344701"/>
            <a:ext cx="299192" cy="144550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形状 93"/>
          <p:cNvCxnSpPr>
            <a:endCxn id="122" idx="2"/>
          </p:cNvCxnSpPr>
          <p:nvPr/>
        </p:nvCxnSpPr>
        <p:spPr>
          <a:xfrm rot="5400000" flipH="1" flipV="1">
            <a:off x="1422501" y="3703284"/>
            <a:ext cx="2717168" cy="1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30"/>
          <p:cNvSpPr>
            <a:spLocks noChangeArrowheads="1"/>
          </p:cNvSpPr>
          <p:nvPr/>
        </p:nvSpPr>
        <p:spPr bwMode="auto">
          <a:xfrm>
            <a:off x="5866657" y="1798735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39" name="Rectangle 30"/>
          <p:cNvSpPr>
            <a:spLocks noChangeArrowheads="1"/>
          </p:cNvSpPr>
          <p:nvPr/>
        </p:nvSpPr>
        <p:spPr bwMode="auto">
          <a:xfrm>
            <a:off x="6671195" y="2555878"/>
            <a:ext cx="971192" cy="1998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40" name="Rectangle 30"/>
          <p:cNvSpPr>
            <a:spLocks noChangeArrowheads="1"/>
          </p:cNvSpPr>
          <p:nvPr/>
        </p:nvSpPr>
        <p:spPr bwMode="auto">
          <a:xfrm>
            <a:off x="6671195" y="2231736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41" name="Rectangle 30"/>
          <p:cNvSpPr>
            <a:spLocks noChangeArrowheads="1"/>
          </p:cNvSpPr>
          <p:nvPr/>
        </p:nvSpPr>
        <p:spPr bwMode="auto">
          <a:xfrm>
            <a:off x="6671195" y="2871332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42" name="Rectangle 30"/>
          <p:cNvSpPr>
            <a:spLocks noChangeArrowheads="1"/>
          </p:cNvSpPr>
          <p:nvPr/>
        </p:nvSpPr>
        <p:spPr bwMode="auto">
          <a:xfrm>
            <a:off x="6679924" y="3206842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43" name="Rectangle 30"/>
          <p:cNvSpPr>
            <a:spLocks noChangeArrowheads="1"/>
          </p:cNvSpPr>
          <p:nvPr/>
        </p:nvSpPr>
        <p:spPr bwMode="auto">
          <a:xfrm>
            <a:off x="6689301" y="3544955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7491811" y="1691013"/>
            <a:ext cx="139829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 smtClean="0"/>
              <a:t>1310</a:t>
            </a:r>
            <a:r>
              <a:rPr lang="zh-CN" altLang="en-US" sz="1400" dirty="0" smtClean="0"/>
              <a:t>工厂视图</a:t>
            </a:r>
          </a:p>
        </p:txBody>
      </p:sp>
      <p:cxnSp>
        <p:nvCxnSpPr>
          <p:cNvPr id="145" name="形状 93"/>
          <p:cNvCxnSpPr>
            <a:stCxn id="140" idx="1"/>
            <a:endCxn id="138" idx="2"/>
          </p:cNvCxnSpPr>
          <p:nvPr/>
        </p:nvCxnSpPr>
        <p:spPr>
          <a:xfrm rot="10800000">
            <a:off x="6352253" y="2006245"/>
            <a:ext cx="318942" cy="32924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形状 93"/>
          <p:cNvCxnSpPr>
            <a:stCxn id="139" idx="1"/>
            <a:endCxn id="138" idx="2"/>
          </p:cNvCxnSpPr>
          <p:nvPr/>
        </p:nvCxnSpPr>
        <p:spPr>
          <a:xfrm rot="10800000">
            <a:off x="6352253" y="2006245"/>
            <a:ext cx="318942" cy="64958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形状 93"/>
          <p:cNvCxnSpPr>
            <a:stCxn id="141" idx="1"/>
            <a:endCxn id="138" idx="2"/>
          </p:cNvCxnSpPr>
          <p:nvPr/>
        </p:nvCxnSpPr>
        <p:spPr>
          <a:xfrm rot="10800000">
            <a:off x="6352253" y="2006245"/>
            <a:ext cx="318942" cy="96615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形状 93"/>
          <p:cNvCxnSpPr>
            <a:stCxn id="142" idx="1"/>
            <a:endCxn id="138" idx="2"/>
          </p:cNvCxnSpPr>
          <p:nvPr/>
        </p:nvCxnSpPr>
        <p:spPr>
          <a:xfrm rot="10800000">
            <a:off x="6352254" y="2006245"/>
            <a:ext cx="327671" cy="130166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30"/>
          <p:cNvSpPr>
            <a:spLocks noChangeArrowheads="1"/>
          </p:cNvSpPr>
          <p:nvPr/>
        </p:nvSpPr>
        <p:spPr bwMode="auto">
          <a:xfrm>
            <a:off x="7936842" y="2885322"/>
            <a:ext cx="816531" cy="172428"/>
          </a:xfrm>
          <a:prstGeom prst="rect">
            <a:avLst/>
          </a:prstGeom>
          <a:solidFill>
            <a:srgbClr val="FFFF0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护盖毛胚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50" name="形状 93"/>
          <p:cNvCxnSpPr>
            <a:stCxn id="149" idx="1"/>
            <a:endCxn id="141" idx="3"/>
          </p:cNvCxnSpPr>
          <p:nvPr/>
        </p:nvCxnSpPr>
        <p:spPr>
          <a:xfrm rot="10800000" flipV="1">
            <a:off x="7642388" y="2971535"/>
            <a:ext cx="294455" cy="865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形状 93"/>
          <p:cNvCxnSpPr>
            <a:stCxn id="143" idx="1"/>
            <a:endCxn id="138" idx="2"/>
          </p:cNvCxnSpPr>
          <p:nvPr/>
        </p:nvCxnSpPr>
        <p:spPr>
          <a:xfrm rot="10800000">
            <a:off x="6352253" y="2006244"/>
            <a:ext cx="337048" cy="164127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30"/>
          <p:cNvSpPr>
            <a:spLocks noChangeArrowheads="1"/>
          </p:cNvSpPr>
          <p:nvPr/>
        </p:nvSpPr>
        <p:spPr bwMode="auto">
          <a:xfrm>
            <a:off x="5848730" y="4195098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53" name="Rectangle 30"/>
          <p:cNvSpPr>
            <a:spLocks noChangeArrowheads="1"/>
          </p:cNvSpPr>
          <p:nvPr/>
        </p:nvSpPr>
        <p:spPr bwMode="auto">
          <a:xfrm>
            <a:off x="6653268" y="4952241"/>
            <a:ext cx="971192" cy="1998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54" name="Rectangle 30"/>
          <p:cNvSpPr>
            <a:spLocks noChangeArrowheads="1"/>
          </p:cNvSpPr>
          <p:nvPr/>
        </p:nvSpPr>
        <p:spPr bwMode="auto">
          <a:xfrm>
            <a:off x="6653268" y="4628099"/>
            <a:ext cx="971192" cy="2075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驾驶室总成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55" name="Rectangle 30"/>
          <p:cNvSpPr>
            <a:spLocks noChangeArrowheads="1"/>
          </p:cNvSpPr>
          <p:nvPr/>
        </p:nvSpPr>
        <p:spPr bwMode="auto">
          <a:xfrm>
            <a:off x="6653268" y="5267695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驾驶室护盖</a:t>
            </a:r>
            <a:r>
              <a:rPr lang="en-US" altLang="zh-CN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56" name="Rectangle 30"/>
          <p:cNvSpPr>
            <a:spLocks noChangeArrowheads="1"/>
          </p:cNvSpPr>
          <p:nvPr/>
        </p:nvSpPr>
        <p:spPr bwMode="auto">
          <a:xfrm>
            <a:off x="6661997" y="5603205"/>
            <a:ext cx="971192" cy="2021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顶灯线路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2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157" name="Rectangle 30"/>
          <p:cNvSpPr>
            <a:spLocks noChangeArrowheads="1"/>
          </p:cNvSpPr>
          <p:nvPr/>
        </p:nvSpPr>
        <p:spPr bwMode="auto">
          <a:xfrm>
            <a:off x="6671374" y="5941318"/>
            <a:ext cx="971192" cy="2051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后视镜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58" name="形状 93"/>
          <p:cNvCxnSpPr>
            <a:stCxn id="154" idx="1"/>
            <a:endCxn id="152" idx="2"/>
          </p:cNvCxnSpPr>
          <p:nvPr/>
        </p:nvCxnSpPr>
        <p:spPr>
          <a:xfrm rot="10800000">
            <a:off x="6334326" y="4402608"/>
            <a:ext cx="318942" cy="32924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形状 93"/>
          <p:cNvCxnSpPr>
            <a:stCxn id="153" idx="1"/>
            <a:endCxn id="152" idx="2"/>
          </p:cNvCxnSpPr>
          <p:nvPr/>
        </p:nvCxnSpPr>
        <p:spPr>
          <a:xfrm rot="10800000">
            <a:off x="6334326" y="4402608"/>
            <a:ext cx="318942" cy="649581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形状 93"/>
          <p:cNvCxnSpPr>
            <a:stCxn id="155" idx="1"/>
            <a:endCxn id="152" idx="2"/>
          </p:cNvCxnSpPr>
          <p:nvPr/>
        </p:nvCxnSpPr>
        <p:spPr>
          <a:xfrm rot="10800000">
            <a:off x="6334326" y="4402608"/>
            <a:ext cx="318942" cy="96615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形状 93"/>
          <p:cNvCxnSpPr>
            <a:stCxn id="156" idx="1"/>
            <a:endCxn id="152" idx="2"/>
          </p:cNvCxnSpPr>
          <p:nvPr/>
        </p:nvCxnSpPr>
        <p:spPr>
          <a:xfrm rot="10800000">
            <a:off x="6334327" y="4402608"/>
            <a:ext cx="327671" cy="1301667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30"/>
          <p:cNvSpPr>
            <a:spLocks noChangeArrowheads="1"/>
          </p:cNvSpPr>
          <p:nvPr/>
        </p:nvSpPr>
        <p:spPr bwMode="auto">
          <a:xfrm>
            <a:off x="7918915" y="5269731"/>
            <a:ext cx="834458" cy="200102"/>
          </a:xfrm>
          <a:prstGeom prst="rect">
            <a:avLst/>
          </a:prstGeom>
          <a:solidFill>
            <a:srgbClr val="FFFF00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护盖毛胚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1</a:t>
            </a:r>
            <a:endParaRPr lang="zh-CN" altLang="ko-KR" sz="1000" dirty="0" smtClean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cxnSp>
        <p:nvCxnSpPr>
          <p:cNvPr id="163" name="形状 93"/>
          <p:cNvCxnSpPr>
            <a:stCxn id="162" idx="1"/>
            <a:endCxn id="155" idx="3"/>
          </p:cNvCxnSpPr>
          <p:nvPr/>
        </p:nvCxnSpPr>
        <p:spPr>
          <a:xfrm rot="10800000">
            <a:off x="7624461" y="5368764"/>
            <a:ext cx="294455" cy="1018"/>
          </a:xfrm>
          <a:prstGeom prst="bentConnector3">
            <a:avLst>
              <a:gd name="adj1" fmla="val 50000"/>
            </a:avLst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形状 93"/>
          <p:cNvCxnSpPr>
            <a:stCxn id="157" idx="1"/>
            <a:endCxn id="152" idx="2"/>
          </p:cNvCxnSpPr>
          <p:nvPr/>
        </p:nvCxnSpPr>
        <p:spPr>
          <a:xfrm rot="10800000">
            <a:off x="6334326" y="4402607"/>
            <a:ext cx="337048" cy="1641276"/>
          </a:xfrm>
          <a:prstGeom prst="bentConnector2">
            <a:avLst/>
          </a:prstGeom>
          <a:ln w="22225">
            <a:solidFill>
              <a:schemeClr val="tx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81196192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AutoShape 5"/>
          <p:cNvSpPr>
            <a:spLocks noChangeArrowheads="1"/>
          </p:cNvSpPr>
          <p:nvPr/>
        </p:nvSpPr>
        <p:spPr bwMode="auto">
          <a:xfrm>
            <a:off x="350191" y="318981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zh-CN" altLang="en-US" dirty="0" smtClean="0"/>
              <a:t>超级</a:t>
            </a:r>
            <a:r>
              <a:rPr lang="en-US" altLang="zh-CN" dirty="0" smtClean="0"/>
              <a:t>MBOM</a:t>
            </a:r>
            <a:r>
              <a:rPr lang="zh-CN" altLang="en-US" dirty="0" smtClean="0"/>
              <a:t>的搭建</a:t>
            </a:r>
            <a:endParaRPr lang="en-US" dirty="0"/>
          </a:p>
        </p:txBody>
      </p:sp>
      <p:cxnSp>
        <p:nvCxnSpPr>
          <p:cNvPr id="25" name="AutoShape 11"/>
          <p:cNvCxnSpPr>
            <a:cxnSpLocks noChangeShapeType="1"/>
            <a:stCxn id="45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28" name="AutoShape 14"/>
          <p:cNvCxnSpPr>
            <a:cxnSpLocks noChangeShapeType="1"/>
            <a:stCxn id="29" idx="2"/>
          </p:cNvCxnSpPr>
          <p:nvPr/>
        </p:nvCxnSpPr>
        <p:spPr bwMode="auto">
          <a:xfrm>
            <a:off x="1049338" y="4389415"/>
            <a:ext cx="1587" cy="1127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390525" y="3922691"/>
            <a:ext cx="1317625" cy="466724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维护零部件和选项关系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80975" y="3827441"/>
            <a:ext cx="231775" cy="231775"/>
            <a:chOff x="2452" y="1263"/>
            <a:chExt cx="146" cy="146"/>
          </a:xfrm>
        </p:grpSpPr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2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转换工厂视图，搭建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MBOM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6" name="AutoShape 10"/>
          <p:cNvCxnSpPr>
            <a:cxnSpLocks noChangeShapeType="1"/>
            <a:stCxn id="47" idx="2"/>
            <a:endCxn id="45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7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49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1331" y="1352550"/>
            <a:ext cx="1128713" cy="1173618"/>
            <a:chOff x="491331" y="1276350"/>
            <a:chExt cx="1128713" cy="1173618"/>
          </a:xfrm>
        </p:grpSpPr>
        <p:sp>
          <p:nvSpPr>
            <p:cNvPr id="55" name="椭圆 54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8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9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制造工程师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60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8" name="AutoShape 20"/>
          <p:cNvSpPr>
            <a:spLocks noChangeArrowheads="1"/>
          </p:cNvSpPr>
          <p:nvPr/>
        </p:nvSpPr>
        <p:spPr bwMode="auto">
          <a:xfrm>
            <a:off x="362978" y="4521094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84" y="1405217"/>
            <a:ext cx="4987650" cy="49047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64708515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zh-CN" altLang="en-US" dirty="0" smtClean="0"/>
              <a:t>超级</a:t>
            </a:r>
            <a:r>
              <a:rPr lang="en-US" altLang="zh-CN" dirty="0" smtClean="0"/>
              <a:t>MBOM</a:t>
            </a:r>
            <a:r>
              <a:rPr lang="zh-CN" altLang="en-US" dirty="0" smtClean="0"/>
              <a:t>的搭建</a:t>
            </a:r>
            <a:endParaRPr lang="en-US" dirty="0"/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195" y="1433513"/>
            <a:ext cx="4768108" cy="4126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784" y="2279680"/>
            <a:ext cx="4671928" cy="424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350191" y="318981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1" name="AutoShape 11"/>
          <p:cNvCxnSpPr>
            <a:cxnSpLocks noChangeShapeType="1"/>
            <a:stCxn id="39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32" name="AutoShape 14"/>
          <p:cNvCxnSpPr>
            <a:cxnSpLocks noChangeShapeType="1"/>
            <a:stCxn id="33" idx="2"/>
          </p:cNvCxnSpPr>
          <p:nvPr/>
        </p:nvCxnSpPr>
        <p:spPr bwMode="auto">
          <a:xfrm>
            <a:off x="1049338" y="4389415"/>
            <a:ext cx="1587" cy="1127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390525" y="3922691"/>
            <a:ext cx="1317625" cy="466724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维护零部件和选项关系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34" name="Group 21"/>
          <p:cNvGrpSpPr>
            <a:grpSpLocks/>
          </p:cNvGrpSpPr>
          <p:nvPr/>
        </p:nvGrpSpPr>
        <p:grpSpPr bwMode="auto">
          <a:xfrm>
            <a:off x="180975" y="3827441"/>
            <a:ext cx="231775" cy="231775"/>
            <a:chOff x="2452" y="1263"/>
            <a:chExt cx="146" cy="146"/>
          </a:xfrm>
        </p:grpSpPr>
        <p:sp>
          <p:nvSpPr>
            <p:cNvPr id="37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2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转换工厂视图，搭建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MBOM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0" name="AutoShape 10"/>
          <p:cNvCxnSpPr>
            <a:cxnSpLocks noChangeShapeType="1"/>
            <a:stCxn id="41" idx="2"/>
            <a:endCxn id="39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1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42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43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91331" y="1352550"/>
            <a:ext cx="1128713" cy="1173618"/>
            <a:chOff x="491331" y="1276350"/>
            <a:chExt cx="1128713" cy="1173618"/>
          </a:xfrm>
        </p:grpSpPr>
        <p:sp>
          <p:nvSpPr>
            <p:cNvPr id="51" name="椭圆 50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52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4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6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制造工程师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3" name="Picture 30" descr="j019538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7" name="AutoShape 20"/>
          <p:cNvSpPr>
            <a:spLocks noChangeArrowheads="1"/>
          </p:cNvSpPr>
          <p:nvPr/>
        </p:nvSpPr>
        <p:spPr bwMode="auto">
          <a:xfrm>
            <a:off x="362978" y="4521094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874474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zh-CN" altLang="en-US" dirty="0" smtClean="0"/>
              <a:t>超级</a:t>
            </a:r>
            <a:r>
              <a:rPr lang="en-US" altLang="zh-CN" dirty="0" smtClean="0"/>
              <a:t>MBOM</a:t>
            </a:r>
            <a:r>
              <a:rPr lang="zh-CN" altLang="en-US" dirty="0" smtClean="0"/>
              <a:t>的搭建</a:t>
            </a:r>
            <a:endParaRPr lang="en-US" dirty="0"/>
          </a:p>
        </p:txBody>
      </p:sp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350191" y="390005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1" name="AutoShape 11"/>
          <p:cNvCxnSpPr>
            <a:cxnSpLocks noChangeShapeType="1"/>
            <a:stCxn id="39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32" name="AutoShape 14"/>
          <p:cNvCxnSpPr>
            <a:cxnSpLocks noChangeShapeType="1"/>
            <a:stCxn id="33" idx="2"/>
          </p:cNvCxnSpPr>
          <p:nvPr/>
        </p:nvCxnSpPr>
        <p:spPr bwMode="auto">
          <a:xfrm>
            <a:off x="1049338" y="4389415"/>
            <a:ext cx="1587" cy="1127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390525" y="3922691"/>
            <a:ext cx="1317625" cy="466724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维护零部件和选项关系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34" name="Group 21"/>
          <p:cNvGrpSpPr>
            <a:grpSpLocks/>
          </p:cNvGrpSpPr>
          <p:nvPr/>
        </p:nvGrpSpPr>
        <p:grpSpPr bwMode="auto">
          <a:xfrm>
            <a:off x="180975" y="3827441"/>
            <a:ext cx="231775" cy="231775"/>
            <a:chOff x="2452" y="1263"/>
            <a:chExt cx="146" cy="146"/>
          </a:xfrm>
        </p:grpSpPr>
        <p:sp>
          <p:nvSpPr>
            <p:cNvPr id="37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2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转换工厂视图，搭建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MBOM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0" name="AutoShape 10"/>
          <p:cNvCxnSpPr>
            <a:cxnSpLocks noChangeShapeType="1"/>
            <a:stCxn id="41" idx="2"/>
            <a:endCxn id="39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1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42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43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91331" y="1352550"/>
            <a:ext cx="1128713" cy="1173618"/>
            <a:chOff x="491331" y="1276350"/>
            <a:chExt cx="1128713" cy="1173618"/>
          </a:xfrm>
        </p:grpSpPr>
        <p:sp>
          <p:nvSpPr>
            <p:cNvPr id="51" name="椭圆 50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52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4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6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制造工程师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3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7" name="AutoShape 20"/>
          <p:cNvSpPr>
            <a:spLocks noChangeArrowheads="1"/>
          </p:cNvSpPr>
          <p:nvPr/>
        </p:nvSpPr>
        <p:spPr bwMode="auto">
          <a:xfrm>
            <a:off x="362978" y="4521094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274" y="1420675"/>
            <a:ext cx="6471821" cy="44967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矩形 28"/>
          <p:cNvSpPr/>
          <p:nvPr/>
        </p:nvSpPr>
        <p:spPr bwMode="auto">
          <a:xfrm>
            <a:off x="2321599" y="3185344"/>
            <a:ext cx="1779885" cy="339089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35" name="矩形 34"/>
          <p:cNvSpPr/>
          <p:nvPr/>
        </p:nvSpPr>
        <p:spPr bwMode="auto">
          <a:xfrm>
            <a:off x="6445131" y="3053874"/>
            <a:ext cx="223422" cy="258602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36" name="AutoShape 47"/>
          <p:cNvSpPr>
            <a:spLocks noChangeArrowheads="1"/>
          </p:cNvSpPr>
          <p:nvPr/>
        </p:nvSpPr>
        <p:spPr bwMode="auto">
          <a:xfrm>
            <a:off x="3920465" y="2275278"/>
            <a:ext cx="1231455" cy="400752"/>
          </a:xfrm>
          <a:prstGeom prst="wedgeRectCallout">
            <a:avLst>
              <a:gd name="adj1" fmla="val -69754"/>
              <a:gd name="adj2" fmla="val 175112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在产品结构上添加</a:t>
            </a:r>
            <a:r>
              <a:rPr lang="zh-CN" altLang="en-US" sz="1000" kern="0" dirty="0">
                <a:solidFill>
                  <a:sysClr val="windowText" lastClr="000000"/>
                </a:solidFill>
                <a:cs typeface="Times New Roman" pitchFamily="18" charset="0"/>
              </a:rPr>
              <a:t>选项</a:t>
            </a: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关系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sp>
        <p:nvSpPr>
          <p:cNvPr id="45" name="AutoShape 47"/>
          <p:cNvSpPr>
            <a:spLocks noChangeArrowheads="1"/>
          </p:cNvSpPr>
          <p:nvPr/>
        </p:nvSpPr>
        <p:spPr bwMode="auto">
          <a:xfrm>
            <a:off x="6923707" y="2503046"/>
            <a:ext cx="1231455" cy="246863"/>
          </a:xfrm>
          <a:prstGeom prst="wedgeRectCallout">
            <a:avLst>
              <a:gd name="adj1" fmla="val -69754"/>
              <a:gd name="adj2" fmla="val 175112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分配选项值</a:t>
            </a:r>
            <a:endParaRPr lang="en-US" altLang="ja-JP" sz="1000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02982" y="2183907"/>
            <a:ext cx="5027954" cy="4341077"/>
            <a:chOff x="885701" y="-22521"/>
            <a:chExt cx="7956457" cy="6447133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701" y="-22521"/>
              <a:ext cx="7956457" cy="64471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7" name="AutoShape 7"/>
            <p:cNvSpPr>
              <a:spLocks noChangeAspect="1" noChangeArrowheads="1"/>
            </p:cNvSpPr>
            <p:nvPr/>
          </p:nvSpPr>
          <p:spPr bwMode="auto">
            <a:xfrm>
              <a:off x="4362051" y="2180264"/>
              <a:ext cx="2390428" cy="366628"/>
            </a:xfrm>
            <a:prstGeom prst="wedgeRectCallout">
              <a:avLst>
                <a:gd name="adj1" fmla="val -74080"/>
                <a:gd name="adj2" fmla="val 178309"/>
              </a:avLst>
            </a:prstGeom>
            <a:solidFill>
              <a:srgbClr val="FFFF99"/>
            </a:solidFill>
            <a:ln w="9525" algn="ctr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square" lIns="92075" tIns="46038" rIns="92075" bIns="46038" anchor="ctr">
              <a:spAutoFit/>
            </a:bodyPr>
            <a:lstStyle/>
            <a:p>
              <a:pPr marR="0" lvl="0" indent="0" eaLnBrk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b="1" i="1" kern="0" dirty="0" smtClean="0">
                  <a:solidFill>
                    <a:sysClr val="windowText" lastClr="000000"/>
                  </a:solidFill>
                  <a:cs typeface="Times New Roman" pitchFamily="18" charset="0"/>
                </a:rPr>
                <a:t>为驾驶室指定选项值</a:t>
              </a:r>
              <a:endParaRPr lang="en-US" altLang="ja-JP" sz="1000" b="1" i="1" kern="0" dirty="0">
                <a:solidFill>
                  <a:sysClr val="windowText" lastClr="000000"/>
                </a:solidFill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060628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zh-CN" altLang="en-US" dirty="0" smtClean="0"/>
              <a:t>超级</a:t>
            </a:r>
            <a:r>
              <a:rPr lang="en-US" altLang="zh-CN" dirty="0" smtClean="0"/>
              <a:t>MBOM</a:t>
            </a:r>
            <a:r>
              <a:rPr lang="zh-CN" altLang="en-US" dirty="0" smtClean="0"/>
              <a:t>的搭建</a:t>
            </a:r>
            <a:endParaRPr lang="en-US" dirty="0"/>
          </a:p>
        </p:txBody>
      </p:sp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350191" y="390005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1" name="AutoShape 11"/>
          <p:cNvCxnSpPr>
            <a:cxnSpLocks noChangeShapeType="1"/>
            <a:stCxn id="39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32" name="AutoShape 14"/>
          <p:cNvCxnSpPr>
            <a:cxnSpLocks noChangeShapeType="1"/>
            <a:stCxn id="33" idx="2"/>
          </p:cNvCxnSpPr>
          <p:nvPr/>
        </p:nvCxnSpPr>
        <p:spPr bwMode="auto">
          <a:xfrm>
            <a:off x="1049338" y="4389415"/>
            <a:ext cx="1587" cy="1127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390525" y="3922691"/>
            <a:ext cx="1317625" cy="466724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维护零部件和选项关系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34" name="Group 21"/>
          <p:cNvGrpSpPr>
            <a:grpSpLocks/>
          </p:cNvGrpSpPr>
          <p:nvPr/>
        </p:nvGrpSpPr>
        <p:grpSpPr bwMode="auto">
          <a:xfrm>
            <a:off x="180975" y="3827441"/>
            <a:ext cx="231775" cy="231775"/>
            <a:chOff x="2452" y="1263"/>
            <a:chExt cx="146" cy="146"/>
          </a:xfrm>
        </p:grpSpPr>
        <p:sp>
          <p:nvSpPr>
            <p:cNvPr id="37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2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转换工厂视图，搭建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MBOM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0" name="AutoShape 10"/>
          <p:cNvCxnSpPr>
            <a:cxnSpLocks noChangeShapeType="1"/>
            <a:stCxn id="41" idx="2"/>
            <a:endCxn id="39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1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42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43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91331" y="1352550"/>
            <a:ext cx="1128713" cy="1173618"/>
            <a:chOff x="491331" y="1276350"/>
            <a:chExt cx="1128713" cy="1173618"/>
          </a:xfrm>
        </p:grpSpPr>
        <p:sp>
          <p:nvSpPr>
            <p:cNvPr id="51" name="椭圆 50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52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4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6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制造工程师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3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7" name="AutoShape 20"/>
          <p:cNvSpPr>
            <a:spLocks noChangeArrowheads="1"/>
          </p:cNvSpPr>
          <p:nvPr/>
        </p:nvSpPr>
        <p:spPr bwMode="auto">
          <a:xfrm>
            <a:off x="362978" y="4521094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540" y="1501651"/>
            <a:ext cx="6755907" cy="45973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矩形 45"/>
          <p:cNvSpPr/>
          <p:nvPr/>
        </p:nvSpPr>
        <p:spPr bwMode="auto">
          <a:xfrm>
            <a:off x="5224597" y="3789688"/>
            <a:ext cx="3626440" cy="498227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49" name="AutoShape 7"/>
          <p:cNvSpPr>
            <a:spLocks noChangeAspect="1" noChangeArrowheads="1"/>
          </p:cNvSpPr>
          <p:nvPr/>
        </p:nvSpPr>
        <p:spPr bwMode="auto">
          <a:xfrm>
            <a:off x="6863285" y="2854325"/>
            <a:ext cx="1510592" cy="400752"/>
          </a:xfrm>
          <a:prstGeom prst="wedgeRectCallout">
            <a:avLst>
              <a:gd name="adj1" fmla="val -74080"/>
              <a:gd name="adj2" fmla="val 178309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i="1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在产品结构上显示选项值</a:t>
            </a:r>
            <a:endParaRPr lang="en-US" altLang="ja-JP" sz="1000" b="1" i="1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948446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GB" altLang="zh-CN" sz="2400" dirty="0">
                <a:latin typeface="+mn-ea"/>
                <a:ea typeface="+mn-ea"/>
              </a:rPr>
              <a:t>EBOM</a:t>
            </a:r>
            <a:r>
              <a:rPr lang="zh-CN" altLang="zh-CN" sz="2400" dirty="0">
                <a:latin typeface="+mn-ea"/>
                <a:ea typeface="+mn-ea"/>
              </a:rPr>
              <a:t>建立未来业务流程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11" name="Line 37"/>
          <p:cNvSpPr>
            <a:spLocks noChangeShapeType="1"/>
          </p:cNvSpPr>
          <p:nvPr/>
        </p:nvSpPr>
        <p:spPr bwMode="auto">
          <a:xfrm>
            <a:off x="2041525" y="1376363"/>
            <a:ext cx="0" cy="5048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144" tIns="9144" rIns="9144" bIns="9144" anchor="ctr"/>
          <a:lstStyle/>
          <a:p>
            <a:endParaRPr lang="en-US"/>
          </a:p>
        </p:txBody>
      </p:sp>
      <p:sp>
        <p:nvSpPr>
          <p:cNvPr id="23" name="Subtitle 56"/>
          <p:cNvSpPr>
            <a:spLocks noGrp="1"/>
          </p:cNvSpPr>
          <p:nvPr>
            <p:ph type="subTitle" idx="15"/>
          </p:nvPr>
        </p:nvSpPr>
        <p:spPr>
          <a:xfrm>
            <a:off x="215590" y="896112"/>
            <a:ext cx="8695944" cy="338328"/>
          </a:xfrm>
        </p:spPr>
        <p:txBody>
          <a:bodyPr/>
          <a:lstStyle/>
          <a:p>
            <a:r>
              <a:rPr lang="zh-CN" altLang="en-US" dirty="0" smtClean="0"/>
              <a:t>超级</a:t>
            </a:r>
            <a:r>
              <a:rPr lang="en-US" altLang="zh-CN" dirty="0" smtClean="0"/>
              <a:t>MBOM</a:t>
            </a:r>
            <a:r>
              <a:rPr lang="zh-CN" altLang="en-US" dirty="0" smtClean="0"/>
              <a:t>的搭建</a:t>
            </a:r>
            <a:endParaRPr lang="en-US" dirty="0"/>
          </a:p>
        </p:txBody>
      </p:sp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350191" y="3900055"/>
            <a:ext cx="1422400" cy="531812"/>
          </a:xfrm>
          <a:prstGeom prst="roundRect">
            <a:avLst>
              <a:gd name="adj" fmla="val 6417"/>
            </a:avLst>
          </a:prstGeom>
          <a:noFill/>
          <a:ln w="3175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lIns="92075" tIns="46038" rIns="92075" bIns="46038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1" name="AutoShape 11"/>
          <p:cNvCxnSpPr>
            <a:cxnSpLocks noChangeShapeType="1"/>
            <a:stCxn id="39" idx="2"/>
          </p:cNvCxnSpPr>
          <p:nvPr/>
        </p:nvCxnSpPr>
        <p:spPr bwMode="auto">
          <a:xfrm>
            <a:off x="1042988" y="3646488"/>
            <a:ext cx="3175" cy="215900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cxnSp>
        <p:nvCxnSpPr>
          <p:cNvPr id="32" name="AutoShape 14"/>
          <p:cNvCxnSpPr>
            <a:cxnSpLocks noChangeShapeType="1"/>
            <a:stCxn id="33" idx="2"/>
          </p:cNvCxnSpPr>
          <p:nvPr/>
        </p:nvCxnSpPr>
        <p:spPr bwMode="auto">
          <a:xfrm>
            <a:off x="1049338" y="4389415"/>
            <a:ext cx="1587" cy="112713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390525" y="3922691"/>
            <a:ext cx="1317625" cy="466724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lvl="0"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维护零部件和选项关系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grpSp>
        <p:nvGrpSpPr>
          <p:cNvPr id="34" name="Group 21"/>
          <p:cNvGrpSpPr>
            <a:grpSpLocks/>
          </p:cNvGrpSpPr>
          <p:nvPr/>
        </p:nvGrpSpPr>
        <p:grpSpPr bwMode="auto">
          <a:xfrm>
            <a:off x="180975" y="3827441"/>
            <a:ext cx="231775" cy="231775"/>
            <a:chOff x="2452" y="1263"/>
            <a:chExt cx="146" cy="146"/>
          </a:xfrm>
        </p:grpSpPr>
        <p:sp>
          <p:nvSpPr>
            <p:cNvPr id="37" name="Oval 22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 Box 23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i="1" kern="0" dirty="0">
                  <a:solidFill>
                    <a:srgbClr val="40637A"/>
                  </a:solidFill>
                </a:rPr>
                <a:t>2</a:t>
              </a:r>
              <a:endParaRPr kumimoji="0" lang="de-DE" sz="800" b="0" i="1" u="none" strike="noStrike" kern="0" cap="none" spc="0" normalizeH="0" baseline="0" noProof="0" dirty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" name="Rectangle 9"/>
          <p:cNvSpPr>
            <a:spLocks noChangeArrowheads="1"/>
          </p:cNvSpPr>
          <p:nvPr/>
        </p:nvSpPr>
        <p:spPr bwMode="auto">
          <a:xfrm>
            <a:off x="382588" y="3222625"/>
            <a:ext cx="1320800" cy="423863"/>
          </a:xfrm>
          <a:prstGeom prst="rect">
            <a:avLst/>
          </a:prstGeom>
          <a:solidFill>
            <a:srgbClr val="2F83B8"/>
          </a:solidFill>
          <a:ln w="12700" algn="ctr">
            <a:solidFill>
              <a:srgbClr val="FFFFFF"/>
            </a:solidFill>
            <a:miter lim="800000"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algn="ctr" eaLnBrk="0" hangingPunct="0">
              <a:lnSpc>
                <a:spcPct val="85000"/>
              </a:lnSpc>
              <a:defRPr/>
            </a:pPr>
            <a:r>
              <a:rPr lang="zh-CN" altLang="en-US" sz="1000" kern="0" dirty="0" smtClean="0">
                <a:solidFill>
                  <a:srgbClr val="FFFFFF"/>
                </a:solidFill>
                <a:latin typeface="Arial Narrow" pitchFamily="34" charset="0"/>
              </a:rPr>
              <a:t>转换工厂视图，搭建</a:t>
            </a:r>
            <a:r>
              <a:rPr lang="en-US" altLang="zh-CN" sz="1000" kern="0" dirty="0" smtClean="0">
                <a:solidFill>
                  <a:srgbClr val="FFFFFF"/>
                </a:solidFill>
                <a:latin typeface="Arial Narrow" pitchFamily="34" charset="0"/>
              </a:rPr>
              <a:t>MBOM</a:t>
            </a:r>
            <a:endParaRPr lang="en-US" altLang="zh-CN" sz="1000" kern="0" dirty="0">
              <a:solidFill>
                <a:srgbClr val="FFFFFF"/>
              </a:solidFill>
              <a:latin typeface="Arial Narrow" pitchFamily="34" charset="0"/>
            </a:endParaRPr>
          </a:p>
        </p:txBody>
      </p:sp>
      <p:cxnSp>
        <p:nvCxnSpPr>
          <p:cNvPr id="40" name="AutoShape 10"/>
          <p:cNvCxnSpPr>
            <a:cxnSpLocks noChangeShapeType="1"/>
            <a:stCxn id="41" idx="2"/>
            <a:endCxn id="39" idx="0"/>
          </p:cNvCxnSpPr>
          <p:nvPr/>
        </p:nvCxnSpPr>
        <p:spPr bwMode="auto">
          <a:xfrm>
            <a:off x="1041400" y="2992438"/>
            <a:ext cx="1588" cy="230187"/>
          </a:xfrm>
          <a:prstGeom prst="straightConnector1">
            <a:avLst/>
          </a:prstGeom>
          <a:noFill/>
          <a:ln w="19050">
            <a:solidFill>
              <a:srgbClr val="20313C"/>
            </a:solidFill>
            <a:round/>
            <a:headEnd/>
            <a:tailEnd type="triangle" w="med" len="med"/>
          </a:ln>
        </p:spPr>
      </p:cxnSp>
      <p:sp>
        <p:nvSpPr>
          <p:cNvPr id="41" name="AutoShape 20"/>
          <p:cNvSpPr>
            <a:spLocks noChangeArrowheads="1"/>
          </p:cNvSpPr>
          <p:nvPr/>
        </p:nvSpPr>
        <p:spPr bwMode="auto">
          <a:xfrm>
            <a:off x="366713" y="2716213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dirty="0">
                <a:solidFill>
                  <a:sysClr val="windowText" lastClr="000000"/>
                </a:solidFill>
                <a:latin typeface="Arial Narrow" pitchFamily="34" charset="0"/>
              </a:rPr>
              <a:t>开始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grpSp>
        <p:nvGrpSpPr>
          <p:cNvPr id="42" name="Group 22"/>
          <p:cNvGrpSpPr>
            <a:grpSpLocks/>
          </p:cNvGrpSpPr>
          <p:nvPr/>
        </p:nvGrpSpPr>
        <p:grpSpPr bwMode="auto">
          <a:xfrm>
            <a:off x="198438" y="3114675"/>
            <a:ext cx="231775" cy="231775"/>
            <a:chOff x="2452" y="1263"/>
            <a:chExt cx="146" cy="146"/>
          </a:xfrm>
        </p:grpSpPr>
        <p:sp>
          <p:nvSpPr>
            <p:cNvPr id="43" name="Oval 23"/>
            <p:cNvSpPr>
              <a:spLocks noChangeArrowheads="1"/>
            </p:cNvSpPr>
            <p:nvPr/>
          </p:nvSpPr>
          <p:spPr bwMode="auto">
            <a:xfrm>
              <a:off x="2452" y="1263"/>
              <a:ext cx="146" cy="146"/>
            </a:xfrm>
            <a:prstGeom prst="ellipse">
              <a:avLst/>
            </a:prstGeom>
            <a:solidFill>
              <a:srgbClr val="CDE62D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94A4AE">
                  <a:alpha val="50000"/>
                </a:srgbClr>
              </a:outerShdw>
            </a:effectLst>
          </p:spPr>
          <p:txBody>
            <a:bodyPr wrap="none" lIns="9144" tIns="9144" rIns="9144" bIns="9144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2497" y="1282"/>
              <a:ext cx="56" cy="10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144" tIns="9144" rIns="9144" bIns="9144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1" u="none" strike="noStrike" kern="0" cap="none" spc="0" normalizeH="0" baseline="0" noProof="0">
                  <a:ln>
                    <a:noFill/>
                  </a:ln>
                  <a:solidFill>
                    <a:srgbClr val="40637A"/>
                  </a:solidFill>
                  <a:effectLst/>
                  <a:uLnTx/>
                  <a:uFillTx/>
                </a:rPr>
                <a:t>1</a:t>
              </a:r>
              <a:endParaRPr kumimoji="0" lang="de-DE" sz="800" b="0" i="1" u="none" strike="noStrike" kern="0" cap="none" spc="0" normalizeH="0" baseline="0" noProof="0">
                <a:ln>
                  <a:noFill/>
                </a:ln>
                <a:solidFill>
                  <a:srgbClr val="40637A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91331" y="1352550"/>
            <a:ext cx="1128713" cy="1173618"/>
            <a:chOff x="491331" y="1276350"/>
            <a:chExt cx="1128713" cy="1173618"/>
          </a:xfrm>
        </p:grpSpPr>
        <p:sp>
          <p:nvSpPr>
            <p:cNvPr id="51" name="椭圆 50"/>
            <p:cNvSpPr/>
            <p:nvPr/>
          </p:nvSpPr>
          <p:spPr bwMode="auto">
            <a:xfrm>
              <a:off x="491331" y="1276350"/>
              <a:ext cx="1087755" cy="1036282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rtlCol="0" anchor="ctr"/>
            <a:lstStyle/>
            <a:p>
              <a:pPr marL="171450" indent="-171450" algn="ctr"/>
              <a:endParaRPr lang="zh-CN" altLang="en-US" sz="1200" b="1" dirty="0"/>
            </a:p>
          </p:txBody>
        </p:sp>
        <p:grpSp>
          <p:nvGrpSpPr>
            <p:cNvPr id="52" name="Group 6"/>
            <p:cNvGrpSpPr>
              <a:grpSpLocks/>
            </p:cNvGrpSpPr>
            <p:nvPr/>
          </p:nvGrpSpPr>
          <p:grpSpPr bwMode="auto">
            <a:xfrm>
              <a:off x="491331" y="2195818"/>
              <a:ext cx="1128713" cy="254150"/>
              <a:chOff x="988" y="1939"/>
              <a:chExt cx="1185" cy="161"/>
            </a:xfrm>
          </p:grpSpPr>
          <p:sp>
            <p:nvSpPr>
              <p:cNvPr id="54" name="AutoShape 7"/>
              <p:cNvSpPr>
                <a:spLocks noChangeArrowheads="1"/>
              </p:cNvSpPr>
              <p:nvPr/>
            </p:nvSpPr>
            <p:spPr bwMode="auto">
              <a:xfrm>
                <a:off x="1009" y="1939"/>
                <a:ext cx="1142" cy="161"/>
              </a:xfrm>
              <a:prstGeom prst="roundRect">
                <a:avLst>
                  <a:gd name="adj" fmla="val 2236"/>
                </a:avLst>
              </a:prstGeom>
              <a:gradFill rotWithShape="1">
                <a:gsLst>
                  <a:gs pos="0">
                    <a:srgbClr val="DFE5ED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lIns="92075" tIns="46038" rIns="92075" bIns="46038" anchor="ctr">
                <a:spAutoFit/>
              </a:bodyPr>
              <a:lstStyle/>
              <a:p>
                <a:pPr algn="ctr" eaLnBrk="0" hangingPunct="0"/>
                <a:endParaRPr lang="en-GB"/>
              </a:p>
            </p:txBody>
          </p:sp>
          <p:sp>
            <p:nvSpPr>
              <p:cNvPr id="56" name="Text Box 8"/>
              <p:cNvSpPr txBox="1">
                <a:spLocks noChangeArrowheads="1"/>
              </p:cNvSpPr>
              <p:nvPr/>
            </p:nvSpPr>
            <p:spPr bwMode="auto">
              <a:xfrm>
                <a:off x="988" y="1958"/>
                <a:ext cx="1185" cy="11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90000"/>
                  </a:lnSpc>
                  <a:spcBef>
                    <a:spcPct val="25000"/>
                  </a:spcBef>
                </a:pPr>
                <a:r>
                  <a:rPr lang="zh-CN" altLang="en-US" sz="1200" b="1" dirty="0" smtClean="0">
                    <a:solidFill>
                      <a:srgbClr val="FF0000"/>
                    </a:solidFill>
                  </a:rPr>
                  <a:t>制造工程师</a:t>
                </a:r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53" name="Picture 30" descr="j019538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051" y="1357313"/>
              <a:ext cx="808037" cy="8255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7" name="AutoShape 20"/>
          <p:cNvSpPr>
            <a:spLocks noChangeArrowheads="1"/>
          </p:cNvSpPr>
          <p:nvPr/>
        </p:nvSpPr>
        <p:spPr bwMode="auto">
          <a:xfrm>
            <a:off x="362978" y="4521094"/>
            <a:ext cx="1349375" cy="276225"/>
          </a:xfrm>
          <a:prstGeom prst="roundRect">
            <a:avLst>
              <a:gd name="adj" fmla="val 16667"/>
            </a:avLst>
          </a:prstGeom>
          <a:solidFill>
            <a:srgbClr val="CBE62D"/>
          </a:solidFill>
          <a:ln w="12700" algn="ctr">
            <a:solidFill>
              <a:srgbClr val="40637A"/>
            </a:solidFill>
            <a:round/>
            <a:headEnd/>
            <a:tailEnd/>
          </a:ln>
          <a:effectLst>
            <a:outerShdw dist="53882" dir="2700000" algn="ctr" rotWithShape="0">
              <a:srgbClr val="94A4AE">
                <a:alpha val="50000"/>
              </a:srgbClr>
            </a:outerShdw>
          </a:effectLst>
        </p:spPr>
        <p:txBody>
          <a:bodyPr lIns="9144" tIns="9144" rIns="9144" bIns="9144" anchor="ctr"/>
          <a:lstStyle/>
          <a:p>
            <a:pPr marL="0" marR="0" lvl="0" indent="0" algn="ctr" defTabSz="914400" eaLnBrk="0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kern="0" noProof="0" dirty="0">
                <a:solidFill>
                  <a:sysClr val="windowText" lastClr="000000"/>
                </a:solidFill>
                <a:latin typeface="Arial Narrow" pitchFamily="34" charset="0"/>
              </a:rPr>
              <a:t>结束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092" y="1433512"/>
            <a:ext cx="6578355" cy="442574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矩形 34"/>
          <p:cNvSpPr/>
          <p:nvPr/>
        </p:nvSpPr>
        <p:spPr bwMode="auto">
          <a:xfrm>
            <a:off x="5300057" y="3434556"/>
            <a:ext cx="3626440" cy="568995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36" name="AutoShape 7"/>
          <p:cNvSpPr>
            <a:spLocks noChangeAspect="1" noChangeArrowheads="1"/>
          </p:cNvSpPr>
          <p:nvPr/>
        </p:nvSpPr>
        <p:spPr bwMode="auto">
          <a:xfrm>
            <a:off x="6865548" y="2526168"/>
            <a:ext cx="1510592" cy="400752"/>
          </a:xfrm>
          <a:prstGeom prst="wedgeRectCallout">
            <a:avLst>
              <a:gd name="adj1" fmla="val -74080"/>
              <a:gd name="adj2" fmla="val 178309"/>
            </a:avLst>
          </a:prstGeom>
          <a:solidFill>
            <a:srgbClr val="FFFF99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/>
          <a:p>
            <a:pPr marR="0" lvl="0" indent="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i="1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自动复制</a:t>
            </a:r>
            <a:r>
              <a:rPr lang="en-US" altLang="zh-CN" sz="1000" b="1" i="1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EBOM</a:t>
            </a:r>
            <a:r>
              <a:rPr lang="zh-CN" altLang="en-US" sz="1000" b="1" i="1" kern="0" dirty="0" smtClean="0">
                <a:solidFill>
                  <a:sysClr val="windowText" lastClr="000000"/>
                </a:solidFill>
                <a:cs typeface="Times New Roman" pitchFamily="18" charset="0"/>
              </a:rPr>
              <a:t>上的零部件选项关系</a:t>
            </a:r>
            <a:endParaRPr lang="en-US" altLang="ja-JP" sz="1000" b="1" i="1" kern="0" dirty="0">
              <a:solidFill>
                <a:sysClr val="windowText" lastClr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392918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 smtClean="0"/>
              <a:t>Confidential - PTC Proprietary</a:t>
            </a:r>
            <a:endParaRPr lang="en-US" dirty="0"/>
          </a:p>
        </p:txBody>
      </p:sp>
      <p:sp>
        <p:nvSpPr>
          <p:cNvPr id="58" name="标题 5"/>
          <p:cNvSpPr>
            <a:spLocks noGrp="1"/>
          </p:cNvSpPr>
          <p:nvPr>
            <p:ph type="title"/>
          </p:nvPr>
        </p:nvSpPr>
        <p:spPr>
          <a:xfrm>
            <a:off x="216100" y="192088"/>
            <a:ext cx="7612056" cy="457200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柳工选装选配业务描述方案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9" name="副标题 6"/>
          <p:cNvSpPr>
            <a:spLocks noGrp="1"/>
          </p:cNvSpPr>
          <p:nvPr>
            <p:ph type="subTitle" idx="15"/>
          </p:nvPr>
        </p:nvSpPr>
        <p:spPr>
          <a:xfrm>
            <a:off x="216100" y="896112"/>
            <a:ext cx="7095744" cy="338806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目录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0" name="AutoShape 3"/>
          <p:cNvSpPr>
            <a:spLocks noChangeArrowheads="1"/>
          </p:cNvSpPr>
          <p:nvPr/>
        </p:nvSpPr>
        <p:spPr bwMode="auto">
          <a:xfrm>
            <a:off x="1312754" y="1815962"/>
            <a:ext cx="5034258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1635017" y="1776275"/>
            <a:ext cx="4935537" cy="466725"/>
          </a:xfrm>
          <a:prstGeom prst="roundRect">
            <a:avLst>
              <a:gd name="adj" fmla="val 16667"/>
            </a:avLst>
          </a:prstGeom>
          <a:noFill/>
          <a:ln w="38100">
            <a:noFill/>
            <a:round/>
            <a:headEnd/>
            <a:tailEnd/>
          </a:ln>
        </p:spPr>
        <p:txBody>
          <a:bodyPr wrap="none" anchor="ctr"/>
          <a:lstStyle/>
          <a:p>
            <a:pPr latinLnBrk="1"/>
            <a:r>
              <a:rPr kumimoji="1" lang="zh-CN" altLang="en-US" sz="2400" dirty="0" smtClean="0">
                <a:solidFill>
                  <a:schemeClr val="bg1"/>
                </a:solidFill>
                <a:latin typeface="Verdana" pitchFamily="34" charset="0"/>
                <a:ea typeface="굴림" pitchFamily="34" charset="-127"/>
              </a:rPr>
              <a:t>选装模式下的更改管理</a:t>
            </a:r>
            <a:endParaRPr kumimoji="1" lang="en-US" altLang="ko-KR" sz="2400" dirty="0">
              <a:solidFill>
                <a:schemeClr val="bg1"/>
              </a:solidFill>
              <a:latin typeface="Verdana" pitchFamily="34" charset="0"/>
              <a:ea typeface="굴림" pitchFamily="34" charset="-127"/>
            </a:endParaRP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344245" y="1484922"/>
            <a:ext cx="1275590" cy="3538899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571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atinLnBrk="1">
              <a:defRPr/>
            </a:pPr>
            <a:r>
              <a:rPr kumimoji="1" lang="en-US" altLang="zh-CN" sz="9600" b="1" dirty="0">
                <a:solidFill>
                  <a:srgbClr val="FFFFFF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6</a:t>
            </a:r>
            <a:endParaRPr kumimoji="1" lang="en-US" altLang="ko-KR" sz="9600" b="1" dirty="0">
              <a:solidFill>
                <a:srgbClr val="FFFFFF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6" name="Line 3"/>
          <p:cNvSpPr>
            <a:spLocks noChangeShapeType="1"/>
          </p:cNvSpPr>
          <p:nvPr/>
        </p:nvSpPr>
        <p:spPr bwMode="auto">
          <a:xfrm flipV="1">
            <a:off x="1826707" y="2269863"/>
            <a:ext cx="6607288" cy="387"/>
          </a:xfrm>
          <a:prstGeom prst="line">
            <a:avLst/>
          </a:prstGeom>
          <a:noFill/>
          <a:ln w="50800" cmpd="thickThin">
            <a:solidFill>
              <a:schemeClr val="accent6">
                <a:lumMod val="50000"/>
              </a:schemeClr>
            </a:solidFill>
            <a:round/>
            <a:headEnd/>
            <a:tailEnd/>
          </a:ln>
        </p:spPr>
        <p:txBody>
          <a:bodyPr wrap="square" lIns="91407" tIns="45704" rIns="91407" bIns="45704" anchor="ctr">
            <a:spAutoFit/>
          </a:bodyPr>
          <a:lstStyle/>
          <a:p>
            <a:endParaRPr lang="zh-CN" altLang="en-US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2312891" y="2569003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选装模式下的更改流程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2312890" y="3189007"/>
            <a:ext cx="397870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dirty="0">
                <a:solidFill>
                  <a:schemeClr val="bg1"/>
                </a:solidFill>
                <a:ea typeface="宋体" charset="-122"/>
              </a:rPr>
              <a:t>选</a:t>
            </a:r>
            <a:r>
              <a:rPr lang="zh-CN" altLang="en-US" dirty="0" smtClean="0">
                <a:solidFill>
                  <a:schemeClr val="bg1"/>
                </a:solidFill>
                <a:ea typeface="宋体" charset="-122"/>
              </a:rPr>
              <a:t>装模式下的更改影响分析</a:t>
            </a:r>
            <a:endParaRPr lang="zh-CN" altLang="en-US" dirty="0">
              <a:solidFill>
                <a:schemeClr val="bg1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274707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/>
          <p:cNvSpPr/>
          <p:nvPr/>
        </p:nvSpPr>
        <p:spPr bwMode="auto">
          <a:xfrm>
            <a:off x="4611923" y="2325949"/>
            <a:ext cx="4264214" cy="41014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118" name="矩形 117"/>
          <p:cNvSpPr/>
          <p:nvPr/>
        </p:nvSpPr>
        <p:spPr bwMode="auto">
          <a:xfrm>
            <a:off x="195309" y="2325950"/>
            <a:ext cx="4264214" cy="41014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>
                <a:latin typeface="+mn-ea"/>
                <a:ea typeface="+mn-ea"/>
              </a:rPr>
              <a:t>选</a:t>
            </a:r>
            <a:r>
              <a:rPr lang="zh-CN" altLang="en-US" sz="2400" dirty="0" smtClean="0">
                <a:latin typeface="+mn-ea"/>
                <a:ea typeface="+mn-ea"/>
              </a:rPr>
              <a:t>装模式下的更改管理</a:t>
            </a:r>
            <a:endParaRPr lang="zh-CN" altLang="zh-CN" sz="2400" dirty="0">
              <a:latin typeface="+mn-ea"/>
              <a:ea typeface="+mn-ea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08358" y="2546397"/>
            <a:ext cx="3486649" cy="3133894"/>
            <a:chOff x="1504413" y="2663224"/>
            <a:chExt cx="3298406" cy="3133894"/>
          </a:xfrm>
        </p:grpSpPr>
        <p:grpSp>
          <p:nvGrpSpPr>
            <p:cNvPr id="6" name="组合 5"/>
            <p:cNvGrpSpPr/>
            <p:nvPr/>
          </p:nvGrpSpPr>
          <p:grpSpPr>
            <a:xfrm>
              <a:off x="1504413" y="2995450"/>
              <a:ext cx="2565154" cy="2801668"/>
              <a:chOff x="1329855" y="2222932"/>
              <a:chExt cx="2590965" cy="2835451"/>
            </a:xfrm>
          </p:grpSpPr>
          <p:sp>
            <p:nvSpPr>
              <p:cNvPr id="11" name="Text Box 281"/>
              <p:cNvSpPr txBox="1">
                <a:spLocks noChangeAspect="1" noChangeArrowheads="1"/>
              </p:cNvSpPr>
              <p:nvPr/>
            </p:nvSpPr>
            <p:spPr bwMode="auto">
              <a:xfrm>
                <a:off x="1826977" y="3777160"/>
                <a:ext cx="1821549" cy="966037"/>
              </a:xfrm>
              <a:prstGeom prst="rect">
                <a:avLst/>
              </a:prstGeom>
              <a:solidFill>
                <a:srgbClr val="FFFF99"/>
              </a:solidFill>
              <a:ln w="9525" algn="ctr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lIns="92075" tIns="46038" rIns="92075" bIns="4603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1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1329855" y="2222932"/>
                <a:ext cx="2590965" cy="2835451"/>
                <a:chOff x="1329855" y="2222932"/>
                <a:chExt cx="2590965" cy="2835451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1519787" y="2222932"/>
                  <a:ext cx="2401033" cy="2447968"/>
                  <a:chOff x="1519787" y="2222932"/>
                  <a:chExt cx="2401033" cy="2447968"/>
                </a:xfrm>
              </p:grpSpPr>
              <p:sp>
                <p:nvSpPr>
                  <p:cNvPr id="49" name="AutoShape 23"/>
                  <p:cNvSpPr>
                    <a:spLocks noChangeArrowheads="1"/>
                  </p:cNvSpPr>
                  <p:nvPr/>
                </p:nvSpPr>
                <p:spPr bwMode="auto">
                  <a:xfrm>
                    <a:off x="1519787" y="2222932"/>
                    <a:ext cx="2401033" cy="2447968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F99"/>
                  </a:solidFill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 anchor="ctr"/>
                  <a:lstStyle/>
                  <a:p>
                    <a:pPr marL="171450" indent="-171450">
                      <a:buFontTx/>
                      <a:buChar char="•"/>
                    </a:pPr>
                    <a:endParaRPr lang="zh-CN" altLang="zh-CN" sz="1200" b="1"/>
                  </a:p>
                </p:txBody>
              </p:sp>
              <p:pic>
                <p:nvPicPr>
                  <p:cNvPr id="50" name="Picture 212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1694384" y="2359962"/>
                    <a:ext cx="193132" cy="1444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51" name="Text Box 2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09247" y="2291293"/>
                    <a:ext cx="1432830" cy="384721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eaLnBrk="0" hangingPunct="0">
                      <a:defRPr/>
                    </a:pPr>
                    <a:r>
                      <a:rPr lang="zh-CN" altLang="en-US" sz="900" b="1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装载机</a:t>
                    </a:r>
                    <a:r>
                      <a:rPr lang="en-US" altLang="zh-CN" sz="900" b="1" kern="0" dirty="0" smtClean="0">
                        <a:solidFill>
                          <a:sysClr val="windowText" lastClr="000000"/>
                        </a:solidFill>
                        <a:ea typeface="宋体" pitchFamily="2" charset="-122"/>
                      </a:rPr>
                      <a:t>64F0282</a:t>
                    </a:r>
                    <a:r>
                      <a:rPr lang="zh-CN" altLang="en-US" sz="900" b="1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系列</a:t>
                    </a:r>
                    <a:endParaRPr lang="en-US" altLang="zh-CN" sz="900" b="1" kern="0" dirty="0">
                      <a:solidFill>
                        <a:sysClr val="windowText" lastClr="000000"/>
                      </a:solidFill>
                      <a:latin typeface="宋体" pitchFamily="2" charset="-122"/>
                      <a:ea typeface="宋体" pitchFamily="2" charset="-122"/>
                    </a:endParaRPr>
                  </a:p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5" name="AutoShape 23"/>
                <p:cNvSpPr>
                  <a:spLocks noChangeArrowheads="1"/>
                </p:cNvSpPr>
                <p:nvPr/>
              </p:nvSpPr>
              <p:spPr bwMode="auto">
                <a:xfrm>
                  <a:off x="1329855" y="2538919"/>
                  <a:ext cx="2401033" cy="25194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2075" tIns="46038" rIns="92075" bIns="46038" anchor="ctr"/>
                <a:lstStyle/>
                <a:p>
                  <a:pPr marL="171450" indent="-171450">
                    <a:buFontTx/>
                    <a:buChar char="•"/>
                  </a:pPr>
                  <a:endParaRPr lang="zh-CN" altLang="zh-CN" sz="1200" b="1"/>
                </a:p>
              </p:txBody>
            </p:sp>
            <p:grpSp>
              <p:nvGrpSpPr>
                <p:cNvPr id="16" name="组合 15"/>
                <p:cNvGrpSpPr/>
                <p:nvPr/>
              </p:nvGrpSpPr>
              <p:grpSpPr>
                <a:xfrm>
                  <a:off x="1446261" y="2641928"/>
                  <a:ext cx="2284627" cy="2326547"/>
                  <a:chOff x="1446261" y="2641928"/>
                  <a:chExt cx="2284627" cy="2326547"/>
                </a:xfrm>
              </p:grpSpPr>
              <p:cxnSp>
                <p:nvCxnSpPr>
                  <p:cNvPr id="17" name="AutoShape 181"/>
                  <p:cNvCxnSpPr>
                    <a:cxnSpLocks noChangeAspect="1" noChangeShapeType="1"/>
                  </p:cNvCxnSpPr>
                  <p:nvPr/>
                </p:nvCxnSpPr>
                <p:spPr bwMode="auto">
                  <a:xfrm rot="16200000" flipH="1">
                    <a:off x="2457433" y="3593542"/>
                    <a:ext cx="131947" cy="895101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cxnSp>
                <p:nvCxnSpPr>
                  <p:cNvPr id="18" name="AutoShape 182"/>
                  <p:cNvCxnSpPr>
                    <a:cxnSpLocks noChangeAspect="1" noChangeShapeType="1"/>
                  </p:cNvCxnSpPr>
                  <p:nvPr/>
                </p:nvCxnSpPr>
                <p:spPr bwMode="auto">
                  <a:xfrm rot="16200000" flipH="1">
                    <a:off x="2331910" y="3719065"/>
                    <a:ext cx="406951" cy="919062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grpSp>
                <p:nvGrpSpPr>
                  <p:cNvPr id="19" name="Group 199"/>
                  <p:cNvGrpSpPr>
                    <a:grpSpLocks/>
                  </p:cNvGrpSpPr>
                  <p:nvPr/>
                </p:nvGrpSpPr>
                <p:grpSpPr bwMode="auto">
                  <a:xfrm>
                    <a:off x="2991514" y="4545971"/>
                    <a:ext cx="636670" cy="230560"/>
                    <a:chOff x="4637" y="2608"/>
                    <a:chExt cx="372" cy="166"/>
                  </a:xfrm>
                </p:grpSpPr>
                <p:pic>
                  <p:nvPicPr>
                    <p:cNvPr id="47" name="Picture 184" descr="Icon_Par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4637" y="2617"/>
                      <a:ext cx="153" cy="13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48" name="Text Box 185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4766" y="2608"/>
                      <a:ext cx="243" cy="166"/>
                    </a:xfrm>
                    <a:prstGeom prst="rect">
                      <a:avLst/>
                    </a:prstGeom>
                    <a:noFill/>
                    <a:ln w="3175" algn="ctr">
                      <a:noFill/>
                      <a:miter lim="800000"/>
                      <a:headEnd/>
                      <a:tailEnd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0" dirty="0" smtClean="0">
                          <a:solidFill>
                            <a:srgbClr val="000000"/>
                          </a:solidFill>
                          <a:latin typeface="宋体" pitchFamily="2" charset="-122"/>
                          <a:ea typeface="宋体" pitchFamily="2" charset="-122"/>
                        </a:rPr>
                        <a:t>侧卸</a:t>
                      </a:r>
                      <a:endParaRPr kumimoji="0" lang="en-US" sz="90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宋体" pitchFamily="2" charset="-122"/>
                        <a:ea typeface="宋体" pitchFamily="2" charset="-122"/>
                      </a:endParaRPr>
                    </a:p>
                  </p:txBody>
                </p:sp>
              </p:grpSp>
              <p:grpSp>
                <p:nvGrpSpPr>
                  <p:cNvPr id="20" name="Group 198"/>
                  <p:cNvGrpSpPr>
                    <a:grpSpLocks/>
                  </p:cNvGrpSpPr>
                  <p:nvPr/>
                </p:nvGrpSpPr>
                <p:grpSpPr bwMode="auto">
                  <a:xfrm>
                    <a:off x="2994944" y="4275138"/>
                    <a:ext cx="628113" cy="254173"/>
                    <a:chOff x="4651" y="2805"/>
                    <a:chExt cx="367" cy="183"/>
                  </a:xfrm>
                </p:grpSpPr>
                <p:pic>
                  <p:nvPicPr>
                    <p:cNvPr id="45" name="Picture 187" descr="Icon_Par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4651" y="2816"/>
                      <a:ext cx="153" cy="13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46" name="Text Box 188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4754" y="2805"/>
                      <a:ext cx="264" cy="183"/>
                    </a:xfrm>
                    <a:prstGeom prst="rect">
                      <a:avLst/>
                    </a:prstGeom>
                    <a:noFill/>
                    <a:ln w="3175" algn="ctr">
                      <a:noFill/>
                      <a:miter lim="800000"/>
                      <a:headEnd/>
                      <a:tailEnd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zh-CN" altLang="en-US" sz="900" kern="0" noProof="0" dirty="0" smtClean="0">
                          <a:solidFill>
                            <a:srgbClr val="000000"/>
                          </a:solidFill>
                          <a:latin typeface="宋体" pitchFamily="2" charset="-122"/>
                          <a:ea typeface="宋体" pitchFamily="2" charset="-122"/>
                        </a:rPr>
                        <a:t>抱叉</a:t>
                      </a:r>
                      <a:endParaRPr kumimoji="0" lang="en-US" sz="90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宋体" pitchFamily="2" charset="-122"/>
                        <a:ea typeface="宋体" pitchFamily="2" charset="-122"/>
                      </a:endParaRPr>
                    </a:p>
                  </p:txBody>
                </p:sp>
              </p:grpSp>
              <p:cxnSp>
                <p:nvCxnSpPr>
                  <p:cNvPr id="21" name="AutoShape 189"/>
                  <p:cNvCxnSpPr>
                    <a:cxnSpLocks noChangeAspect="1" noChangeShapeType="1"/>
                  </p:cNvCxnSpPr>
                  <p:nvPr/>
                </p:nvCxnSpPr>
                <p:spPr bwMode="auto">
                  <a:xfrm rot="16200000" flipH="1">
                    <a:off x="2194571" y="3856568"/>
                    <a:ext cx="683344" cy="919062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grpSp>
                <p:nvGrpSpPr>
                  <p:cNvPr id="22" name="Group 197"/>
                  <p:cNvGrpSpPr>
                    <a:grpSpLocks/>
                  </p:cNvGrpSpPr>
                  <p:nvPr/>
                </p:nvGrpSpPr>
                <p:grpSpPr bwMode="auto">
                  <a:xfrm>
                    <a:off x="2984683" y="4008453"/>
                    <a:ext cx="746205" cy="254170"/>
                    <a:chOff x="4651" y="3009"/>
                    <a:chExt cx="436" cy="183"/>
                  </a:xfrm>
                </p:grpSpPr>
                <p:pic>
                  <p:nvPicPr>
                    <p:cNvPr id="43" name="Picture 191" descr="Icon_Par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4651" y="3015"/>
                      <a:ext cx="152" cy="13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44" name="Text Box 192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4755" y="3009"/>
                      <a:ext cx="332" cy="183"/>
                    </a:xfrm>
                    <a:prstGeom prst="rect">
                      <a:avLst/>
                    </a:prstGeom>
                    <a:noFill/>
                    <a:ln w="3175" algn="ctr">
                      <a:noFill/>
                      <a:miter lim="800000"/>
                      <a:headEnd/>
                      <a:tailEnd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zh-CN" altLang="en-US" sz="900" kern="0" dirty="0" smtClean="0">
                          <a:solidFill>
                            <a:srgbClr val="000000"/>
                          </a:solidFill>
                          <a:latin typeface="宋体" pitchFamily="2" charset="-122"/>
                          <a:ea typeface="宋体" pitchFamily="2" charset="-122"/>
                        </a:rPr>
                        <a:t>除雪铲</a:t>
                      </a:r>
                      <a:endParaRPr kumimoji="0" lang="en-US" sz="90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宋体" pitchFamily="2" charset="-122"/>
                        <a:ea typeface="宋体" pitchFamily="2" charset="-122"/>
                      </a:endParaRPr>
                    </a:p>
                  </p:txBody>
                </p:sp>
              </p:grpSp>
              <p:sp>
                <p:nvSpPr>
                  <p:cNvPr id="23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61262" y="3780556"/>
                    <a:ext cx="761747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noProof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三联阀属具</a:t>
                    </a:r>
                    <a:endParaRPr kumimoji="0" lang="en-US" sz="9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cxnSp>
                <p:nvCxnSpPr>
                  <p:cNvPr id="24" name="AutoShape 202"/>
                  <p:cNvCxnSpPr>
                    <a:cxnSpLocks noChangeShapeType="1"/>
                    <a:stCxn id="27" idx="2"/>
                    <a:endCxn id="26" idx="1"/>
                  </p:cNvCxnSpPr>
                  <p:nvPr/>
                </p:nvCxnSpPr>
                <p:spPr bwMode="auto">
                  <a:xfrm rot="16200000" flipH="1">
                    <a:off x="1767629" y="3711207"/>
                    <a:ext cx="187325" cy="175327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sp>
                <p:nvSpPr>
                  <p:cNvPr id="25" name="Text Box 2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37758" y="3533737"/>
                    <a:ext cx="415498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属具</a:t>
                    </a:r>
                    <a:endPara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pic>
                <p:nvPicPr>
                  <p:cNvPr id="26" name="Picture 204" descr="basicnode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/>
                  <a:srcRect/>
                  <a:stretch>
                    <a:fillRect/>
                  </a:stretch>
                </p:blipFill>
                <p:spPr bwMode="auto">
                  <a:xfrm>
                    <a:off x="1948954" y="3809858"/>
                    <a:ext cx="224636" cy="16534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27" name="Picture 205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1676376" y="3561836"/>
                    <a:ext cx="194502" cy="14337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cxnSp>
                <p:nvCxnSpPr>
                  <p:cNvPr id="28" name="AutoShape 209"/>
                  <p:cNvCxnSpPr>
                    <a:cxnSpLocks noChangeShapeType="1"/>
                    <a:stCxn id="31" idx="2"/>
                    <a:endCxn id="27" idx="1"/>
                  </p:cNvCxnSpPr>
                  <p:nvPr/>
                </p:nvCxnSpPr>
                <p:spPr bwMode="auto">
                  <a:xfrm rot="16200000" flipH="1">
                    <a:off x="1210619" y="3167766"/>
                    <a:ext cx="797963" cy="133549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cxnSp>
                <p:nvCxnSpPr>
                  <p:cNvPr id="29" name="AutoShape 210"/>
                  <p:cNvCxnSpPr>
                    <a:cxnSpLocks noChangeShapeType="1"/>
                    <a:stCxn id="31" idx="2"/>
                    <a:endCxn id="30" idx="1"/>
                  </p:cNvCxnSpPr>
                  <p:nvPr/>
                </p:nvCxnSpPr>
                <p:spPr bwMode="auto">
                  <a:xfrm rot="16200000" flipH="1">
                    <a:off x="1519478" y="2858908"/>
                    <a:ext cx="174767" cy="128070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pic>
                <p:nvPicPr>
                  <p:cNvPr id="30" name="Picture 211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1670897" y="2938117"/>
                    <a:ext cx="193132" cy="1444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31" name="Picture 212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1446261" y="2691141"/>
                    <a:ext cx="193132" cy="1444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32" name="Text Box 2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43141" y="2892516"/>
                    <a:ext cx="877163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转向液压系统</a:t>
                    </a:r>
                    <a:endPara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sp>
                <p:nvSpPr>
                  <p:cNvPr id="33" name="Text Box 2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70852" y="2641928"/>
                    <a:ext cx="1432830" cy="384721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eaLnBrk="0" hangingPunct="0">
                      <a:defRPr/>
                    </a:pPr>
                    <a:r>
                      <a:rPr lang="zh-CN" altLang="en-US" sz="900" b="1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装载机</a:t>
                    </a:r>
                    <a:r>
                      <a:rPr lang="en-US" altLang="zh-CN" sz="900" b="1" kern="0" dirty="0">
                        <a:solidFill>
                          <a:sysClr val="windowText" lastClr="000000"/>
                        </a:solidFill>
                        <a:ea typeface="宋体" pitchFamily="2" charset="-122"/>
                      </a:rPr>
                      <a:t>64F0281</a:t>
                    </a:r>
                    <a:r>
                      <a:rPr lang="zh-CN" altLang="en-US" sz="900" b="1" kern="0" dirty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系列</a:t>
                    </a:r>
                    <a:endParaRPr lang="en-US" altLang="zh-CN" sz="900" b="1" kern="0" dirty="0">
                      <a:solidFill>
                        <a:sysClr val="windowText" lastClr="000000"/>
                      </a:solidFill>
                      <a:latin typeface="宋体" pitchFamily="2" charset="-122"/>
                      <a:ea typeface="宋体" pitchFamily="2" charset="-122"/>
                    </a:endParaRPr>
                  </a:p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pic>
                <p:nvPicPr>
                  <p:cNvPr id="34" name="Picture 215" descr="structurenode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1754452" y="4824056"/>
                    <a:ext cx="193132" cy="1444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cxnSp>
                <p:nvCxnSpPr>
                  <p:cNvPr id="35" name="AutoShape 217"/>
                  <p:cNvCxnSpPr>
                    <a:cxnSpLocks noChangeShapeType="1"/>
                    <a:stCxn id="31" idx="2"/>
                    <a:endCxn id="34" idx="1"/>
                  </p:cNvCxnSpPr>
                  <p:nvPr/>
                </p:nvCxnSpPr>
                <p:spPr bwMode="auto">
                  <a:xfrm rot="16200000" flipH="1">
                    <a:off x="618286" y="3760100"/>
                    <a:ext cx="2060706" cy="211625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pic>
                <p:nvPicPr>
                  <p:cNvPr id="36" name="Picture 221" descr="basicnode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/>
                  <a:srcRect/>
                  <a:stretch>
                    <a:fillRect/>
                  </a:stretch>
                </p:blipFill>
                <p:spPr bwMode="auto">
                  <a:xfrm>
                    <a:off x="1918818" y="3365092"/>
                    <a:ext cx="224636" cy="166395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37" name="Text Box 2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93794" y="3340395"/>
                    <a:ext cx="877163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转向油缸总成</a:t>
                    </a:r>
                    <a:endPara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sp>
                <p:nvSpPr>
                  <p:cNvPr id="38" name="Text Box 2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5103" y="3123348"/>
                    <a:ext cx="877163" cy="230832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900" kern="0" dirty="0" smtClean="0">
                        <a:solidFill>
                          <a:sysClr val="windowText" lastClr="000000"/>
                        </a:solidFill>
                        <a:latin typeface="宋体" pitchFamily="2" charset="-122"/>
                        <a:ea typeface="宋体" pitchFamily="2" charset="-122"/>
                      </a:rPr>
                      <a:t>转向阀及管路</a:t>
                    </a:r>
                    <a:endParaRPr kumimoji="0" 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  <p:pic>
                <p:nvPicPr>
                  <p:cNvPr id="39" name="Picture 224" descr="basicnode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/>
                  <a:srcRect/>
                  <a:stretch>
                    <a:fillRect/>
                  </a:stretch>
                </p:blipFill>
                <p:spPr bwMode="auto">
                  <a:xfrm>
                    <a:off x="1924298" y="3137999"/>
                    <a:ext cx="224636" cy="16534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cxnSp>
                <p:nvCxnSpPr>
                  <p:cNvPr id="40" name="AutoShape 225"/>
                  <p:cNvCxnSpPr>
                    <a:cxnSpLocks noChangeShapeType="1"/>
                    <a:stCxn id="30" idx="2"/>
                    <a:endCxn id="36" idx="1"/>
                  </p:cNvCxnSpPr>
                  <p:nvPr/>
                </p:nvCxnSpPr>
                <p:spPr bwMode="auto">
                  <a:xfrm rot="16200000" flipH="1">
                    <a:off x="1660263" y="3189734"/>
                    <a:ext cx="365755" cy="151355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cxnSp>
                <p:nvCxnSpPr>
                  <p:cNvPr id="41" name="AutoShape 226"/>
                  <p:cNvCxnSpPr>
                    <a:cxnSpLocks noChangeShapeType="1"/>
                    <a:stCxn id="30" idx="2"/>
                    <a:endCxn id="39" idx="1"/>
                  </p:cNvCxnSpPr>
                  <p:nvPr/>
                </p:nvCxnSpPr>
                <p:spPr bwMode="auto">
                  <a:xfrm rot="16200000" flipH="1">
                    <a:off x="1776810" y="3073188"/>
                    <a:ext cx="138138" cy="156834"/>
                  </a:xfrm>
                  <a:prstGeom prst="bentConnector2">
                    <a:avLst/>
                  </a:prstGeom>
                  <a:noFill/>
                  <a:ln w="19050">
                    <a:solidFill>
                      <a:srgbClr val="40637A"/>
                    </a:solidFill>
                    <a:miter lim="800000"/>
                    <a:headEnd/>
                    <a:tailEnd/>
                  </a:ln>
                </p:spPr>
              </p:cxnSp>
              <p:sp>
                <p:nvSpPr>
                  <p:cNvPr id="42" name="Text Box 2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61291" y="4730444"/>
                    <a:ext cx="699819" cy="238027"/>
                  </a:xfrm>
                  <a:prstGeom prst="rect">
                    <a:avLst/>
                  </a:prstGeom>
                  <a:noFill/>
                  <a:ln w="317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defTabSz="91440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sz="1400" kern="0" noProof="0" dirty="0" smtClean="0">
                        <a:solidFill>
                          <a:sysClr val="windowText" lastClr="000000"/>
                        </a:solidFill>
                      </a:rPr>
                      <a:t>……….</a:t>
                    </a:r>
                    <a:endPara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13" name="AutoShape 119"/>
              <p:cNvSpPr>
                <a:spLocks noChangeArrowheads="1"/>
              </p:cNvSpPr>
              <p:nvPr/>
            </p:nvSpPr>
            <p:spPr bwMode="auto">
              <a:xfrm>
                <a:off x="1870878" y="4041093"/>
                <a:ext cx="444420" cy="504878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 w="12700">
                <a:solidFill>
                  <a:schemeClr val="accent1">
                    <a:lumMod val="60000"/>
                    <a:lumOff val="40000"/>
                  </a:scheme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 algn="ctr"/>
                <a:r>
                  <a:rPr lang="en-US" altLang="zh-CN" sz="10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宋体" pitchFamily="2" charset="-122"/>
                    <a:ea typeface="宋体" pitchFamily="2" charset="-122"/>
                  </a:rPr>
                  <a:t>OD</a:t>
                </a:r>
              </a:p>
              <a:p>
                <a:pPr marL="171450" indent="-171450" algn="ctr"/>
                <a:r>
                  <a:rPr lang="zh-CN" altLang="en-US" sz="9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宋体" pitchFamily="2" charset="-122"/>
                    <a:ea typeface="宋体" pitchFamily="2" charset="-122"/>
                  </a:rPr>
                  <a:t>关系</a:t>
                </a:r>
                <a:endParaRPr lang="en-US" altLang="zh-CN" sz="9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宋体" pitchFamily="2" charset="-122"/>
                  <a:ea typeface="宋体" pitchFamily="2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165863" y="3027142"/>
              <a:ext cx="636956" cy="730309"/>
              <a:chOff x="5020118" y="1776126"/>
              <a:chExt cx="817737" cy="600649"/>
            </a:xfrm>
          </p:grpSpPr>
          <p:sp>
            <p:nvSpPr>
              <p:cNvPr id="9" name="AutoShape 23"/>
              <p:cNvSpPr>
                <a:spLocks noChangeArrowheads="1"/>
              </p:cNvSpPr>
              <p:nvPr/>
            </p:nvSpPr>
            <p:spPr bwMode="auto">
              <a:xfrm>
                <a:off x="5020118" y="1776126"/>
                <a:ext cx="817737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042711" y="1884332"/>
                <a:ext cx="77255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176488" y="2663224"/>
              <a:ext cx="1019174" cy="314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超级</a:t>
              </a:r>
              <a:r>
                <a:rPr lang="en-US" altLang="zh-CN" sz="1200" b="1" i="1" dirty="0" smtClean="0">
                  <a:solidFill>
                    <a:srgbClr val="0033CC"/>
                  </a:solidFill>
                </a:rPr>
                <a:t>EBOM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5096974" y="2607928"/>
            <a:ext cx="2812077" cy="3032730"/>
            <a:chOff x="6394877" y="1084245"/>
            <a:chExt cx="2401390" cy="2555620"/>
          </a:xfrm>
        </p:grpSpPr>
        <p:grpSp>
          <p:nvGrpSpPr>
            <p:cNvPr id="55" name="组合 54"/>
            <p:cNvGrpSpPr/>
            <p:nvPr/>
          </p:nvGrpSpPr>
          <p:grpSpPr>
            <a:xfrm>
              <a:off x="6394877" y="1335608"/>
              <a:ext cx="2401390" cy="2304257"/>
              <a:chOff x="5606909" y="1335608"/>
              <a:chExt cx="2401390" cy="2304257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5606909" y="1335608"/>
                <a:ext cx="2401390" cy="2304257"/>
                <a:chOff x="5606909" y="1335608"/>
                <a:chExt cx="2401390" cy="2304257"/>
              </a:xfrm>
            </p:grpSpPr>
            <p:grpSp>
              <p:nvGrpSpPr>
                <p:cNvPr id="59" name="组合 58"/>
                <p:cNvGrpSpPr/>
                <p:nvPr/>
              </p:nvGrpSpPr>
              <p:grpSpPr>
                <a:xfrm>
                  <a:off x="5606909" y="1335608"/>
                  <a:ext cx="2401390" cy="2304257"/>
                  <a:chOff x="5606909" y="1335608"/>
                  <a:chExt cx="2401390" cy="2304257"/>
                </a:xfrm>
              </p:grpSpPr>
              <p:sp>
                <p:nvSpPr>
                  <p:cNvPr id="61" name="Text Box 281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6067658" y="2598667"/>
                    <a:ext cx="1688270" cy="78505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 algn="ctr">
                    <a:solidFill>
                      <a:srgbClr val="FF6600"/>
                    </a:solidFill>
                    <a:miter lim="800000"/>
                    <a:headEnd/>
                    <a:tailEnd/>
                  </a:ln>
                </p:spPr>
                <p:txBody>
                  <a:bodyPr lIns="92075" tIns="46038" rIns="92075" bIns="46038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de-DE" sz="11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62" name="组合 61"/>
                  <p:cNvGrpSpPr/>
                  <p:nvPr/>
                </p:nvGrpSpPr>
                <p:grpSpPr>
                  <a:xfrm>
                    <a:off x="5606909" y="1335608"/>
                    <a:ext cx="2401390" cy="2304257"/>
                    <a:chOff x="1329855" y="2222932"/>
                    <a:chExt cx="2590965" cy="2835451"/>
                  </a:xfrm>
                </p:grpSpPr>
                <p:grpSp>
                  <p:nvGrpSpPr>
                    <p:cNvPr id="64" name="组合 63"/>
                    <p:cNvGrpSpPr/>
                    <p:nvPr/>
                  </p:nvGrpSpPr>
                  <p:grpSpPr>
                    <a:xfrm>
                      <a:off x="1519787" y="2222932"/>
                      <a:ext cx="2401033" cy="2447968"/>
                      <a:chOff x="1519787" y="2222932"/>
                      <a:chExt cx="2401033" cy="2447968"/>
                    </a:xfrm>
                  </p:grpSpPr>
                  <p:sp>
                    <p:nvSpPr>
                      <p:cNvPr id="91" name="AutoShape 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19787" y="2222932"/>
                        <a:ext cx="2401033" cy="2447968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FFFF99"/>
                      </a:solidFill>
                      <a:ln w="254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lIns="92075" tIns="46038" rIns="92075" bIns="46038" anchor="ctr"/>
                      <a:lstStyle/>
                      <a:p>
                        <a:pPr marL="171450" indent="-171450">
                          <a:buFontTx/>
                          <a:buChar char="•"/>
                        </a:pPr>
                        <a:endParaRPr lang="zh-CN" altLang="zh-CN" sz="1200" b="1"/>
                      </a:p>
                    </p:txBody>
                  </p:sp>
                  <p:pic>
                    <p:nvPicPr>
                      <p:cNvPr id="92" name="Picture 212" descr="structure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4384" y="2359962"/>
                        <a:ext cx="193132" cy="1444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93" name="Text Box 2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09247" y="2291293"/>
                        <a:ext cx="1432830" cy="384721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 eaLnBrk="0" hangingPunct="0">
                          <a:defRPr/>
                        </a:pP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装载机</a:t>
                        </a:r>
                        <a:r>
                          <a:rPr lang="en-US" altLang="zh-CN" sz="900" b="1" kern="0" dirty="0" smtClean="0">
                            <a:solidFill>
                              <a:sysClr val="windowText" lastClr="000000"/>
                            </a:solidFill>
                            <a:ea typeface="宋体" pitchFamily="2" charset="-122"/>
                          </a:rPr>
                          <a:t>64F0282</a:t>
                        </a: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系列</a:t>
                        </a:r>
                        <a:endParaRPr lang="en-US" altLang="zh-CN" sz="900" b="1" kern="0" dirty="0">
                          <a:solidFill>
                            <a:sysClr val="windowText" lastClr="000000"/>
                          </a:solidFill>
                          <a:latin typeface="宋体" pitchFamily="2" charset="-122"/>
                          <a:ea typeface="宋体" pitchFamily="2" charset="-122"/>
                        </a:endParaRPr>
                      </a:p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65" name="AutoShape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29855" y="2538919"/>
                      <a:ext cx="2401033" cy="2519464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FFFF99"/>
                    </a:solidFill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2075" tIns="46038" rIns="92075" bIns="46038" anchor="ctr"/>
                    <a:lstStyle/>
                    <a:p>
                      <a:pPr marL="171450" indent="-171450">
                        <a:buFontTx/>
                        <a:buChar char="•"/>
                      </a:pPr>
                      <a:endParaRPr lang="zh-CN" altLang="zh-CN" sz="1200" b="1"/>
                    </a:p>
                  </p:txBody>
                </p:sp>
                <p:grpSp>
                  <p:nvGrpSpPr>
                    <p:cNvPr id="66" name="组合 65"/>
                    <p:cNvGrpSpPr/>
                    <p:nvPr/>
                  </p:nvGrpSpPr>
                  <p:grpSpPr>
                    <a:xfrm>
                      <a:off x="1446261" y="2641928"/>
                      <a:ext cx="2284627" cy="2326543"/>
                      <a:chOff x="1446261" y="2641928"/>
                      <a:chExt cx="2284627" cy="2326543"/>
                    </a:xfrm>
                  </p:grpSpPr>
                  <p:cxnSp>
                    <p:nvCxnSpPr>
                      <p:cNvPr id="67" name="AutoShape 181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457433" y="3593542"/>
                        <a:ext cx="131947" cy="895101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cxnSp>
                    <p:nvCxnSpPr>
                      <p:cNvPr id="68" name="AutoShape 182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331910" y="3719065"/>
                        <a:ext cx="406951" cy="919062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grpSp>
                    <p:nvGrpSpPr>
                      <p:cNvPr id="69" name="Group 19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91514" y="4545971"/>
                        <a:ext cx="636670" cy="230560"/>
                        <a:chOff x="4637" y="2608"/>
                        <a:chExt cx="372" cy="166"/>
                      </a:xfrm>
                    </p:grpSpPr>
                    <p:pic>
                      <p:nvPicPr>
                        <p:cNvPr id="89" name="Picture 184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7" y="2617"/>
                          <a:ext cx="153" cy="1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90" name="Text Box 185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66" y="2608"/>
                          <a:ext cx="243" cy="166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900" kern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侧卸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70" name="Group 19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94944" y="4275138"/>
                        <a:ext cx="628113" cy="254173"/>
                        <a:chOff x="4651" y="2805"/>
                        <a:chExt cx="367" cy="183"/>
                      </a:xfrm>
                    </p:grpSpPr>
                    <p:pic>
                      <p:nvPicPr>
                        <p:cNvPr id="87" name="Picture 187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1" y="2816"/>
                          <a:ext cx="153" cy="1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88" name="Text Box 188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54" y="2805"/>
                          <a:ext cx="264" cy="183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05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</a:rPr>
                            <a:t> </a:t>
                          </a:r>
                          <a:r>
                            <a:rPr lang="zh-CN" altLang="en-US" sz="900" kern="0" noProof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抱叉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cxnSp>
                    <p:nvCxnSpPr>
                      <p:cNvPr id="71" name="AutoShape 189"/>
                      <p:cNvCxnSpPr>
                        <a:cxnSpLocks noChangeAspect="1" noChangeShapeType="1"/>
                      </p:cNvCxnSpPr>
                      <p:nvPr/>
                    </p:nvCxnSpPr>
                    <p:spPr bwMode="auto">
                      <a:xfrm rot="16200000" flipH="1">
                        <a:off x="2194571" y="3856568"/>
                        <a:ext cx="683344" cy="919062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grpSp>
                    <p:nvGrpSpPr>
                      <p:cNvPr id="72" name="Group 19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84683" y="4008453"/>
                        <a:ext cx="746205" cy="254170"/>
                        <a:chOff x="4651" y="3009"/>
                        <a:chExt cx="436" cy="183"/>
                      </a:xfrm>
                    </p:grpSpPr>
                    <p:pic>
                      <p:nvPicPr>
                        <p:cNvPr id="85" name="Picture 191" descr="Icon_Part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1" y="3015"/>
                          <a:ext cx="152" cy="13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86" name="Text Box 192"/>
                        <p:cNvSpPr txBox="1">
                          <a:spLocks noChangeAspect="1" noChangeArrowheads="1"/>
                        </p:cNvSpPr>
                        <p:nvPr/>
                      </p:nvSpPr>
                      <p:spPr bwMode="auto">
                        <a:xfrm>
                          <a:off x="4755" y="3009"/>
                          <a:ext cx="332" cy="183"/>
                        </a:xfrm>
                        <a:prstGeom prst="rect">
                          <a:avLst/>
                        </a:prstGeom>
                        <a:noFill/>
                        <a:ln w="3175" algn="ctr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050" b="1" i="0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</a:rPr>
                            <a:t> </a:t>
                          </a:r>
                          <a:r>
                            <a:rPr lang="zh-CN" altLang="en-US" sz="900" kern="0" dirty="0" smtClean="0">
                              <a:solidFill>
                                <a:srgbClr val="000000"/>
                              </a:solidFill>
                              <a:latin typeface="宋体" pitchFamily="2" charset="-122"/>
                              <a:ea typeface="宋体" pitchFamily="2" charset="-122"/>
                            </a:rPr>
                            <a:t>除雪铲</a:t>
                          </a:r>
                          <a:endParaRPr kumimoji="0" lang="en-US" sz="90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宋体" pitchFamily="2" charset="-122"/>
                            <a:ea typeface="宋体" pitchFamily="2" charset="-122"/>
                          </a:endParaRPr>
                        </a:p>
                      </p:txBody>
                    </p:sp>
                  </p:grpSp>
                  <p:sp>
                    <p:nvSpPr>
                      <p:cNvPr id="73" name="Text Box 20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161262" y="3780556"/>
                        <a:ext cx="761747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noProof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三联阀属具</a:t>
                        </a:r>
                        <a:endParaRPr kumimoji="0" lang="en-US" sz="9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cxnSp>
                    <p:nvCxnSpPr>
                      <p:cNvPr id="74" name="AutoShape 202"/>
                      <p:cNvCxnSpPr>
                        <a:cxnSpLocks noChangeShapeType="1"/>
                        <a:endCxn id="75" idx="1"/>
                      </p:cNvCxnSpPr>
                      <p:nvPr/>
                    </p:nvCxnSpPr>
                    <p:spPr bwMode="auto">
                      <a:xfrm rot="16200000" flipH="1">
                        <a:off x="1245883" y="3189460"/>
                        <a:ext cx="1000016" cy="406127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75" name="Picture 204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8954" y="3809858"/>
                        <a:ext cx="224636" cy="16534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cxnSp>
                    <p:nvCxnSpPr>
                      <p:cNvPr id="76" name="AutoShape 210"/>
                      <p:cNvCxnSpPr>
                        <a:cxnSpLocks noChangeShapeType="1"/>
                        <a:stCxn id="77" idx="2"/>
                        <a:endCxn id="83" idx="1"/>
                      </p:cNvCxnSpPr>
                      <p:nvPr/>
                    </p:nvCxnSpPr>
                    <p:spPr bwMode="auto">
                      <a:xfrm rot="16200000" flipH="1">
                        <a:off x="1541006" y="2837381"/>
                        <a:ext cx="385113" cy="381470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77" name="Picture 212" descr="structure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61" y="2691141"/>
                        <a:ext cx="193132" cy="1444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78" name="Text Box 2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570852" y="2641928"/>
                        <a:ext cx="1432830" cy="384721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square">
                        <a:spAutoFit/>
                      </a:bodyPr>
                      <a:lstStyle/>
                      <a:p>
                        <a:pPr eaLnBrk="0" hangingPunct="0">
                          <a:defRPr/>
                        </a:pPr>
                        <a:r>
                          <a:rPr lang="zh-CN" altLang="en-US" sz="900" b="1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装载机</a:t>
                        </a:r>
                        <a:r>
                          <a:rPr lang="en-US" altLang="zh-CN" sz="900" b="1" kern="0" dirty="0">
                            <a:solidFill>
                              <a:sysClr val="windowText" lastClr="000000"/>
                            </a:solidFill>
                            <a:ea typeface="宋体" pitchFamily="2" charset="-122"/>
                          </a:rPr>
                          <a:t>64F0281</a:t>
                        </a:r>
                        <a:r>
                          <a:rPr lang="zh-CN" altLang="en-US" sz="900" b="1" kern="0" dirty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系列</a:t>
                        </a:r>
                        <a:endParaRPr lang="en-US" altLang="zh-CN" sz="900" b="1" kern="0" dirty="0">
                          <a:solidFill>
                            <a:sysClr val="windowText" lastClr="000000"/>
                          </a:solidFill>
                          <a:latin typeface="宋体" pitchFamily="2" charset="-122"/>
                          <a:ea typeface="宋体" pitchFamily="2" charset="-122"/>
                        </a:endParaRPr>
                      </a:p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cxnSp>
                    <p:nvCxnSpPr>
                      <p:cNvPr id="79" name="AutoShape 217"/>
                      <p:cNvCxnSpPr>
                        <a:cxnSpLocks noChangeShapeType="1"/>
                        <a:stCxn id="77" idx="2"/>
                      </p:cNvCxnSpPr>
                      <p:nvPr/>
                    </p:nvCxnSpPr>
                    <p:spPr bwMode="auto">
                      <a:xfrm rot="16200000" flipH="1">
                        <a:off x="618286" y="3760100"/>
                        <a:ext cx="2060706" cy="211625"/>
                      </a:xfrm>
                      <a:prstGeom prst="bentConnector2">
                        <a:avLst/>
                      </a:prstGeom>
                      <a:noFill/>
                      <a:ln w="19050">
                        <a:solidFill>
                          <a:srgbClr val="40637A"/>
                        </a:solidFill>
                        <a:miter lim="800000"/>
                        <a:headEnd/>
                        <a:tailEnd/>
                      </a:ln>
                    </p:spPr>
                  </p:cxnSp>
                  <p:pic>
                    <p:nvPicPr>
                      <p:cNvPr id="80" name="Picture 221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818" y="3365092"/>
                        <a:ext cx="224636" cy="166395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81" name="Text Box 22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93794" y="3340395"/>
                        <a:ext cx="877163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转向油缸总成</a:t>
                        </a:r>
                        <a:endPara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sp>
                    <p:nvSpPr>
                      <p:cNvPr id="82" name="Text Box 22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105103" y="3123348"/>
                        <a:ext cx="877163" cy="230832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zh-CN" altLang="en-US" sz="900" kern="0" dirty="0" smtClean="0">
                            <a:solidFill>
                              <a:sysClr val="windowText" lastClr="000000"/>
                            </a:solidFill>
                            <a:latin typeface="宋体" pitchFamily="2" charset="-122"/>
                            <a:ea typeface="宋体" pitchFamily="2" charset="-122"/>
                          </a:rPr>
                          <a:t>转向阀及管路</a:t>
                        </a:r>
                        <a:endParaRPr kumimoji="0" 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宋体" pitchFamily="2" charset="-122"/>
                          <a:ea typeface="宋体" pitchFamily="2" charset="-122"/>
                        </a:endParaRPr>
                      </a:p>
                    </p:txBody>
                  </p:sp>
                  <p:pic>
                    <p:nvPicPr>
                      <p:cNvPr id="83" name="Picture 224" descr="basicnode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298" y="3137999"/>
                        <a:ext cx="224636" cy="16534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84" name="Text Box 22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861291" y="4730444"/>
                        <a:ext cx="699819" cy="238027"/>
                      </a:xfrm>
                      <a:prstGeom prst="rect">
                        <a:avLst/>
                      </a:prstGeom>
                      <a:noFill/>
                      <a:ln w="3175" algn="ctr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pPr marL="0" marR="0" lvl="0" indent="0" defTabSz="914400" eaLnBrk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400" kern="0" noProof="0" dirty="0" smtClean="0">
                            <a:solidFill>
                              <a:sysClr val="windowText" lastClr="000000"/>
                            </a:solidFill>
                          </a:rPr>
                          <a:t>……….</a:t>
                        </a:r>
                        <a:endPara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sp>
                <p:nvSpPr>
                  <p:cNvPr id="63" name="AutoShape 119"/>
                  <p:cNvSpPr>
                    <a:spLocks noChangeArrowheads="1"/>
                  </p:cNvSpPr>
                  <p:nvPr/>
                </p:nvSpPr>
                <p:spPr bwMode="auto">
                  <a:xfrm>
                    <a:off x="6108347" y="2813154"/>
                    <a:ext cx="411903" cy="410294"/>
                  </a:xfrm>
                  <a:prstGeom prst="foldedCorner">
                    <a:avLst>
                      <a:gd name="adj" fmla="val 12500"/>
                    </a:avLst>
                  </a:prstGeom>
                  <a:solidFill>
                    <a:srgbClr val="FFFF99"/>
                  </a:solidFill>
                  <a:ln w="12700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 anchor="ctr"/>
                  <a:lstStyle/>
                  <a:p>
                    <a:pPr marL="171450" indent="-171450" algn="ctr"/>
                    <a:r>
                      <a:rPr lang="en-US" altLang="zh-CN" sz="1000" b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宋体" pitchFamily="2" charset="-122"/>
                        <a:ea typeface="宋体" pitchFamily="2" charset="-122"/>
                      </a:rPr>
                      <a:t>OD</a:t>
                    </a:r>
                  </a:p>
                  <a:p>
                    <a:pPr marL="171450" indent="-171450" algn="ctr"/>
                    <a:r>
                      <a:rPr lang="zh-CN" altLang="en-US" sz="900" b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宋体" pitchFamily="2" charset="-122"/>
                        <a:ea typeface="宋体" pitchFamily="2" charset="-122"/>
                      </a:rPr>
                      <a:t>关系</a:t>
                    </a:r>
                    <a:endParaRPr lang="en-US" altLang="zh-CN" sz="9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宋体" pitchFamily="2" charset="-122"/>
                      <a:ea typeface="宋体" pitchFamily="2" charset="-122"/>
                    </a:endParaRPr>
                  </a:p>
                </p:txBody>
              </p:sp>
            </p:grpSp>
            <p:pic>
              <p:nvPicPr>
                <p:cNvPr id="60" name="Picture 224" descr="basicnode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989364" y="3467329"/>
                  <a:ext cx="208200" cy="1343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cxnSp>
            <p:nvCxnSpPr>
              <p:cNvPr id="58" name="AutoShape 210"/>
              <p:cNvCxnSpPr>
                <a:cxnSpLocks noChangeShapeType="1"/>
              </p:cNvCxnSpPr>
              <p:nvPr/>
            </p:nvCxnSpPr>
            <p:spPr bwMode="auto">
              <a:xfrm rot="16200000" flipH="1">
                <a:off x="5725049" y="1913405"/>
                <a:ext cx="498974" cy="337030"/>
              </a:xfrm>
              <a:prstGeom prst="bentConnector2">
                <a:avLst/>
              </a:prstGeom>
              <a:noFill/>
              <a:ln w="19050">
                <a:solidFill>
                  <a:srgbClr val="40637A"/>
                </a:solidFill>
                <a:miter lim="800000"/>
                <a:headEnd/>
                <a:tailEnd/>
              </a:ln>
            </p:spPr>
          </p:cxnSp>
        </p:grpSp>
        <p:sp>
          <p:nvSpPr>
            <p:cNvPr id="56" name="Rectangle 8"/>
            <p:cNvSpPr>
              <a:spLocks noChangeArrowheads="1"/>
            </p:cNvSpPr>
            <p:nvPr/>
          </p:nvSpPr>
          <p:spPr bwMode="auto">
            <a:xfrm>
              <a:off x="7124821" y="1084245"/>
              <a:ext cx="979756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超级</a:t>
              </a:r>
              <a:r>
                <a:rPr lang="en-US" altLang="zh-CN" sz="1200" b="1" i="1" dirty="0">
                  <a:solidFill>
                    <a:srgbClr val="0033CC"/>
                  </a:solidFill>
                </a:rPr>
                <a:t>M</a:t>
              </a:r>
              <a:r>
                <a:rPr lang="en-US" altLang="zh-CN" sz="1200" b="1" i="1" dirty="0" smtClean="0">
                  <a:solidFill>
                    <a:srgbClr val="0033CC"/>
                  </a:solidFill>
                </a:rPr>
                <a:t>BOM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</p:grpSp>
      <p:sp>
        <p:nvSpPr>
          <p:cNvPr id="96" name="Rectangle 45"/>
          <p:cNvSpPr>
            <a:spLocks noChangeArrowheads="1"/>
          </p:cNvSpPr>
          <p:nvPr/>
        </p:nvSpPr>
        <p:spPr bwMode="auto">
          <a:xfrm>
            <a:off x="1067407" y="1136342"/>
            <a:ext cx="2360116" cy="10209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  <a:headEnd/>
            <a:tailEnd/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97" name="Group 49"/>
          <p:cNvGrpSpPr>
            <a:grpSpLocks/>
          </p:cNvGrpSpPr>
          <p:nvPr/>
        </p:nvGrpSpPr>
        <p:grpSpPr bwMode="auto">
          <a:xfrm>
            <a:off x="1319781" y="1309688"/>
            <a:ext cx="1934219" cy="693737"/>
            <a:chOff x="990" y="1289"/>
            <a:chExt cx="876" cy="437"/>
          </a:xfrm>
        </p:grpSpPr>
        <p:sp>
          <p:nvSpPr>
            <p:cNvPr id="98" name="Text Box 50"/>
            <p:cNvSpPr txBox="1">
              <a:spLocks noChangeArrowheads="1"/>
            </p:cNvSpPr>
            <p:nvPr/>
          </p:nvSpPr>
          <p:spPr bwMode="auto">
            <a:xfrm>
              <a:off x="990" y="1289"/>
              <a:ext cx="692" cy="173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sz="1200" dirty="0"/>
                <a:t>更改请求流程</a:t>
              </a:r>
            </a:p>
          </p:txBody>
        </p:sp>
        <p:sp>
          <p:nvSpPr>
            <p:cNvPr id="99" name="Text Box 51"/>
            <p:cNvSpPr txBox="1">
              <a:spLocks noChangeArrowheads="1"/>
            </p:cNvSpPr>
            <p:nvPr/>
          </p:nvSpPr>
          <p:spPr bwMode="auto">
            <a:xfrm>
              <a:off x="1174" y="1553"/>
              <a:ext cx="692" cy="173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  <a:ex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sz="1200" dirty="0"/>
                <a:t>更改通知流程</a:t>
              </a:r>
            </a:p>
          </p:txBody>
        </p:sp>
        <p:cxnSp>
          <p:nvCxnSpPr>
            <p:cNvPr id="100" name="AutoShape 52"/>
            <p:cNvCxnSpPr>
              <a:cxnSpLocks noChangeShapeType="1"/>
              <a:stCxn id="98" idx="3"/>
              <a:endCxn id="99" idx="1"/>
            </p:cNvCxnSpPr>
            <p:nvPr/>
          </p:nvCxnSpPr>
          <p:spPr bwMode="auto">
            <a:xfrm flipH="1">
              <a:off x="1174" y="1376"/>
              <a:ext cx="508" cy="264"/>
            </a:xfrm>
            <a:prstGeom prst="curvedConnector5">
              <a:avLst>
                <a:gd name="adj1" fmla="val -20380"/>
                <a:gd name="adj2" fmla="val 50000"/>
                <a:gd name="adj3" fmla="val 120380"/>
              </a:avLst>
            </a:prstGeom>
            <a:ln>
              <a:solidFill>
                <a:schemeClr val="bg1">
                  <a:lumMod val="85000"/>
                </a:schemeClr>
              </a:solidFill>
              <a:headEnd/>
              <a:tailEnd type="triangle" w="med" len="med"/>
            </a:ln>
            <a:ex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105" name="AutoShape 57"/>
          <p:cNvSpPr>
            <a:spLocks noChangeArrowheads="1"/>
          </p:cNvSpPr>
          <p:nvPr/>
        </p:nvSpPr>
        <p:spPr bwMode="auto">
          <a:xfrm>
            <a:off x="3777682" y="1384300"/>
            <a:ext cx="1536466" cy="685800"/>
          </a:xfrm>
          <a:prstGeom prst="rightArrow">
            <a:avLst>
              <a:gd name="adj1" fmla="val 50000"/>
              <a:gd name="adj2" fmla="val 25000"/>
            </a:avLst>
          </a:prstGeom>
          <a:ln>
            <a:headEnd/>
            <a:tailEnd/>
          </a:ln>
          <a:ex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业务</a:t>
            </a:r>
          </a:p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驱动</a:t>
            </a:r>
          </a:p>
        </p:txBody>
      </p:sp>
      <p:sp>
        <p:nvSpPr>
          <p:cNvPr id="102" name="Rectangle 8"/>
          <p:cNvSpPr>
            <a:spLocks noChangeArrowheads="1"/>
          </p:cNvSpPr>
          <p:nvPr/>
        </p:nvSpPr>
        <p:spPr bwMode="auto">
          <a:xfrm>
            <a:off x="3344064" y="2667342"/>
            <a:ext cx="646331" cy="25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200" b="1" i="1" dirty="0" smtClean="0">
                <a:solidFill>
                  <a:srgbClr val="0033CC"/>
                </a:solidFill>
              </a:rPr>
              <a:t>选项集</a:t>
            </a:r>
            <a:endParaRPr lang="en-US" altLang="zh-CN" sz="1200" b="1" i="1" dirty="0">
              <a:solidFill>
                <a:srgbClr val="0033CC"/>
              </a:solidFill>
            </a:endParaRPr>
          </a:p>
        </p:txBody>
      </p:sp>
      <p:sp>
        <p:nvSpPr>
          <p:cNvPr id="104" name="Rectangle 45"/>
          <p:cNvSpPr>
            <a:spLocks noChangeArrowheads="1"/>
          </p:cNvSpPr>
          <p:nvPr/>
        </p:nvSpPr>
        <p:spPr bwMode="auto">
          <a:xfrm>
            <a:off x="5650105" y="1172991"/>
            <a:ext cx="2360116" cy="10209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  <a:headEnd/>
            <a:tailEnd/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Text Box 50"/>
          <p:cNvSpPr txBox="1">
            <a:spLocks noChangeArrowheads="1"/>
          </p:cNvSpPr>
          <p:nvPr/>
        </p:nvSpPr>
        <p:spPr bwMode="auto">
          <a:xfrm>
            <a:off x="6071456" y="1572716"/>
            <a:ext cx="1415772" cy="2769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1200" dirty="0" smtClean="0"/>
              <a:t>快速变更</a:t>
            </a:r>
            <a:r>
              <a:rPr lang="en-US" altLang="zh-CN" sz="1200" dirty="0" smtClean="0"/>
              <a:t>(KS)</a:t>
            </a:r>
            <a:r>
              <a:rPr lang="zh-CN" altLang="en-US" sz="1200" dirty="0" smtClean="0"/>
              <a:t>流程</a:t>
            </a:r>
            <a:endParaRPr lang="zh-CN" alt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267273951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889025" y="2139524"/>
            <a:ext cx="3215684" cy="4111302"/>
            <a:chOff x="3818658" y="2024110"/>
            <a:chExt cx="3215684" cy="4111302"/>
          </a:xfrm>
        </p:grpSpPr>
        <p:sp>
          <p:nvSpPr>
            <p:cNvPr id="182" name="Rectangle 4"/>
            <p:cNvSpPr>
              <a:spLocks noChangeArrowheads="1"/>
            </p:cNvSpPr>
            <p:nvPr/>
          </p:nvSpPr>
          <p:spPr bwMode="auto">
            <a:xfrm>
              <a:off x="3819664" y="3563644"/>
              <a:ext cx="3214678" cy="2571768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5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5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Rectangle 3"/>
            <p:cNvSpPr>
              <a:spLocks noChangeArrowheads="1"/>
            </p:cNvSpPr>
            <p:nvPr/>
          </p:nvSpPr>
          <p:spPr bwMode="auto">
            <a:xfrm>
              <a:off x="3818658" y="2024110"/>
              <a:ext cx="3214678" cy="154663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4493637" y="2979195"/>
              <a:ext cx="906732" cy="405104"/>
              <a:chOff x="3850567" y="4299174"/>
              <a:chExt cx="1065905" cy="433362"/>
            </a:xfrm>
          </p:grpSpPr>
          <p:pic>
            <p:nvPicPr>
              <p:cNvPr id="149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0" name="TextBox 149"/>
              <p:cNvSpPr txBox="1"/>
              <p:nvPr/>
            </p:nvSpPr>
            <p:spPr>
              <a:xfrm>
                <a:off x="3850567" y="4534989"/>
                <a:ext cx="1065905" cy="197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200" dirty="0" smtClean="0"/>
                  <a:t>普通臂</a:t>
                </a:r>
              </a:p>
            </p:txBody>
          </p:sp>
        </p:grpSp>
        <p:pic>
          <p:nvPicPr>
            <p:cNvPr id="109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1397" y="4040098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Text Box 172"/>
            <p:cNvSpPr txBox="1">
              <a:spLocks noChangeArrowheads="1"/>
            </p:cNvSpPr>
            <p:nvPr/>
          </p:nvSpPr>
          <p:spPr bwMode="auto">
            <a:xfrm>
              <a:off x="4684776" y="4031773"/>
              <a:ext cx="17347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2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普通臂 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6B4.300.202.HST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cxnSp>
          <p:nvCxnSpPr>
            <p:cNvPr id="111" name="AutoShape 176"/>
            <p:cNvCxnSpPr>
              <a:cxnSpLocks noChangeShapeType="1"/>
            </p:cNvCxnSpPr>
            <p:nvPr/>
          </p:nvCxnSpPr>
          <p:spPr bwMode="auto">
            <a:xfrm rot="16200000" flipH="1">
              <a:off x="4605901" y="4266290"/>
              <a:ext cx="277633" cy="289623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AutoShape 177"/>
            <p:cNvCxnSpPr>
              <a:cxnSpLocks noChangeShapeType="1"/>
            </p:cNvCxnSpPr>
            <p:nvPr/>
          </p:nvCxnSpPr>
          <p:spPr bwMode="auto">
            <a:xfrm rot="16200000" flipH="1">
              <a:off x="4432792" y="4437874"/>
              <a:ext cx="623143" cy="293455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" name="Text Box 178"/>
            <p:cNvSpPr txBox="1">
              <a:spLocks noChangeArrowheads="1"/>
            </p:cNvSpPr>
            <p:nvPr/>
          </p:nvSpPr>
          <p:spPr bwMode="auto">
            <a:xfrm>
              <a:off x="5083410" y="4405877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cxnSp>
          <p:nvCxnSpPr>
            <p:cNvPr id="114" name="AutoShape 181"/>
            <p:cNvCxnSpPr>
              <a:cxnSpLocks noChangeShapeType="1"/>
            </p:cNvCxnSpPr>
            <p:nvPr/>
          </p:nvCxnSpPr>
          <p:spPr bwMode="auto">
            <a:xfrm rot="16200000" flipH="1">
              <a:off x="4270506" y="4594191"/>
              <a:ext cx="946986" cy="282478"/>
            </a:xfrm>
            <a:prstGeom prst="bentConnector3">
              <a:avLst>
                <a:gd name="adj1" fmla="val 98012"/>
              </a:avLst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5" name="Text Box 182"/>
            <p:cNvSpPr txBox="1">
              <a:spLocks noChangeArrowheads="1"/>
            </p:cNvSpPr>
            <p:nvPr/>
          </p:nvSpPr>
          <p:spPr bwMode="auto">
            <a:xfrm>
              <a:off x="5095051" y="5072639"/>
              <a:ext cx="305317" cy="255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 dirty="0"/>
                <a:t>…</a:t>
              </a:r>
            </a:p>
          </p:txBody>
        </p:sp>
        <p:cxnSp>
          <p:nvCxnSpPr>
            <p:cNvPr id="116" name="AutoShape 113"/>
            <p:cNvCxnSpPr>
              <a:cxnSpLocks noChangeShapeType="1"/>
              <a:stCxn id="150" idx="2"/>
              <a:endCxn id="109" idx="0"/>
            </p:cNvCxnSpPr>
            <p:nvPr/>
          </p:nvCxnSpPr>
          <p:spPr bwMode="auto">
            <a:xfrm flipH="1">
              <a:off x="4606479" y="3384299"/>
              <a:ext cx="340524" cy="6557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17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358" y="442808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090" y="4779706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Text Box 178"/>
            <p:cNvSpPr txBox="1">
              <a:spLocks noChangeArrowheads="1"/>
            </p:cNvSpPr>
            <p:nvPr/>
          </p:nvSpPr>
          <p:spPr bwMode="auto">
            <a:xfrm>
              <a:off x="5089300" y="4766587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pic>
          <p:nvPicPr>
            <p:cNvPr id="121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981" y="509494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8" name="TextBox 167"/>
            <p:cNvSpPr txBox="1"/>
            <p:nvPr/>
          </p:nvSpPr>
          <p:spPr>
            <a:xfrm>
              <a:off x="3827536" y="204629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选项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配置层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73" name="组合 172"/>
            <p:cNvGrpSpPr/>
            <p:nvPr/>
          </p:nvGrpSpPr>
          <p:grpSpPr>
            <a:xfrm>
              <a:off x="4826214" y="2184831"/>
              <a:ext cx="968881" cy="408938"/>
              <a:chOff x="2267636" y="3419392"/>
              <a:chExt cx="1065905" cy="437463"/>
            </a:xfrm>
          </p:grpSpPr>
          <p:sp>
            <p:nvSpPr>
              <p:cNvPr id="174" name="TextBox 173"/>
              <p:cNvSpPr txBox="1"/>
              <p:nvPr/>
            </p:nvSpPr>
            <p:spPr>
              <a:xfrm>
                <a:off x="2267636" y="3702967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 smtClean="0"/>
                  <a:t>动臂</a:t>
                </a:r>
                <a:endParaRPr lang="en-US" altLang="zh-CN" sz="1000" dirty="0" smtClean="0"/>
              </a:p>
            </p:txBody>
          </p:sp>
          <p:pic>
            <p:nvPicPr>
              <p:cNvPr id="175" name="Picture 92" descr="basicnode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647" y="3419392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组合 175"/>
            <p:cNvGrpSpPr/>
            <p:nvPr/>
          </p:nvGrpSpPr>
          <p:grpSpPr>
            <a:xfrm>
              <a:off x="5315761" y="3014279"/>
              <a:ext cx="968881" cy="364292"/>
              <a:chOff x="3850567" y="4299174"/>
              <a:chExt cx="1065905" cy="389703"/>
            </a:xfrm>
          </p:grpSpPr>
          <p:pic>
            <p:nvPicPr>
              <p:cNvPr id="177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8" name="TextBox 177"/>
              <p:cNvSpPr txBox="1"/>
              <p:nvPr/>
            </p:nvSpPr>
            <p:spPr>
              <a:xfrm>
                <a:off x="3850567" y="4534989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/>
                  <a:t>加</a:t>
                </a:r>
                <a:r>
                  <a:rPr lang="zh-CN" altLang="en-US" sz="1000" dirty="0" smtClean="0"/>
                  <a:t>长臂</a:t>
                </a:r>
              </a:p>
            </p:txBody>
          </p:sp>
        </p:grpSp>
        <p:cxnSp>
          <p:nvCxnSpPr>
            <p:cNvPr id="179" name="AutoShape 113"/>
            <p:cNvCxnSpPr>
              <a:cxnSpLocks noChangeShapeType="1"/>
              <a:stCxn id="175" idx="2"/>
              <a:endCxn id="149" idx="0"/>
            </p:cNvCxnSpPr>
            <p:nvPr/>
          </p:nvCxnSpPr>
          <p:spPr bwMode="auto">
            <a:xfrm flipH="1">
              <a:off x="4960550" y="2449915"/>
              <a:ext cx="321904" cy="529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0" name="AutoShape 113"/>
            <p:cNvCxnSpPr>
              <a:cxnSpLocks noChangeShapeType="1"/>
              <a:stCxn id="174" idx="0"/>
              <a:endCxn id="177" idx="0"/>
            </p:cNvCxnSpPr>
            <p:nvPr/>
          </p:nvCxnSpPr>
          <p:spPr bwMode="auto">
            <a:xfrm>
              <a:off x="5310655" y="2449915"/>
              <a:ext cx="504022" cy="5643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" name="TextBox 183"/>
            <p:cNvSpPr txBox="1"/>
            <p:nvPr/>
          </p:nvSpPr>
          <p:spPr>
            <a:xfrm>
              <a:off x="3819664" y="357074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工程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20" name="组合 219"/>
          <p:cNvGrpSpPr/>
          <p:nvPr/>
        </p:nvGrpSpPr>
        <p:grpSpPr>
          <a:xfrm>
            <a:off x="3134825" y="2244728"/>
            <a:ext cx="868561" cy="973282"/>
            <a:chOff x="3321699" y="2667342"/>
            <a:chExt cx="868561" cy="973282"/>
          </a:xfrm>
        </p:grpSpPr>
        <p:grpSp>
          <p:nvGrpSpPr>
            <p:cNvPr id="221" name="组合 220"/>
            <p:cNvGrpSpPr/>
            <p:nvPr/>
          </p:nvGrpSpPr>
          <p:grpSpPr>
            <a:xfrm>
              <a:off x="3321699" y="2910315"/>
              <a:ext cx="673308" cy="730309"/>
              <a:chOff x="5020118" y="1776126"/>
              <a:chExt cx="817737" cy="600649"/>
            </a:xfrm>
          </p:grpSpPr>
          <p:sp>
            <p:nvSpPr>
              <p:cNvPr id="224" name="AutoShape 23"/>
              <p:cNvSpPr>
                <a:spLocks noChangeArrowheads="1"/>
              </p:cNvSpPr>
              <p:nvPr/>
            </p:nvSpPr>
            <p:spPr bwMode="auto">
              <a:xfrm>
                <a:off x="5020118" y="1776126"/>
                <a:ext cx="817737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225" name="TextBox 224"/>
              <p:cNvSpPr txBox="1"/>
              <p:nvPr/>
            </p:nvSpPr>
            <p:spPr>
              <a:xfrm>
                <a:off x="5042711" y="1884332"/>
                <a:ext cx="77255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sp>
          <p:nvSpPr>
            <p:cNvPr id="222" name="Rectangle 8"/>
            <p:cNvSpPr>
              <a:spLocks noChangeArrowheads="1"/>
            </p:cNvSpPr>
            <p:nvPr/>
          </p:nvSpPr>
          <p:spPr bwMode="auto">
            <a:xfrm>
              <a:off x="3344064" y="2667342"/>
              <a:ext cx="646331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选项集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223" name="矩形 222"/>
            <p:cNvSpPr/>
            <p:nvPr/>
          </p:nvSpPr>
          <p:spPr bwMode="auto">
            <a:xfrm>
              <a:off x="3995006" y="2699180"/>
              <a:ext cx="195254" cy="184844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92075" tIns="46038" rIns="92075" bIns="46038" rtlCol="0" anchor="ctr"/>
            <a:lstStyle/>
            <a:p>
              <a:pPr marL="171450" indent="-171450" algn="ctr"/>
              <a:r>
                <a:rPr lang="en-US" altLang="zh-CN" sz="1200" b="1" dirty="0" smtClean="0"/>
                <a:t>A</a:t>
              </a:r>
              <a:endParaRPr lang="zh-CN" altLang="en-US" sz="1200" b="1" dirty="0"/>
            </a:p>
          </p:txBody>
        </p:sp>
      </p:grpSp>
      <p:cxnSp>
        <p:nvCxnSpPr>
          <p:cNvPr id="227" name="直接连接符 226"/>
          <p:cNvCxnSpPr/>
          <p:nvPr/>
        </p:nvCxnSpPr>
        <p:spPr>
          <a:xfrm>
            <a:off x="4385568" y="1775538"/>
            <a:ext cx="44389" cy="49004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8" name="矩形 227"/>
          <p:cNvSpPr/>
          <p:nvPr/>
        </p:nvSpPr>
        <p:spPr bwMode="auto">
          <a:xfrm>
            <a:off x="3444845" y="4185578"/>
            <a:ext cx="195254" cy="18484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1200" b="1" dirty="0" smtClean="0"/>
              <a:t>A</a:t>
            </a:r>
            <a:endParaRPr lang="zh-CN" altLang="en-US" sz="1200" b="1" dirty="0"/>
          </a:p>
        </p:txBody>
      </p:sp>
      <p:grpSp>
        <p:nvGrpSpPr>
          <p:cNvPr id="264" name="组合 263"/>
          <p:cNvGrpSpPr/>
          <p:nvPr/>
        </p:nvGrpSpPr>
        <p:grpSpPr>
          <a:xfrm>
            <a:off x="4725795" y="2140998"/>
            <a:ext cx="3215684" cy="4111302"/>
            <a:chOff x="3818658" y="2024110"/>
            <a:chExt cx="3215684" cy="4111302"/>
          </a:xfrm>
        </p:grpSpPr>
        <p:sp>
          <p:nvSpPr>
            <p:cNvPr id="265" name="Rectangle 4"/>
            <p:cNvSpPr>
              <a:spLocks noChangeArrowheads="1"/>
            </p:cNvSpPr>
            <p:nvPr/>
          </p:nvSpPr>
          <p:spPr bwMode="auto">
            <a:xfrm>
              <a:off x="3819664" y="3563644"/>
              <a:ext cx="3214678" cy="2571768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5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5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" name="Rectangle 3"/>
            <p:cNvSpPr>
              <a:spLocks noChangeArrowheads="1"/>
            </p:cNvSpPr>
            <p:nvPr/>
          </p:nvSpPr>
          <p:spPr bwMode="auto">
            <a:xfrm>
              <a:off x="3818658" y="2024110"/>
              <a:ext cx="3214678" cy="154663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7" name="组合 266"/>
            <p:cNvGrpSpPr/>
            <p:nvPr/>
          </p:nvGrpSpPr>
          <p:grpSpPr>
            <a:xfrm>
              <a:off x="4493637" y="2979195"/>
              <a:ext cx="906732" cy="405104"/>
              <a:chOff x="3850567" y="4299174"/>
              <a:chExt cx="1065905" cy="433362"/>
            </a:xfrm>
          </p:grpSpPr>
          <p:pic>
            <p:nvPicPr>
              <p:cNvPr id="290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TextBox 290"/>
              <p:cNvSpPr txBox="1"/>
              <p:nvPr/>
            </p:nvSpPr>
            <p:spPr>
              <a:xfrm>
                <a:off x="3850567" y="4534989"/>
                <a:ext cx="1065905" cy="197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200" dirty="0" smtClean="0"/>
                  <a:t>普通臂</a:t>
                </a:r>
              </a:p>
            </p:txBody>
          </p:sp>
        </p:grpSp>
        <p:pic>
          <p:nvPicPr>
            <p:cNvPr id="268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1397" y="4040098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9" name="Text Box 172"/>
            <p:cNvSpPr txBox="1">
              <a:spLocks noChangeArrowheads="1"/>
            </p:cNvSpPr>
            <p:nvPr/>
          </p:nvSpPr>
          <p:spPr bwMode="auto">
            <a:xfrm>
              <a:off x="4684776" y="4031773"/>
              <a:ext cx="17347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2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普通臂 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6B4.300.202.HST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cxnSp>
          <p:nvCxnSpPr>
            <p:cNvPr id="270" name="AutoShape 176"/>
            <p:cNvCxnSpPr>
              <a:cxnSpLocks noChangeShapeType="1"/>
            </p:cNvCxnSpPr>
            <p:nvPr/>
          </p:nvCxnSpPr>
          <p:spPr bwMode="auto">
            <a:xfrm rot="16200000" flipH="1">
              <a:off x="4605901" y="4266290"/>
              <a:ext cx="277633" cy="289623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1" name="AutoShape 177"/>
            <p:cNvCxnSpPr>
              <a:cxnSpLocks noChangeShapeType="1"/>
            </p:cNvCxnSpPr>
            <p:nvPr/>
          </p:nvCxnSpPr>
          <p:spPr bwMode="auto">
            <a:xfrm rot="16200000" flipH="1">
              <a:off x="4432792" y="4437874"/>
              <a:ext cx="623143" cy="293455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2" name="Text Box 178"/>
            <p:cNvSpPr txBox="1">
              <a:spLocks noChangeArrowheads="1"/>
            </p:cNvSpPr>
            <p:nvPr/>
          </p:nvSpPr>
          <p:spPr bwMode="auto">
            <a:xfrm>
              <a:off x="5083410" y="4405877"/>
              <a:ext cx="103265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 smtClean="0">
                  <a:solidFill>
                    <a:srgbClr val="0066FF"/>
                  </a:solidFill>
                </a:rPr>
                <a:t>5B4.300.200.C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cxnSp>
          <p:nvCxnSpPr>
            <p:cNvPr id="273" name="AutoShape 181"/>
            <p:cNvCxnSpPr>
              <a:cxnSpLocks noChangeShapeType="1"/>
            </p:cNvCxnSpPr>
            <p:nvPr/>
          </p:nvCxnSpPr>
          <p:spPr bwMode="auto">
            <a:xfrm rot="16200000" flipH="1">
              <a:off x="4270506" y="4594191"/>
              <a:ext cx="946986" cy="282478"/>
            </a:xfrm>
            <a:prstGeom prst="bentConnector3">
              <a:avLst>
                <a:gd name="adj1" fmla="val 98012"/>
              </a:avLst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4" name="Text Box 182"/>
            <p:cNvSpPr txBox="1">
              <a:spLocks noChangeArrowheads="1"/>
            </p:cNvSpPr>
            <p:nvPr/>
          </p:nvSpPr>
          <p:spPr bwMode="auto">
            <a:xfrm>
              <a:off x="5095051" y="5072639"/>
              <a:ext cx="305317" cy="255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 dirty="0"/>
                <a:t>…</a:t>
              </a:r>
            </a:p>
          </p:txBody>
        </p:sp>
        <p:cxnSp>
          <p:nvCxnSpPr>
            <p:cNvPr id="275" name="AutoShape 113"/>
            <p:cNvCxnSpPr>
              <a:cxnSpLocks noChangeShapeType="1"/>
              <a:stCxn id="291" idx="2"/>
              <a:endCxn id="268" idx="0"/>
            </p:cNvCxnSpPr>
            <p:nvPr/>
          </p:nvCxnSpPr>
          <p:spPr bwMode="auto">
            <a:xfrm flipH="1">
              <a:off x="4606479" y="3384299"/>
              <a:ext cx="340524" cy="6557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76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358" y="442808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090" y="4779706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Text Box 178"/>
            <p:cNvSpPr txBox="1">
              <a:spLocks noChangeArrowheads="1"/>
            </p:cNvSpPr>
            <p:nvPr/>
          </p:nvSpPr>
          <p:spPr bwMode="auto">
            <a:xfrm>
              <a:off x="5089300" y="4766587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pic>
          <p:nvPicPr>
            <p:cNvPr id="279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981" y="509494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TextBox 279"/>
            <p:cNvSpPr txBox="1"/>
            <p:nvPr/>
          </p:nvSpPr>
          <p:spPr>
            <a:xfrm>
              <a:off x="3827536" y="204629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选项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配置层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81" name="组合 280"/>
            <p:cNvGrpSpPr/>
            <p:nvPr/>
          </p:nvGrpSpPr>
          <p:grpSpPr>
            <a:xfrm>
              <a:off x="4826214" y="2184831"/>
              <a:ext cx="968881" cy="408938"/>
              <a:chOff x="2267636" y="3419392"/>
              <a:chExt cx="1065905" cy="437463"/>
            </a:xfrm>
          </p:grpSpPr>
          <p:sp>
            <p:nvSpPr>
              <p:cNvPr id="288" name="TextBox 287"/>
              <p:cNvSpPr txBox="1"/>
              <p:nvPr/>
            </p:nvSpPr>
            <p:spPr>
              <a:xfrm>
                <a:off x="2267636" y="3702967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 smtClean="0"/>
                  <a:t>动臂</a:t>
                </a:r>
                <a:endParaRPr lang="en-US" altLang="zh-CN" sz="1000" dirty="0" smtClean="0"/>
              </a:p>
            </p:txBody>
          </p:sp>
          <p:pic>
            <p:nvPicPr>
              <p:cNvPr id="289" name="Picture 92" descr="basicnode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647" y="3419392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82" name="组合 281"/>
            <p:cNvGrpSpPr/>
            <p:nvPr/>
          </p:nvGrpSpPr>
          <p:grpSpPr>
            <a:xfrm>
              <a:off x="5315761" y="3014279"/>
              <a:ext cx="968881" cy="364292"/>
              <a:chOff x="3850567" y="4299174"/>
              <a:chExt cx="1065905" cy="389703"/>
            </a:xfrm>
          </p:grpSpPr>
          <p:pic>
            <p:nvPicPr>
              <p:cNvPr id="286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" name="TextBox 286"/>
              <p:cNvSpPr txBox="1"/>
              <p:nvPr/>
            </p:nvSpPr>
            <p:spPr>
              <a:xfrm>
                <a:off x="3850567" y="4534989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/>
                  <a:t>加</a:t>
                </a:r>
                <a:r>
                  <a:rPr lang="zh-CN" altLang="en-US" sz="1000" dirty="0" smtClean="0"/>
                  <a:t>长臂</a:t>
                </a:r>
              </a:p>
            </p:txBody>
          </p:sp>
        </p:grpSp>
        <p:cxnSp>
          <p:nvCxnSpPr>
            <p:cNvPr id="283" name="AutoShape 113"/>
            <p:cNvCxnSpPr>
              <a:cxnSpLocks noChangeShapeType="1"/>
              <a:stCxn id="289" idx="2"/>
              <a:endCxn id="290" idx="0"/>
            </p:cNvCxnSpPr>
            <p:nvPr/>
          </p:nvCxnSpPr>
          <p:spPr bwMode="auto">
            <a:xfrm flipH="1">
              <a:off x="4960550" y="2449915"/>
              <a:ext cx="321904" cy="529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4" name="AutoShape 113"/>
            <p:cNvCxnSpPr>
              <a:cxnSpLocks noChangeShapeType="1"/>
              <a:stCxn id="288" idx="0"/>
              <a:endCxn id="286" idx="0"/>
            </p:cNvCxnSpPr>
            <p:nvPr/>
          </p:nvCxnSpPr>
          <p:spPr bwMode="auto">
            <a:xfrm>
              <a:off x="5310655" y="2449915"/>
              <a:ext cx="504022" cy="5643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5" name="TextBox 284"/>
            <p:cNvSpPr txBox="1"/>
            <p:nvPr/>
          </p:nvSpPr>
          <p:spPr>
            <a:xfrm>
              <a:off x="3819664" y="357074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工程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92" name="组合 291"/>
          <p:cNvGrpSpPr/>
          <p:nvPr/>
        </p:nvGrpSpPr>
        <p:grpSpPr>
          <a:xfrm>
            <a:off x="6971595" y="2246202"/>
            <a:ext cx="868561" cy="973282"/>
            <a:chOff x="3321699" y="2667342"/>
            <a:chExt cx="868561" cy="973282"/>
          </a:xfrm>
        </p:grpSpPr>
        <p:grpSp>
          <p:nvGrpSpPr>
            <p:cNvPr id="293" name="组合 292"/>
            <p:cNvGrpSpPr/>
            <p:nvPr/>
          </p:nvGrpSpPr>
          <p:grpSpPr>
            <a:xfrm>
              <a:off x="3321699" y="2910315"/>
              <a:ext cx="673308" cy="730309"/>
              <a:chOff x="5020118" y="1776126"/>
              <a:chExt cx="817737" cy="600649"/>
            </a:xfrm>
          </p:grpSpPr>
          <p:sp>
            <p:nvSpPr>
              <p:cNvPr id="296" name="AutoShape 23"/>
              <p:cNvSpPr>
                <a:spLocks noChangeArrowheads="1"/>
              </p:cNvSpPr>
              <p:nvPr/>
            </p:nvSpPr>
            <p:spPr bwMode="auto">
              <a:xfrm>
                <a:off x="5020118" y="1776126"/>
                <a:ext cx="817737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5042711" y="1884332"/>
                <a:ext cx="77255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sp>
          <p:nvSpPr>
            <p:cNvPr id="294" name="Rectangle 8"/>
            <p:cNvSpPr>
              <a:spLocks noChangeArrowheads="1"/>
            </p:cNvSpPr>
            <p:nvPr/>
          </p:nvSpPr>
          <p:spPr bwMode="auto">
            <a:xfrm>
              <a:off x="3344064" y="2667342"/>
              <a:ext cx="646331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选项集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295" name="矩形 294"/>
            <p:cNvSpPr/>
            <p:nvPr/>
          </p:nvSpPr>
          <p:spPr bwMode="auto">
            <a:xfrm>
              <a:off x="3995006" y="2699180"/>
              <a:ext cx="195254" cy="184844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92075" tIns="46038" rIns="92075" bIns="46038" rtlCol="0" anchor="ctr"/>
            <a:lstStyle/>
            <a:p>
              <a:pPr marL="171450" indent="-171450" algn="ctr"/>
              <a:r>
                <a:rPr lang="en-US" altLang="zh-CN" sz="1200" b="1" dirty="0" smtClean="0"/>
                <a:t>A</a:t>
              </a:r>
              <a:endParaRPr lang="zh-CN" altLang="en-US" sz="1200" b="1" dirty="0"/>
            </a:p>
          </p:txBody>
        </p:sp>
      </p:grpSp>
      <p:sp>
        <p:nvSpPr>
          <p:cNvPr id="298" name="矩形 297"/>
          <p:cNvSpPr/>
          <p:nvPr/>
        </p:nvSpPr>
        <p:spPr bwMode="auto">
          <a:xfrm>
            <a:off x="7281615" y="4187052"/>
            <a:ext cx="195254" cy="18484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1200" b="1" dirty="0"/>
              <a:t>B</a:t>
            </a:r>
            <a:endParaRPr lang="zh-CN" altLang="en-US" sz="1200" b="1" dirty="0"/>
          </a:p>
        </p:txBody>
      </p:sp>
      <p:sp>
        <p:nvSpPr>
          <p:cNvPr id="299" name="矩形 298"/>
          <p:cNvSpPr/>
          <p:nvPr/>
        </p:nvSpPr>
        <p:spPr bwMode="auto">
          <a:xfrm>
            <a:off x="4734673" y="3687634"/>
            <a:ext cx="3205800" cy="2563192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  <p:sp>
        <p:nvSpPr>
          <p:cNvPr id="300" name="TextBox 168"/>
          <p:cNvSpPr txBox="1">
            <a:spLocks noChangeArrowheads="1"/>
          </p:cNvSpPr>
          <p:nvPr/>
        </p:nvSpPr>
        <p:spPr bwMode="auto">
          <a:xfrm>
            <a:off x="3808133" y="1615649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400" dirty="0"/>
              <a:t>改前</a:t>
            </a:r>
          </a:p>
        </p:txBody>
      </p:sp>
      <p:sp>
        <p:nvSpPr>
          <p:cNvPr id="301" name="TextBox 169"/>
          <p:cNvSpPr txBox="1">
            <a:spLocks noChangeArrowheads="1"/>
          </p:cNvSpPr>
          <p:nvPr/>
        </p:nvSpPr>
        <p:spPr bwMode="auto">
          <a:xfrm>
            <a:off x="4725795" y="1617778"/>
            <a:ext cx="428625" cy="5232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改后</a:t>
            </a: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9" y="1053307"/>
            <a:ext cx="4160360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 smtClean="0"/>
              <a:t>更改影响一：只有工程层数据发生更改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9755527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9" y="1053307"/>
            <a:ext cx="4160360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 smtClean="0"/>
              <a:t>更改影响一：只有工程层数据发生更改</a:t>
            </a:r>
            <a:endParaRPr lang="zh-CN" altLang="en-US" dirty="0"/>
          </a:p>
        </p:txBody>
      </p:sp>
      <p:sp>
        <p:nvSpPr>
          <p:cNvPr id="78" name="内容占位符 28"/>
          <p:cNvSpPr>
            <a:spLocks noGrp="1"/>
          </p:cNvSpPr>
          <p:nvPr>
            <p:ph idx="1"/>
          </p:nvPr>
        </p:nvSpPr>
        <p:spPr>
          <a:xfrm>
            <a:off x="412335" y="1837539"/>
            <a:ext cx="8445500" cy="210414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/>
              <a:t> </a:t>
            </a:r>
            <a:r>
              <a:rPr lang="zh-CN" altLang="en-US" sz="1600" dirty="0" smtClean="0"/>
              <a:t>    只有工程层零部件发生更改，对选项层没有任何影响，与现有的更改业务流程一致，设计人员在受影响零部件上发起变更请求，变更请求签审通过后发起变更通告，执行变更任务，发放更改后数据</a:t>
            </a:r>
            <a:r>
              <a:rPr lang="zh-CN" altLang="en-US" sz="1600" dirty="0"/>
              <a:t>；</a:t>
            </a:r>
            <a:r>
              <a:rPr lang="zh-CN" altLang="en-US" sz="1600" dirty="0" smtClean="0"/>
              <a:t>制造工程师接受到更改后的</a:t>
            </a:r>
            <a:r>
              <a:rPr lang="en-US" altLang="zh-CN" sz="1600" dirty="0" smtClean="0"/>
              <a:t>EBOM</a:t>
            </a:r>
            <a:r>
              <a:rPr lang="zh-CN" altLang="en-US" sz="1600" dirty="0" smtClean="0"/>
              <a:t>数据发起快速变更，更改</a:t>
            </a:r>
            <a:r>
              <a:rPr lang="en-US" altLang="zh-CN" sz="1600" dirty="0" smtClean="0"/>
              <a:t>MBOM</a:t>
            </a:r>
            <a:r>
              <a:rPr lang="zh-CN" altLang="en-US" sz="1600" dirty="0" smtClean="0"/>
              <a:t>数据，然后由工艺定额工程师修改工艺路线、工时定额，</a:t>
            </a:r>
            <a:r>
              <a:rPr lang="en-US" altLang="zh-CN" sz="1600" dirty="0" smtClean="0"/>
              <a:t>MBOM</a:t>
            </a:r>
            <a:r>
              <a:rPr lang="zh-CN" altLang="en-US" sz="1600" dirty="0" smtClean="0"/>
              <a:t>和工时定额信息更改完成后，一起发放到</a:t>
            </a:r>
            <a:r>
              <a:rPr lang="en-US" altLang="zh-CN" sz="1600" dirty="0" smtClean="0"/>
              <a:t>SAP</a:t>
            </a:r>
            <a:r>
              <a:rPr lang="zh-CN" altLang="en-US" sz="1600" dirty="0" smtClean="0"/>
              <a:t>中，整个变更完成。</a:t>
            </a:r>
            <a:endParaRPr lang="zh-CN" alt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00974137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889025" y="2139524"/>
            <a:ext cx="3215684" cy="4111302"/>
            <a:chOff x="3818658" y="2024110"/>
            <a:chExt cx="3215684" cy="4111302"/>
          </a:xfrm>
        </p:grpSpPr>
        <p:sp>
          <p:nvSpPr>
            <p:cNvPr id="182" name="Rectangle 4"/>
            <p:cNvSpPr>
              <a:spLocks noChangeArrowheads="1"/>
            </p:cNvSpPr>
            <p:nvPr/>
          </p:nvSpPr>
          <p:spPr bwMode="auto">
            <a:xfrm>
              <a:off x="3819664" y="3563644"/>
              <a:ext cx="3214678" cy="2571768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5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5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Rectangle 3"/>
            <p:cNvSpPr>
              <a:spLocks noChangeArrowheads="1"/>
            </p:cNvSpPr>
            <p:nvPr/>
          </p:nvSpPr>
          <p:spPr bwMode="auto">
            <a:xfrm>
              <a:off x="3818658" y="2024110"/>
              <a:ext cx="3214678" cy="154663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4493637" y="2979195"/>
              <a:ext cx="906732" cy="405104"/>
              <a:chOff x="3850567" y="4299174"/>
              <a:chExt cx="1065905" cy="433362"/>
            </a:xfrm>
          </p:grpSpPr>
          <p:pic>
            <p:nvPicPr>
              <p:cNvPr id="149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0" name="TextBox 149"/>
              <p:cNvSpPr txBox="1"/>
              <p:nvPr/>
            </p:nvSpPr>
            <p:spPr>
              <a:xfrm>
                <a:off x="3850567" y="4534989"/>
                <a:ext cx="1065905" cy="197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200" dirty="0" smtClean="0"/>
                  <a:t>普通臂</a:t>
                </a:r>
              </a:p>
            </p:txBody>
          </p:sp>
        </p:grpSp>
        <p:pic>
          <p:nvPicPr>
            <p:cNvPr id="109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1397" y="4040098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Text Box 172"/>
            <p:cNvSpPr txBox="1">
              <a:spLocks noChangeArrowheads="1"/>
            </p:cNvSpPr>
            <p:nvPr/>
          </p:nvSpPr>
          <p:spPr bwMode="auto">
            <a:xfrm>
              <a:off x="4684776" y="4031773"/>
              <a:ext cx="17347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2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普通臂 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6B4.300.202.HST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cxnSp>
          <p:nvCxnSpPr>
            <p:cNvPr id="111" name="AutoShape 176"/>
            <p:cNvCxnSpPr>
              <a:cxnSpLocks noChangeShapeType="1"/>
            </p:cNvCxnSpPr>
            <p:nvPr/>
          </p:nvCxnSpPr>
          <p:spPr bwMode="auto">
            <a:xfrm rot="16200000" flipH="1">
              <a:off x="4605901" y="4266290"/>
              <a:ext cx="277633" cy="289623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AutoShape 177"/>
            <p:cNvCxnSpPr>
              <a:cxnSpLocks noChangeShapeType="1"/>
            </p:cNvCxnSpPr>
            <p:nvPr/>
          </p:nvCxnSpPr>
          <p:spPr bwMode="auto">
            <a:xfrm rot="16200000" flipH="1">
              <a:off x="4432792" y="4437874"/>
              <a:ext cx="623143" cy="293455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" name="Text Box 178"/>
            <p:cNvSpPr txBox="1">
              <a:spLocks noChangeArrowheads="1"/>
            </p:cNvSpPr>
            <p:nvPr/>
          </p:nvSpPr>
          <p:spPr bwMode="auto">
            <a:xfrm>
              <a:off x="5083410" y="4405877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cxnSp>
          <p:nvCxnSpPr>
            <p:cNvPr id="114" name="AutoShape 181"/>
            <p:cNvCxnSpPr>
              <a:cxnSpLocks noChangeShapeType="1"/>
            </p:cNvCxnSpPr>
            <p:nvPr/>
          </p:nvCxnSpPr>
          <p:spPr bwMode="auto">
            <a:xfrm rot="16200000" flipH="1">
              <a:off x="4270506" y="4594191"/>
              <a:ext cx="946986" cy="282478"/>
            </a:xfrm>
            <a:prstGeom prst="bentConnector3">
              <a:avLst>
                <a:gd name="adj1" fmla="val 98012"/>
              </a:avLst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5" name="Text Box 182"/>
            <p:cNvSpPr txBox="1">
              <a:spLocks noChangeArrowheads="1"/>
            </p:cNvSpPr>
            <p:nvPr/>
          </p:nvSpPr>
          <p:spPr bwMode="auto">
            <a:xfrm>
              <a:off x="5095051" y="5072639"/>
              <a:ext cx="305317" cy="255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 dirty="0"/>
                <a:t>…</a:t>
              </a:r>
            </a:p>
          </p:txBody>
        </p:sp>
        <p:cxnSp>
          <p:nvCxnSpPr>
            <p:cNvPr id="116" name="AutoShape 113"/>
            <p:cNvCxnSpPr>
              <a:cxnSpLocks noChangeShapeType="1"/>
              <a:stCxn id="150" idx="2"/>
              <a:endCxn id="109" idx="0"/>
            </p:cNvCxnSpPr>
            <p:nvPr/>
          </p:nvCxnSpPr>
          <p:spPr bwMode="auto">
            <a:xfrm flipH="1">
              <a:off x="4606479" y="3384299"/>
              <a:ext cx="340524" cy="6557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17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358" y="442808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090" y="4779706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Text Box 178"/>
            <p:cNvSpPr txBox="1">
              <a:spLocks noChangeArrowheads="1"/>
            </p:cNvSpPr>
            <p:nvPr/>
          </p:nvSpPr>
          <p:spPr bwMode="auto">
            <a:xfrm>
              <a:off x="5089300" y="4766587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pic>
          <p:nvPicPr>
            <p:cNvPr id="121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981" y="509494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8" name="TextBox 167"/>
            <p:cNvSpPr txBox="1"/>
            <p:nvPr/>
          </p:nvSpPr>
          <p:spPr>
            <a:xfrm>
              <a:off x="3827536" y="204629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选项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配置层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73" name="组合 172"/>
            <p:cNvGrpSpPr/>
            <p:nvPr/>
          </p:nvGrpSpPr>
          <p:grpSpPr>
            <a:xfrm>
              <a:off x="4826214" y="2184831"/>
              <a:ext cx="968881" cy="408938"/>
              <a:chOff x="2267636" y="3419392"/>
              <a:chExt cx="1065905" cy="437463"/>
            </a:xfrm>
          </p:grpSpPr>
          <p:sp>
            <p:nvSpPr>
              <p:cNvPr id="174" name="TextBox 173"/>
              <p:cNvSpPr txBox="1"/>
              <p:nvPr/>
            </p:nvSpPr>
            <p:spPr>
              <a:xfrm>
                <a:off x="2267636" y="3702967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 smtClean="0"/>
                  <a:t>动臂</a:t>
                </a:r>
                <a:endParaRPr lang="en-US" altLang="zh-CN" sz="1000" dirty="0" smtClean="0"/>
              </a:p>
            </p:txBody>
          </p:sp>
          <p:pic>
            <p:nvPicPr>
              <p:cNvPr id="175" name="Picture 92" descr="basicnode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647" y="3419392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组合 175"/>
            <p:cNvGrpSpPr/>
            <p:nvPr/>
          </p:nvGrpSpPr>
          <p:grpSpPr>
            <a:xfrm>
              <a:off x="5315761" y="3014279"/>
              <a:ext cx="968881" cy="364292"/>
              <a:chOff x="3850567" y="4299174"/>
              <a:chExt cx="1065905" cy="389703"/>
            </a:xfrm>
          </p:grpSpPr>
          <p:pic>
            <p:nvPicPr>
              <p:cNvPr id="177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8" name="TextBox 177"/>
              <p:cNvSpPr txBox="1"/>
              <p:nvPr/>
            </p:nvSpPr>
            <p:spPr>
              <a:xfrm>
                <a:off x="3850567" y="4534989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/>
                  <a:t>加</a:t>
                </a:r>
                <a:r>
                  <a:rPr lang="zh-CN" altLang="en-US" sz="1000" dirty="0" smtClean="0"/>
                  <a:t>长臂</a:t>
                </a:r>
              </a:p>
            </p:txBody>
          </p:sp>
        </p:grpSp>
        <p:cxnSp>
          <p:nvCxnSpPr>
            <p:cNvPr id="179" name="AutoShape 113"/>
            <p:cNvCxnSpPr>
              <a:cxnSpLocks noChangeShapeType="1"/>
              <a:stCxn id="175" idx="2"/>
              <a:endCxn id="149" idx="0"/>
            </p:cNvCxnSpPr>
            <p:nvPr/>
          </p:nvCxnSpPr>
          <p:spPr bwMode="auto">
            <a:xfrm flipH="1">
              <a:off x="4960550" y="2449915"/>
              <a:ext cx="321904" cy="529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0" name="AutoShape 113"/>
            <p:cNvCxnSpPr>
              <a:cxnSpLocks noChangeShapeType="1"/>
              <a:stCxn id="174" idx="0"/>
              <a:endCxn id="177" idx="0"/>
            </p:cNvCxnSpPr>
            <p:nvPr/>
          </p:nvCxnSpPr>
          <p:spPr bwMode="auto">
            <a:xfrm>
              <a:off x="5310655" y="2449915"/>
              <a:ext cx="504022" cy="5643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" name="TextBox 183"/>
            <p:cNvSpPr txBox="1"/>
            <p:nvPr/>
          </p:nvSpPr>
          <p:spPr>
            <a:xfrm>
              <a:off x="3819664" y="357074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工程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20" name="组合 219"/>
          <p:cNvGrpSpPr/>
          <p:nvPr/>
        </p:nvGrpSpPr>
        <p:grpSpPr>
          <a:xfrm>
            <a:off x="3134825" y="2244728"/>
            <a:ext cx="868561" cy="973282"/>
            <a:chOff x="3321699" y="2667342"/>
            <a:chExt cx="868561" cy="973282"/>
          </a:xfrm>
        </p:grpSpPr>
        <p:grpSp>
          <p:nvGrpSpPr>
            <p:cNvPr id="221" name="组合 220"/>
            <p:cNvGrpSpPr/>
            <p:nvPr/>
          </p:nvGrpSpPr>
          <p:grpSpPr>
            <a:xfrm>
              <a:off x="3321699" y="2910315"/>
              <a:ext cx="673308" cy="730309"/>
              <a:chOff x="5020118" y="1776126"/>
              <a:chExt cx="817737" cy="600649"/>
            </a:xfrm>
          </p:grpSpPr>
          <p:sp>
            <p:nvSpPr>
              <p:cNvPr id="224" name="AutoShape 23"/>
              <p:cNvSpPr>
                <a:spLocks noChangeArrowheads="1"/>
              </p:cNvSpPr>
              <p:nvPr/>
            </p:nvSpPr>
            <p:spPr bwMode="auto">
              <a:xfrm>
                <a:off x="5020118" y="1776126"/>
                <a:ext cx="817737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225" name="TextBox 224"/>
              <p:cNvSpPr txBox="1"/>
              <p:nvPr/>
            </p:nvSpPr>
            <p:spPr>
              <a:xfrm>
                <a:off x="5042711" y="1884332"/>
                <a:ext cx="77255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sp>
          <p:nvSpPr>
            <p:cNvPr id="222" name="Rectangle 8"/>
            <p:cNvSpPr>
              <a:spLocks noChangeArrowheads="1"/>
            </p:cNvSpPr>
            <p:nvPr/>
          </p:nvSpPr>
          <p:spPr bwMode="auto">
            <a:xfrm>
              <a:off x="3344064" y="2667342"/>
              <a:ext cx="646331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选项集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223" name="矩形 222"/>
            <p:cNvSpPr/>
            <p:nvPr/>
          </p:nvSpPr>
          <p:spPr bwMode="auto">
            <a:xfrm>
              <a:off x="3995006" y="2699180"/>
              <a:ext cx="195254" cy="184844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92075" tIns="46038" rIns="92075" bIns="46038" rtlCol="0" anchor="ctr"/>
            <a:lstStyle/>
            <a:p>
              <a:pPr marL="171450" indent="-171450" algn="ctr"/>
              <a:r>
                <a:rPr lang="en-US" altLang="zh-CN" sz="1200" b="1" dirty="0" smtClean="0"/>
                <a:t>A</a:t>
              </a:r>
              <a:endParaRPr lang="zh-CN" altLang="en-US" sz="1200" b="1" dirty="0"/>
            </a:p>
          </p:txBody>
        </p:sp>
      </p:grpSp>
      <p:cxnSp>
        <p:nvCxnSpPr>
          <p:cNvPr id="227" name="直接连接符 226"/>
          <p:cNvCxnSpPr/>
          <p:nvPr/>
        </p:nvCxnSpPr>
        <p:spPr>
          <a:xfrm>
            <a:off x="4385568" y="1775538"/>
            <a:ext cx="44389" cy="49004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8" name="矩形 227"/>
          <p:cNvSpPr/>
          <p:nvPr/>
        </p:nvSpPr>
        <p:spPr bwMode="auto">
          <a:xfrm>
            <a:off x="3444845" y="4185578"/>
            <a:ext cx="195254" cy="18484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1200" b="1" dirty="0" smtClean="0"/>
              <a:t>A</a:t>
            </a:r>
            <a:endParaRPr lang="zh-CN" altLang="en-US" sz="1200" b="1" dirty="0"/>
          </a:p>
        </p:txBody>
      </p:sp>
      <p:grpSp>
        <p:nvGrpSpPr>
          <p:cNvPr id="264" name="组合 263"/>
          <p:cNvGrpSpPr/>
          <p:nvPr/>
        </p:nvGrpSpPr>
        <p:grpSpPr>
          <a:xfrm>
            <a:off x="4725795" y="2140998"/>
            <a:ext cx="3215684" cy="4111302"/>
            <a:chOff x="3818658" y="2024110"/>
            <a:chExt cx="3215684" cy="4111302"/>
          </a:xfrm>
        </p:grpSpPr>
        <p:sp>
          <p:nvSpPr>
            <p:cNvPr id="265" name="Rectangle 4"/>
            <p:cNvSpPr>
              <a:spLocks noChangeArrowheads="1"/>
            </p:cNvSpPr>
            <p:nvPr/>
          </p:nvSpPr>
          <p:spPr bwMode="auto">
            <a:xfrm>
              <a:off x="3819664" y="3563644"/>
              <a:ext cx="3214678" cy="2571768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5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5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" name="Rectangle 3"/>
            <p:cNvSpPr>
              <a:spLocks noChangeArrowheads="1"/>
            </p:cNvSpPr>
            <p:nvPr/>
          </p:nvSpPr>
          <p:spPr bwMode="auto">
            <a:xfrm>
              <a:off x="3818658" y="2024110"/>
              <a:ext cx="3214678" cy="154663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7" name="组合 266"/>
            <p:cNvGrpSpPr/>
            <p:nvPr/>
          </p:nvGrpSpPr>
          <p:grpSpPr>
            <a:xfrm>
              <a:off x="4493637" y="2979195"/>
              <a:ext cx="906732" cy="405104"/>
              <a:chOff x="3850567" y="4299174"/>
              <a:chExt cx="1065905" cy="433362"/>
            </a:xfrm>
          </p:grpSpPr>
          <p:pic>
            <p:nvPicPr>
              <p:cNvPr id="290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TextBox 290"/>
              <p:cNvSpPr txBox="1"/>
              <p:nvPr/>
            </p:nvSpPr>
            <p:spPr>
              <a:xfrm>
                <a:off x="3850567" y="4534989"/>
                <a:ext cx="1065905" cy="197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200" dirty="0" smtClean="0"/>
                  <a:t>普通臂</a:t>
                </a:r>
              </a:p>
            </p:txBody>
          </p:sp>
        </p:grpSp>
        <p:pic>
          <p:nvPicPr>
            <p:cNvPr id="268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1397" y="4040098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9" name="Text Box 172"/>
            <p:cNvSpPr txBox="1">
              <a:spLocks noChangeArrowheads="1"/>
            </p:cNvSpPr>
            <p:nvPr/>
          </p:nvSpPr>
          <p:spPr bwMode="auto">
            <a:xfrm>
              <a:off x="4684776" y="4031773"/>
              <a:ext cx="17347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2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普通臂 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6B4.300.202.HST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cxnSp>
          <p:nvCxnSpPr>
            <p:cNvPr id="270" name="AutoShape 176"/>
            <p:cNvCxnSpPr>
              <a:cxnSpLocks noChangeShapeType="1"/>
            </p:cNvCxnSpPr>
            <p:nvPr/>
          </p:nvCxnSpPr>
          <p:spPr bwMode="auto">
            <a:xfrm rot="16200000" flipH="1">
              <a:off x="4605901" y="4266290"/>
              <a:ext cx="277633" cy="289623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1" name="AutoShape 177"/>
            <p:cNvCxnSpPr>
              <a:cxnSpLocks noChangeShapeType="1"/>
            </p:cNvCxnSpPr>
            <p:nvPr/>
          </p:nvCxnSpPr>
          <p:spPr bwMode="auto">
            <a:xfrm rot="16200000" flipH="1">
              <a:off x="4432792" y="4437874"/>
              <a:ext cx="623143" cy="293455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2" name="Text Box 178"/>
            <p:cNvSpPr txBox="1">
              <a:spLocks noChangeArrowheads="1"/>
            </p:cNvSpPr>
            <p:nvPr/>
          </p:nvSpPr>
          <p:spPr bwMode="auto">
            <a:xfrm>
              <a:off x="5083410" y="4405877"/>
              <a:ext cx="103265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 smtClean="0">
                  <a:solidFill>
                    <a:srgbClr val="0066FF"/>
                  </a:solidFill>
                </a:rPr>
                <a:t>5B4.300.200.C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cxnSp>
          <p:nvCxnSpPr>
            <p:cNvPr id="273" name="AutoShape 181"/>
            <p:cNvCxnSpPr>
              <a:cxnSpLocks noChangeShapeType="1"/>
            </p:cNvCxnSpPr>
            <p:nvPr/>
          </p:nvCxnSpPr>
          <p:spPr bwMode="auto">
            <a:xfrm rot="16200000" flipH="1">
              <a:off x="4270506" y="4594191"/>
              <a:ext cx="946986" cy="282478"/>
            </a:xfrm>
            <a:prstGeom prst="bentConnector3">
              <a:avLst>
                <a:gd name="adj1" fmla="val 98012"/>
              </a:avLst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4" name="Text Box 182"/>
            <p:cNvSpPr txBox="1">
              <a:spLocks noChangeArrowheads="1"/>
            </p:cNvSpPr>
            <p:nvPr/>
          </p:nvSpPr>
          <p:spPr bwMode="auto">
            <a:xfrm>
              <a:off x="5095051" y="5072639"/>
              <a:ext cx="305317" cy="255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 dirty="0"/>
                <a:t>…</a:t>
              </a:r>
            </a:p>
          </p:txBody>
        </p:sp>
        <p:cxnSp>
          <p:nvCxnSpPr>
            <p:cNvPr id="275" name="AutoShape 113"/>
            <p:cNvCxnSpPr>
              <a:cxnSpLocks noChangeShapeType="1"/>
              <a:stCxn id="291" idx="2"/>
              <a:endCxn id="268" idx="0"/>
            </p:cNvCxnSpPr>
            <p:nvPr/>
          </p:nvCxnSpPr>
          <p:spPr bwMode="auto">
            <a:xfrm flipH="1">
              <a:off x="4606479" y="3384299"/>
              <a:ext cx="340524" cy="6557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76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358" y="442808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090" y="4779706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8" name="Text Box 178"/>
            <p:cNvSpPr txBox="1">
              <a:spLocks noChangeArrowheads="1"/>
            </p:cNvSpPr>
            <p:nvPr/>
          </p:nvSpPr>
          <p:spPr bwMode="auto">
            <a:xfrm>
              <a:off x="5089300" y="4766587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pic>
          <p:nvPicPr>
            <p:cNvPr id="279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981" y="509494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TextBox 279"/>
            <p:cNvSpPr txBox="1"/>
            <p:nvPr/>
          </p:nvSpPr>
          <p:spPr>
            <a:xfrm>
              <a:off x="3827536" y="204629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选项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配置层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81" name="组合 280"/>
            <p:cNvGrpSpPr/>
            <p:nvPr/>
          </p:nvGrpSpPr>
          <p:grpSpPr>
            <a:xfrm>
              <a:off x="4826214" y="2184831"/>
              <a:ext cx="968881" cy="408938"/>
              <a:chOff x="2267636" y="3419392"/>
              <a:chExt cx="1065905" cy="437463"/>
            </a:xfrm>
          </p:grpSpPr>
          <p:sp>
            <p:nvSpPr>
              <p:cNvPr id="288" name="TextBox 287"/>
              <p:cNvSpPr txBox="1"/>
              <p:nvPr/>
            </p:nvSpPr>
            <p:spPr>
              <a:xfrm>
                <a:off x="2267636" y="3702967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 smtClean="0"/>
                  <a:t>动臂</a:t>
                </a:r>
                <a:endParaRPr lang="en-US" altLang="zh-CN" sz="1000" dirty="0" smtClean="0"/>
              </a:p>
            </p:txBody>
          </p:sp>
          <p:pic>
            <p:nvPicPr>
              <p:cNvPr id="289" name="Picture 92" descr="basicnode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647" y="3419392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82" name="组合 281"/>
            <p:cNvGrpSpPr/>
            <p:nvPr/>
          </p:nvGrpSpPr>
          <p:grpSpPr>
            <a:xfrm>
              <a:off x="5315761" y="3014279"/>
              <a:ext cx="968881" cy="364292"/>
              <a:chOff x="3850567" y="4299174"/>
              <a:chExt cx="1065905" cy="389703"/>
            </a:xfrm>
          </p:grpSpPr>
          <p:pic>
            <p:nvPicPr>
              <p:cNvPr id="286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" name="TextBox 286"/>
              <p:cNvSpPr txBox="1"/>
              <p:nvPr/>
            </p:nvSpPr>
            <p:spPr>
              <a:xfrm>
                <a:off x="3850567" y="4534989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/>
                  <a:t>加</a:t>
                </a:r>
                <a:r>
                  <a:rPr lang="zh-CN" altLang="en-US" sz="1000" dirty="0" smtClean="0"/>
                  <a:t>长臂</a:t>
                </a:r>
              </a:p>
            </p:txBody>
          </p:sp>
        </p:grpSp>
        <p:cxnSp>
          <p:nvCxnSpPr>
            <p:cNvPr id="283" name="AutoShape 113"/>
            <p:cNvCxnSpPr>
              <a:cxnSpLocks noChangeShapeType="1"/>
              <a:stCxn id="289" idx="2"/>
              <a:endCxn id="290" idx="0"/>
            </p:cNvCxnSpPr>
            <p:nvPr/>
          </p:nvCxnSpPr>
          <p:spPr bwMode="auto">
            <a:xfrm flipH="1">
              <a:off x="4960550" y="2449915"/>
              <a:ext cx="321904" cy="529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4" name="AutoShape 113"/>
            <p:cNvCxnSpPr>
              <a:cxnSpLocks noChangeShapeType="1"/>
              <a:stCxn id="288" idx="0"/>
              <a:endCxn id="286" idx="0"/>
            </p:cNvCxnSpPr>
            <p:nvPr/>
          </p:nvCxnSpPr>
          <p:spPr bwMode="auto">
            <a:xfrm>
              <a:off x="5310655" y="2449915"/>
              <a:ext cx="504022" cy="5643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5" name="TextBox 284"/>
            <p:cNvSpPr txBox="1"/>
            <p:nvPr/>
          </p:nvSpPr>
          <p:spPr>
            <a:xfrm>
              <a:off x="3819664" y="357074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工程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92" name="组合 291"/>
          <p:cNvGrpSpPr/>
          <p:nvPr/>
        </p:nvGrpSpPr>
        <p:grpSpPr>
          <a:xfrm>
            <a:off x="6971595" y="2246202"/>
            <a:ext cx="868561" cy="973282"/>
            <a:chOff x="3321699" y="2667342"/>
            <a:chExt cx="868561" cy="973282"/>
          </a:xfrm>
        </p:grpSpPr>
        <p:grpSp>
          <p:nvGrpSpPr>
            <p:cNvPr id="293" name="组合 292"/>
            <p:cNvGrpSpPr/>
            <p:nvPr/>
          </p:nvGrpSpPr>
          <p:grpSpPr>
            <a:xfrm>
              <a:off x="3321699" y="2910315"/>
              <a:ext cx="673308" cy="730309"/>
              <a:chOff x="5020118" y="1776126"/>
              <a:chExt cx="817737" cy="600649"/>
            </a:xfrm>
          </p:grpSpPr>
          <p:sp>
            <p:nvSpPr>
              <p:cNvPr id="296" name="AutoShape 23"/>
              <p:cNvSpPr>
                <a:spLocks noChangeArrowheads="1"/>
              </p:cNvSpPr>
              <p:nvPr/>
            </p:nvSpPr>
            <p:spPr bwMode="auto">
              <a:xfrm>
                <a:off x="5020118" y="1776126"/>
                <a:ext cx="817737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5042711" y="1884332"/>
                <a:ext cx="77255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sp>
          <p:nvSpPr>
            <p:cNvPr id="294" name="Rectangle 8"/>
            <p:cNvSpPr>
              <a:spLocks noChangeArrowheads="1"/>
            </p:cNvSpPr>
            <p:nvPr/>
          </p:nvSpPr>
          <p:spPr bwMode="auto">
            <a:xfrm>
              <a:off x="3344064" y="2667342"/>
              <a:ext cx="646331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选项集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295" name="矩形 294"/>
            <p:cNvSpPr/>
            <p:nvPr/>
          </p:nvSpPr>
          <p:spPr bwMode="auto">
            <a:xfrm>
              <a:off x="3995006" y="2699180"/>
              <a:ext cx="195254" cy="184844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92075" tIns="46038" rIns="92075" bIns="46038" rtlCol="0" anchor="ctr"/>
            <a:lstStyle/>
            <a:p>
              <a:pPr marL="171450" indent="-171450" algn="ctr"/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</p:grpSp>
      <p:sp>
        <p:nvSpPr>
          <p:cNvPr id="298" name="矩形 297"/>
          <p:cNvSpPr/>
          <p:nvPr/>
        </p:nvSpPr>
        <p:spPr bwMode="auto">
          <a:xfrm>
            <a:off x="7281615" y="4187052"/>
            <a:ext cx="195254" cy="18484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1200" b="1" dirty="0" smtClean="0"/>
              <a:t>A</a:t>
            </a:r>
            <a:endParaRPr lang="zh-CN" altLang="en-US" sz="1200" b="1" dirty="0"/>
          </a:p>
        </p:txBody>
      </p:sp>
      <p:sp>
        <p:nvSpPr>
          <p:cNvPr id="300" name="TextBox 168"/>
          <p:cNvSpPr txBox="1">
            <a:spLocks noChangeArrowheads="1"/>
          </p:cNvSpPr>
          <p:nvPr/>
        </p:nvSpPr>
        <p:spPr bwMode="auto">
          <a:xfrm>
            <a:off x="3808133" y="1615649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400" dirty="0"/>
              <a:t>改前</a:t>
            </a:r>
          </a:p>
        </p:txBody>
      </p:sp>
      <p:sp>
        <p:nvSpPr>
          <p:cNvPr id="301" name="TextBox 169"/>
          <p:cNvSpPr txBox="1">
            <a:spLocks noChangeArrowheads="1"/>
          </p:cNvSpPr>
          <p:nvPr/>
        </p:nvSpPr>
        <p:spPr bwMode="auto">
          <a:xfrm>
            <a:off x="4725795" y="1617778"/>
            <a:ext cx="428625" cy="5232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改后</a:t>
            </a: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8" y="1053307"/>
            <a:ext cx="4813801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 smtClean="0"/>
              <a:t>更改影响二：只有选项和选项约束发生更改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28684280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9" y="1053307"/>
            <a:ext cx="4160360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/>
              <a:t>更改影响二：只有</a:t>
            </a:r>
            <a:r>
              <a:rPr lang="zh-CN" altLang="en-US" dirty="0" smtClean="0"/>
              <a:t>选项发生</a:t>
            </a:r>
            <a:r>
              <a:rPr lang="zh-CN" altLang="en-US" dirty="0"/>
              <a:t>更改</a:t>
            </a:r>
          </a:p>
        </p:txBody>
      </p:sp>
      <p:sp>
        <p:nvSpPr>
          <p:cNvPr id="78" name="内容占位符 28"/>
          <p:cNvSpPr>
            <a:spLocks noGrp="1"/>
          </p:cNvSpPr>
          <p:nvPr>
            <p:ph idx="1"/>
          </p:nvPr>
        </p:nvSpPr>
        <p:spPr>
          <a:xfrm>
            <a:off x="412335" y="1837539"/>
            <a:ext cx="8445500" cy="210414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/>
              <a:t> </a:t>
            </a:r>
            <a:r>
              <a:rPr lang="zh-CN" altLang="en-US" sz="1600" dirty="0" smtClean="0"/>
              <a:t>    当选项和选项约束发生变化时，总体人员负责所有更改，在选项和选项约束修改完成后，总体人员在选项集上发起变更通告，修订选项集并添加更改后的选项和选项约束，提交变更通告，设计部门领导批准通过后，制造工程师设置变更生效日期，提交通过发布到</a:t>
            </a:r>
            <a:r>
              <a:rPr lang="en-US" altLang="zh-CN" sz="1600" dirty="0" smtClean="0"/>
              <a:t>SAP</a:t>
            </a:r>
            <a:r>
              <a:rPr lang="zh-CN" altLang="en-US" sz="1600" dirty="0" smtClean="0"/>
              <a:t>中。</a:t>
            </a:r>
            <a:endParaRPr lang="zh-CN" altLang="en-US" dirty="0" smtClean="0"/>
          </a:p>
        </p:txBody>
      </p:sp>
      <p:sp>
        <p:nvSpPr>
          <p:cNvPr id="5" name="爆炸形 1 4"/>
          <p:cNvSpPr/>
          <p:nvPr/>
        </p:nvSpPr>
        <p:spPr bwMode="auto">
          <a:xfrm>
            <a:off x="6258123" y="820191"/>
            <a:ext cx="1661675" cy="1042494"/>
          </a:xfrm>
          <a:prstGeom prst="irregularSeal1">
            <a:avLst/>
          </a:prstGeom>
          <a:solidFill>
            <a:srgbClr val="FF0000"/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b="1" dirty="0" smtClean="0">
                <a:latin typeface="华文中宋" pitchFamily="2" charset="-122"/>
                <a:ea typeface="华文中宋" pitchFamily="2" charset="-122"/>
              </a:rPr>
              <a:t>选择</a:t>
            </a:r>
            <a:r>
              <a:rPr lang="en-US" altLang="zh-CN" b="1" dirty="0" smtClean="0">
                <a:latin typeface="华文中宋" pitchFamily="2" charset="-122"/>
                <a:ea typeface="华文中宋" pitchFamily="2" charset="-122"/>
              </a:rPr>
              <a:t>1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7754027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9" y="1053307"/>
            <a:ext cx="4160360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/>
              <a:t>更改影响二：只有</a:t>
            </a:r>
            <a:r>
              <a:rPr lang="zh-CN" altLang="en-US" dirty="0" smtClean="0"/>
              <a:t>选项发生</a:t>
            </a:r>
            <a:r>
              <a:rPr lang="zh-CN" altLang="en-US" dirty="0"/>
              <a:t>更改</a:t>
            </a:r>
          </a:p>
        </p:txBody>
      </p:sp>
      <p:sp>
        <p:nvSpPr>
          <p:cNvPr id="23" name="AutoShape 108"/>
          <p:cNvSpPr>
            <a:spLocks noChangeArrowheads="1"/>
          </p:cNvSpPr>
          <p:nvPr/>
        </p:nvSpPr>
        <p:spPr bwMode="auto">
          <a:xfrm>
            <a:off x="1300685" y="4441333"/>
            <a:ext cx="1071556" cy="50006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修订选项集，添加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修改后选项和选项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约束到选项集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29786" y="2365076"/>
            <a:ext cx="869591" cy="598545"/>
            <a:chOff x="949313" y="2243554"/>
            <a:chExt cx="755484" cy="491214"/>
          </a:xfrm>
        </p:grpSpPr>
        <p:pic>
          <p:nvPicPr>
            <p:cNvPr id="24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总体人员</a:t>
              </a:r>
              <a:endParaRPr lang="en-US" altLang="zh-CN" sz="1100" dirty="0"/>
            </a:p>
          </p:txBody>
        </p:sp>
      </p:grpSp>
      <p:cxnSp>
        <p:nvCxnSpPr>
          <p:cNvPr id="26" name="直接连接符 304"/>
          <p:cNvCxnSpPr>
            <a:stCxn id="29" idx="1"/>
            <a:endCxn id="23" idx="3"/>
          </p:cNvCxnSpPr>
          <p:nvPr/>
        </p:nvCxnSpPr>
        <p:spPr bwMode="auto">
          <a:xfrm rot="10800000" flipV="1">
            <a:off x="2372242" y="4470207"/>
            <a:ext cx="282549" cy="221156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2543037" y="4327331"/>
            <a:ext cx="714375" cy="573042"/>
            <a:chOff x="3093473" y="3768017"/>
            <a:chExt cx="714375" cy="573042"/>
          </a:xfrm>
        </p:grpSpPr>
        <p:sp>
          <p:nvSpPr>
            <p:cNvPr id="17" name="矩形 818"/>
            <p:cNvSpPr>
              <a:spLocks noChangeArrowheads="1"/>
            </p:cNvSpPr>
            <p:nvPr/>
          </p:nvSpPr>
          <p:spPr bwMode="auto">
            <a:xfrm>
              <a:off x="3093473" y="4079451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ECN</a:t>
              </a:r>
              <a:endParaRPr lang="en-US" altLang="zh-CN" sz="1100" dirty="0"/>
            </a:p>
          </p:txBody>
        </p:sp>
        <p:pic>
          <p:nvPicPr>
            <p:cNvPr id="29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5226" y="3768017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0" name="AutoShape 25"/>
          <p:cNvCxnSpPr>
            <a:cxnSpLocks noChangeShapeType="1"/>
            <a:stCxn id="25" idx="2"/>
            <a:endCxn id="36" idx="0"/>
          </p:cNvCxnSpPr>
          <p:nvPr/>
        </p:nvCxnSpPr>
        <p:spPr bwMode="auto">
          <a:xfrm rot="5400000">
            <a:off x="453276" y="3153085"/>
            <a:ext cx="1200770" cy="821843"/>
          </a:xfrm>
          <a:prstGeom prst="curvedConnector3">
            <a:avLst>
              <a:gd name="adj1" fmla="val 60351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3" name="组合 32"/>
          <p:cNvGrpSpPr/>
          <p:nvPr/>
        </p:nvGrpSpPr>
        <p:grpSpPr>
          <a:xfrm>
            <a:off x="351917" y="4164391"/>
            <a:ext cx="581643" cy="610961"/>
            <a:chOff x="5020118" y="1776126"/>
            <a:chExt cx="817737" cy="600649"/>
          </a:xfrm>
        </p:grpSpPr>
        <p:sp>
          <p:nvSpPr>
            <p:cNvPr id="36" name="AutoShape 23"/>
            <p:cNvSpPr>
              <a:spLocks noChangeArrowheads="1"/>
            </p:cNvSpPr>
            <p:nvPr/>
          </p:nvSpPr>
          <p:spPr bwMode="auto">
            <a:xfrm>
              <a:off x="5020118" y="1776126"/>
              <a:ext cx="817737" cy="518078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171450" indent="-171450">
                <a:buFontTx/>
                <a:buChar char="•"/>
              </a:pPr>
              <a:endParaRPr lang="zh-CN" altLang="zh-CN" sz="1200" b="1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42711" y="1884332"/>
              <a:ext cx="77255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选项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  <a:p>
              <a:pPr algn="ctr"/>
              <a:r>
                <a:rPr lang="zh-CN" altLang="en-US" sz="900" b="1" dirty="0">
                  <a:latin typeface="宋体" pitchFamily="2" charset="-122"/>
                  <a:ea typeface="宋体" pitchFamily="2" charset="-122"/>
                </a:rPr>
                <a:t>选项</a:t>
              </a:r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约束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  <a:p>
              <a:endParaRPr lang="zh-CN" altLang="en-US" sz="1400" dirty="0" smtClean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86894" y="3424741"/>
            <a:ext cx="861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修改选项和选项约束</a:t>
            </a:r>
          </a:p>
        </p:txBody>
      </p:sp>
      <p:cxnSp>
        <p:nvCxnSpPr>
          <p:cNvPr id="43" name="AutoShape 25"/>
          <p:cNvCxnSpPr>
            <a:cxnSpLocks noChangeShapeType="1"/>
            <a:endCxn id="29" idx="0"/>
          </p:cNvCxnSpPr>
          <p:nvPr/>
        </p:nvCxnSpPr>
        <p:spPr bwMode="auto">
          <a:xfrm rot="16200000" flipH="1">
            <a:off x="1448068" y="2989013"/>
            <a:ext cx="1363710" cy="131292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1" name="TextBox 30"/>
          <p:cNvSpPr txBox="1"/>
          <p:nvPr/>
        </p:nvSpPr>
        <p:spPr>
          <a:xfrm>
            <a:off x="2082921" y="3487062"/>
            <a:ext cx="8611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创建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ECN</a:t>
            </a:r>
            <a:endParaRPr lang="zh-CN" altLang="en-US" sz="1000" b="1" dirty="0" smtClean="0">
              <a:solidFill>
                <a:srgbClr val="FF0000"/>
              </a:solidFill>
            </a:endParaRPr>
          </a:p>
        </p:txBody>
      </p:sp>
      <p:cxnSp>
        <p:nvCxnSpPr>
          <p:cNvPr id="35" name="AutoShape 244"/>
          <p:cNvCxnSpPr>
            <a:cxnSpLocks noChangeShapeType="1"/>
          </p:cNvCxnSpPr>
          <p:nvPr/>
        </p:nvCxnSpPr>
        <p:spPr bwMode="auto">
          <a:xfrm>
            <a:off x="1849329" y="2682315"/>
            <a:ext cx="1266733" cy="316"/>
          </a:xfrm>
          <a:prstGeom prst="curved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8" name="TextBox 193"/>
          <p:cNvSpPr txBox="1">
            <a:spLocks noChangeArrowheads="1"/>
          </p:cNvSpPr>
          <p:nvPr/>
        </p:nvSpPr>
        <p:spPr bwMode="auto">
          <a:xfrm>
            <a:off x="1907469" y="2329564"/>
            <a:ext cx="1165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+mn-ea"/>
                <a:ea typeface="+mn-ea"/>
              </a:rPr>
              <a:t>提交</a:t>
            </a:r>
            <a:r>
              <a:rPr lang="en-US" altLang="zh-CN" dirty="0" smtClean="0">
                <a:latin typeface="+mn-ea"/>
                <a:ea typeface="+mn-ea"/>
              </a:rPr>
              <a:t>ECN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3054137" y="2365077"/>
            <a:ext cx="878613" cy="769298"/>
            <a:chOff x="949313" y="2243554"/>
            <a:chExt cx="755484" cy="660493"/>
          </a:xfrm>
        </p:grpSpPr>
        <p:pic>
          <p:nvPicPr>
            <p:cNvPr id="42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批准者</a:t>
              </a:r>
              <a:r>
                <a:rPr lang="en-US" altLang="zh-CN" sz="1100" dirty="0" smtClean="0"/>
                <a:t>(</a:t>
              </a:r>
              <a:r>
                <a:rPr lang="zh-CN" altLang="en-US" sz="1100" dirty="0" smtClean="0"/>
                <a:t>所长</a:t>
              </a:r>
              <a:r>
                <a:rPr lang="en-US" altLang="zh-CN" sz="1100" dirty="0" smtClean="0"/>
                <a:t>)</a:t>
              </a:r>
              <a:endParaRPr lang="en-US" altLang="zh-CN" sz="1100" dirty="0"/>
            </a:p>
          </p:txBody>
        </p:sp>
      </p:grpSp>
      <p:cxnSp>
        <p:nvCxnSpPr>
          <p:cNvPr id="45" name="AutoShape 244"/>
          <p:cNvCxnSpPr>
            <a:cxnSpLocks noChangeShapeType="1"/>
          </p:cNvCxnSpPr>
          <p:nvPr/>
        </p:nvCxnSpPr>
        <p:spPr bwMode="auto">
          <a:xfrm>
            <a:off x="3883771" y="2719783"/>
            <a:ext cx="1371810" cy="316"/>
          </a:xfrm>
          <a:prstGeom prst="curved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6" name="TextBox 193"/>
          <p:cNvSpPr txBox="1">
            <a:spLocks noChangeArrowheads="1"/>
          </p:cNvSpPr>
          <p:nvPr/>
        </p:nvSpPr>
        <p:spPr bwMode="auto">
          <a:xfrm>
            <a:off x="3915277" y="2367032"/>
            <a:ext cx="1165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+mn-ea"/>
                <a:ea typeface="+mn-ea"/>
              </a:rPr>
              <a:t>批准通过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7307873" y="2412579"/>
            <a:ext cx="1242874" cy="590390"/>
          </a:xfrm>
          <a:prstGeom prst="roundRect">
            <a:avLst/>
          </a:prstGeom>
          <a:ln>
            <a:headEnd/>
            <a:tailEnd/>
          </a:ln>
          <a:ex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2000" b="1" dirty="0" smtClean="0"/>
              <a:t>SAP</a:t>
            </a:r>
            <a:endParaRPr lang="zh-CN" altLang="en-US" sz="20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5195042" y="2366551"/>
            <a:ext cx="869591" cy="710662"/>
            <a:chOff x="949313" y="2243554"/>
            <a:chExt cx="755484" cy="583226"/>
          </a:xfrm>
        </p:grpSpPr>
        <p:pic>
          <p:nvPicPr>
            <p:cNvPr id="47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353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制造工程师</a:t>
              </a:r>
              <a:endParaRPr lang="en-US" altLang="zh-CN" sz="1100" dirty="0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272649" y="4069551"/>
            <a:ext cx="714375" cy="573042"/>
            <a:chOff x="3093473" y="3768017"/>
            <a:chExt cx="714375" cy="573042"/>
          </a:xfrm>
        </p:grpSpPr>
        <p:sp>
          <p:nvSpPr>
            <p:cNvPr id="50" name="矩形 818"/>
            <p:cNvSpPr>
              <a:spLocks noChangeArrowheads="1"/>
            </p:cNvSpPr>
            <p:nvPr/>
          </p:nvSpPr>
          <p:spPr bwMode="auto">
            <a:xfrm>
              <a:off x="3093473" y="4079451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ECN</a:t>
              </a:r>
              <a:endParaRPr lang="en-US" altLang="zh-CN" sz="1100" dirty="0"/>
            </a:p>
          </p:txBody>
        </p:sp>
        <p:pic>
          <p:nvPicPr>
            <p:cNvPr id="51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5226" y="3768017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52" name="AutoShape 25"/>
          <p:cNvCxnSpPr>
            <a:cxnSpLocks noChangeShapeType="1"/>
            <a:stCxn id="48" idx="2"/>
            <a:endCxn id="51" idx="0"/>
          </p:cNvCxnSpPr>
          <p:nvPr/>
        </p:nvCxnSpPr>
        <p:spPr bwMode="auto">
          <a:xfrm rot="5400000">
            <a:off x="5076749" y="3516462"/>
            <a:ext cx="992338" cy="11384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3" name="AutoShape 108"/>
          <p:cNvSpPr>
            <a:spLocks noChangeArrowheads="1"/>
          </p:cNvSpPr>
          <p:nvPr/>
        </p:nvSpPr>
        <p:spPr bwMode="auto">
          <a:xfrm>
            <a:off x="4150110" y="4294993"/>
            <a:ext cx="839131" cy="341692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设置生效日期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</p:txBody>
      </p:sp>
      <p:cxnSp>
        <p:nvCxnSpPr>
          <p:cNvPr id="54" name="直接连接符 304"/>
          <p:cNvCxnSpPr>
            <a:stCxn id="51" idx="1"/>
            <a:endCxn id="53" idx="3"/>
          </p:cNvCxnSpPr>
          <p:nvPr/>
        </p:nvCxnSpPr>
        <p:spPr bwMode="auto">
          <a:xfrm rot="10800000" flipV="1">
            <a:off x="4989242" y="4212427"/>
            <a:ext cx="395161" cy="253412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AutoShape 244"/>
          <p:cNvCxnSpPr>
            <a:cxnSpLocks noChangeShapeType="1"/>
          </p:cNvCxnSpPr>
          <p:nvPr/>
        </p:nvCxnSpPr>
        <p:spPr bwMode="auto">
          <a:xfrm>
            <a:off x="5891673" y="2721257"/>
            <a:ext cx="1371810" cy="316"/>
          </a:xfrm>
          <a:prstGeom prst="curved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7" name="TextBox 193"/>
          <p:cNvSpPr txBox="1">
            <a:spLocks noChangeArrowheads="1"/>
          </p:cNvSpPr>
          <p:nvPr/>
        </p:nvSpPr>
        <p:spPr bwMode="auto">
          <a:xfrm>
            <a:off x="5923179" y="2368506"/>
            <a:ext cx="1165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algn="ctr" eaLnBrk="1" hangingPunct="1"/>
            <a:r>
              <a:rPr lang="zh-CN" altLang="en-US" dirty="0" smtClean="0">
                <a:latin typeface="+mn-ea"/>
                <a:ea typeface="+mn-ea"/>
              </a:rPr>
              <a:t>通过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9" name="爆炸形 1 18"/>
          <p:cNvSpPr/>
          <p:nvPr/>
        </p:nvSpPr>
        <p:spPr bwMode="auto">
          <a:xfrm>
            <a:off x="6258123" y="1108322"/>
            <a:ext cx="1661675" cy="1042494"/>
          </a:xfrm>
          <a:prstGeom prst="irregularSeal1">
            <a:avLst/>
          </a:prstGeom>
          <a:solidFill>
            <a:srgbClr val="FF0000"/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b="1" dirty="0" smtClean="0">
                <a:latin typeface="华文中宋" pitchFamily="2" charset="-122"/>
                <a:ea typeface="华文中宋" pitchFamily="2" charset="-122"/>
              </a:rPr>
              <a:t>选择</a:t>
            </a:r>
            <a:r>
              <a:rPr lang="en-US" altLang="zh-CN" b="1" dirty="0" smtClean="0">
                <a:latin typeface="华文中宋" pitchFamily="2" charset="-122"/>
                <a:ea typeface="华文中宋" pitchFamily="2" charset="-122"/>
              </a:rPr>
              <a:t>1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179412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9" y="1053307"/>
            <a:ext cx="4160360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/>
              <a:t>更改影响二：只有</a:t>
            </a:r>
            <a:r>
              <a:rPr lang="zh-CN" altLang="en-US" dirty="0" smtClean="0"/>
              <a:t>选项发生</a:t>
            </a:r>
            <a:r>
              <a:rPr lang="zh-CN" altLang="en-US" dirty="0"/>
              <a:t>更改</a:t>
            </a:r>
          </a:p>
        </p:txBody>
      </p:sp>
      <p:sp>
        <p:nvSpPr>
          <p:cNvPr id="78" name="内容占位符 28"/>
          <p:cNvSpPr>
            <a:spLocks noGrp="1"/>
          </p:cNvSpPr>
          <p:nvPr>
            <p:ph idx="1"/>
          </p:nvPr>
        </p:nvSpPr>
        <p:spPr>
          <a:xfrm>
            <a:off x="412335" y="1837539"/>
            <a:ext cx="8445500" cy="210414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/>
              <a:t> </a:t>
            </a:r>
            <a:r>
              <a:rPr lang="zh-CN" altLang="en-US" sz="1600" dirty="0" smtClean="0"/>
              <a:t>    当选项和选项约束发生变化时，总体人员负责所有更改，在选项和选项约束修改完成后，总体人员在选项集上发起变更通告，修订选项集并添加更改后的选项和选项约束</a:t>
            </a:r>
            <a:r>
              <a:rPr lang="zh-CN" altLang="en-US" sz="1600" dirty="0"/>
              <a:t>，提交变更通告，设计部门领导批准通过后， </a:t>
            </a:r>
            <a:r>
              <a:rPr lang="zh-CN" altLang="en-US" sz="1600" dirty="0" smtClean="0"/>
              <a:t>自动发送到</a:t>
            </a:r>
            <a:r>
              <a:rPr lang="en-US" altLang="zh-CN" sz="1600" dirty="0" smtClean="0"/>
              <a:t>SAP</a:t>
            </a:r>
            <a:r>
              <a:rPr lang="zh-CN" altLang="en-US" sz="1600" dirty="0" smtClean="0"/>
              <a:t>中，同时发送通知任务给制造工程师，制造工程师手工在</a:t>
            </a:r>
            <a:r>
              <a:rPr lang="en-US" altLang="zh-CN" sz="1600" dirty="0" smtClean="0"/>
              <a:t>SAP</a:t>
            </a:r>
            <a:r>
              <a:rPr lang="zh-CN" altLang="en-US" sz="1600" dirty="0"/>
              <a:t>中</a:t>
            </a:r>
            <a:r>
              <a:rPr lang="zh-CN" altLang="en-US" sz="1600" dirty="0" smtClean="0"/>
              <a:t>设置生效日期。</a:t>
            </a:r>
            <a:endParaRPr lang="zh-CN" altLang="en-US" dirty="0" smtClean="0"/>
          </a:p>
        </p:txBody>
      </p:sp>
      <p:sp>
        <p:nvSpPr>
          <p:cNvPr id="5" name="爆炸形 1 4"/>
          <p:cNvSpPr/>
          <p:nvPr/>
        </p:nvSpPr>
        <p:spPr bwMode="auto">
          <a:xfrm>
            <a:off x="6258123" y="820191"/>
            <a:ext cx="1661675" cy="1042494"/>
          </a:xfrm>
          <a:prstGeom prst="irregularSeal1">
            <a:avLst/>
          </a:prstGeom>
          <a:solidFill>
            <a:srgbClr val="FF0000"/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b="1" dirty="0" smtClean="0">
                <a:latin typeface="华文中宋" pitchFamily="2" charset="-122"/>
                <a:ea typeface="华文中宋" pitchFamily="2" charset="-122"/>
              </a:rPr>
              <a:t>选择</a:t>
            </a:r>
            <a:r>
              <a:rPr lang="en-US" altLang="zh-CN" b="1" dirty="0">
                <a:latin typeface="华文中宋" pitchFamily="2" charset="-122"/>
                <a:ea typeface="华文中宋" pitchFamily="2" charset="-122"/>
              </a:rPr>
              <a:t>2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8452398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9" y="1053307"/>
            <a:ext cx="4160360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/>
              <a:t>更改影响二：只有</a:t>
            </a:r>
            <a:r>
              <a:rPr lang="zh-CN" altLang="en-US" dirty="0" smtClean="0"/>
              <a:t>选项发生</a:t>
            </a:r>
            <a:r>
              <a:rPr lang="zh-CN" altLang="en-US" dirty="0"/>
              <a:t>更改</a:t>
            </a:r>
          </a:p>
        </p:txBody>
      </p:sp>
      <p:sp>
        <p:nvSpPr>
          <p:cNvPr id="23" name="AutoShape 108"/>
          <p:cNvSpPr>
            <a:spLocks noChangeArrowheads="1"/>
          </p:cNvSpPr>
          <p:nvPr/>
        </p:nvSpPr>
        <p:spPr bwMode="auto">
          <a:xfrm>
            <a:off x="1664683" y="4441333"/>
            <a:ext cx="1071556" cy="50006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修订选项集，添加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修改后选项和选项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约束到选项集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93784" y="2365076"/>
            <a:ext cx="869591" cy="598545"/>
            <a:chOff x="949313" y="2243554"/>
            <a:chExt cx="755484" cy="491214"/>
          </a:xfrm>
        </p:grpSpPr>
        <p:pic>
          <p:nvPicPr>
            <p:cNvPr id="24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总体人员</a:t>
              </a:r>
              <a:endParaRPr lang="en-US" altLang="zh-CN" sz="1100" dirty="0"/>
            </a:p>
          </p:txBody>
        </p:sp>
      </p:grpSp>
      <p:cxnSp>
        <p:nvCxnSpPr>
          <p:cNvPr id="26" name="直接连接符 304"/>
          <p:cNvCxnSpPr>
            <a:stCxn id="29" idx="1"/>
            <a:endCxn id="23" idx="3"/>
          </p:cNvCxnSpPr>
          <p:nvPr/>
        </p:nvCxnSpPr>
        <p:spPr bwMode="auto">
          <a:xfrm rot="10800000" flipV="1">
            <a:off x="2736240" y="4470207"/>
            <a:ext cx="282549" cy="221156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2907035" y="4327331"/>
            <a:ext cx="714375" cy="573042"/>
            <a:chOff x="3093473" y="3768017"/>
            <a:chExt cx="714375" cy="573042"/>
          </a:xfrm>
        </p:grpSpPr>
        <p:sp>
          <p:nvSpPr>
            <p:cNvPr id="17" name="矩形 818"/>
            <p:cNvSpPr>
              <a:spLocks noChangeArrowheads="1"/>
            </p:cNvSpPr>
            <p:nvPr/>
          </p:nvSpPr>
          <p:spPr bwMode="auto">
            <a:xfrm>
              <a:off x="3093473" y="4079451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ECN</a:t>
              </a:r>
              <a:endParaRPr lang="en-US" altLang="zh-CN" sz="1100" dirty="0"/>
            </a:p>
          </p:txBody>
        </p:sp>
        <p:pic>
          <p:nvPicPr>
            <p:cNvPr id="29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5226" y="3768017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0" name="AutoShape 25"/>
          <p:cNvCxnSpPr>
            <a:cxnSpLocks noChangeShapeType="1"/>
            <a:stCxn id="25" idx="2"/>
            <a:endCxn id="36" idx="0"/>
          </p:cNvCxnSpPr>
          <p:nvPr/>
        </p:nvCxnSpPr>
        <p:spPr bwMode="auto">
          <a:xfrm rot="5400000">
            <a:off x="817274" y="3153085"/>
            <a:ext cx="1200770" cy="821843"/>
          </a:xfrm>
          <a:prstGeom prst="curvedConnector3">
            <a:avLst>
              <a:gd name="adj1" fmla="val 60351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3" name="组合 32"/>
          <p:cNvGrpSpPr/>
          <p:nvPr/>
        </p:nvGrpSpPr>
        <p:grpSpPr>
          <a:xfrm>
            <a:off x="715915" y="4164391"/>
            <a:ext cx="581643" cy="610961"/>
            <a:chOff x="5020118" y="1776126"/>
            <a:chExt cx="817737" cy="600649"/>
          </a:xfrm>
        </p:grpSpPr>
        <p:sp>
          <p:nvSpPr>
            <p:cNvPr id="36" name="AutoShape 23"/>
            <p:cNvSpPr>
              <a:spLocks noChangeArrowheads="1"/>
            </p:cNvSpPr>
            <p:nvPr/>
          </p:nvSpPr>
          <p:spPr bwMode="auto">
            <a:xfrm>
              <a:off x="5020118" y="1776126"/>
              <a:ext cx="817737" cy="518078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171450" indent="-171450">
                <a:buFontTx/>
                <a:buChar char="•"/>
              </a:pPr>
              <a:endParaRPr lang="zh-CN" altLang="zh-CN" sz="1200" b="1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42711" y="1884332"/>
              <a:ext cx="77255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选项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  <a:p>
              <a:pPr algn="ctr"/>
              <a:r>
                <a:rPr lang="zh-CN" altLang="en-US" sz="900" b="1" dirty="0">
                  <a:latin typeface="宋体" pitchFamily="2" charset="-122"/>
                  <a:ea typeface="宋体" pitchFamily="2" charset="-122"/>
                </a:rPr>
                <a:t>选项</a:t>
              </a:r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约束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  <a:p>
              <a:endParaRPr lang="zh-CN" altLang="en-US" sz="1400" dirty="0" smtClean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850892" y="3424741"/>
            <a:ext cx="861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修改选项和选项约束</a:t>
            </a:r>
          </a:p>
        </p:txBody>
      </p:sp>
      <p:cxnSp>
        <p:nvCxnSpPr>
          <p:cNvPr id="43" name="AutoShape 25"/>
          <p:cNvCxnSpPr>
            <a:cxnSpLocks noChangeShapeType="1"/>
            <a:endCxn id="29" idx="0"/>
          </p:cNvCxnSpPr>
          <p:nvPr/>
        </p:nvCxnSpPr>
        <p:spPr bwMode="auto">
          <a:xfrm rot="16200000" flipH="1">
            <a:off x="1812066" y="2989013"/>
            <a:ext cx="1363710" cy="131292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1" name="TextBox 30"/>
          <p:cNvSpPr txBox="1"/>
          <p:nvPr/>
        </p:nvSpPr>
        <p:spPr>
          <a:xfrm>
            <a:off x="2446919" y="3487062"/>
            <a:ext cx="8611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创建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ECN</a:t>
            </a:r>
            <a:endParaRPr lang="zh-CN" altLang="en-US" sz="1000" b="1" dirty="0" smtClean="0">
              <a:solidFill>
                <a:srgbClr val="FF0000"/>
              </a:solidFill>
            </a:endParaRPr>
          </a:p>
        </p:txBody>
      </p:sp>
      <p:cxnSp>
        <p:nvCxnSpPr>
          <p:cNvPr id="35" name="AutoShape 244"/>
          <p:cNvCxnSpPr>
            <a:cxnSpLocks noChangeShapeType="1"/>
          </p:cNvCxnSpPr>
          <p:nvPr/>
        </p:nvCxnSpPr>
        <p:spPr bwMode="auto">
          <a:xfrm>
            <a:off x="2213327" y="2682315"/>
            <a:ext cx="1266733" cy="316"/>
          </a:xfrm>
          <a:prstGeom prst="curved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8" name="TextBox 193"/>
          <p:cNvSpPr txBox="1">
            <a:spLocks noChangeArrowheads="1"/>
          </p:cNvSpPr>
          <p:nvPr/>
        </p:nvSpPr>
        <p:spPr bwMode="auto">
          <a:xfrm>
            <a:off x="2271467" y="2329564"/>
            <a:ext cx="1165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+mn-ea"/>
                <a:ea typeface="+mn-ea"/>
              </a:rPr>
              <a:t>提交</a:t>
            </a:r>
            <a:r>
              <a:rPr lang="en-US" altLang="zh-CN" dirty="0" smtClean="0">
                <a:latin typeface="+mn-ea"/>
                <a:ea typeface="+mn-ea"/>
              </a:rPr>
              <a:t>ECN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3418135" y="2365077"/>
            <a:ext cx="878613" cy="769298"/>
            <a:chOff x="949313" y="2243554"/>
            <a:chExt cx="755484" cy="660493"/>
          </a:xfrm>
        </p:grpSpPr>
        <p:pic>
          <p:nvPicPr>
            <p:cNvPr id="42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批准者</a:t>
              </a:r>
              <a:r>
                <a:rPr lang="en-US" altLang="zh-CN" sz="1100" dirty="0" smtClean="0"/>
                <a:t>(</a:t>
              </a:r>
              <a:r>
                <a:rPr lang="zh-CN" altLang="en-US" sz="1100" dirty="0" smtClean="0"/>
                <a:t>所长</a:t>
              </a:r>
              <a:r>
                <a:rPr lang="en-US" altLang="zh-CN" sz="1100" dirty="0" smtClean="0"/>
                <a:t>)</a:t>
              </a:r>
              <a:endParaRPr lang="en-US" altLang="zh-CN" sz="1100" dirty="0"/>
            </a:p>
          </p:txBody>
        </p:sp>
      </p:grpSp>
      <p:cxnSp>
        <p:nvCxnSpPr>
          <p:cNvPr id="45" name="AutoShape 244"/>
          <p:cNvCxnSpPr>
            <a:cxnSpLocks noChangeShapeType="1"/>
          </p:cNvCxnSpPr>
          <p:nvPr/>
        </p:nvCxnSpPr>
        <p:spPr bwMode="auto">
          <a:xfrm>
            <a:off x="4247769" y="2719783"/>
            <a:ext cx="1371810" cy="316"/>
          </a:xfrm>
          <a:prstGeom prst="curved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6" name="TextBox 193"/>
          <p:cNvSpPr txBox="1">
            <a:spLocks noChangeArrowheads="1"/>
          </p:cNvSpPr>
          <p:nvPr/>
        </p:nvSpPr>
        <p:spPr bwMode="auto">
          <a:xfrm>
            <a:off x="4279275" y="2367032"/>
            <a:ext cx="1165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+mn-ea"/>
                <a:ea typeface="+mn-ea"/>
              </a:rPr>
              <a:t>批准通过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5619579" y="2233521"/>
            <a:ext cx="1339120" cy="972524"/>
          </a:xfrm>
          <a:prstGeom prst="roundRect">
            <a:avLst/>
          </a:prstGeom>
          <a:ln>
            <a:headEnd/>
            <a:tailEnd/>
          </a:ln>
          <a:ex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2000" b="1" dirty="0" smtClean="0"/>
              <a:t>SAP</a:t>
            </a:r>
            <a:endParaRPr lang="zh-CN" altLang="en-US" sz="2000" b="1" dirty="0"/>
          </a:p>
        </p:txBody>
      </p:sp>
      <p:sp>
        <p:nvSpPr>
          <p:cNvPr id="19" name="爆炸形 1 18"/>
          <p:cNvSpPr/>
          <p:nvPr/>
        </p:nvSpPr>
        <p:spPr bwMode="auto">
          <a:xfrm>
            <a:off x="6258123" y="1108322"/>
            <a:ext cx="1661675" cy="1042494"/>
          </a:xfrm>
          <a:prstGeom prst="irregularSeal1">
            <a:avLst/>
          </a:prstGeom>
          <a:solidFill>
            <a:srgbClr val="FF0000"/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b="1" dirty="0" smtClean="0">
                <a:latin typeface="华文中宋" pitchFamily="2" charset="-122"/>
                <a:ea typeface="华文中宋" pitchFamily="2" charset="-122"/>
              </a:rPr>
              <a:t>选择</a:t>
            </a:r>
            <a:r>
              <a:rPr lang="en-US" altLang="zh-CN" b="1" dirty="0">
                <a:latin typeface="华文中宋" pitchFamily="2" charset="-122"/>
                <a:ea typeface="华文中宋" pitchFamily="2" charset="-122"/>
              </a:rPr>
              <a:t>2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55" name="AutoShape 25"/>
          <p:cNvCxnSpPr>
            <a:cxnSpLocks noChangeShapeType="1"/>
            <a:stCxn id="39" idx="0"/>
            <a:endCxn id="15" idx="2"/>
          </p:cNvCxnSpPr>
          <p:nvPr/>
        </p:nvCxnSpPr>
        <p:spPr bwMode="auto">
          <a:xfrm rot="16200000" flipV="1">
            <a:off x="5877933" y="3617251"/>
            <a:ext cx="924458" cy="10204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8" name="TextBox 57"/>
          <p:cNvSpPr txBox="1"/>
          <p:nvPr/>
        </p:nvSpPr>
        <p:spPr>
          <a:xfrm>
            <a:off x="6391185" y="3591329"/>
            <a:ext cx="101640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手工设置生效日期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6017522" y="4130503"/>
            <a:ext cx="869591" cy="710662"/>
            <a:chOff x="949313" y="2243554"/>
            <a:chExt cx="755484" cy="583226"/>
          </a:xfrm>
        </p:grpSpPr>
        <p:pic>
          <p:nvPicPr>
            <p:cNvPr id="39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353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制造工程师</a:t>
              </a:r>
              <a:endParaRPr lang="en-US" altLang="zh-CN" sz="11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10170509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889025" y="2139524"/>
            <a:ext cx="3215684" cy="4111302"/>
            <a:chOff x="3818658" y="2024110"/>
            <a:chExt cx="3215684" cy="4111302"/>
          </a:xfrm>
        </p:grpSpPr>
        <p:sp>
          <p:nvSpPr>
            <p:cNvPr id="182" name="Rectangle 4"/>
            <p:cNvSpPr>
              <a:spLocks noChangeArrowheads="1"/>
            </p:cNvSpPr>
            <p:nvPr/>
          </p:nvSpPr>
          <p:spPr bwMode="auto">
            <a:xfrm>
              <a:off x="3819664" y="3563644"/>
              <a:ext cx="3214678" cy="2571768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5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5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Rectangle 3"/>
            <p:cNvSpPr>
              <a:spLocks noChangeArrowheads="1"/>
            </p:cNvSpPr>
            <p:nvPr/>
          </p:nvSpPr>
          <p:spPr bwMode="auto">
            <a:xfrm>
              <a:off x="3818658" y="2024110"/>
              <a:ext cx="3214678" cy="154663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1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1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4493637" y="2979195"/>
              <a:ext cx="906732" cy="405104"/>
              <a:chOff x="3850567" y="4299174"/>
              <a:chExt cx="1065905" cy="433362"/>
            </a:xfrm>
          </p:grpSpPr>
          <p:pic>
            <p:nvPicPr>
              <p:cNvPr id="149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0" name="TextBox 149"/>
              <p:cNvSpPr txBox="1"/>
              <p:nvPr/>
            </p:nvSpPr>
            <p:spPr>
              <a:xfrm>
                <a:off x="3850567" y="4534989"/>
                <a:ext cx="1065905" cy="197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200" dirty="0" smtClean="0"/>
                  <a:t>普通臂</a:t>
                </a:r>
              </a:p>
            </p:txBody>
          </p:sp>
        </p:grpSp>
        <p:pic>
          <p:nvPicPr>
            <p:cNvPr id="109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1397" y="4040098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Text Box 172"/>
            <p:cNvSpPr txBox="1">
              <a:spLocks noChangeArrowheads="1"/>
            </p:cNvSpPr>
            <p:nvPr/>
          </p:nvSpPr>
          <p:spPr bwMode="auto">
            <a:xfrm>
              <a:off x="4684776" y="4031773"/>
              <a:ext cx="17347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zh-CN" altLang="en-US" sz="1200" b="0" dirty="0" smtClean="0">
                  <a:solidFill>
                    <a:srgbClr val="0066FF"/>
                  </a:solidFill>
                  <a:latin typeface="+mn-ea"/>
                  <a:ea typeface="+mn-ea"/>
                </a:rPr>
                <a:t>普通臂 </a:t>
              </a:r>
              <a:r>
                <a:rPr lang="de-DE" sz="1000" b="0" dirty="0" smtClean="0">
                  <a:solidFill>
                    <a:srgbClr val="0066FF"/>
                  </a:solidFill>
                </a:rPr>
                <a:t>6B4.300.202.HST</a:t>
              </a:r>
              <a:endParaRPr lang="de-DE" sz="1000" b="0" dirty="0">
                <a:solidFill>
                  <a:srgbClr val="0066FF"/>
                </a:solidFill>
              </a:endParaRPr>
            </a:p>
          </p:txBody>
        </p:sp>
        <p:cxnSp>
          <p:nvCxnSpPr>
            <p:cNvPr id="111" name="AutoShape 176"/>
            <p:cNvCxnSpPr>
              <a:cxnSpLocks noChangeShapeType="1"/>
            </p:cNvCxnSpPr>
            <p:nvPr/>
          </p:nvCxnSpPr>
          <p:spPr bwMode="auto">
            <a:xfrm rot="16200000" flipH="1">
              <a:off x="4605901" y="4266290"/>
              <a:ext cx="277633" cy="289623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AutoShape 177"/>
            <p:cNvCxnSpPr>
              <a:cxnSpLocks noChangeShapeType="1"/>
            </p:cNvCxnSpPr>
            <p:nvPr/>
          </p:nvCxnSpPr>
          <p:spPr bwMode="auto">
            <a:xfrm rot="16200000" flipH="1">
              <a:off x="4432792" y="4437874"/>
              <a:ext cx="623143" cy="293455"/>
            </a:xfrm>
            <a:prstGeom prst="bentConnector2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" name="Text Box 178"/>
            <p:cNvSpPr txBox="1">
              <a:spLocks noChangeArrowheads="1"/>
            </p:cNvSpPr>
            <p:nvPr/>
          </p:nvSpPr>
          <p:spPr bwMode="auto">
            <a:xfrm>
              <a:off x="5083410" y="4405877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cxnSp>
          <p:nvCxnSpPr>
            <p:cNvPr id="114" name="AutoShape 181"/>
            <p:cNvCxnSpPr>
              <a:cxnSpLocks noChangeShapeType="1"/>
            </p:cNvCxnSpPr>
            <p:nvPr/>
          </p:nvCxnSpPr>
          <p:spPr bwMode="auto">
            <a:xfrm rot="16200000" flipH="1">
              <a:off x="4270506" y="4594191"/>
              <a:ext cx="946986" cy="282478"/>
            </a:xfrm>
            <a:prstGeom prst="bentConnector3">
              <a:avLst>
                <a:gd name="adj1" fmla="val 98012"/>
              </a:avLst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5" name="Text Box 182"/>
            <p:cNvSpPr txBox="1">
              <a:spLocks noChangeArrowheads="1"/>
            </p:cNvSpPr>
            <p:nvPr/>
          </p:nvSpPr>
          <p:spPr bwMode="auto">
            <a:xfrm>
              <a:off x="5095051" y="5072639"/>
              <a:ext cx="305317" cy="255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200" b="0" dirty="0"/>
                <a:t>…</a:t>
              </a:r>
            </a:p>
          </p:txBody>
        </p:sp>
        <p:cxnSp>
          <p:nvCxnSpPr>
            <p:cNvPr id="116" name="AutoShape 113"/>
            <p:cNvCxnSpPr>
              <a:cxnSpLocks noChangeShapeType="1"/>
              <a:stCxn id="150" idx="2"/>
              <a:endCxn id="109" idx="0"/>
            </p:cNvCxnSpPr>
            <p:nvPr/>
          </p:nvCxnSpPr>
          <p:spPr bwMode="auto">
            <a:xfrm flipH="1">
              <a:off x="4606479" y="3384299"/>
              <a:ext cx="340524" cy="6557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17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358" y="442808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1090" y="4779706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Text Box 178"/>
            <p:cNvSpPr txBox="1">
              <a:spLocks noChangeArrowheads="1"/>
            </p:cNvSpPr>
            <p:nvPr/>
          </p:nvSpPr>
          <p:spPr bwMode="auto">
            <a:xfrm>
              <a:off x="5089300" y="4766587"/>
              <a:ext cx="938657" cy="230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l"/>
              <a:r>
                <a:rPr lang="de-DE" sz="1000" b="0" dirty="0">
                  <a:solidFill>
                    <a:srgbClr val="0066FF"/>
                  </a:solidFill>
                </a:rPr>
                <a:t>6B4.300.212.C</a:t>
              </a:r>
            </a:p>
          </p:txBody>
        </p:sp>
        <p:pic>
          <p:nvPicPr>
            <p:cNvPr id="121" name="Picture 170" descr="par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981" y="5094949"/>
              <a:ext cx="250163" cy="232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8" name="TextBox 167"/>
            <p:cNvSpPr txBox="1"/>
            <p:nvPr/>
          </p:nvSpPr>
          <p:spPr>
            <a:xfrm>
              <a:off x="3827536" y="204629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选项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配置层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73" name="组合 172"/>
            <p:cNvGrpSpPr/>
            <p:nvPr/>
          </p:nvGrpSpPr>
          <p:grpSpPr>
            <a:xfrm>
              <a:off x="4826214" y="2184831"/>
              <a:ext cx="968881" cy="408938"/>
              <a:chOff x="2267636" y="3419392"/>
              <a:chExt cx="1065905" cy="437463"/>
            </a:xfrm>
          </p:grpSpPr>
          <p:sp>
            <p:nvSpPr>
              <p:cNvPr id="174" name="TextBox 173"/>
              <p:cNvSpPr txBox="1"/>
              <p:nvPr/>
            </p:nvSpPr>
            <p:spPr>
              <a:xfrm>
                <a:off x="2267636" y="3702967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 smtClean="0"/>
                  <a:t>动臂</a:t>
                </a:r>
                <a:endParaRPr lang="en-US" altLang="zh-CN" sz="1000" dirty="0" smtClean="0"/>
              </a:p>
            </p:txBody>
          </p:sp>
          <p:pic>
            <p:nvPicPr>
              <p:cNvPr id="175" name="Picture 92" descr="basicnode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647" y="3419392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组合 175"/>
            <p:cNvGrpSpPr/>
            <p:nvPr/>
          </p:nvGrpSpPr>
          <p:grpSpPr>
            <a:xfrm>
              <a:off x="5315761" y="3014279"/>
              <a:ext cx="968881" cy="364292"/>
              <a:chOff x="3850567" y="4299174"/>
              <a:chExt cx="1065905" cy="389703"/>
            </a:xfrm>
          </p:grpSpPr>
          <p:pic>
            <p:nvPicPr>
              <p:cNvPr id="177" name="Picture 111" descr="variant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1527" y="4299174"/>
                <a:ext cx="315835" cy="283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8" name="TextBox 177"/>
              <p:cNvSpPr txBox="1"/>
              <p:nvPr/>
            </p:nvSpPr>
            <p:spPr>
              <a:xfrm>
                <a:off x="3850567" y="4534989"/>
                <a:ext cx="1065905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1000" dirty="0"/>
                  <a:t>加</a:t>
                </a:r>
                <a:r>
                  <a:rPr lang="zh-CN" altLang="en-US" sz="1000" dirty="0" smtClean="0"/>
                  <a:t>长臂</a:t>
                </a:r>
              </a:p>
            </p:txBody>
          </p:sp>
        </p:grpSp>
        <p:cxnSp>
          <p:nvCxnSpPr>
            <p:cNvPr id="179" name="AutoShape 113"/>
            <p:cNvCxnSpPr>
              <a:cxnSpLocks noChangeShapeType="1"/>
              <a:stCxn id="175" idx="2"/>
              <a:endCxn id="149" idx="0"/>
            </p:cNvCxnSpPr>
            <p:nvPr/>
          </p:nvCxnSpPr>
          <p:spPr bwMode="auto">
            <a:xfrm flipH="1">
              <a:off x="4960550" y="2449915"/>
              <a:ext cx="321904" cy="5292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0" name="AutoShape 113"/>
            <p:cNvCxnSpPr>
              <a:cxnSpLocks noChangeShapeType="1"/>
              <a:stCxn id="174" idx="0"/>
              <a:endCxn id="177" idx="0"/>
            </p:cNvCxnSpPr>
            <p:nvPr/>
          </p:nvCxnSpPr>
          <p:spPr bwMode="auto">
            <a:xfrm>
              <a:off x="5310655" y="2449915"/>
              <a:ext cx="504022" cy="5643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" name="TextBox 183"/>
            <p:cNvSpPr txBox="1"/>
            <p:nvPr/>
          </p:nvSpPr>
          <p:spPr>
            <a:xfrm>
              <a:off x="3819664" y="3570746"/>
              <a:ext cx="1857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工程</a:t>
              </a:r>
              <a:r>
                <a:rPr lang="zh-CN" altLang="en-US" sz="1400" b="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层</a:t>
              </a:r>
              <a:endParaRPr lang="zh-CN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20" name="组合 219"/>
          <p:cNvGrpSpPr/>
          <p:nvPr/>
        </p:nvGrpSpPr>
        <p:grpSpPr>
          <a:xfrm>
            <a:off x="3134825" y="2244728"/>
            <a:ext cx="868561" cy="973282"/>
            <a:chOff x="3321699" y="2667342"/>
            <a:chExt cx="868561" cy="973282"/>
          </a:xfrm>
        </p:grpSpPr>
        <p:grpSp>
          <p:nvGrpSpPr>
            <p:cNvPr id="221" name="组合 220"/>
            <p:cNvGrpSpPr/>
            <p:nvPr/>
          </p:nvGrpSpPr>
          <p:grpSpPr>
            <a:xfrm>
              <a:off x="3321699" y="2910315"/>
              <a:ext cx="673308" cy="730309"/>
              <a:chOff x="5020118" y="1776126"/>
              <a:chExt cx="817737" cy="600649"/>
            </a:xfrm>
          </p:grpSpPr>
          <p:sp>
            <p:nvSpPr>
              <p:cNvPr id="224" name="AutoShape 23"/>
              <p:cNvSpPr>
                <a:spLocks noChangeArrowheads="1"/>
              </p:cNvSpPr>
              <p:nvPr/>
            </p:nvSpPr>
            <p:spPr bwMode="auto">
              <a:xfrm>
                <a:off x="5020118" y="1776126"/>
                <a:ext cx="817737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225" name="TextBox 224"/>
              <p:cNvSpPr txBox="1"/>
              <p:nvPr/>
            </p:nvSpPr>
            <p:spPr>
              <a:xfrm>
                <a:off x="5042711" y="1884332"/>
                <a:ext cx="77255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sp>
          <p:nvSpPr>
            <p:cNvPr id="222" name="Rectangle 8"/>
            <p:cNvSpPr>
              <a:spLocks noChangeArrowheads="1"/>
            </p:cNvSpPr>
            <p:nvPr/>
          </p:nvSpPr>
          <p:spPr bwMode="auto">
            <a:xfrm>
              <a:off x="3344064" y="2667342"/>
              <a:ext cx="646331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选项集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223" name="矩形 222"/>
            <p:cNvSpPr/>
            <p:nvPr/>
          </p:nvSpPr>
          <p:spPr bwMode="auto">
            <a:xfrm>
              <a:off x="3995006" y="2699180"/>
              <a:ext cx="195254" cy="184844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92075" tIns="46038" rIns="92075" bIns="46038" rtlCol="0" anchor="ctr"/>
            <a:lstStyle/>
            <a:p>
              <a:pPr marL="171450" indent="-171450" algn="ctr"/>
              <a:r>
                <a:rPr lang="en-US" altLang="zh-CN" sz="1200" b="1" dirty="0" smtClean="0"/>
                <a:t>A</a:t>
              </a:r>
              <a:endParaRPr lang="zh-CN" altLang="en-US" sz="1200" b="1" dirty="0"/>
            </a:p>
          </p:txBody>
        </p:sp>
      </p:grpSp>
      <p:cxnSp>
        <p:nvCxnSpPr>
          <p:cNvPr id="227" name="直接连接符 226"/>
          <p:cNvCxnSpPr/>
          <p:nvPr/>
        </p:nvCxnSpPr>
        <p:spPr>
          <a:xfrm>
            <a:off x="4385568" y="1775538"/>
            <a:ext cx="44389" cy="49004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8" name="矩形 227"/>
          <p:cNvSpPr/>
          <p:nvPr/>
        </p:nvSpPr>
        <p:spPr bwMode="auto">
          <a:xfrm>
            <a:off x="3444845" y="4185578"/>
            <a:ext cx="195254" cy="18484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1200" b="1" dirty="0" smtClean="0"/>
              <a:t>A</a:t>
            </a:r>
            <a:endParaRPr lang="zh-CN" altLang="en-US" sz="1200" b="1" dirty="0"/>
          </a:p>
        </p:txBody>
      </p:sp>
      <p:sp>
        <p:nvSpPr>
          <p:cNvPr id="265" name="Rectangle 4"/>
          <p:cNvSpPr>
            <a:spLocks noChangeArrowheads="1"/>
          </p:cNvSpPr>
          <p:nvPr/>
        </p:nvSpPr>
        <p:spPr bwMode="auto">
          <a:xfrm>
            <a:off x="4726801" y="3680532"/>
            <a:ext cx="3214678" cy="257176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" name="Rectangle 3"/>
          <p:cNvSpPr>
            <a:spLocks noChangeArrowheads="1"/>
          </p:cNvSpPr>
          <p:nvPr/>
        </p:nvSpPr>
        <p:spPr bwMode="auto">
          <a:xfrm>
            <a:off x="4725795" y="2140998"/>
            <a:ext cx="3214678" cy="154663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7" name="组合 266"/>
          <p:cNvGrpSpPr/>
          <p:nvPr/>
        </p:nvGrpSpPr>
        <p:grpSpPr>
          <a:xfrm>
            <a:off x="5205458" y="3096083"/>
            <a:ext cx="906732" cy="405104"/>
            <a:chOff x="3850567" y="4299174"/>
            <a:chExt cx="1065905" cy="433362"/>
          </a:xfrm>
        </p:grpSpPr>
        <p:pic>
          <p:nvPicPr>
            <p:cNvPr id="290" name="Picture 111" descr="variant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1" name="TextBox 290"/>
            <p:cNvSpPr txBox="1"/>
            <p:nvPr/>
          </p:nvSpPr>
          <p:spPr>
            <a:xfrm>
              <a:off x="3850567" y="4534989"/>
              <a:ext cx="1065905" cy="1975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200" dirty="0"/>
                <a:t>特殊</a:t>
              </a:r>
              <a:r>
                <a:rPr lang="zh-CN" altLang="en-US" sz="1200" dirty="0" smtClean="0"/>
                <a:t>臂</a:t>
              </a:r>
            </a:p>
          </p:txBody>
        </p:sp>
      </p:grpSp>
      <p:pic>
        <p:nvPicPr>
          <p:cNvPr id="268" name="Picture 170" descr="p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534" y="4156986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9" name="Text Box 172"/>
          <p:cNvSpPr txBox="1">
            <a:spLocks noChangeArrowheads="1"/>
          </p:cNvSpPr>
          <p:nvPr/>
        </p:nvSpPr>
        <p:spPr bwMode="auto">
          <a:xfrm>
            <a:off x="5591913" y="4148661"/>
            <a:ext cx="17347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zh-CN" altLang="en-US" sz="1200" b="0" dirty="0">
                <a:solidFill>
                  <a:srgbClr val="0066FF"/>
                </a:solidFill>
                <a:latin typeface="+mn-ea"/>
                <a:ea typeface="+mn-ea"/>
              </a:rPr>
              <a:t>特殊</a:t>
            </a:r>
            <a:r>
              <a:rPr lang="zh-CN" altLang="en-US" sz="1200" b="0" dirty="0" smtClean="0">
                <a:solidFill>
                  <a:srgbClr val="0066FF"/>
                </a:solidFill>
                <a:latin typeface="+mn-ea"/>
                <a:ea typeface="+mn-ea"/>
              </a:rPr>
              <a:t>臂 </a:t>
            </a:r>
            <a:r>
              <a:rPr lang="de-DE" altLang="zh-CN" sz="1000" b="0" dirty="0" smtClean="0">
                <a:solidFill>
                  <a:srgbClr val="0066FF"/>
                </a:solidFill>
              </a:rPr>
              <a:t>5</a:t>
            </a:r>
            <a:r>
              <a:rPr lang="de-DE" sz="1000" b="0" dirty="0" smtClean="0">
                <a:solidFill>
                  <a:srgbClr val="0066FF"/>
                </a:solidFill>
              </a:rPr>
              <a:t>B4.200.201.HST</a:t>
            </a:r>
            <a:endParaRPr lang="de-DE" sz="1000" b="0" dirty="0">
              <a:solidFill>
                <a:srgbClr val="0066FF"/>
              </a:solidFill>
            </a:endParaRPr>
          </a:p>
        </p:txBody>
      </p:sp>
      <p:cxnSp>
        <p:nvCxnSpPr>
          <p:cNvPr id="270" name="AutoShape 176"/>
          <p:cNvCxnSpPr>
            <a:cxnSpLocks noChangeShapeType="1"/>
          </p:cNvCxnSpPr>
          <p:nvPr/>
        </p:nvCxnSpPr>
        <p:spPr bwMode="auto">
          <a:xfrm rot="16200000" flipH="1">
            <a:off x="5513038" y="4383178"/>
            <a:ext cx="277633" cy="289623"/>
          </a:xfrm>
          <a:prstGeom prst="bentConnector2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1" name="AutoShape 177"/>
          <p:cNvCxnSpPr>
            <a:cxnSpLocks noChangeShapeType="1"/>
          </p:cNvCxnSpPr>
          <p:nvPr/>
        </p:nvCxnSpPr>
        <p:spPr bwMode="auto">
          <a:xfrm rot="16200000" flipH="1">
            <a:off x="5339929" y="4554762"/>
            <a:ext cx="623143" cy="293455"/>
          </a:xfrm>
          <a:prstGeom prst="bentConnector2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72" name="Text Box 178"/>
          <p:cNvSpPr txBox="1">
            <a:spLocks noChangeArrowheads="1"/>
          </p:cNvSpPr>
          <p:nvPr/>
        </p:nvSpPr>
        <p:spPr bwMode="auto">
          <a:xfrm>
            <a:off x="5990547" y="4522765"/>
            <a:ext cx="103265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000" b="0" dirty="0" smtClean="0">
                <a:solidFill>
                  <a:srgbClr val="0066FF"/>
                </a:solidFill>
              </a:rPr>
              <a:t>5B4.300.200.C</a:t>
            </a:r>
            <a:endParaRPr lang="de-DE" sz="1000" b="0" dirty="0">
              <a:solidFill>
                <a:srgbClr val="0066FF"/>
              </a:solidFill>
            </a:endParaRPr>
          </a:p>
        </p:txBody>
      </p:sp>
      <p:cxnSp>
        <p:nvCxnSpPr>
          <p:cNvPr id="273" name="AutoShape 181"/>
          <p:cNvCxnSpPr>
            <a:cxnSpLocks noChangeShapeType="1"/>
          </p:cNvCxnSpPr>
          <p:nvPr/>
        </p:nvCxnSpPr>
        <p:spPr bwMode="auto">
          <a:xfrm rot="16200000" flipH="1">
            <a:off x="5177643" y="4711079"/>
            <a:ext cx="946986" cy="282478"/>
          </a:xfrm>
          <a:prstGeom prst="bentConnector3">
            <a:avLst>
              <a:gd name="adj1" fmla="val 98012"/>
            </a:avLst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74" name="Text Box 182"/>
          <p:cNvSpPr txBox="1">
            <a:spLocks noChangeArrowheads="1"/>
          </p:cNvSpPr>
          <p:nvPr/>
        </p:nvSpPr>
        <p:spPr bwMode="auto">
          <a:xfrm>
            <a:off x="6002188" y="5189527"/>
            <a:ext cx="305317" cy="255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de-DE" sz="1200" b="0" dirty="0"/>
              <a:t>…</a:t>
            </a:r>
          </a:p>
        </p:txBody>
      </p:sp>
      <p:cxnSp>
        <p:nvCxnSpPr>
          <p:cNvPr id="275" name="AutoShape 113"/>
          <p:cNvCxnSpPr>
            <a:cxnSpLocks noChangeShapeType="1"/>
            <a:stCxn id="291" idx="2"/>
            <a:endCxn id="268" idx="0"/>
          </p:cNvCxnSpPr>
          <p:nvPr/>
        </p:nvCxnSpPr>
        <p:spPr bwMode="auto">
          <a:xfrm flipH="1">
            <a:off x="5513616" y="3501187"/>
            <a:ext cx="145208" cy="65579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pic>
        <p:nvPicPr>
          <p:cNvPr id="276" name="Picture 170" descr="p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495" y="4544977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7" name="Picture 170" descr="p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227" y="4896594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8" name="Text Box 178"/>
          <p:cNvSpPr txBox="1">
            <a:spLocks noChangeArrowheads="1"/>
          </p:cNvSpPr>
          <p:nvPr/>
        </p:nvSpPr>
        <p:spPr bwMode="auto">
          <a:xfrm>
            <a:off x="5996437" y="4883475"/>
            <a:ext cx="103265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en-US" altLang="zh-CN" sz="1000" b="0" dirty="0">
                <a:solidFill>
                  <a:srgbClr val="0066FF"/>
                </a:solidFill>
              </a:rPr>
              <a:t>5</a:t>
            </a:r>
            <a:r>
              <a:rPr lang="de-DE" sz="1000" b="0" dirty="0" smtClean="0">
                <a:solidFill>
                  <a:srgbClr val="0066FF"/>
                </a:solidFill>
              </a:rPr>
              <a:t>B4.300.212.C</a:t>
            </a:r>
            <a:endParaRPr lang="de-DE" sz="1000" b="0" dirty="0">
              <a:solidFill>
                <a:srgbClr val="0066FF"/>
              </a:solidFill>
            </a:endParaRPr>
          </a:p>
        </p:txBody>
      </p:sp>
      <p:pic>
        <p:nvPicPr>
          <p:cNvPr id="279" name="Picture 170" descr="p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118" y="5211837"/>
            <a:ext cx="250163" cy="232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0" name="TextBox 279"/>
          <p:cNvSpPr txBox="1"/>
          <p:nvPr/>
        </p:nvSpPr>
        <p:spPr>
          <a:xfrm>
            <a:off x="4734673" y="2163184"/>
            <a:ext cx="1857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选项</a:t>
            </a:r>
            <a:r>
              <a:rPr lang="zh-CN" altLang="en-US" sz="14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配置层</a:t>
            </a:r>
            <a:endParaRPr lang="zh-CN" altLang="en-US" sz="1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81" name="组合 280"/>
          <p:cNvGrpSpPr/>
          <p:nvPr/>
        </p:nvGrpSpPr>
        <p:grpSpPr>
          <a:xfrm>
            <a:off x="5733351" y="2301719"/>
            <a:ext cx="968881" cy="408938"/>
            <a:chOff x="2267636" y="3419392"/>
            <a:chExt cx="1065905" cy="437463"/>
          </a:xfrm>
        </p:grpSpPr>
        <p:sp>
          <p:nvSpPr>
            <p:cNvPr id="288" name="TextBox 287"/>
            <p:cNvSpPr txBox="1"/>
            <p:nvPr/>
          </p:nvSpPr>
          <p:spPr>
            <a:xfrm>
              <a:off x="2267636" y="3702967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动臂</a:t>
              </a:r>
              <a:endParaRPr lang="en-US" altLang="zh-CN" sz="1000" dirty="0" smtClean="0"/>
            </a:p>
          </p:txBody>
        </p:sp>
        <p:pic>
          <p:nvPicPr>
            <p:cNvPr id="289" name="Picture 92" descr="basicnod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647" y="3419392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2" name="组合 281"/>
          <p:cNvGrpSpPr/>
          <p:nvPr/>
        </p:nvGrpSpPr>
        <p:grpSpPr>
          <a:xfrm>
            <a:off x="5752364" y="3131166"/>
            <a:ext cx="968881" cy="374326"/>
            <a:chOff x="3850567" y="4299174"/>
            <a:chExt cx="1065905" cy="400437"/>
          </a:xfrm>
        </p:grpSpPr>
        <p:pic>
          <p:nvPicPr>
            <p:cNvPr id="286" name="Picture 111" descr="variant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7" name="TextBox 286"/>
            <p:cNvSpPr txBox="1"/>
            <p:nvPr/>
          </p:nvSpPr>
          <p:spPr>
            <a:xfrm>
              <a:off x="3850567" y="4534989"/>
              <a:ext cx="1065905" cy="1646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 smtClean="0"/>
                <a:t>普通臂</a:t>
              </a:r>
            </a:p>
          </p:txBody>
        </p:sp>
      </p:grpSp>
      <p:cxnSp>
        <p:nvCxnSpPr>
          <p:cNvPr id="283" name="AutoShape 113"/>
          <p:cNvCxnSpPr>
            <a:cxnSpLocks noChangeShapeType="1"/>
            <a:stCxn id="289" idx="2"/>
            <a:endCxn id="290" idx="0"/>
          </p:cNvCxnSpPr>
          <p:nvPr/>
        </p:nvCxnSpPr>
        <p:spPr bwMode="auto">
          <a:xfrm flipH="1">
            <a:off x="5672371" y="2566803"/>
            <a:ext cx="517220" cy="5292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4" name="AutoShape 113"/>
          <p:cNvCxnSpPr>
            <a:cxnSpLocks noChangeShapeType="1"/>
            <a:stCxn id="288" idx="0"/>
            <a:endCxn id="286" idx="0"/>
          </p:cNvCxnSpPr>
          <p:nvPr/>
        </p:nvCxnSpPr>
        <p:spPr bwMode="auto">
          <a:xfrm>
            <a:off x="6217792" y="2566803"/>
            <a:ext cx="33488" cy="5643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85" name="TextBox 284"/>
          <p:cNvSpPr txBox="1"/>
          <p:nvPr/>
        </p:nvSpPr>
        <p:spPr>
          <a:xfrm>
            <a:off x="4726801" y="3687634"/>
            <a:ext cx="1857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工程</a:t>
            </a:r>
            <a:r>
              <a:rPr lang="zh-CN" altLang="en-US" sz="14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层</a:t>
            </a:r>
            <a:endParaRPr lang="zh-CN" altLang="en-US" sz="1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92" name="组合 291"/>
          <p:cNvGrpSpPr/>
          <p:nvPr/>
        </p:nvGrpSpPr>
        <p:grpSpPr>
          <a:xfrm>
            <a:off x="6971595" y="2246202"/>
            <a:ext cx="868561" cy="973282"/>
            <a:chOff x="3321699" y="2667342"/>
            <a:chExt cx="868561" cy="973282"/>
          </a:xfrm>
        </p:grpSpPr>
        <p:grpSp>
          <p:nvGrpSpPr>
            <p:cNvPr id="293" name="组合 292"/>
            <p:cNvGrpSpPr/>
            <p:nvPr/>
          </p:nvGrpSpPr>
          <p:grpSpPr>
            <a:xfrm>
              <a:off x="3321699" y="2910315"/>
              <a:ext cx="673308" cy="730309"/>
              <a:chOff x="5020118" y="1776126"/>
              <a:chExt cx="817737" cy="600649"/>
            </a:xfrm>
          </p:grpSpPr>
          <p:sp>
            <p:nvSpPr>
              <p:cNvPr id="296" name="AutoShape 23"/>
              <p:cNvSpPr>
                <a:spLocks noChangeArrowheads="1"/>
              </p:cNvSpPr>
              <p:nvPr/>
            </p:nvSpPr>
            <p:spPr bwMode="auto">
              <a:xfrm>
                <a:off x="5020118" y="1776126"/>
                <a:ext cx="817737" cy="518078"/>
              </a:xfrm>
              <a:prstGeom prst="roundRect">
                <a:avLst>
                  <a:gd name="adj" fmla="val 16667"/>
                </a:avLst>
              </a:prstGeom>
              <a:solidFill>
                <a:srgbClr val="FFFF99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marL="171450" indent="-171450">
                  <a:buFontTx/>
                  <a:buChar char="•"/>
                </a:pPr>
                <a:endParaRPr lang="zh-CN" altLang="zh-CN" sz="1200" b="1"/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5042711" y="1884332"/>
                <a:ext cx="77255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选项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pPr algn="ctr"/>
                <a:r>
                  <a:rPr lang="zh-CN" altLang="en-US" sz="900" b="1" dirty="0">
                    <a:latin typeface="宋体" pitchFamily="2" charset="-122"/>
                    <a:ea typeface="宋体" pitchFamily="2" charset="-122"/>
                  </a:rPr>
                  <a:t>选项</a:t>
                </a:r>
                <a:r>
                  <a:rPr lang="zh-CN" altLang="en-US" sz="900" b="1" dirty="0" smtClean="0">
                    <a:latin typeface="宋体" pitchFamily="2" charset="-122"/>
                    <a:ea typeface="宋体" pitchFamily="2" charset="-122"/>
                  </a:rPr>
                  <a:t>约束</a:t>
                </a:r>
                <a:endParaRPr lang="en-US" altLang="zh-CN" sz="900" b="1" dirty="0" smtClean="0">
                  <a:latin typeface="宋体" pitchFamily="2" charset="-122"/>
                  <a:ea typeface="宋体" pitchFamily="2" charset="-122"/>
                </a:endParaRPr>
              </a:p>
              <a:p>
                <a:endParaRPr lang="zh-CN" altLang="en-US" sz="1400" dirty="0" smtClean="0"/>
              </a:p>
            </p:txBody>
          </p:sp>
        </p:grpSp>
        <p:sp>
          <p:nvSpPr>
            <p:cNvPr id="294" name="Rectangle 8"/>
            <p:cNvSpPr>
              <a:spLocks noChangeArrowheads="1"/>
            </p:cNvSpPr>
            <p:nvPr/>
          </p:nvSpPr>
          <p:spPr bwMode="auto">
            <a:xfrm>
              <a:off x="3344064" y="2667342"/>
              <a:ext cx="646331" cy="2585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i="1" dirty="0" smtClean="0">
                  <a:solidFill>
                    <a:srgbClr val="0033CC"/>
                  </a:solidFill>
                </a:rPr>
                <a:t>选项集</a:t>
              </a:r>
              <a:endParaRPr lang="en-US" altLang="zh-CN" sz="1200" b="1" i="1" dirty="0">
                <a:solidFill>
                  <a:srgbClr val="0033CC"/>
                </a:solidFill>
              </a:endParaRPr>
            </a:p>
          </p:txBody>
        </p:sp>
        <p:sp>
          <p:nvSpPr>
            <p:cNvPr id="295" name="矩形 294"/>
            <p:cNvSpPr/>
            <p:nvPr/>
          </p:nvSpPr>
          <p:spPr bwMode="auto">
            <a:xfrm>
              <a:off x="3995006" y="2699180"/>
              <a:ext cx="195254" cy="184844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92075" tIns="46038" rIns="92075" bIns="46038" rtlCol="0" anchor="ctr"/>
            <a:lstStyle/>
            <a:p>
              <a:pPr marL="171450" indent="-171450" algn="ctr"/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</p:grpSp>
      <p:sp>
        <p:nvSpPr>
          <p:cNvPr id="298" name="矩形 297"/>
          <p:cNvSpPr/>
          <p:nvPr/>
        </p:nvSpPr>
        <p:spPr bwMode="auto">
          <a:xfrm>
            <a:off x="7281615" y="4187052"/>
            <a:ext cx="195254" cy="18484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1200" b="1" dirty="0" smtClean="0"/>
              <a:t>A</a:t>
            </a:r>
            <a:endParaRPr lang="zh-CN" altLang="en-US" sz="1200" b="1" dirty="0"/>
          </a:p>
        </p:txBody>
      </p:sp>
      <p:sp>
        <p:nvSpPr>
          <p:cNvPr id="300" name="TextBox 168"/>
          <p:cNvSpPr txBox="1">
            <a:spLocks noChangeArrowheads="1"/>
          </p:cNvSpPr>
          <p:nvPr/>
        </p:nvSpPr>
        <p:spPr bwMode="auto">
          <a:xfrm>
            <a:off x="3808133" y="1615649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400" dirty="0"/>
              <a:t>改前</a:t>
            </a:r>
          </a:p>
        </p:txBody>
      </p:sp>
      <p:sp>
        <p:nvSpPr>
          <p:cNvPr id="301" name="TextBox 169"/>
          <p:cNvSpPr txBox="1">
            <a:spLocks noChangeArrowheads="1"/>
          </p:cNvSpPr>
          <p:nvPr/>
        </p:nvSpPr>
        <p:spPr bwMode="auto">
          <a:xfrm>
            <a:off x="4725795" y="1617778"/>
            <a:ext cx="428625" cy="5232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/>
              <a:t>改后</a:t>
            </a: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8" y="1053307"/>
            <a:ext cx="5993522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 smtClean="0"/>
              <a:t>更改影响三：选项和工程层数据都发生更改</a:t>
            </a:r>
            <a:endParaRPr lang="zh-CN" altLang="en-US" dirty="0"/>
          </a:p>
        </p:txBody>
      </p:sp>
      <p:grpSp>
        <p:nvGrpSpPr>
          <p:cNvPr id="77" name="组合 76"/>
          <p:cNvGrpSpPr/>
          <p:nvPr/>
        </p:nvGrpSpPr>
        <p:grpSpPr>
          <a:xfrm>
            <a:off x="6277640" y="3132641"/>
            <a:ext cx="968881" cy="364292"/>
            <a:chOff x="3850567" y="4299174"/>
            <a:chExt cx="1065905" cy="389703"/>
          </a:xfrm>
        </p:grpSpPr>
        <p:pic>
          <p:nvPicPr>
            <p:cNvPr id="78" name="Picture 111" descr="variant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527" y="4299174"/>
              <a:ext cx="315835" cy="28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TextBox 78"/>
            <p:cNvSpPr txBox="1"/>
            <p:nvPr/>
          </p:nvSpPr>
          <p:spPr>
            <a:xfrm>
              <a:off x="3850567" y="4534989"/>
              <a:ext cx="106590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000" dirty="0"/>
                <a:t>加</a:t>
              </a:r>
              <a:r>
                <a:rPr lang="zh-CN" altLang="en-US" sz="1000" dirty="0" smtClean="0"/>
                <a:t>长臂</a:t>
              </a:r>
            </a:p>
          </p:txBody>
        </p:sp>
      </p:grpSp>
      <p:cxnSp>
        <p:nvCxnSpPr>
          <p:cNvPr id="80" name="AutoShape 113"/>
          <p:cNvCxnSpPr>
            <a:cxnSpLocks noChangeShapeType="1"/>
            <a:stCxn id="288" idx="0"/>
            <a:endCxn id="78" idx="0"/>
          </p:cNvCxnSpPr>
          <p:nvPr/>
        </p:nvCxnSpPr>
        <p:spPr bwMode="auto">
          <a:xfrm>
            <a:off x="6217792" y="2566803"/>
            <a:ext cx="558764" cy="565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3" name="矩形 82"/>
          <p:cNvSpPr/>
          <p:nvPr/>
        </p:nvSpPr>
        <p:spPr bwMode="auto">
          <a:xfrm>
            <a:off x="2547108" y="2284378"/>
            <a:ext cx="195254" cy="18484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1200" b="1" dirty="0" smtClean="0"/>
              <a:t>A</a:t>
            </a:r>
            <a:endParaRPr lang="zh-CN" altLang="en-US" sz="1200" b="1" dirty="0"/>
          </a:p>
        </p:txBody>
      </p:sp>
      <p:sp>
        <p:nvSpPr>
          <p:cNvPr id="84" name="矩形 83"/>
          <p:cNvSpPr/>
          <p:nvPr/>
        </p:nvSpPr>
        <p:spPr bwMode="auto">
          <a:xfrm>
            <a:off x="6409247" y="2295664"/>
            <a:ext cx="195254" cy="184844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1200" b="1" dirty="0"/>
              <a:t>B</a:t>
            </a:r>
            <a:endParaRPr lang="zh-CN" altLang="en-US" sz="1200" b="1" dirty="0"/>
          </a:p>
        </p:txBody>
      </p:sp>
      <p:sp>
        <p:nvSpPr>
          <p:cNvPr id="5" name="矩形 4"/>
          <p:cNvSpPr/>
          <p:nvPr/>
        </p:nvSpPr>
        <p:spPr bwMode="auto">
          <a:xfrm>
            <a:off x="4734673" y="2139524"/>
            <a:ext cx="3205800" cy="4112776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/>
        </p:spPr>
        <p:txBody>
          <a:bodyPr wrap="none" lIns="92075" tIns="46038" rIns="92075" bIns="46038" rtlCol="0" anchor="ctr"/>
          <a:lstStyle/>
          <a:p>
            <a:pPr marL="171450" indent="-171450" algn="ctr"/>
            <a:endParaRPr lang="zh-CN" altLang="en-US" sz="1200" b="1" dirty="0"/>
          </a:p>
        </p:txBody>
      </p:sp>
    </p:spTree>
    <p:extLst>
      <p:ext uri="{BB962C8B-B14F-4D97-AF65-F5344CB8AC3E}">
        <p14:creationId xmlns="" xmlns:p14="http://schemas.microsoft.com/office/powerpoint/2010/main" val="300034392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9" y="1053307"/>
            <a:ext cx="4160360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/>
              <a:t>更改影响二：只有选项集发生更改</a:t>
            </a: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340618" y="1053307"/>
            <a:ext cx="5993522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 smtClean="0"/>
              <a:t>更改影响三：选项和工程层数据发生更改</a:t>
            </a:r>
            <a:endParaRPr lang="zh-CN" altLang="en-US" dirty="0"/>
          </a:p>
        </p:txBody>
      </p:sp>
      <p:pic>
        <p:nvPicPr>
          <p:cNvPr id="20" name="Picture 22" descr="user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35" y="2086238"/>
            <a:ext cx="258034" cy="28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818"/>
          <p:cNvSpPr>
            <a:spLocks noChangeArrowheads="1"/>
          </p:cNvSpPr>
          <p:nvPr/>
        </p:nvSpPr>
        <p:spPr bwMode="auto">
          <a:xfrm>
            <a:off x="471726" y="2375943"/>
            <a:ext cx="753380" cy="27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/>
              <a:t>设计</a:t>
            </a:r>
            <a:r>
              <a:rPr lang="zh-CN" altLang="en-US" sz="1100" dirty="0" smtClean="0"/>
              <a:t>人员</a:t>
            </a:r>
            <a:endParaRPr lang="en-US" altLang="zh-CN" sz="11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897853" y="3457306"/>
            <a:ext cx="714375" cy="573042"/>
            <a:chOff x="276393" y="3759158"/>
            <a:chExt cx="714375" cy="573042"/>
          </a:xfrm>
        </p:grpSpPr>
        <p:sp>
          <p:nvSpPr>
            <p:cNvPr id="23" name="矩形 818"/>
            <p:cNvSpPr>
              <a:spLocks noChangeArrowheads="1"/>
            </p:cNvSpPr>
            <p:nvPr/>
          </p:nvSpPr>
          <p:spPr bwMode="auto">
            <a:xfrm>
              <a:off x="276393" y="4070592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ECR</a:t>
              </a:r>
              <a:endParaRPr lang="en-US" altLang="zh-CN" sz="1100" dirty="0"/>
            </a:p>
          </p:txBody>
        </p:sp>
        <p:pic>
          <p:nvPicPr>
            <p:cNvPr id="24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146" y="3759158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5" name="AutoShape 25"/>
          <p:cNvCxnSpPr>
            <a:cxnSpLocks noChangeShapeType="1"/>
            <a:stCxn id="21" idx="2"/>
            <a:endCxn id="24" idx="0"/>
          </p:cNvCxnSpPr>
          <p:nvPr/>
        </p:nvCxnSpPr>
        <p:spPr bwMode="auto">
          <a:xfrm rot="16200000" flipH="1">
            <a:off x="589575" y="2905679"/>
            <a:ext cx="810468" cy="29278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/>
          <p:cNvSpPr txBox="1"/>
          <p:nvPr/>
        </p:nvSpPr>
        <p:spPr>
          <a:xfrm>
            <a:off x="364857" y="3077572"/>
            <a:ext cx="8611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创建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ECR</a:t>
            </a:r>
            <a:endParaRPr lang="zh-CN" altLang="en-US" sz="1000" b="1" dirty="0" smtClean="0">
              <a:solidFill>
                <a:srgbClr val="FF0000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695431" y="4260169"/>
            <a:ext cx="941393" cy="1333197"/>
            <a:chOff x="2082166" y="2225746"/>
            <a:chExt cx="941393" cy="1333197"/>
          </a:xfrm>
        </p:grpSpPr>
        <p:pic>
          <p:nvPicPr>
            <p:cNvPr id="30" name="Picture 8" descr="icon-processConsul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166" y="2225746"/>
              <a:ext cx="941393" cy="941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矩形 818"/>
            <p:cNvSpPr>
              <a:spLocks noChangeArrowheads="1"/>
            </p:cNvSpPr>
            <p:nvPr/>
          </p:nvSpPr>
          <p:spPr bwMode="auto">
            <a:xfrm>
              <a:off x="2165864" y="3128056"/>
              <a:ext cx="78581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 选项集</a:t>
              </a:r>
              <a:r>
                <a:rPr lang="en-US" altLang="zh-CN" sz="1100" dirty="0" smtClean="0"/>
                <a:t>ECN</a:t>
              </a:r>
              <a:r>
                <a:rPr lang="zh-CN" altLang="en-US" sz="1100" dirty="0" smtClean="0"/>
                <a:t>流程</a:t>
              </a:r>
              <a:endParaRPr lang="en-US" altLang="zh-CN" sz="1100" dirty="0"/>
            </a:p>
          </p:txBody>
        </p:sp>
      </p:grpSp>
      <p:cxnSp>
        <p:nvCxnSpPr>
          <p:cNvPr id="39" name="AutoShape 244"/>
          <p:cNvCxnSpPr>
            <a:cxnSpLocks noChangeShapeType="1"/>
          </p:cNvCxnSpPr>
          <p:nvPr/>
        </p:nvCxnSpPr>
        <p:spPr bwMode="auto">
          <a:xfrm rot="5400000" flipH="1" flipV="1">
            <a:off x="1361932" y="1966371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1" name="AutoShape 244"/>
          <p:cNvCxnSpPr>
            <a:cxnSpLocks noChangeShapeType="1"/>
          </p:cNvCxnSpPr>
          <p:nvPr/>
        </p:nvCxnSpPr>
        <p:spPr bwMode="auto">
          <a:xfrm rot="5400000" flipH="1" flipV="1">
            <a:off x="2979202" y="1967845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93" name="组合 92"/>
          <p:cNvGrpSpPr/>
          <p:nvPr/>
        </p:nvGrpSpPr>
        <p:grpSpPr>
          <a:xfrm>
            <a:off x="3145478" y="2087712"/>
            <a:ext cx="753380" cy="560600"/>
            <a:chOff x="3038942" y="2185370"/>
            <a:chExt cx="753380" cy="560600"/>
          </a:xfrm>
        </p:grpSpPr>
        <p:pic>
          <p:nvPicPr>
            <p:cNvPr id="42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9163" y="2185370"/>
              <a:ext cx="258034" cy="289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矩形 818"/>
            <p:cNvSpPr>
              <a:spLocks noChangeArrowheads="1"/>
            </p:cNvSpPr>
            <p:nvPr/>
          </p:nvSpPr>
          <p:spPr bwMode="auto">
            <a:xfrm>
              <a:off x="3038942" y="2475075"/>
              <a:ext cx="753380" cy="270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dirty="0"/>
                <a:t>设计</a:t>
              </a:r>
              <a:r>
                <a:rPr lang="zh-CN" altLang="en-US" sz="1100" dirty="0" smtClean="0"/>
                <a:t>人员</a:t>
              </a:r>
              <a:endParaRPr lang="en-US" altLang="zh-CN" sz="1100" dirty="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712529" y="3455585"/>
            <a:ext cx="714375" cy="573042"/>
            <a:chOff x="7410952" y="2514240"/>
            <a:chExt cx="714375" cy="573042"/>
          </a:xfrm>
        </p:grpSpPr>
        <p:sp>
          <p:nvSpPr>
            <p:cNvPr id="47" name="矩形 818"/>
            <p:cNvSpPr>
              <a:spLocks noChangeArrowheads="1"/>
            </p:cNvSpPr>
            <p:nvPr/>
          </p:nvSpPr>
          <p:spPr bwMode="auto">
            <a:xfrm>
              <a:off x="7410952" y="2825674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ECN</a:t>
              </a:r>
              <a:endParaRPr lang="en-US" altLang="zh-CN" sz="1100" dirty="0"/>
            </a:p>
          </p:txBody>
        </p:sp>
        <p:pic>
          <p:nvPicPr>
            <p:cNvPr id="48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2705" y="2514240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9" name="AutoShape 25"/>
          <p:cNvCxnSpPr>
            <a:cxnSpLocks noChangeShapeType="1"/>
            <a:stCxn id="43" idx="2"/>
            <a:endCxn id="48" idx="0"/>
          </p:cNvCxnSpPr>
          <p:nvPr/>
        </p:nvCxnSpPr>
        <p:spPr bwMode="auto">
          <a:xfrm rot="5400000">
            <a:off x="2835387" y="2768803"/>
            <a:ext cx="807273" cy="56629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9" name="TextBox 58"/>
          <p:cNvSpPr txBox="1"/>
          <p:nvPr/>
        </p:nvSpPr>
        <p:spPr>
          <a:xfrm>
            <a:off x="2854325" y="2881574"/>
            <a:ext cx="8611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创建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ECN</a:t>
            </a:r>
            <a:endParaRPr lang="zh-CN" altLang="en-US" sz="1000" b="1" dirty="0" smtClean="0">
              <a:solidFill>
                <a:srgbClr val="FF0000"/>
              </a:solidFill>
            </a:endParaRPr>
          </a:p>
        </p:txBody>
      </p:sp>
      <p:sp>
        <p:nvSpPr>
          <p:cNvPr id="60" name="AutoShape 108"/>
          <p:cNvSpPr>
            <a:spLocks noChangeArrowheads="1"/>
          </p:cNvSpPr>
          <p:nvPr/>
        </p:nvSpPr>
        <p:spPr bwMode="auto">
          <a:xfrm>
            <a:off x="3482367" y="3231460"/>
            <a:ext cx="823295" cy="224125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修改工程数据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61" name="AutoShape 108"/>
          <p:cNvSpPr>
            <a:spLocks noChangeArrowheads="1"/>
          </p:cNvSpPr>
          <p:nvPr/>
        </p:nvSpPr>
        <p:spPr bwMode="auto">
          <a:xfrm>
            <a:off x="3451145" y="3753684"/>
            <a:ext cx="1032069" cy="25003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设置更改生效日期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</p:txBody>
      </p:sp>
      <p:cxnSp>
        <p:nvCxnSpPr>
          <p:cNvPr id="62" name="直接连接符 304"/>
          <p:cNvCxnSpPr>
            <a:stCxn id="48" idx="3"/>
            <a:endCxn id="60" idx="1"/>
          </p:cNvCxnSpPr>
          <p:nvPr/>
        </p:nvCxnSpPr>
        <p:spPr bwMode="auto">
          <a:xfrm flipV="1">
            <a:off x="3087474" y="3343523"/>
            <a:ext cx="394893" cy="254938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304"/>
          <p:cNvCxnSpPr/>
          <p:nvPr/>
        </p:nvCxnSpPr>
        <p:spPr bwMode="auto">
          <a:xfrm>
            <a:off x="3087474" y="3598461"/>
            <a:ext cx="363671" cy="280238"/>
          </a:xfrm>
          <a:prstGeom prst="bentConnector3">
            <a:avLst>
              <a:gd name="adj1" fmla="val 54882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>
            <a:off x="3007774" y="4513460"/>
            <a:ext cx="869591" cy="598545"/>
            <a:chOff x="949313" y="2243554"/>
            <a:chExt cx="755484" cy="491214"/>
          </a:xfrm>
        </p:grpSpPr>
        <p:pic>
          <p:nvPicPr>
            <p:cNvPr id="71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总体人员</a:t>
              </a:r>
              <a:endParaRPr lang="en-US" altLang="zh-CN" sz="1100" dirty="0"/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967179" y="5754592"/>
            <a:ext cx="581643" cy="610961"/>
            <a:chOff x="5020118" y="1776126"/>
            <a:chExt cx="817737" cy="600649"/>
          </a:xfrm>
        </p:grpSpPr>
        <p:sp>
          <p:nvSpPr>
            <p:cNvPr id="89" name="AutoShape 23"/>
            <p:cNvSpPr>
              <a:spLocks noChangeArrowheads="1"/>
            </p:cNvSpPr>
            <p:nvPr/>
          </p:nvSpPr>
          <p:spPr bwMode="auto">
            <a:xfrm>
              <a:off x="5020118" y="1776126"/>
              <a:ext cx="817737" cy="518078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171450" indent="-171450">
                <a:buFontTx/>
                <a:buChar char="•"/>
              </a:pPr>
              <a:endParaRPr lang="zh-CN" altLang="zh-CN" sz="1200" b="1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042711" y="1884332"/>
              <a:ext cx="77255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选项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  <a:p>
              <a:pPr algn="ctr"/>
              <a:r>
                <a:rPr lang="zh-CN" altLang="en-US" sz="900" b="1" dirty="0">
                  <a:latin typeface="宋体" pitchFamily="2" charset="-122"/>
                  <a:ea typeface="宋体" pitchFamily="2" charset="-122"/>
                </a:rPr>
                <a:t>选项</a:t>
              </a:r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约束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  <a:p>
              <a:endParaRPr lang="zh-CN" altLang="en-US" sz="1400" dirty="0" smtClean="0"/>
            </a:p>
          </p:txBody>
        </p:sp>
      </p:grpSp>
      <p:cxnSp>
        <p:nvCxnSpPr>
          <p:cNvPr id="91" name="AutoShape 25"/>
          <p:cNvCxnSpPr>
            <a:cxnSpLocks noChangeShapeType="1"/>
            <a:stCxn id="72" idx="2"/>
            <a:endCxn id="89" idx="0"/>
          </p:cNvCxnSpPr>
          <p:nvPr/>
        </p:nvCxnSpPr>
        <p:spPr bwMode="auto">
          <a:xfrm rot="16200000" flipH="1">
            <a:off x="3528992" y="5025582"/>
            <a:ext cx="642587" cy="815431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94" name="TextBox 93"/>
          <p:cNvSpPr txBox="1"/>
          <p:nvPr/>
        </p:nvSpPr>
        <p:spPr>
          <a:xfrm>
            <a:off x="3687632" y="5126421"/>
            <a:ext cx="861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增加选项和选项约束</a:t>
            </a:r>
          </a:p>
        </p:txBody>
      </p:sp>
      <p:sp>
        <p:nvSpPr>
          <p:cNvPr id="95" name="AutoShape 108"/>
          <p:cNvSpPr>
            <a:spLocks noChangeArrowheads="1"/>
          </p:cNvSpPr>
          <p:nvPr/>
        </p:nvSpPr>
        <p:spPr bwMode="auto">
          <a:xfrm>
            <a:off x="1076450" y="5396618"/>
            <a:ext cx="1071556" cy="50006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修订选项集，添加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>
                <a:solidFill>
                  <a:srgbClr val="000066"/>
                </a:solidFill>
                <a:latin typeface="+mn-ea"/>
              </a:rPr>
              <a:t>新</a:t>
            </a: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选项和选项约束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到选项集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2426665" y="5823190"/>
            <a:ext cx="714375" cy="573042"/>
            <a:chOff x="3093473" y="3768017"/>
            <a:chExt cx="714375" cy="573042"/>
          </a:xfrm>
        </p:grpSpPr>
        <p:sp>
          <p:nvSpPr>
            <p:cNvPr id="98" name="矩形 818"/>
            <p:cNvSpPr>
              <a:spLocks noChangeArrowheads="1"/>
            </p:cNvSpPr>
            <p:nvPr/>
          </p:nvSpPr>
          <p:spPr bwMode="auto">
            <a:xfrm>
              <a:off x="3093473" y="4079451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ECN</a:t>
              </a:r>
              <a:endParaRPr lang="en-US" altLang="zh-CN" sz="1100" dirty="0"/>
            </a:p>
          </p:txBody>
        </p:sp>
        <p:pic>
          <p:nvPicPr>
            <p:cNvPr id="99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5226" y="3768017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" name="AutoShape 108"/>
          <p:cNvSpPr>
            <a:spLocks noChangeArrowheads="1"/>
          </p:cNvSpPr>
          <p:nvPr/>
        </p:nvSpPr>
        <p:spPr bwMode="auto">
          <a:xfrm>
            <a:off x="5992228" y="5309183"/>
            <a:ext cx="1032069" cy="25003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更改生效日期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</p:txBody>
      </p:sp>
      <p:cxnSp>
        <p:nvCxnSpPr>
          <p:cNvPr id="107" name="AutoShape 25"/>
          <p:cNvCxnSpPr>
            <a:cxnSpLocks noChangeShapeType="1"/>
            <a:stCxn id="24" idx="3"/>
            <a:endCxn id="48" idx="1"/>
          </p:cNvCxnSpPr>
          <p:nvPr/>
        </p:nvCxnSpPr>
        <p:spPr bwMode="auto">
          <a:xfrm flipV="1">
            <a:off x="1272798" y="3598461"/>
            <a:ext cx="1551484" cy="1721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20" name="AutoShape 25"/>
          <p:cNvCxnSpPr>
            <a:cxnSpLocks noChangeShapeType="1"/>
            <a:stCxn id="23" idx="2"/>
            <a:endCxn id="99" idx="0"/>
          </p:cNvCxnSpPr>
          <p:nvPr/>
        </p:nvCxnSpPr>
        <p:spPr bwMode="auto">
          <a:xfrm rot="16200000" flipH="1">
            <a:off x="1066106" y="4219282"/>
            <a:ext cx="1792842" cy="1414973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36" name="AutoShape 25"/>
          <p:cNvCxnSpPr>
            <a:cxnSpLocks noChangeShapeType="1"/>
            <a:stCxn id="72" idx="2"/>
            <a:endCxn id="99" idx="0"/>
          </p:cNvCxnSpPr>
          <p:nvPr/>
        </p:nvCxnSpPr>
        <p:spPr bwMode="auto">
          <a:xfrm rot="5400000">
            <a:off x="2700700" y="5081319"/>
            <a:ext cx="711185" cy="77255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39" name="TextBox 138"/>
          <p:cNvSpPr txBox="1"/>
          <p:nvPr/>
        </p:nvSpPr>
        <p:spPr>
          <a:xfrm>
            <a:off x="2589955" y="5126421"/>
            <a:ext cx="8611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创建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ECN</a:t>
            </a:r>
            <a:endParaRPr lang="zh-CN" altLang="en-US" sz="1000" b="1" dirty="0" smtClean="0">
              <a:solidFill>
                <a:srgbClr val="FF0000"/>
              </a:solidFill>
            </a:endParaRPr>
          </a:p>
        </p:txBody>
      </p:sp>
      <p:cxnSp>
        <p:nvCxnSpPr>
          <p:cNvPr id="142" name="直接连接符 304"/>
          <p:cNvCxnSpPr>
            <a:stCxn id="99" idx="1"/>
            <a:endCxn id="95" idx="3"/>
          </p:cNvCxnSpPr>
          <p:nvPr/>
        </p:nvCxnSpPr>
        <p:spPr bwMode="auto">
          <a:xfrm rot="10800000">
            <a:off x="2148006" y="5646648"/>
            <a:ext cx="390412" cy="319418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52"/>
          <p:cNvGrpSpPr/>
          <p:nvPr/>
        </p:nvGrpSpPr>
        <p:grpSpPr>
          <a:xfrm>
            <a:off x="1852812" y="1925368"/>
            <a:ext cx="941393" cy="1163991"/>
            <a:chOff x="2082166" y="2225746"/>
            <a:chExt cx="941393" cy="1163991"/>
          </a:xfrm>
        </p:grpSpPr>
        <p:pic>
          <p:nvPicPr>
            <p:cNvPr id="154" name="Picture 8" descr="icon-processConsul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166" y="2225746"/>
              <a:ext cx="941393" cy="941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矩形 818"/>
            <p:cNvSpPr>
              <a:spLocks noChangeArrowheads="1"/>
            </p:cNvSpPr>
            <p:nvPr/>
          </p:nvSpPr>
          <p:spPr bwMode="auto">
            <a:xfrm>
              <a:off x="2165864" y="3128056"/>
              <a:ext cx="785816" cy="261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100" dirty="0" smtClean="0"/>
                <a:t>ECR</a:t>
              </a:r>
              <a:r>
                <a:rPr lang="zh-CN" altLang="en-US" sz="1100" dirty="0" smtClean="0"/>
                <a:t>流程</a:t>
              </a:r>
              <a:endParaRPr lang="en-US" altLang="zh-CN" sz="1100" dirty="0"/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4440298" y="1943124"/>
            <a:ext cx="941393" cy="1333197"/>
            <a:chOff x="2082166" y="2225746"/>
            <a:chExt cx="941393" cy="1333197"/>
          </a:xfrm>
        </p:grpSpPr>
        <p:pic>
          <p:nvPicPr>
            <p:cNvPr id="162" name="Picture 8" descr="icon-processConsul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166" y="2225746"/>
              <a:ext cx="941393" cy="941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" name="矩形 818"/>
            <p:cNvSpPr>
              <a:spLocks noChangeArrowheads="1"/>
            </p:cNvSpPr>
            <p:nvPr/>
          </p:nvSpPr>
          <p:spPr bwMode="auto">
            <a:xfrm>
              <a:off x="2165864" y="3128056"/>
              <a:ext cx="78581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工程数据</a:t>
              </a:r>
              <a:r>
                <a:rPr lang="en-US" altLang="zh-CN" sz="1100" dirty="0" smtClean="0"/>
                <a:t>ECN</a:t>
              </a:r>
              <a:r>
                <a:rPr lang="zh-CN" altLang="en-US" sz="1100" dirty="0" smtClean="0"/>
                <a:t>流程</a:t>
              </a:r>
              <a:endParaRPr lang="en-US" altLang="zh-CN" sz="1100" dirty="0"/>
            </a:p>
          </p:txBody>
        </p:sp>
      </p:grpSp>
      <p:cxnSp>
        <p:nvCxnSpPr>
          <p:cNvPr id="164" name="AutoShape 244"/>
          <p:cNvCxnSpPr>
            <a:cxnSpLocks noChangeShapeType="1"/>
          </p:cNvCxnSpPr>
          <p:nvPr/>
        </p:nvCxnSpPr>
        <p:spPr bwMode="auto">
          <a:xfrm rot="5400000" flipH="1" flipV="1">
            <a:off x="4051267" y="1979469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65" name="AutoShape 244"/>
          <p:cNvCxnSpPr>
            <a:cxnSpLocks noChangeShapeType="1"/>
          </p:cNvCxnSpPr>
          <p:nvPr/>
        </p:nvCxnSpPr>
        <p:spPr bwMode="auto">
          <a:xfrm rot="5400000" flipH="1" flipV="1">
            <a:off x="4230213" y="4394237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67" name="组合 166"/>
          <p:cNvGrpSpPr/>
          <p:nvPr/>
        </p:nvGrpSpPr>
        <p:grpSpPr>
          <a:xfrm>
            <a:off x="5863620" y="2071430"/>
            <a:ext cx="753380" cy="720592"/>
            <a:chOff x="3038942" y="2185370"/>
            <a:chExt cx="753380" cy="720592"/>
          </a:xfrm>
        </p:grpSpPr>
        <p:pic>
          <p:nvPicPr>
            <p:cNvPr id="168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9163" y="2185370"/>
              <a:ext cx="258034" cy="289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矩形 818"/>
            <p:cNvSpPr>
              <a:spLocks noChangeArrowheads="1"/>
            </p:cNvSpPr>
            <p:nvPr/>
          </p:nvSpPr>
          <p:spPr bwMode="auto">
            <a:xfrm>
              <a:off x="3038942" y="2475075"/>
              <a:ext cx="75338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dirty="0" smtClean="0"/>
                <a:t>制造</a:t>
              </a:r>
              <a:endParaRPr lang="en-US" altLang="zh-CN" sz="1100" dirty="0" smtClean="0"/>
            </a:p>
            <a:p>
              <a:pPr algn="ctr"/>
              <a:r>
                <a:rPr lang="zh-CN" altLang="en-US" sz="1100" dirty="0" smtClean="0"/>
                <a:t>工程师</a:t>
              </a:r>
              <a:endParaRPr lang="en-US" altLang="zh-CN" sz="1100" dirty="0"/>
            </a:p>
          </p:txBody>
        </p:sp>
      </p:grpSp>
      <p:cxnSp>
        <p:nvCxnSpPr>
          <p:cNvPr id="173" name="AutoShape 244"/>
          <p:cNvCxnSpPr>
            <a:cxnSpLocks noChangeShapeType="1"/>
          </p:cNvCxnSpPr>
          <p:nvPr/>
        </p:nvCxnSpPr>
        <p:spPr bwMode="auto">
          <a:xfrm rot="5400000" flipH="1" flipV="1">
            <a:off x="6769409" y="1963187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4" name="AutoShape 244"/>
          <p:cNvCxnSpPr>
            <a:cxnSpLocks noChangeShapeType="1"/>
          </p:cNvCxnSpPr>
          <p:nvPr/>
        </p:nvCxnSpPr>
        <p:spPr bwMode="auto">
          <a:xfrm rot="5400000" flipH="1" flipV="1">
            <a:off x="5736693" y="1981061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31" name="组合 130"/>
          <p:cNvGrpSpPr/>
          <p:nvPr/>
        </p:nvGrpSpPr>
        <p:grpSpPr>
          <a:xfrm>
            <a:off x="6849469" y="1953476"/>
            <a:ext cx="1663233" cy="1194940"/>
            <a:chOff x="7035907" y="2051134"/>
            <a:chExt cx="1663233" cy="1194940"/>
          </a:xfrm>
        </p:grpSpPr>
        <p:sp>
          <p:nvSpPr>
            <p:cNvPr id="172" name="矩形 818"/>
            <p:cNvSpPr>
              <a:spLocks noChangeArrowheads="1"/>
            </p:cNvSpPr>
            <p:nvPr/>
          </p:nvSpPr>
          <p:spPr bwMode="auto">
            <a:xfrm>
              <a:off x="7035907" y="2984464"/>
              <a:ext cx="166323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dirty="0" smtClean="0"/>
                <a:t>快速变更流程</a:t>
              </a:r>
              <a:endParaRPr lang="en-US" altLang="zh-CN" sz="1100" dirty="0" smtClean="0"/>
            </a:p>
          </p:txBody>
        </p:sp>
        <p:pic>
          <p:nvPicPr>
            <p:cNvPr id="176" name="Picture 8" descr="icon-processConsul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2634" y="2051134"/>
              <a:ext cx="941393" cy="941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1" name="AutoShape 108"/>
          <p:cNvSpPr>
            <a:spLocks noChangeArrowheads="1"/>
          </p:cNvSpPr>
          <p:nvPr/>
        </p:nvSpPr>
        <p:spPr bwMode="auto">
          <a:xfrm>
            <a:off x="7962902" y="3666497"/>
            <a:ext cx="823295" cy="318767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en-US" altLang="zh-CN" sz="900" dirty="0" smtClean="0">
                <a:solidFill>
                  <a:srgbClr val="000066"/>
                </a:solidFill>
                <a:latin typeface="+mn-ea"/>
              </a:rPr>
              <a:t>MBOM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  <a:p>
            <a:pPr algn="ctr"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工时定额信息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182" name="AutoShape 108"/>
          <p:cNvSpPr>
            <a:spLocks noChangeArrowheads="1"/>
          </p:cNvSpPr>
          <p:nvPr/>
        </p:nvSpPr>
        <p:spPr bwMode="auto">
          <a:xfrm>
            <a:off x="5992228" y="3869243"/>
            <a:ext cx="823295" cy="318767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新增选项和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>
                <a:solidFill>
                  <a:srgbClr val="000066"/>
                </a:solidFill>
                <a:latin typeface="+mn-ea"/>
              </a:rPr>
              <a:t>选项</a:t>
            </a: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约束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183" name="圆角矩形 182"/>
          <p:cNvSpPr/>
          <p:nvPr/>
        </p:nvSpPr>
        <p:spPr bwMode="auto">
          <a:xfrm>
            <a:off x="7065634" y="5750127"/>
            <a:ext cx="1242874" cy="590390"/>
          </a:xfrm>
          <a:prstGeom prst="roundRect">
            <a:avLst/>
          </a:prstGeom>
          <a:ln>
            <a:headEnd/>
            <a:tailEnd/>
          </a:ln>
          <a:ex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2000" b="1" dirty="0" smtClean="0"/>
              <a:t>SAP</a:t>
            </a:r>
            <a:endParaRPr lang="zh-CN" altLang="en-US" sz="2000" b="1" dirty="0"/>
          </a:p>
        </p:txBody>
      </p:sp>
      <p:cxnSp>
        <p:nvCxnSpPr>
          <p:cNvPr id="184" name="AutoShape 244"/>
          <p:cNvCxnSpPr>
            <a:cxnSpLocks noChangeShapeType="1"/>
            <a:stCxn id="30" idx="3"/>
            <a:endCxn id="183" idx="0"/>
          </p:cNvCxnSpPr>
          <p:nvPr/>
        </p:nvCxnSpPr>
        <p:spPr bwMode="auto">
          <a:xfrm>
            <a:off x="5636824" y="4730990"/>
            <a:ext cx="2050247" cy="1019137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89" name="AutoShape 25"/>
          <p:cNvCxnSpPr>
            <a:cxnSpLocks noChangeShapeType="1"/>
            <a:stCxn id="182" idx="3"/>
          </p:cNvCxnSpPr>
          <p:nvPr/>
        </p:nvCxnSpPr>
        <p:spPr bwMode="auto">
          <a:xfrm>
            <a:off x="6815523" y="4028627"/>
            <a:ext cx="517424" cy="702362"/>
          </a:xfrm>
          <a:prstGeom prst="curvedConnector2">
            <a:avLst/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97" name="AutoShape 244"/>
          <p:cNvCxnSpPr>
            <a:cxnSpLocks noChangeShapeType="1"/>
            <a:stCxn id="172" idx="2"/>
          </p:cNvCxnSpPr>
          <p:nvPr/>
        </p:nvCxnSpPr>
        <p:spPr bwMode="auto">
          <a:xfrm rot="16200000" flipH="1">
            <a:off x="6383476" y="4446026"/>
            <a:ext cx="2605950" cy="10730"/>
          </a:xfrm>
          <a:prstGeom prst="bent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2" name="AutoShape 25"/>
          <p:cNvCxnSpPr>
            <a:cxnSpLocks noChangeShapeType="1"/>
            <a:stCxn id="181" idx="2"/>
          </p:cNvCxnSpPr>
          <p:nvPr/>
        </p:nvCxnSpPr>
        <p:spPr bwMode="auto">
          <a:xfrm rot="5400000">
            <a:off x="7835911" y="3841171"/>
            <a:ext cx="394546" cy="682733"/>
          </a:xfrm>
          <a:prstGeom prst="curvedConnector2">
            <a:avLst/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3" name="爆炸形 1 72"/>
          <p:cNvSpPr/>
          <p:nvPr/>
        </p:nvSpPr>
        <p:spPr bwMode="auto">
          <a:xfrm>
            <a:off x="6790803" y="820191"/>
            <a:ext cx="1661675" cy="1042494"/>
          </a:xfrm>
          <a:prstGeom prst="irregularSeal1">
            <a:avLst/>
          </a:prstGeom>
          <a:solidFill>
            <a:srgbClr val="FF0000"/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b="1" dirty="0" smtClean="0">
                <a:latin typeface="华文中宋" pitchFamily="2" charset="-122"/>
                <a:ea typeface="华文中宋" pitchFamily="2" charset="-122"/>
              </a:rPr>
              <a:t>选择</a:t>
            </a:r>
            <a:r>
              <a:rPr lang="en-US" altLang="zh-CN" b="1" dirty="0" smtClean="0">
                <a:latin typeface="华文中宋" pitchFamily="2" charset="-122"/>
                <a:ea typeface="华文中宋" pitchFamily="2" charset="-122"/>
              </a:rPr>
              <a:t>1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74" name="AutoShape 25"/>
          <p:cNvCxnSpPr>
            <a:cxnSpLocks noChangeShapeType="1"/>
            <a:stCxn id="102" idx="3"/>
          </p:cNvCxnSpPr>
          <p:nvPr/>
        </p:nvCxnSpPr>
        <p:spPr bwMode="auto">
          <a:xfrm flipV="1">
            <a:off x="7024297" y="4729162"/>
            <a:ext cx="461050" cy="705036"/>
          </a:xfrm>
          <a:prstGeom prst="curvedConnector2">
            <a:avLst/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="" xmlns:p14="http://schemas.microsoft.com/office/powerpoint/2010/main" val="116763781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CN" altLang="en-US" sz="2400" dirty="0" smtClean="0">
                <a:latin typeface="+mn-ea"/>
                <a:ea typeface="+mn-ea"/>
              </a:rPr>
              <a:t>选装模式下的更改影响分析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302" name="Rectangle 46"/>
          <p:cNvSpPr>
            <a:spLocks noChangeArrowheads="1"/>
          </p:cNvSpPr>
          <p:nvPr/>
        </p:nvSpPr>
        <p:spPr bwMode="auto">
          <a:xfrm>
            <a:off x="340619" y="1053307"/>
            <a:ext cx="4160360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/>
              <a:t>更改影响二：只有选项集发生更改</a:t>
            </a: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340618" y="1053307"/>
            <a:ext cx="5993522" cy="576262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zh-CN" altLang="en-US" dirty="0" smtClean="0"/>
              <a:t>更改影响三：选项和工程层数据发生更改</a:t>
            </a:r>
            <a:endParaRPr lang="zh-CN" altLang="en-US" dirty="0"/>
          </a:p>
        </p:txBody>
      </p:sp>
      <p:pic>
        <p:nvPicPr>
          <p:cNvPr id="20" name="Picture 22" descr="user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35" y="2086238"/>
            <a:ext cx="258034" cy="28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818"/>
          <p:cNvSpPr>
            <a:spLocks noChangeArrowheads="1"/>
          </p:cNvSpPr>
          <p:nvPr/>
        </p:nvSpPr>
        <p:spPr bwMode="auto">
          <a:xfrm>
            <a:off x="471726" y="2375943"/>
            <a:ext cx="753380" cy="27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/>
              <a:t>设计</a:t>
            </a:r>
            <a:r>
              <a:rPr lang="zh-CN" altLang="en-US" sz="1100" dirty="0" smtClean="0"/>
              <a:t>人员</a:t>
            </a:r>
            <a:endParaRPr lang="en-US" altLang="zh-CN" sz="11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897853" y="3457306"/>
            <a:ext cx="714375" cy="573042"/>
            <a:chOff x="276393" y="3759158"/>
            <a:chExt cx="714375" cy="573042"/>
          </a:xfrm>
        </p:grpSpPr>
        <p:sp>
          <p:nvSpPr>
            <p:cNvPr id="23" name="矩形 818"/>
            <p:cNvSpPr>
              <a:spLocks noChangeArrowheads="1"/>
            </p:cNvSpPr>
            <p:nvPr/>
          </p:nvSpPr>
          <p:spPr bwMode="auto">
            <a:xfrm>
              <a:off x="276393" y="4070592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ECR</a:t>
              </a:r>
              <a:endParaRPr lang="en-US" altLang="zh-CN" sz="1100" dirty="0"/>
            </a:p>
          </p:txBody>
        </p:sp>
        <p:pic>
          <p:nvPicPr>
            <p:cNvPr id="24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146" y="3759158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5" name="AutoShape 25"/>
          <p:cNvCxnSpPr>
            <a:cxnSpLocks noChangeShapeType="1"/>
            <a:stCxn id="21" idx="2"/>
            <a:endCxn id="24" idx="0"/>
          </p:cNvCxnSpPr>
          <p:nvPr/>
        </p:nvCxnSpPr>
        <p:spPr bwMode="auto">
          <a:xfrm rot="16200000" flipH="1">
            <a:off x="589575" y="2905679"/>
            <a:ext cx="810468" cy="29278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/>
          <p:cNvSpPr txBox="1"/>
          <p:nvPr/>
        </p:nvSpPr>
        <p:spPr>
          <a:xfrm>
            <a:off x="364857" y="3077572"/>
            <a:ext cx="8611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创建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ECR</a:t>
            </a:r>
            <a:endParaRPr lang="zh-CN" altLang="en-US" sz="1000" b="1" dirty="0" smtClean="0">
              <a:solidFill>
                <a:srgbClr val="FF0000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642163" y="4260169"/>
            <a:ext cx="941393" cy="1333197"/>
            <a:chOff x="2082166" y="2225746"/>
            <a:chExt cx="941393" cy="1333197"/>
          </a:xfrm>
        </p:grpSpPr>
        <p:pic>
          <p:nvPicPr>
            <p:cNvPr id="30" name="Picture 8" descr="icon-processConsul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166" y="2225746"/>
              <a:ext cx="941393" cy="941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矩形 818"/>
            <p:cNvSpPr>
              <a:spLocks noChangeArrowheads="1"/>
            </p:cNvSpPr>
            <p:nvPr/>
          </p:nvSpPr>
          <p:spPr bwMode="auto">
            <a:xfrm>
              <a:off x="2165864" y="3128056"/>
              <a:ext cx="78581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 选项集</a:t>
              </a:r>
              <a:r>
                <a:rPr lang="en-US" altLang="zh-CN" sz="1100" dirty="0" smtClean="0"/>
                <a:t>ECN</a:t>
              </a:r>
              <a:r>
                <a:rPr lang="zh-CN" altLang="en-US" sz="1100" dirty="0" smtClean="0"/>
                <a:t>流程</a:t>
              </a:r>
              <a:endParaRPr lang="en-US" altLang="zh-CN" sz="1100" dirty="0"/>
            </a:p>
          </p:txBody>
        </p:sp>
      </p:grpSp>
      <p:cxnSp>
        <p:nvCxnSpPr>
          <p:cNvPr id="39" name="AutoShape 244"/>
          <p:cNvCxnSpPr>
            <a:cxnSpLocks noChangeShapeType="1"/>
          </p:cNvCxnSpPr>
          <p:nvPr/>
        </p:nvCxnSpPr>
        <p:spPr bwMode="auto">
          <a:xfrm rot="5400000" flipH="1" flipV="1">
            <a:off x="1361932" y="1966371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1" name="AutoShape 244"/>
          <p:cNvCxnSpPr>
            <a:cxnSpLocks noChangeShapeType="1"/>
          </p:cNvCxnSpPr>
          <p:nvPr/>
        </p:nvCxnSpPr>
        <p:spPr bwMode="auto">
          <a:xfrm rot="5400000" flipH="1" flipV="1">
            <a:off x="2979202" y="1967845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93" name="组合 92"/>
          <p:cNvGrpSpPr/>
          <p:nvPr/>
        </p:nvGrpSpPr>
        <p:grpSpPr>
          <a:xfrm>
            <a:off x="3145478" y="2087712"/>
            <a:ext cx="753380" cy="560600"/>
            <a:chOff x="3038942" y="2185370"/>
            <a:chExt cx="753380" cy="560600"/>
          </a:xfrm>
        </p:grpSpPr>
        <p:pic>
          <p:nvPicPr>
            <p:cNvPr id="42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9163" y="2185370"/>
              <a:ext cx="258034" cy="289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矩形 818"/>
            <p:cNvSpPr>
              <a:spLocks noChangeArrowheads="1"/>
            </p:cNvSpPr>
            <p:nvPr/>
          </p:nvSpPr>
          <p:spPr bwMode="auto">
            <a:xfrm>
              <a:off x="3038942" y="2475075"/>
              <a:ext cx="753380" cy="270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dirty="0"/>
                <a:t>设计</a:t>
              </a:r>
              <a:r>
                <a:rPr lang="zh-CN" altLang="en-US" sz="1100" dirty="0" smtClean="0"/>
                <a:t>人员</a:t>
              </a:r>
              <a:endParaRPr lang="en-US" altLang="zh-CN" sz="1100" dirty="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712529" y="3455585"/>
            <a:ext cx="714375" cy="573042"/>
            <a:chOff x="7410952" y="2514240"/>
            <a:chExt cx="714375" cy="573042"/>
          </a:xfrm>
        </p:grpSpPr>
        <p:sp>
          <p:nvSpPr>
            <p:cNvPr id="47" name="矩形 818"/>
            <p:cNvSpPr>
              <a:spLocks noChangeArrowheads="1"/>
            </p:cNvSpPr>
            <p:nvPr/>
          </p:nvSpPr>
          <p:spPr bwMode="auto">
            <a:xfrm>
              <a:off x="7410952" y="2825674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ECN</a:t>
              </a:r>
              <a:endParaRPr lang="en-US" altLang="zh-CN" sz="1100" dirty="0"/>
            </a:p>
          </p:txBody>
        </p:sp>
        <p:pic>
          <p:nvPicPr>
            <p:cNvPr id="48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2705" y="2514240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9" name="AutoShape 25"/>
          <p:cNvCxnSpPr>
            <a:cxnSpLocks noChangeShapeType="1"/>
            <a:stCxn id="43" idx="2"/>
            <a:endCxn id="48" idx="0"/>
          </p:cNvCxnSpPr>
          <p:nvPr/>
        </p:nvCxnSpPr>
        <p:spPr bwMode="auto">
          <a:xfrm rot="5400000">
            <a:off x="2835387" y="2768803"/>
            <a:ext cx="807273" cy="56629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9" name="TextBox 58"/>
          <p:cNvSpPr txBox="1"/>
          <p:nvPr/>
        </p:nvSpPr>
        <p:spPr>
          <a:xfrm>
            <a:off x="2854325" y="2881574"/>
            <a:ext cx="8611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创建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ECN</a:t>
            </a:r>
            <a:endParaRPr lang="zh-CN" altLang="en-US" sz="1000" b="1" dirty="0" smtClean="0">
              <a:solidFill>
                <a:srgbClr val="FF0000"/>
              </a:solidFill>
            </a:endParaRPr>
          </a:p>
        </p:txBody>
      </p:sp>
      <p:sp>
        <p:nvSpPr>
          <p:cNvPr id="60" name="AutoShape 108"/>
          <p:cNvSpPr>
            <a:spLocks noChangeArrowheads="1"/>
          </p:cNvSpPr>
          <p:nvPr/>
        </p:nvSpPr>
        <p:spPr bwMode="auto">
          <a:xfrm>
            <a:off x="3482367" y="3231460"/>
            <a:ext cx="823295" cy="224125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修改工程数据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61" name="AutoShape 108"/>
          <p:cNvSpPr>
            <a:spLocks noChangeArrowheads="1"/>
          </p:cNvSpPr>
          <p:nvPr/>
        </p:nvSpPr>
        <p:spPr bwMode="auto">
          <a:xfrm>
            <a:off x="3451145" y="3753684"/>
            <a:ext cx="1032069" cy="25003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设置更改生效日期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</p:txBody>
      </p:sp>
      <p:cxnSp>
        <p:nvCxnSpPr>
          <p:cNvPr id="62" name="直接连接符 304"/>
          <p:cNvCxnSpPr>
            <a:stCxn id="48" idx="3"/>
            <a:endCxn id="60" idx="1"/>
          </p:cNvCxnSpPr>
          <p:nvPr/>
        </p:nvCxnSpPr>
        <p:spPr bwMode="auto">
          <a:xfrm flipV="1">
            <a:off x="3087474" y="3343523"/>
            <a:ext cx="394893" cy="254938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304"/>
          <p:cNvCxnSpPr/>
          <p:nvPr/>
        </p:nvCxnSpPr>
        <p:spPr bwMode="auto">
          <a:xfrm>
            <a:off x="3087474" y="3598461"/>
            <a:ext cx="363671" cy="280238"/>
          </a:xfrm>
          <a:prstGeom prst="bentConnector3">
            <a:avLst>
              <a:gd name="adj1" fmla="val 54882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>
            <a:off x="3007774" y="4513460"/>
            <a:ext cx="869591" cy="598545"/>
            <a:chOff x="949313" y="2243554"/>
            <a:chExt cx="755484" cy="491214"/>
          </a:xfrm>
        </p:grpSpPr>
        <p:pic>
          <p:nvPicPr>
            <p:cNvPr id="71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566" y="2243554"/>
              <a:ext cx="258755" cy="22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矩形 818"/>
            <p:cNvSpPr>
              <a:spLocks noChangeArrowheads="1"/>
            </p:cNvSpPr>
            <p:nvPr/>
          </p:nvSpPr>
          <p:spPr bwMode="auto">
            <a:xfrm>
              <a:off x="949313" y="2473160"/>
              <a:ext cx="755484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总体人员</a:t>
              </a:r>
              <a:endParaRPr lang="en-US" altLang="zh-CN" sz="1100" dirty="0"/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967179" y="5754592"/>
            <a:ext cx="581643" cy="610961"/>
            <a:chOff x="5020118" y="1776126"/>
            <a:chExt cx="817737" cy="600649"/>
          </a:xfrm>
        </p:grpSpPr>
        <p:sp>
          <p:nvSpPr>
            <p:cNvPr id="89" name="AutoShape 23"/>
            <p:cNvSpPr>
              <a:spLocks noChangeArrowheads="1"/>
            </p:cNvSpPr>
            <p:nvPr/>
          </p:nvSpPr>
          <p:spPr bwMode="auto">
            <a:xfrm>
              <a:off x="5020118" y="1776126"/>
              <a:ext cx="817737" cy="518078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171450" indent="-171450">
                <a:buFontTx/>
                <a:buChar char="•"/>
              </a:pPr>
              <a:endParaRPr lang="zh-CN" altLang="zh-CN" sz="1200" b="1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042711" y="1884332"/>
              <a:ext cx="77255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选项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  <a:p>
              <a:pPr algn="ctr"/>
              <a:r>
                <a:rPr lang="zh-CN" altLang="en-US" sz="900" b="1" dirty="0">
                  <a:latin typeface="宋体" pitchFamily="2" charset="-122"/>
                  <a:ea typeface="宋体" pitchFamily="2" charset="-122"/>
                </a:rPr>
                <a:t>选项</a:t>
              </a:r>
              <a:r>
                <a:rPr lang="zh-CN" altLang="en-US" sz="900" b="1" dirty="0" smtClean="0">
                  <a:latin typeface="宋体" pitchFamily="2" charset="-122"/>
                  <a:ea typeface="宋体" pitchFamily="2" charset="-122"/>
                </a:rPr>
                <a:t>约束</a:t>
              </a:r>
              <a:endParaRPr lang="en-US" altLang="zh-CN" sz="900" b="1" dirty="0" smtClean="0">
                <a:latin typeface="宋体" pitchFamily="2" charset="-122"/>
                <a:ea typeface="宋体" pitchFamily="2" charset="-122"/>
              </a:endParaRPr>
            </a:p>
            <a:p>
              <a:endParaRPr lang="zh-CN" altLang="en-US" sz="1400" dirty="0" smtClean="0"/>
            </a:p>
          </p:txBody>
        </p:sp>
      </p:grpSp>
      <p:cxnSp>
        <p:nvCxnSpPr>
          <p:cNvPr id="91" name="AutoShape 25"/>
          <p:cNvCxnSpPr>
            <a:cxnSpLocks noChangeShapeType="1"/>
            <a:stCxn id="72" idx="2"/>
            <a:endCxn id="89" idx="0"/>
          </p:cNvCxnSpPr>
          <p:nvPr/>
        </p:nvCxnSpPr>
        <p:spPr bwMode="auto">
          <a:xfrm rot="16200000" flipH="1">
            <a:off x="3528992" y="5025582"/>
            <a:ext cx="642587" cy="815431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94" name="TextBox 93"/>
          <p:cNvSpPr txBox="1"/>
          <p:nvPr/>
        </p:nvSpPr>
        <p:spPr>
          <a:xfrm>
            <a:off x="3687632" y="5126421"/>
            <a:ext cx="8611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增加选项和选项约束</a:t>
            </a:r>
          </a:p>
        </p:txBody>
      </p:sp>
      <p:sp>
        <p:nvSpPr>
          <p:cNvPr id="95" name="AutoShape 108"/>
          <p:cNvSpPr>
            <a:spLocks noChangeArrowheads="1"/>
          </p:cNvSpPr>
          <p:nvPr/>
        </p:nvSpPr>
        <p:spPr bwMode="auto">
          <a:xfrm>
            <a:off x="1076450" y="5396618"/>
            <a:ext cx="1071556" cy="500060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修订选项集，添加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>
                <a:solidFill>
                  <a:srgbClr val="000066"/>
                </a:solidFill>
                <a:latin typeface="+mn-ea"/>
              </a:rPr>
              <a:t>新</a:t>
            </a: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选项和选项约束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到选项集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2426665" y="5823190"/>
            <a:ext cx="714375" cy="573042"/>
            <a:chOff x="3093473" y="3768017"/>
            <a:chExt cx="714375" cy="573042"/>
          </a:xfrm>
        </p:grpSpPr>
        <p:sp>
          <p:nvSpPr>
            <p:cNvPr id="98" name="矩形 818"/>
            <p:cNvSpPr>
              <a:spLocks noChangeArrowheads="1"/>
            </p:cNvSpPr>
            <p:nvPr/>
          </p:nvSpPr>
          <p:spPr bwMode="auto">
            <a:xfrm>
              <a:off x="3093473" y="4079451"/>
              <a:ext cx="714375" cy="26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100" dirty="0" smtClean="0"/>
                <a:t>ECN</a:t>
              </a:r>
              <a:endParaRPr lang="en-US" altLang="zh-CN" sz="1100" dirty="0"/>
            </a:p>
          </p:txBody>
        </p:sp>
        <p:pic>
          <p:nvPicPr>
            <p:cNvPr id="99" name="Picture 1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5226" y="3768017"/>
              <a:ext cx="263192" cy="285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7" name="AutoShape 25"/>
          <p:cNvCxnSpPr>
            <a:cxnSpLocks noChangeShapeType="1"/>
            <a:stCxn id="24" idx="3"/>
            <a:endCxn id="48" idx="1"/>
          </p:cNvCxnSpPr>
          <p:nvPr/>
        </p:nvCxnSpPr>
        <p:spPr bwMode="auto">
          <a:xfrm flipV="1">
            <a:off x="1272798" y="3598461"/>
            <a:ext cx="1551484" cy="1721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20" name="AutoShape 25"/>
          <p:cNvCxnSpPr>
            <a:cxnSpLocks noChangeShapeType="1"/>
            <a:stCxn id="23" idx="2"/>
            <a:endCxn id="99" idx="0"/>
          </p:cNvCxnSpPr>
          <p:nvPr/>
        </p:nvCxnSpPr>
        <p:spPr bwMode="auto">
          <a:xfrm rot="16200000" flipH="1">
            <a:off x="1066106" y="4219282"/>
            <a:ext cx="1792842" cy="1414973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36" name="AutoShape 25"/>
          <p:cNvCxnSpPr>
            <a:cxnSpLocks noChangeShapeType="1"/>
            <a:stCxn id="72" idx="2"/>
            <a:endCxn id="99" idx="0"/>
          </p:cNvCxnSpPr>
          <p:nvPr/>
        </p:nvCxnSpPr>
        <p:spPr bwMode="auto">
          <a:xfrm rot="5400000">
            <a:off x="2700700" y="5081319"/>
            <a:ext cx="711185" cy="77255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39" name="TextBox 138"/>
          <p:cNvSpPr txBox="1"/>
          <p:nvPr/>
        </p:nvSpPr>
        <p:spPr>
          <a:xfrm>
            <a:off x="2589955" y="5126421"/>
            <a:ext cx="8611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创建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ECN</a:t>
            </a:r>
            <a:endParaRPr lang="zh-CN" altLang="en-US" sz="1000" b="1" dirty="0" smtClean="0">
              <a:solidFill>
                <a:srgbClr val="FF0000"/>
              </a:solidFill>
            </a:endParaRPr>
          </a:p>
        </p:txBody>
      </p:sp>
      <p:cxnSp>
        <p:nvCxnSpPr>
          <p:cNvPr id="142" name="直接连接符 304"/>
          <p:cNvCxnSpPr>
            <a:stCxn id="99" idx="1"/>
            <a:endCxn id="95" idx="3"/>
          </p:cNvCxnSpPr>
          <p:nvPr/>
        </p:nvCxnSpPr>
        <p:spPr bwMode="auto">
          <a:xfrm rot="10800000">
            <a:off x="2148006" y="5646648"/>
            <a:ext cx="390412" cy="319418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52"/>
          <p:cNvGrpSpPr/>
          <p:nvPr/>
        </p:nvGrpSpPr>
        <p:grpSpPr>
          <a:xfrm>
            <a:off x="1852812" y="1925368"/>
            <a:ext cx="941393" cy="1163991"/>
            <a:chOff x="2082166" y="2225746"/>
            <a:chExt cx="941393" cy="1163991"/>
          </a:xfrm>
        </p:grpSpPr>
        <p:pic>
          <p:nvPicPr>
            <p:cNvPr id="154" name="Picture 8" descr="icon-processConsul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166" y="2225746"/>
              <a:ext cx="941393" cy="941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矩形 818"/>
            <p:cNvSpPr>
              <a:spLocks noChangeArrowheads="1"/>
            </p:cNvSpPr>
            <p:nvPr/>
          </p:nvSpPr>
          <p:spPr bwMode="auto">
            <a:xfrm>
              <a:off x="2165864" y="3128056"/>
              <a:ext cx="785816" cy="261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100" dirty="0" smtClean="0"/>
                <a:t>ECR</a:t>
              </a:r>
              <a:r>
                <a:rPr lang="zh-CN" altLang="en-US" sz="1100" dirty="0" smtClean="0"/>
                <a:t>流程</a:t>
              </a:r>
              <a:endParaRPr lang="en-US" altLang="zh-CN" sz="1100" dirty="0"/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4440298" y="1943124"/>
            <a:ext cx="941393" cy="1333197"/>
            <a:chOff x="2082166" y="2225746"/>
            <a:chExt cx="941393" cy="1333197"/>
          </a:xfrm>
        </p:grpSpPr>
        <p:pic>
          <p:nvPicPr>
            <p:cNvPr id="162" name="Picture 8" descr="icon-processConsul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166" y="2225746"/>
              <a:ext cx="941393" cy="941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" name="矩形 818"/>
            <p:cNvSpPr>
              <a:spLocks noChangeArrowheads="1"/>
            </p:cNvSpPr>
            <p:nvPr/>
          </p:nvSpPr>
          <p:spPr bwMode="auto">
            <a:xfrm>
              <a:off x="2165864" y="3128056"/>
              <a:ext cx="78581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100" dirty="0" smtClean="0"/>
                <a:t>工程数据</a:t>
              </a:r>
              <a:r>
                <a:rPr lang="en-US" altLang="zh-CN" sz="1100" dirty="0" smtClean="0"/>
                <a:t>ECN</a:t>
              </a:r>
              <a:r>
                <a:rPr lang="zh-CN" altLang="en-US" sz="1100" dirty="0" smtClean="0"/>
                <a:t>流程</a:t>
              </a:r>
              <a:endParaRPr lang="en-US" altLang="zh-CN" sz="1100" dirty="0"/>
            </a:p>
          </p:txBody>
        </p:sp>
      </p:grpSp>
      <p:cxnSp>
        <p:nvCxnSpPr>
          <p:cNvPr id="164" name="AutoShape 244"/>
          <p:cNvCxnSpPr>
            <a:cxnSpLocks noChangeShapeType="1"/>
          </p:cNvCxnSpPr>
          <p:nvPr/>
        </p:nvCxnSpPr>
        <p:spPr bwMode="auto">
          <a:xfrm rot="5400000" flipH="1" flipV="1">
            <a:off x="4051267" y="1979469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65" name="AutoShape 244"/>
          <p:cNvCxnSpPr>
            <a:cxnSpLocks noChangeShapeType="1"/>
          </p:cNvCxnSpPr>
          <p:nvPr/>
        </p:nvCxnSpPr>
        <p:spPr bwMode="auto">
          <a:xfrm rot="5400000" flipH="1" flipV="1">
            <a:off x="4230213" y="4394237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67" name="组合 166"/>
          <p:cNvGrpSpPr/>
          <p:nvPr/>
        </p:nvGrpSpPr>
        <p:grpSpPr>
          <a:xfrm>
            <a:off x="5863620" y="2071430"/>
            <a:ext cx="753380" cy="720592"/>
            <a:chOff x="3038942" y="2185370"/>
            <a:chExt cx="753380" cy="720592"/>
          </a:xfrm>
        </p:grpSpPr>
        <p:pic>
          <p:nvPicPr>
            <p:cNvPr id="168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9163" y="2185370"/>
              <a:ext cx="258034" cy="289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矩形 818"/>
            <p:cNvSpPr>
              <a:spLocks noChangeArrowheads="1"/>
            </p:cNvSpPr>
            <p:nvPr/>
          </p:nvSpPr>
          <p:spPr bwMode="auto">
            <a:xfrm>
              <a:off x="3038942" y="2475075"/>
              <a:ext cx="75338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dirty="0" smtClean="0"/>
                <a:t>制造</a:t>
              </a:r>
              <a:endParaRPr lang="en-US" altLang="zh-CN" sz="1100" dirty="0" smtClean="0"/>
            </a:p>
            <a:p>
              <a:pPr algn="ctr"/>
              <a:r>
                <a:rPr lang="zh-CN" altLang="en-US" sz="1100" dirty="0" smtClean="0"/>
                <a:t>工程师</a:t>
              </a:r>
              <a:endParaRPr lang="en-US" altLang="zh-CN" sz="1100" dirty="0"/>
            </a:p>
          </p:txBody>
        </p:sp>
      </p:grpSp>
      <p:cxnSp>
        <p:nvCxnSpPr>
          <p:cNvPr id="173" name="AutoShape 244"/>
          <p:cNvCxnSpPr>
            <a:cxnSpLocks noChangeShapeType="1"/>
          </p:cNvCxnSpPr>
          <p:nvPr/>
        </p:nvCxnSpPr>
        <p:spPr bwMode="auto">
          <a:xfrm rot="5400000" flipH="1" flipV="1">
            <a:off x="6769409" y="1963187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4" name="AutoShape 244"/>
          <p:cNvCxnSpPr>
            <a:cxnSpLocks noChangeShapeType="1"/>
          </p:cNvCxnSpPr>
          <p:nvPr/>
        </p:nvCxnSpPr>
        <p:spPr bwMode="auto">
          <a:xfrm rot="5400000" flipH="1" flipV="1">
            <a:off x="5736693" y="1981061"/>
            <a:ext cx="29380" cy="558818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131" name="组合 130"/>
          <p:cNvGrpSpPr/>
          <p:nvPr/>
        </p:nvGrpSpPr>
        <p:grpSpPr>
          <a:xfrm>
            <a:off x="6849469" y="1953476"/>
            <a:ext cx="1663233" cy="1194940"/>
            <a:chOff x="7035907" y="2051134"/>
            <a:chExt cx="1663233" cy="1194940"/>
          </a:xfrm>
        </p:grpSpPr>
        <p:sp>
          <p:nvSpPr>
            <p:cNvPr id="172" name="矩形 818"/>
            <p:cNvSpPr>
              <a:spLocks noChangeArrowheads="1"/>
            </p:cNvSpPr>
            <p:nvPr/>
          </p:nvSpPr>
          <p:spPr bwMode="auto">
            <a:xfrm>
              <a:off x="7035907" y="2984464"/>
              <a:ext cx="166323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dirty="0" smtClean="0"/>
                <a:t>快速变更流程</a:t>
              </a:r>
              <a:endParaRPr lang="en-US" altLang="zh-CN" sz="1100" dirty="0" smtClean="0"/>
            </a:p>
          </p:txBody>
        </p:sp>
        <p:pic>
          <p:nvPicPr>
            <p:cNvPr id="176" name="Picture 8" descr="icon-processConsul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2634" y="2051134"/>
              <a:ext cx="941393" cy="941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1" name="AutoShape 108"/>
          <p:cNvSpPr>
            <a:spLocks noChangeArrowheads="1"/>
          </p:cNvSpPr>
          <p:nvPr/>
        </p:nvSpPr>
        <p:spPr bwMode="auto">
          <a:xfrm>
            <a:off x="7962902" y="3666497"/>
            <a:ext cx="823295" cy="318767"/>
          </a:xfrm>
          <a:prstGeom prst="foldedCorner">
            <a:avLst>
              <a:gd name="adj" fmla="val 125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en-US" altLang="zh-CN" sz="900" dirty="0" smtClean="0">
                <a:solidFill>
                  <a:srgbClr val="000066"/>
                </a:solidFill>
                <a:latin typeface="+mn-ea"/>
              </a:rPr>
              <a:t>MBOM</a:t>
            </a:r>
            <a:endParaRPr lang="en-US" altLang="zh-CN" sz="900" dirty="0">
              <a:solidFill>
                <a:srgbClr val="000066"/>
              </a:solidFill>
              <a:latin typeface="+mn-ea"/>
            </a:endParaRPr>
          </a:p>
          <a:p>
            <a:pPr algn="ctr" eaLnBrk="0" hangingPunct="0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75000"/>
            </a:pPr>
            <a:r>
              <a:rPr lang="zh-CN" altLang="en-US" sz="900" dirty="0" smtClean="0">
                <a:solidFill>
                  <a:srgbClr val="000066"/>
                </a:solidFill>
                <a:latin typeface="+mn-ea"/>
              </a:rPr>
              <a:t>工时定额信息</a:t>
            </a:r>
            <a:endParaRPr lang="en-US" altLang="zh-CN" sz="900" dirty="0" smtClean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183" name="圆角矩形 182"/>
          <p:cNvSpPr/>
          <p:nvPr/>
        </p:nvSpPr>
        <p:spPr bwMode="auto">
          <a:xfrm>
            <a:off x="7065634" y="5750127"/>
            <a:ext cx="1242874" cy="590390"/>
          </a:xfrm>
          <a:prstGeom prst="roundRect">
            <a:avLst/>
          </a:prstGeom>
          <a:ln>
            <a:headEnd/>
            <a:tailEnd/>
          </a:ln>
          <a:ex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en-US" altLang="zh-CN" sz="2000" b="1" dirty="0" smtClean="0"/>
              <a:t>SAP</a:t>
            </a:r>
            <a:endParaRPr lang="zh-CN" altLang="en-US" sz="2000" b="1" dirty="0"/>
          </a:p>
        </p:txBody>
      </p:sp>
      <p:cxnSp>
        <p:nvCxnSpPr>
          <p:cNvPr id="197" name="AutoShape 244"/>
          <p:cNvCxnSpPr>
            <a:cxnSpLocks noChangeShapeType="1"/>
            <a:stCxn id="172" idx="2"/>
          </p:cNvCxnSpPr>
          <p:nvPr/>
        </p:nvCxnSpPr>
        <p:spPr bwMode="auto">
          <a:xfrm rot="16200000" flipH="1">
            <a:off x="6383476" y="4446026"/>
            <a:ext cx="2605950" cy="10730"/>
          </a:xfrm>
          <a:prstGeom prst="bentConnector3">
            <a:avLst>
              <a:gd name="adj1" fmla="val 50000"/>
            </a:avLst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2" name="AutoShape 25"/>
          <p:cNvCxnSpPr>
            <a:cxnSpLocks noChangeShapeType="1"/>
            <a:stCxn id="181" idx="2"/>
          </p:cNvCxnSpPr>
          <p:nvPr/>
        </p:nvCxnSpPr>
        <p:spPr bwMode="auto">
          <a:xfrm rot="5400000">
            <a:off x="7835911" y="3841171"/>
            <a:ext cx="394546" cy="682733"/>
          </a:xfrm>
          <a:prstGeom prst="curvedConnector2">
            <a:avLst/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3" name="爆炸形 1 72"/>
          <p:cNvSpPr/>
          <p:nvPr/>
        </p:nvSpPr>
        <p:spPr bwMode="auto">
          <a:xfrm>
            <a:off x="6790803" y="820191"/>
            <a:ext cx="1661675" cy="1042494"/>
          </a:xfrm>
          <a:prstGeom prst="irregularSeal1">
            <a:avLst/>
          </a:prstGeom>
          <a:solidFill>
            <a:srgbClr val="FF0000"/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2075" tIns="46038" rIns="92075" bIns="46038" rtlCol="0" anchor="ctr"/>
          <a:lstStyle/>
          <a:p>
            <a:pPr marL="171450" indent="-171450" algn="ctr"/>
            <a:r>
              <a:rPr lang="zh-CN" altLang="en-US" b="1" dirty="0" smtClean="0">
                <a:latin typeface="华文中宋" pitchFamily="2" charset="-122"/>
                <a:ea typeface="华文中宋" pitchFamily="2" charset="-122"/>
              </a:rPr>
              <a:t>选择</a:t>
            </a:r>
            <a:r>
              <a:rPr lang="en-US" altLang="zh-CN" b="1" dirty="0">
                <a:latin typeface="华文中宋" pitchFamily="2" charset="-122"/>
                <a:ea typeface="华文中宋" pitchFamily="2" charset="-122"/>
              </a:rPr>
              <a:t>2</a:t>
            </a:r>
            <a:endParaRPr lang="zh-CN" altLang="en-US" b="1" dirty="0"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74" name="AutoShape 244"/>
          <p:cNvCxnSpPr>
            <a:cxnSpLocks noChangeShapeType="1"/>
            <a:endCxn id="183" idx="0"/>
          </p:cNvCxnSpPr>
          <p:nvPr/>
        </p:nvCxnSpPr>
        <p:spPr bwMode="auto">
          <a:xfrm>
            <a:off x="5707056" y="4689810"/>
            <a:ext cx="1980015" cy="1060317"/>
          </a:xfrm>
          <a:prstGeom prst="bentConnector2">
            <a:avLst/>
          </a:prstGeom>
          <a:noFill/>
          <a:ln w="635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75" name="组合 74"/>
          <p:cNvGrpSpPr/>
          <p:nvPr/>
        </p:nvGrpSpPr>
        <p:grpSpPr>
          <a:xfrm>
            <a:off x="5846168" y="5593366"/>
            <a:ext cx="753380" cy="720592"/>
            <a:chOff x="3038942" y="2185370"/>
            <a:chExt cx="753380" cy="720592"/>
          </a:xfrm>
        </p:grpSpPr>
        <p:pic>
          <p:nvPicPr>
            <p:cNvPr id="76" name="Picture 22" descr="user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9163" y="2185370"/>
              <a:ext cx="258034" cy="289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矩形 818"/>
            <p:cNvSpPr>
              <a:spLocks noChangeArrowheads="1"/>
            </p:cNvSpPr>
            <p:nvPr/>
          </p:nvSpPr>
          <p:spPr bwMode="auto">
            <a:xfrm>
              <a:off x="3038942" y="2475075"/>
              <a:ext cx="75338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 dirty="0" smtClean="0"/>
                <a:t>制造</a:t>
              </a:r>
              <a:endParaRPr lang="en-US" altLang="zh-CN" sz="1100" dirty="0" smtClean="0"/>
            </a:p>
            <a:p>
              <a:pPr algn="ctr"/>
              <a:r>
                <a:rPr lang="zh-CN" altLang="en-US" sz="1100" dirty="0" smtClean="0"/>
                <a:t>工程师</a:t>
              </a:r>
              <a:endParaRPr lang="en-US" altLang="zh-CN" sz="1100" dirty="0"/>
            </a:p>
          </p:txBody>
        </p:sp>
      </p:grpSp>
      <p:cxnSp>
        <p:nvCxnSpPr>
          <p:cNvPr id="78" name="AutoShape 25"/>
          <p:cNvCxnSpPr>
            <a:cxnSpLocks noChangeShapeType="1"/>
            <a:endCxn id="183" idx="1"/>
          </p:cNvCxnSpPr>
          <p:nvPr/>
        </p:nvCxnSpPr>
        <p:spPr bwMode="auto">
          <a:xfrm>
            <a:off x="6351877" y="5896680"/>
            <a:ext cx="713757" cy="14864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3" name="TextBox 82"/>
          <p:cNvSpPr txBox="1"/>
          <p:nvPr/>
        </p:nvSpPr>
        <p:spPr>
          <a:xfrm>
            <a:off x="6504690" y="5560236"/>
            <a:ext cx="101640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00" b="1" dirty="0" smtClean="0">
                <a:solidFill>
                  <a:srgbClr val="FF0000"/>
                </a:solidFill>
              </a:rPr>
              <a:t>手工设置</a:t>
            </a:r>
            <a:endParaRPr lang="en-US" altLang="zh-CN" sz="1000" b="1" dirty="0" smtClean="0">
              <a:solidFill>
                <a:srgbClr val="FF0000"/>
              </a:solidFill>
            </a:endParaRPr>
          </a:p>
          <a:p>
            <a:r>
              <a:rPr lang="zh-CN" altLang="en-US" sz="1000" b="1" dirty="0" smtClean="0">
                <a:solidFill>
                  <a:srgbClr val="FF0000"/>
                </a:solidFill>
              </a:rPr>
              <a:t>生效日期</a:t>
            </a:r>
          </a:p>
        </p:txBody>
      </p:sp>
    </p:spTree>
    <p:extLst>
      <p:ext uri="{BB962C8B-B14F-4D97-AF65-F5344CB8AC3E}">
        <p14:creationId xmlns="" xmlns:p14="http://schemas.microsoft.com/office/powerpoint/2010/main" val="30569771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PTC_template_2010">
      <a:dk1>
        <a:srgbClr val="4D4D4F"/>
      </a:dk1>
      <a:lt1>
        <a:srgbClr val="FFFFFF"/>
      </a:lt1>
      <a:dk2>
        <a:srgbClr val="F78E1E"/>
      </a:dk2>
      <a:lt2>
        <a:srgbClr val="FFC637"/>
      </a:lt2>
      <a:accent1>
        <a:srgbClr val="0067B4"/>
      </a:accent1>
      <a:accent2>
        <a:srgbClr val="75BEE9"/>
      </a:accent2>
      <a:accent3>
        <a:srgbClr val="6FAEAB"/>
      </a:accent3>
      <a:accent4>
        <a:srgbClr val="8DC85A"/>
      </a:accent4>
      <a:accent5>
        <a:srgbClr val="D5E04D"/>
      </a:accent5>
      <a:accent6>
        <a:srgbClr val="BFBFBF"/>
      </a:accent6>
      <a:hlink>
        <a:srgbClr val="BE1E2D"/>
      </a:hlink>
      <a:folHlink>
        <a:srgbClr val="E08C7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99"/>
        </a:solidFill>
        <a:ln w="25400">
          <a:solidFill>
            <a:schemeClr val="tx1"/>
          </a:solidFill>
          <a:round/>
          <a:headEnd/>
          <a:tailEnd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lIns="92075" tIns="46038" rIns="92075" bIns="46038" rtlCol="0" anchor="ctr"/>
      <a:lstStyle>
        <a:defPPr marL="171450" indent="-171450" algn="ctr">
          <a:defRPr sz="1200" b="1" dirty="0"/>
        </a:defPPr>
      </a:lstStyle>
    </a:spDef>
    <a:lnDef>
      <a:spPr>
        <a:ln w="57150">
          <a:solidFill>
            <a:schemeClr val="accent3">
              <a:lumMod val="50000"/>
            </a:schemeClr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7564</Words>
  <Application>Microsoft Office PowerPoint</Application>
  <PresentationFormat>全屏显示(4:3)</PresentationFormat>
  <Paragraphs>1700</Paragraphs>
  <Slides>93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93</vt:i4>
      </vt:variant>
    </vt:vector>
  </HeadingPairs>
  <TitlesOfParts>
    <vt:vector size="94" baseType="lpstr">
      <vt:lpstr>Office Theme</vt:lpstr>
      <vt:lpstr>柳工选装管理业务描述方案</vt:lpstr>
      <vt:lpstr>柳工选装选配业务描述方案</vt:lpstr>
      <vt:lpstr>柳工选装选配业务描述方案</vt:lpstr>
      <vt:lpstr>文档说明</vt:lpstr>
      <vt:lpstr>文档说明</vt:lpstr>
      <vt:lpstr>文档说明</vt:lpstr>
      <vt:lpstr>柳工选装选配业务描述方案</vt:lpstr>
      <vt:lpstr>选装选配业务现状</vt:lpstr>
      <vt:lpstr>选装选配业务现状</vt:lpstr>
      <vt:lpstr>选装选配业务现状</vt:lpstr>
      <vt:lpstr>选装选配业务现状</vt:lpstr>
      <vt:lpstr>选装选配业务现状</vt:lpstr>
      <vt:lpstr>核心问题和需求</vt:lpstr>
      <vt:lpstr>未来选装选配总体业务框图</vt:lpstr>
      <vt:lpstr>未来选装选配总体业务</vt:lpstr>
      <vt:lpstr>未来选装选配总体业务流程图</vt:lpstr>
      <vt:lpstr>与现有业务差别</vt:lpstr>
      <vt:lpstr>柳工选装选配业务描述方案</vt:lpstr>
      <vt:lpstr>概念介绍(1/4)</vt:lpstr>
      <vt:lpstr>概念介绍(2/4)</vt:lpstr>
      <vt:lpstr>概念介绍(3/4)</vt:lpstr>
      <vt:lpstr>概念介绍(4/4)</vt:lpstr>
      <vt:lpstr>整车通用产品结构的引入 ─ 基本过程</vt:lpstr>
      <vt:lpstr>选项管理(Option Management)</vt:lpstr>
      <vt:lpstr>识别选项</vt:lpstr>
      <vt:lpstr>识别选项- 定义产品家族选项</vt:lpstr>
      <vt:lpstr>识别选项- 选项约束</vt:lpstr>
      <vt:lpstr>识别选项- 选项约束</vt:lpstr>
      <vt:lpstr>识别选项- 选项约束</vt:lpstr>
      <vt:lpstr>整车通用产品结构的引入 ─ 基本过程</vt:lpstr>
      <vt:lpstr>通用产品模板定义</vt:lpstr>
      <vt:lpstr>通用产品模板定义</vt:lpstr>
      <vt:lpstr>整车通用产品结构的引入 ─ 基本过程</vt:lpstr>
      <vt:lpstr>新产品家族Super BOM定义</vt:lpstr>
      <vt:lpstr>整车通用产品结构的引入 ─ 基本过程</vt:lpstr>
      <vt:lpstr>新产品家族选项定义</vt:lpstr>
      <vt:lpstr>新产品家族选项定义</vt:lpstr>
      <vt:lpstr>柳工选装选配业务描述方案</vt:lpstr>
      <vt:lpstr>未来产品结构规划</vt:lpstr>
      <vt:lpstr>未来产品结构规划</vt:lpstr>
      <vt:lpstr>选项配置层概述</vt:lpstr>
      <vt:lpstr>选项层配置概述</vt:lpstr>
      <vt:lpstr>工程层概述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柳工选装选配业务描述方案</vt:lpstr>
      <vt:lpstr>MBOM管理现状</vt:lpstr>
      <vt:lpstr>MBOM管理现状</vt:lpstr>
      <vt:lpstr>未来MBOM管理方式</vt:lpstr>
      <vt:lpstr>未来MBOM管理方式</vt:lpstr>
      <vt:lpstr>未来MBOM管理方式</vt:lpstr>
      <vt:lpstr>未来MBOM管理方式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EBOM建立未来业务流程</vt:lpstr>
      <vt:lpstr>柳工选装选配业务描述方案</vt:lpstr>
      <vt:lpstr>选装模式下的更改管理</vt:lpstr>
      <vt:lpstr>选装模式下的更改影响分析</vt:lpstr>
      <vt:lpstr>选装模式下的更改影响分析</vt:lpstr>
      <vt:lpstr>选装模式下的更改影响分析</vt:lpstr>
      <vt:lpstr>选装模式下的更改影响分析</vt:lpstr>
      <vt:lpstr>选装模式下的更改影响分析</vt:lpstr>
      <vt:lpstr>选装模式下的更改影响分析</vt:lpstr>
      <vt:lpstr>选装模式下的更改影响分析</vt:lpstr>
      <vt:lpstr>选装模式下的更改影响分析</vt:lpstr>
      <vt:lpstr>选装模式下的更改影响分析</vt:lpstr>
      <vt:lpstr>选装模式下的更改影响分析</vt:lpstr>
      <vt:lpstr>幻灯片 93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2010-10-01T19:29:18Z</dcterms:created>
  <dcterms:modified xsi:type="dcterms:W3CDTF">2013-10-25T03:35:36Z</dcterms:modified>
</cp:coreProperties>
</file>